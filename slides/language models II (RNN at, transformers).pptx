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</p:sldIdLst>
  <p:sldSz cy="5143500" cx="9144000"/>
  <p:notesSz cx="6858000" cy="9144000"/>
  <p:embeddedFontLst>
    <p:embeddedFont>
      <p:font typeface="Raleway"/>
      <p:regular r:id="rId91"/>
      <p:bold r:id="rId92"/>
      <p:italic r:id="rId93"/>
      <p:boldItalic r:id="rId94"/>
    </p:embeddedFont>
    <p:embeddedFont>
      <p:font typeface="Roboto"/>
      <p:regular r:id="rId95"/>
      <p:bold r:id="rId96"/>
      <p:italic r:id="rId97"/>
      <p:boldItalic r:id="rId98"/>
    </p:embeddedFont>
    <p:embeddedFont>
      <p:font typeface="Lato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32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32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2" Type="http://schemas.openxmlformats.org/officeDocument/2006/relationships/font" Target="fonts/Lato-boldItalic.fntdata"/><Relationship Id="rId101" Type="http://schemas.openxmlformats.org/officeDocument/2006/relationships/font" Target="fonts/Lato-italic.fntdata"/><Relationship Id="rId100" Type="http://schemas.openxmlformats.org/officeDocument/2006/relationships/font" Target="fonts/Lato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-regular.fntdata"/><Relationship Id="rId94" Type="http://schemas.openxmlformats.org/officeDocument/2006/relationships/font" Target="fonts/Raleway-boldItalic.fntdata"/><Relationship Id="rId97" Type="http://schemas.openxmlformats.org/officeDocument/2006/relationships/font" Target="fonts/Roboto-italic.fntdata"/><Relationship Id="rId96" Type="http://schemas.openxmlformats.org/officeDocument/2006/relationships/font" Target="fonts/Roboto-bold.fntdata"/><Relationship Id="rId11" Type="http://schemas.openxmlformats.org/officeDocument/2006/relationships/slide" Target="slides/slide6.xml"/><Relationship Id="rId99" Type="http://schemas.openxmlformats.org/officeDocument/2006/relationships/font" Target="fonts/Lato-regular.fntdata"/><Relationship Id="rId10" Type="http://schemas.openxmlformats.org/officeDocument/2006/relationships/slide" Target="slides/slide5.xml"/><Relationship Id="rId98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aleway-regular.fntdata"/><Relationship Id="rId90" Type="http://schemas.openxmlformats.org/officeDocument/2006/relationships/slide" Target="slides/slide85.xml"/><Relationship Id="rId93" Type="http://schemas.openxmlformats.org/officeDocument/2006/relationships/font" Target="fonts/Raleway-italic.fntdata"/><Relationship Id="rId92" Type="http://schemas.openxmlformats.org/officeDocument/2006/relationships/font" Target="fonts/Raleway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b458528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b458528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47a1c1a6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2247a1c1a6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63fe46ed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63fe46e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f63fe46ed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f63fe46ed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7e1a2739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7e1a2739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97e1a2739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97e1a2739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47a1c1a6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47a1c1a6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b797c96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b797c96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63fe46ed9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63fe46ed9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63fe46ed9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f63fe46ed9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f63fe46ed9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f63fe46ed9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f63fe46ed9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f63fe46ed9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f63fe46ed9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f63fe46ed9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f63fe46ed9_0_1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f63fe46ed9_0_1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f63fe46ed9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f63fe46ed9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f63fe46ed9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f63fe46ed9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3fe46ed9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3fe46ed9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f63fe46ed9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f63fe46ed9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f63fe46ed9_0_1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f63fe46ed9_0_1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f63fe46ed9_0_4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f63fe46ed9_0_4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808b2bd2b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808b2bd2b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808b2bd2b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808b2bd2b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f63fe46ed9_0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f63fe46ed9_0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808b2bd2b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808b2bd2b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97e1a2739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9" name="Google Shape;1189;g297e1a2739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97e1a2739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4" name="Google Shape;1194;g297e1a2739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97e1a2739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6" name="Google Shape;1206;g297e1a2739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97e1a2739c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5" name="Google Shape;1235;g297e1a2739c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808b2bd2b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808b2bd2b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808b2bd2b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808b2bd2b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811585bdf2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811585bdf2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808b2bd2b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808b2bd2b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811585bdf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811585bdf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811585bdf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811585bdf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f63fe46e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f63fe46e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2811585bd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2811585bd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811585bdf2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811585bdf2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f63fe46ed9_0_2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f63fe46ed9_0_2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811585bdf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811585bdf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f63fe46ed9_0_2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f63fe46ed9_0_2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f63fe46ed9_0_2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f63fe46ed9_0_2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f63fe46ed9_0_2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f63fe46ed9_0_2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f63fe46ed9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f63fe46ed9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f63fe46ed9_0_2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f63fe46ed9_0_2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f63fe46ed9_0_3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f63fe46ed9_0_3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f63fe46ed9_0_3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f63fe46ed9_0_3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f63fe46ed9_0_3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f63fe46ed9_0_3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811585bdf2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811585bdf2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2811585bdf2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811585bdf2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2811585bdf2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811585bdf2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811585bdf2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811585bdf2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811585bdf2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811585bdf2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2811585bdf2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811585bdf2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811585bdf2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811585bdf2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2811585bdf2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2811585bdf2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811585bdf2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811585bdf2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1e98ac4def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1e98ac4def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1e98ac4def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1e98ac4def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1e98ac4def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1e98ac4def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1e98ac4def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1e98ac4def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1ea2763b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1ea2763b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1e98ac4def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1e98ac4def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1e98ac4def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1e98ac4def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1e98ac4def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1e98ac4def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1e98ac4def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1e98ac4def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1e98ac4def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1e98ac4def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f63fe46ed9_0_1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f63fe46ed9_0_1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f63fe46ed9_0_3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f63fe46ed9_0_3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1e98ac4def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1e98ac4def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f63fe46ed9_0_4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f63fe46ed9_0_4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f63fe46ed9_0_4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f63fe46ed9_0_4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f63fe46ed9_0_4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f63fe46ed9_0_4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f63fe46ed9_0_4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f63fe46ed9_0_4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gf63fe46ed9_0_4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1" name="Google Shape;2091;gf63fe46ed9_0_4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f63fe46ed9_0_4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f63fe46ed9_0_4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f63fe46ed9_0_4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f63fe46ed9_0_4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f63fe46ed9_0_4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f63fe46ed9_0_4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2811585bdf2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2811585bdf2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1e98ac4def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1e98ac4def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1e98ac4def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1e98ac4def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1e98ac4def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1e98ac4def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1e98ac4def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1e98ac4def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f63fe46ed9_0_4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f63fe46ed9_0_4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7908b07728_3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7908b07728_3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1ea50b3a6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3" name="Google Shape;2273;g1ea50b3a6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22960" y="4844839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2764639" y="4844839"/>
            <a:ext cx="361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425344" y="4844839"/>
            <a:ext cx="9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7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4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4294967295" type="title"/>
          </p:nvPr>
        </p:nvSpPr>
        <p:spPr>
          <a:xfrm>
            <a:off x="172800" y="508650"/>
            <a:ext cx="8823600" cy="6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900">
                <a:solidFill>
                  <a:srgbClr val="1C4587"/>
                </a:solidFill>
              </a:rPr>
              <a:t>Modelos de Lenguaje</a:t>
            </a:r>
            <a:endParaRPr b="1" sz="3500"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rgbClr val="0B5394"/>
                </a:solidFill>
              </a:rPr>
              <a:t>(</a:t>
            </a:r>
            <a:r>
              <a:rPr lang="es-419" sz="3000">
                <a:solidFill>
                  <a:srgbClr val="0B5394"/>
                </a:solidFill>
              </a:rPr>
              <a:t>continuación</a:t>
            </a:r>
            <a:r>
              <a:rPr b="1" lang="es-419" sz="3000">
                <a:solidFill>
                  <a:srgbClr val="0B5394"/>
                </a:solidFill>
              </a:rPr>
              <a:t>)</a:t>
            </a:r>
            <a:endParaRPr sz="1800"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69971" y="718502"/>
            <a:ext cx="85635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419"/>
              <a:t> </a:t>
            </a:r>
            <a:endParaRPr/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Large Language Models: A New Moore's Law?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175" y="106856"/>
            <a:ext cx="7567969" cy="449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Atención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Mecanismo de Atención (Attention) 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570400" y="4047113"/>
            <a:ext cx="3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El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872200" y="4047113"/>
            <a:ext cx="6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hotel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6409175" y="4047113"/>
            <a:ext cx="4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6877775" y="4047113"/>
            <a:ext cx="9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buenisimo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570400" y="3174988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878150" y="3403588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0.03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313025" y="3174988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7287725" y="3174988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0.95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 rot="-5400000">
            <a:off x="5672500" y="3776888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7"/>
          <p:cNvSpPr/>
          <p:nvPr/>
        </p:nvSpPr>
        <p:spPr>
          <a:xfrm rot="-5400000">
            <a:off x="6060900" y="3776888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7"/>
          <p:cNvSpPr/>
          <p:nvPr/>
        </p:nvSpPr>
        <p:spPr>
          <a:xfrm rot="-5400000">
            <a:off x="6510700" y="3776888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7"/>
          <p:cNvSpPr/>
          <p:nvPr/>
        </p:nvSpPr>
        <p:spPr>
          <a:xfrm rot="-5400000">
            <a:off x="7190050" y="3776888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7"/>
          <p:cNvSpPr/>
          <p:nvPr/>
        </p:nvSpPr>
        <p:spPr>
          <a:xfrm rot="-5400000">
            <a:off x="6463325" y="2501788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23" name="Google Shape;123;p17"/>
          <p:cNvCxnSpPr>
            <a:stCxn id="118" idx="3"/>
            <a:endCxn id="122" idx="1"/>
          </p:cNvCxnSpPr>
          <p:nvPr/>
        </p:nvCxnSpPr>
        <p:spPr>
          <a:xfrm flipH="1" rot="10800000">
            <a:off x="5865700" y="2794088"/>
            <a:ext cx="790800" cy="8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>
            <a:stCxn id="119" idx="3"/>
            <a:endCxn id="122" idx="1"/>
          </p:cNvCxnSpPr>
          <p:nvPr/>
        </p:nvCxnSpPr>
        <p:spPr>
          <a:xfrm flipH="1" rot="10800000">
            <a:off x="6254100" y="2794088"/>
            <a:ext cx="402300" cy="8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7"/>
          <p:cNvCxnSpPr>
            <a:stCxn id="120" idx="3"/>
            <a:endCxn id="122" idx="1"/>
          </p:cNvCxnSpPr>
          <p:nvPr/>
        </p:nvCxnSpPr>
        <p:spPr>
          <a:xfrm rot="10800000">
            <a:off x="6656500" y="2794088"/>
            <a:ext cx="47400" cy="8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7"/>
          <p:cNvCxnSpPr>
            <a:stCxn id="121" idx="3"/>
            <a:endCxn id="122" idx="1"/>
          </p:cNvCxnSpPr>
          <p:nvPr/>
        </p:nvCxnSpPr>
        <p:spPr>
          <a:xfrm rot="10800000">
            <a:off x="6656650" y="2794088"/>
            <a:ext cx="726600" cy="8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7"/>
          <p:cNvSpPr txBox="1"/>
          <p:nvPr/>
        </p:nvSpPr>
        <p:spPr>
          <a:xfrm>
            <a:off x="6315400" y="2004638"/>
            <a:ext cx="7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rgbClr val="00FF00"/>
                </a:highlight>
                <a:latin typeface="Lato"/>
                <a:ea typeface="Lato"/>
                <a:cs typeface="Lato"/>
                <a:sym typeface="Lato"/>
              </a:rPr>
              <a:t>Positivo</a:t>
            </a:r>
            <a:endParaRPr>
              <a:highlight>
                <a:srgbClr val="00FF00"/>
              </a:highlight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4650"/>
            <a:ext cx="3601083" cy="27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Mecanismo de Atención (Attention) 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40025" y="1124700"/>
            <a:ext cx="87606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Selector de Inputs: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No todas las palabras en una oración contribuyen igualmente a la decisión.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Permite a los modelos centrarse en diferentes partes de la entrada, emulando cómo los humanos prestan "atención" a partes específicas del contexto.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Atención: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Ponderación de Entradas: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Se asignan pesos a diferentes partes de la entrada según su relevancia.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Combinación Contextual: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Se forma un vector de contexto con una combinación ponderada las entradas según sus pesos.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Generación de Salida: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El vector de contexto se utiliza para generar la salida (normalmente un FF).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Ventajas: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Captura de Relaciones a Largo Plazo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Mejora del Rendimiento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Interpretabilidad: Los pesos de atención ofrecen una visión sobre qué partes de la entrada el modelo considera importantes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7144100" y="2853850"/>
            <a:ext cx="3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El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7388200" y="2853850"/>
            <a:ext cx="6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hotel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7925175" y="2853850"/>
            <a:ext cx="4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393775" y="2853850"/>
            <a:ext cx="9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buenisimo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7086400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470350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0.03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7905225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575125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0.95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 rot="-5400000">
            <a:off x="71123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18"/>
          <p:cNvSpPr/>
          <p:nvPr/>
        </p:nvSpPr>
        <p:spPr>
          <a:xfrm rot="-5400000">
            <a:off x="75007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18"/>
          <p:cNvSpPr/>
          <p:nvPr/>
        </p:nvSpPr>
        <p:spPr>
          <a:xfrm rot="-5400000">
            <a:off x="79505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18"/>
          <p:cNvSpPr/>
          <p:nvPr/>
        </p:nvSpPr>
        <p:spPr>
          <a:xfrm rot="-5400000">
            <a:off x="862985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18"/>
          <p:cNvSpPr/>
          <p:nvPr/>
        </p:nvSpPr>
        <p:spPr>
          <a:xfrm rot="-5400000">
            <a:off x="7811025" y="4065100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48" name="Google Shape;148;p18"/>
          <p:cNvCxnSpPr>
            <a:stCxn id="143" idx="1"/>
            <a:endCxn id="147" idx="3"/>
          </p:cNvCxnSpPr>
          <p:nvPr/>
        </p:nvCxnSpPr>
        <p:spPr>
          <a:xfrm>
            <a:off x="7305500" y="3790225"/>
            <a:ext cx="6987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8"/>
          <p:cNvCxnSpPr>
            <a:stCxn id="144" idx="1"/>
            <a:endCxn id="147" idx="3"/>
          </p:cNvCxnSpPr>
          <p:nvPr/>
        </p:nvCxnSpPr>
        <p:spPr>
          <a:xfrm>
            <a:off x="7693900" y="3790225"/>
            <a:ext cx="3102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8"/>
          <p:cNvCxnSpPr>
            <a:stCxn id="145" idx="1"/>
            <a:endCxn id="147" idx="3"/>
          </p:cNvCxnSpPr>
          <p:nvPr/>
        </p:nvCxnSpPr>
        <p:spPr>
          <a:xfrm flipH="1">
            <a:off x="8004200" y="3790225"/>
            <a:ext cx="1395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8"/>
          <p:cNvCxnSpPr>
            <a:stCxn id="146" idx="1"/>
            <a:endCxn id="147" idx="3"/>
          </p:cNvCxnSpPr>
          <p:nvPr/>
        </p:nvCxnSpPr>
        <p:spPr>
          <a:xfrm flipH="1">
            <a:off x="8004350" y="3790225"/>
            <a:ext cx="8187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8"/>
          <p:cNvSpPr txBox="1"/>
          <p:nvPr/>
        </p:nvSpPr>
        <p:spPr>
          <a:xfrm>
            <a:off x="7698525" y="4357375"/>
            <a:ext cx="7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rgbClr val="00FF00"/>
                </a:highlight>
                <a:latin typeface="Lato"/>
                <a:ea typeface="Lato"/>
                <a:cs typeface="Lato"/>
                <a:sym typeface="Lato"/>
              </a:rPr>
              <a:t>Positivo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Mecanismo de Atención (Attention) 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40025" y="1124700"/>
            <a:ext cx="87606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Atención: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Ponderación de Entradas: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Se asignan pesos a diferentes partes de la entrada según su relevancia.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Combinación Contextual: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Se forma un vector de contexto con una combinación ponderada las entradas según sus pesos.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AutoNum type="arabicPeriod"/>
            </a:pPr>
            <a:r>
              <a:rPr b="1"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Generación de Salida:</a:t>
            </a: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El vector de contexto se utiliza para generar la salida (normalmente un FF).</a:t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305900" y="2853850"/>
            <a:ext cx="3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El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550000" y="2853850"/>
            <a:ext cx="6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hotel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086975" y="2853850"/>
            <a:ext cx="4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555575" y="2853850"/>
            <a:ext cx="9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buenisimo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248200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632150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0.03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067025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0.01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736925" y="3124725"/>
            <a:ext cx="5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0.95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 rot="-5400000">
            <a:off x="62741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8" name="Google Shape;168;p19"/>
          <p:cNvSpPr/>
          <p:nvPr/>
        </p:nvSpPr>
        <p:spPr>
          <a:xfrm rot="-5400000">
            <a:off x="66625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9" name="Google Shape;169;p19"/>
          <p:cNvSpPr/>
          <p:nvPr/>
        </p:nvSpPr>
        <p:spPr>
          <a:xfrm rot="-5400000">
            <a:off x="711230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" name="Google Shape;170;p19"/>
          <p:cNvSpPr/>
          <p:nvPr/>
        </p:nvSpPr>
        <p:spPr>
          <a:xfrm rot="-5400000">
            <a:off x="7791650" y="3498025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19"/>
          <p:cNvSpPr/>
          <p:nvPr/>
        </p:nvSpPr>
        <p:spPr>
          <a:xfrm rot="-5400000">
            <a:off x="6972825" y="4065100"/>
            <a:ext cx="386400" cy="1980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2" name="Google Shape;172;p19"/>
          <p:cNvCxnSpPr>
            <a:stCxn id="167" idx="1"/>
            <a:endCxn id="171" idx="3"/>
          </p:cNvCxnSpPr>
          <p:nvPr/>
        </p:nvCxnSpPr>
        <p:spPr>
          <a:xfrm>
            <a:off x="6467300" y="3790225"/>
            <a:ext cx="6987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9"/>
          <p:cNvCxnSpPr>
            <a:stCxn id="168" idx="1"/>
            <a:endCxn id="171" idx="3"/>
          </p:cNvCxnSpPr>
          <p:nvPr/>
        </p:nvCxnSpPr>
        <p:spPr>
          <a:xfrm>
            <a:off x="6855700" y="3790225"/>
            <a:ext cx="3102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9"/>
          <p:cNvCxnSpPr>
            <a:stCxn id="169" idx="1"/>
            <a:endCxn id="171" idx="3"/>
          </p:cNvCxnSpPr>
          <p:nvPr/>
        </p:nvCxnSpPr>
        <p:spPr>
          <a:xfrm flipH="1">
            <a:off x="7166000" y="3790225"/>
            <a:ext cx="1395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9"/>
          <p:cNvCxnSpPr>
            <a:stCxn id="170" idx="1"/>
            <a:endCxn id="171" idx="3"/>
          </p:cNvCxnSpPr>
          <p:nvPr/>
        </p:nvCxnSpPr>
        <p:spPr>
          <a:xfrm flipH="1">
            <a:off x="7166150" y="3790225"/>
            <a:ext cx="8187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19"/>
          <p:cNvSpPr txBox="1"/>
          <p:nvPr/>
        </p:nvSpPr>
        <p:spPr>
          <a:xfrm>
            <a:off x="6860325" y="4357375"/>
            <a:ext cx="7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rgbClr val="00FF00"/>
                </a:highlight>
                <a:latin typeface="Lato"/>
                <a:ea typeface="Lato"/>
                <a:cs typeface="Lato"/>
                <a:sym typeface="Lato"/>
              </a:rPr>
              <a:t>Positivo</a:t>
            </a:r>
            <a:endParaRPr>
              <a:highlight>
                <a:srgbClr val="00FF00"/>
              </a:highlight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4" y="2924071"/>
            <a:ext cx="1596025" cy="1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2729" y="3020763"/>
            <a:ext cx="17335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2564475" y="4173300"/>
            <a:ext cx="286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Hierarchical </a:t>
            </a:r>
            <a:r>
              <a:rPr lang="es-419" sz="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Attention Networks for Document Classification,   Yang et al., 2016</a:t>
            </a:r>
            <a:endParaRPr sz="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Mecanismo de Atención (Attention) 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450" y="1274300"/>
            <a:ext cx="5424749" cy="386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1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1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1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1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1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1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1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21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1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1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1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1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1"/>
          <p:cNvCxnSpPr>
            <a:stCxn id="215" idx="0"/>
            <a:endCxn id="216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1"/>
          <p:cNvCxnSpPr>
            <a:endCxn id="216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1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21" name="Google Shape;221;p21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</a:t>
            </a:r>
            <a:r>
              <a:rPr b="1" lang="es-419" sz="1600">
                <a:solidFill>
                  <a:srgbClr val="6AA84F"/>
                </a:solidFill>
              </a:rPr>
              <a:t>e</a:t>
            </a:r>
            <a:r>
              <a:rPr b="1" lang="es-419" sz="1600">
                <a:solidFill>
                  <a:srgbClr val="6AA84F"/>
                </a:solidFill>
              </a:rPr>
              <a:t>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1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1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1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1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1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22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2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2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2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2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2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2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" name="Google Shape;253;p22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2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2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257" name="Google Shape;257;p22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2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2"/>
          <p:cNvCxnSpPr>
            <a:stCxn id="260" idx="0"/>
            <a:endCxn id="261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2"/>
          <p:cNvCxnSpPr>
            <a:endCxn id="261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2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66" name="Google Shape;266;p22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267" name="Google Shape;267;p22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2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2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2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2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2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2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2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22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2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77" name="Google Shape;277;p22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3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23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" name="Google Shape;295;p23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3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3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23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23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23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" name="Google Shape;303;p23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3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23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307" name="Google Shape;307;p23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23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23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23"/>
          <p:cNvCxnSpPr>
            <a:stCxn id="310" idx="0"/>
            <a:endCxn id="311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3"/>
          <p:cNvCxnSpPr>
            <a:endCxn id="311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23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16" name="Google Shape;316;p23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317" name="Google Shape;317;p23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23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3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3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3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23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7" name="Google Shape;327;p23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23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3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3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23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23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23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3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3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3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23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48" name="Google Shape;348;p24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4" name="Google Shape;354;p24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24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24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24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24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24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24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24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24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24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368" name="Google Shape;368;p24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24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24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3" name="Google Shape;373;p24"/>
          <p:cNvCxnSpPr>
            <a:stCxn id="371" idx="0"/>
            <a:endCxn id="372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24"/>
          <p:cNvCxnSpPr>
            <a:endCxn id="372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4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77" name="Google Shape;377;p24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378" name="Google Shape;378;p24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4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4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24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24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24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8" name="Google Shape;388;p24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24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24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4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24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24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4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24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24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24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24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99" name="Google Shape;399;p24"/>
          <p:cNvCxnSpPr>
            <a:endCxn id="400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24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4" name="Google Shape;404;p24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24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24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24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24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4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416" name="Google Shape;416;p25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3" name="Google Shape;423;p25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4" name="Google Shape;424;p25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5" name="Google Shape;425;p25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25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25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25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25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25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25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25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5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437" name="Google Shape;437;p25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25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25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2" name="Google Shape;442;p25"/>
          <p:cNvCxnSpPr>
            <a:stCxn id="440" idx="0"/>
            <a:endCxn id="441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25"/>
          <p:cNvCxnSpPr>
            <a:endCxn id="441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25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46" name="Google Shape;446;p25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447" name="Google Shape;447;p25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5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5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5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25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25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7" name="Google Shape;457;p25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25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25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25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25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25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25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25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25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25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68" name="Google Shape;468;p25"/>
          <p:cNvCxnSpPr>
            <a:endCxn id="469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3" name="Google Shape;473;p25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25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25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25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25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25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5270775" y="512925"/>
            <a:ext cx="292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Es una suma de V1...V5 ponderada por la </a:t>
            </a:r>
            <a:r>
              <a:rPr b="1" lang="es-419" sz="12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similitud</a:t>
            </a:r>
            <a:r>
              <a:rPr b="1" lang="es-419" sz="12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que tienen con la activación actual del decoder</a:t>
            </a:r>
            <a:endParaRPr b="1" sz="12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1" name="Google Shape;481;p25"/>
          <p:cNvCxnSpPr>
            <a:stCxn id="480" idx="1"/>
            <a:endCxn id="479" idx="3"/>
          </p:cNvCxnSpPr>
          <p:nvPr/>
        </p:nvCxnSpPr>
        <p:spPr>
          <a:xfrm flipH="1">
            <a:off x="4396575" y="882375"/>
            <a:ext cx="874200" cy="47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2" name="Google Shape;482;p25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483" name="Google Shape;483;p25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5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93" name="Google Shape;493;p26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94" name="Google Shape;494;p26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95" name="Google Shape;495;p26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26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26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" name="Google Shape;501;p26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26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26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6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26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p26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26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26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26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513" name="Google Shape;513;p26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26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26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6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8" name="Google Shape;518;p26"/>
          <p:cNvCxnSpPr>
            <a:stCxn id="516" idx="0"/>
            <a:endCxn id="517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26"/>
          <p:cNvCxnSpPr>
            <a:endCxn id="517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26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22" name="Google Shape;522;p26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523" name="Google Shape;523;p26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26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26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26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26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26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26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26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26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3" name="Google Shape;533;p26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26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26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26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26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26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26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26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26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26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26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44" name="Google Shape;544;p26"/>
          <p:cNvCxnSpPr>
            <a:endCxn id="545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26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26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26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9" name="Google Shape;549;p26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26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6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26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26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p26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26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6" name="Google Shape;556;p26"/>
          <p:cNvCxnSpPr/>
          <p:nvPr/>
        </p:nvCxnSpPr>
        <p:spPr>
          <a:xfrm rot="10800000">
            <a:off x="5223547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26"/>
          <p:cNvSpPr/>
          <p:nvPr/>
        </p:nvSpPr>
        <p:spPr>
          <a:xfrm>
            <a:off x="4267050" y="1430125"/>
            <a:ext cx="847350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58" name="Google Shape;558;p26"/>
          <p:cNvSpPr txBox="1"/>
          <p:nvPr/>
        </p:nvSpPr>
        <p:spPr>
          <a:xfrm>
            <a:off x="4813201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grpSp>
        <p:nvGrpSpPr>
          <p:cNvPr id="559" name="Google Shape;559;p26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560" name="Google Shape;560;p26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6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 txBox="1"/>
          <p:nvPr/>
        </p:nvSpPr>
        <p:spPr>
          <a:xfrm>
            <a:off x="5067449" y="361417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b="1" lang="es-419" sz="13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13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7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570" name="Google Shape;570;p27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1" name="Google Shape;571;p27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2" name="Google Shape;572;p27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3" name="Google Shape;573;p27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7" name="Google Shape;577;p27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8" name="Google Shape;578;p27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9" name="Google Shape;579;p27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27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27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3" name="Google Shape;583;p27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27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27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7" name="Google Shape;587;p27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27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27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591" name="Google Shape;591;p27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27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27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6" name="Google Shape;596;p27"/>
          <p:cNvCxnSpPr>
            <a:stCxn id="594" idx="0"/>
            <a:endCxn id="595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27"/>
          <p:cNvCxnSpPr>
            <a:endCxn id="595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27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599" name="Google Shape;599;p27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00" name="Google Shape;600;p27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601" name="Google Shape;601;p27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27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27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27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27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27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27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1" name="Google Shape;611;p27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27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27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27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27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27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27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27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27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27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27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622" name="Google Shape;622;p27"/>
          <p:cNvCxnSpPr>
            <a:endCxn id="623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27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" name="Google Shape;624;p27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27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7" name="Google Shape;627;p27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27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27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27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27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27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27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4" name="Google Shape;634;p27"/>
          <p:cNvCxnSpPr/>
          <p:nvPr/>
        </p:nvCxnSpPr>
        <p:spPr>
          <a:xfrm rot="10800000">
            <a:off x="5223547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27"/>
          <p:cNvSpPr/>
          <p:nvPr/>
        </p:nvSpPr>
        <p:spPr>
          <a:xfrm>
            <a:off x="4267050" y="1430125"/>
            <a:ext cx="847350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36" name="Google Shape;636;p27"/>
          <p:cNvSpPr txBox="1"/>
          <p:nvPr/>
        </p:nvSpPr>
        <p:spPr>
          <a:xfrm>
            <a:off x="4813201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grpSp>
        <p:nvGrpSpPr>
          <p:cNvPr id="637" name="Google Shape;637;p27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638" name="Google Shape;638;p27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27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7"/>
          <p:cNvSpPr txBox="1"/>
          <p:nvPr/>
        </p:nvSpPr>
        <p:spPr>
          <a:xfrm>
            <a:off x="5067449" y="361417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a1</a:t>
            </a:r>
            <a:endParaRPr b="1" sz="13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6438475" y="1622350"/>
            <a:ext cx="2029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= a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· h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= [a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· h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…  a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· h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= softmax( 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Y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= 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* [h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… h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8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649" name="Google Shape;649;p28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51" name="Google Shape;651;p28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52" name="Google Shape;652;p28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6" name="Google Shape;656;p28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28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8" name="Google Shape;658;p28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28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28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2" name="Google Shape;662;p28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28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28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6" name="Google Shape;666;p28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28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28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670" name="Google Shape;670;p28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28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28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5" name="Google Shape;675;p28"/>
          <p:cNvCxnSpPr>
            <a:stCxn id="673" idx="0"/>
            <a:endCxn id="674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28"/>
          <p:cNvCxnSpPr>
            <a:endCxn id="674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" name="Google Shape;677;p28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678" name="Google Shape;678;p28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679" name="Google Shape;679;p28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680" name="Google Shape;680;p28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28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28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28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28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28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" name="Google Shape;686;p28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" name="Google Shape;687;p28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" name="Google Shape;688;p28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" name="Google Shape;689;p28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0" name="Google Shape;690;p28"/>
          <p:cNvCxnSpPr/>
          <p:nvPr/>
        </p:nvCxnSpPr>
        <p:spPr>
          <a:xfrm rot="10800000">
            <a:off x="1113243" y="3264829"/>
            <a:ext cx="40878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28"/>
          <p:cNvCxnSpPr/>
          <p:nvPr/>
        </p:nvCxnSpPr>
        <p:spPr>
          <a:xfrm rot="10800000">
            <a:off x="1976943" y="3225975"/>
            <a:ext cx="32241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p28"/>
          <p:cNvCxnSpPr/>
          <p:nvPr/>
        </p:nvCxnSpPr>
        <p:spPr>
          <a:xfrm rot="10800000">
            <a:off x="2801169" y="3237075"/>
            <a:ext cx="24078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93" name="Google Shape;693;p28"/>
          <p:cNvCxnSpPr/>
          <p:nvPr/>
        </p:nvCxnSpPr>
        <p:spPr>
          <a:xfrm rot="10800000">
            <a:off x="3492069" y="3237375"/>
            <a:ext cx="1716900" cy="382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28"/>
          <p:cNvCxnSpPr/>
          <p:nvPr/>
        </p:nvCxnSpPr>
        <p:spPr>
          <a:xfrm rot="10800000">
            <a:off x="4233975" y="3295644"/>
            <a:ext cx="975000" cy="319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28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28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28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28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9" name="Google Shape;699;p28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28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01" name="Google Shape;701;p28"/>
          <p:cNvCxnSpPr>
            <a:endCxn id="702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28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28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28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6" name="Google Shape;706;p28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28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28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28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28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28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" name="Google Shape;712;p28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3" name="Google Shape;713;p28"/>
          <p:cNvCxnSpPr/>
          <p:nvPr/>
        </p:nvCxnSpPr>
        <p:spPr>
          <a:xfrm rot="10800000">
            <a:off x="5223547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28"/>
          <p:cNvSpPr/>
          <p:nvPr/>
        </p:nvSpPr>
        <p:spPr>
          <a:xfrm>
            <a:off x="4267050" y="1430125"/>
            <a:ext cx="847350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15" name="Google Shape;715;p28"/>
          <p:cNvSpPr txBox="1"/>
          <p:nvPr/>
        </p:nvSpPr>
        <p:spPr>
          <a:xfrm>
            <a:off x="4813201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716" name="Google Shape;716;p28"/>
          <p:cNvCxnSpPr/>
          <p:nvPr/>
        </p:nvCxnSpPr>
        <p:spPr>
          <a:xfrm>
            <a:off x="5376300" y="1796950"/>
            <a:ext cx="414600" cy="29100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17" name="Google Shape;717;p28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9" name="Google Shape;719;p28"/>
          <p:cNvCxnSpPr>
            <a:stCxn id="717" idx="0"/>
            <a:endCxn id="718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28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721" name="Google Shape;721;p28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22" name="Google Shape;722;p28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723" name="Google Shape;723;p28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28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9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732" name="Google Shape;732;p29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3" name="Google Shape;733;p29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4" name="Google Shape;734;p29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5" name="Google Shape;735;p29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9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9" name="Google Shape;739;p29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0" name="Google Shape;740;p29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1" name="Google Shape;741;p29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29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3" name="Google Shape;743;p29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9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5" name="Google Shape;745;p29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29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7" name="Google Shape;747;p29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9" name="Google Shape;749;p29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29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29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9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753" name="Google Shape;753;p29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29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p29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9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8" name="Google Shape;758;p29"/>
          <p:cNvCxnSpPr>
            <a:stCxn id="756" idx="0"/>
            <a:endCxn id="757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29"/>
          <p:cNvCxnSpPr>
            <a:endCxn id="757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0" name="Google Shape;760;p29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62" name="Google Shape;762;p29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763" name="Google Shape;763;p29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29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29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29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29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29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9" name="Google Shape;769;p29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0" name="Google Shape;770;p29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1" name="Google Shape;771;p29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2" name="Google Shape;772;p29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3" name="Google Shape;773;p29"/>
          <p:cNvCxnSpPr/>
          <p:nvPr/>
        </p:nvCxnSpPr>
        <p:spPr>
          <a:xfrm rot="10800000">
            <a:off x="1113116" y="3264829"/>
            <a:ext cx="48630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74" name="Google Shape;774;p29"/>
          <p:cNvCxnSpPr/>
          <p:nvPr/>
        </p:nvCxnSpPr>
        <p:spPr>
          <a:xfrm rot="10800000">
            <a:off x="1978916" y="3259275"/>
            <a:ext cx="3997200" cy="360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29"/>
          <p:cNvCxnSpPr/>
          <p:nvPr/>
        </p:nvCxnSpPr>
        <p:spPr>
          <a:xfrm rot="10800000">
            <a:off x="2720944" y="3273675"/>
            <a:ext cx="3264600" cy="346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29"/>
          <p:cNvCxnSpPr/>
          <p:nvPr/>
        </p:nvCxnSpPr>
        <p:spPr>
          <a:xfrm rot="10800000">
            <a:off x="3477544" y="3281175"/>
            <a:ext cx="2508000" cy="339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77" name="Google Shape;777;p29"/>
          <p:cNvCxnSpPr/>
          <p:nvPr/>
        </p:nvCxnSpPr>
        <p:spPr>
          <a:xfrm rot="10800000">
            <a:off x="4241351" y="3310044"/>
            <a:ext cx="1744200" cy="305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29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29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29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29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29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3" name="Google Shape;783;p29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84" name="Google Shape;784;p29"/>
          <p:cNvCxnSpPr>
            <a:endCxn id="785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29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6" name="Google Shape;786;p29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7" name="Google Shape;787;p29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8" name="Google Shape;788;p29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89" name="Google Shape;789;p29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29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29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29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29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4" name="Google Shape;794;p29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5" name="Google Shape;795;p29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Y2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6" name="Google Shape;796;p29"/>
          <p:cNvCxnSpPr/>
          <p:nvPr/>
        </p:nvCxnSpPr>
        <p:spPr>
          <a:xfrm rot="10800000">
            <a:off x="5985547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7" name="Google Shape;797;p29"/>
          <p:cNvSpPr txBox="1"/>
          <p:nvPr/>
        </p:nvSpPr>
        <p:spPr>
          <a:xfrm>
            <a:off x="5604302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798" name="Google Shape;798;p29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9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0" name="Google Shape;800;p29"/>
          <p:cNvCxnSpPr>
            <a:stCxn id="798" idx="0"/>
            <a:endCxn id="799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p29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802" name="Google Shape;802;p29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29"/>
          <p:cNvSpPr/>
          <p:nvPr/>
        </p:nvSpPr>
        <p:spPr>
          <a:xfrm>
            <a:off x="4267050" y="1430125"/>
            <a:ext cx="1700970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804" name="Google Shape;804;p29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805" name="Google Shape;805;p29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7" name="Google Shape;807;p29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0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814" name="Google Shape;814;p30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15" name="Google Shape;815;p30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16" name="Google Shape;816;p30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17" name="Google Shape;817;p30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0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0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1" name="Google Shape;821;p30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30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3" name="Google Shape;823;p30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30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30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0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7" name="Google Shape;827;p30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30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9" name="Google Shape;829;p30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1" name="Google Shape;831;p30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30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3" name="Google Shape;833;p30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0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835" name="Google Shape;835;p30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30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30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0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0" name="Google Shape;840;p30"/>
          <p:cNvCxnSpPr>
            <a:stCxn id="838" idx="0"/>
            <a:endCxn id="839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1" name="Google Shape;841;p30"/>
          <p:cNvCxnSpPr>
            <a:endCxn id="839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" name="Google Shape;842;p30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843" name="Google Shape;843;p30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44" name="Google Shape;844;p30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845" name="Google Shape;845;p30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30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30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30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30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p30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1" name="Google Shape;851;p30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30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3" name="Google Shape;853;p30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4" name="Google Shape;854;p30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5" name="Google Shape;855;p30"/>
          <p:cNvCxnSpPr/>
          <p:nvPr/>
        </p:nvCxnSpPr>
        <p:spPr>
          <a:xfrm rot="10800000">
            <a:off x="1113221" y="3264829"/>
            <a:ext cx="56976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30"/>
          <p:cNvCxnSpPr/>
          <p:nvPr/>
        </p:nvCxnSpPr>
        <p:spPr>
          <a:xfrm rot="10800000">
            <a:off x="2706221" y="3288375"/>
            <a:ext cx="4104600" cy="33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30"/>
          <p:cNvCxnSpPr/>
          <p:nvPr/>
        </p:nvCxnSpPr>
        <p:spPr>
          <a:xfrm rot="10800000">
            <a:off x="3465768" y="3237075"/>
            <a:ext cx="3356100" cy="38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30"/>
          <p:cNvCxnSpPr/>
          <p:nvPr/>
        </p:nvCxnSpPr>
        <p:spPr>
          <a:xfrm rot="10800000">
            <a:off x="4219601" y="3266526"/>
            <a:ext cx="2602200" cy="353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59" name="Google Shape;859;p30"/>
          <p:cNvCxnSpPr/>
          <p:nvPr/>
        </p:nvCxnSpPr>
        <p:spPr>
          <a:xfrm rot="10800000">
            <a:off x="1971477" y="3288444"/>
            <a:ext cx="4850400" cy="327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60" name="Google Shape;860;p30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1" name="Google Shape;861;p30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30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30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4" name="Google Shape;864;p30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5" name="Google Shape;865;p30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866" name="Google Shape;866;p30"/>
          <p:cNvCxnSpPr>
            <a:endCxn id="867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7" name="Google Shape;867;p30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8" name="Google Shape;868;p30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9" name="Google Shape;869;p30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V3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0" name="Google Shape;870;p30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1" name="Google Shape;871;p30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30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30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30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5" name="Google Shape;875;p30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30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7" name="Google Shape;877;p30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Y3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8" name="Google Shape;878;p30"/>
          <p:cNvCxnSpPr/>
          <p:nvPr/>
        </p:nvCxnSpPr>
        <p:spPr>
          <a:xfrm rot="10800000">
            <a:off x="6801921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9" name="Google Shape;879;p30"/>
          <p:cNvSpPr txBox="1"/>
          <p:nvPr/>
        </p:nvSpPr>
        <p:spPr>
          <a:xfrm>
            <a:off x="6420676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0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2" name="Google Shape;882;p30"/>
          <p:cNvCxnSpPr>
            <a:stCxn id="880" idx="0"/>
            <a:endCxn id="881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30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884" name="Google Shape;884;p30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5" name="Google Shape;885;p30"/>
          <p:cNvSpPr/>
          <p:nvPr/>
        </p:nvSpPr>
        <p:spPr>
          <a:xfrm>
            <a:off x="4267050" y="1430125"/>
            <a:ext cx="2470788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6" name="Google Shape;886;p30"/>
          <p:cNvSpPr/>
          <p:nvPr/>
        </p:nvSpPr>
        <p:spPr>
          <a:xfrm>
            <a:off x="6608570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0"/>
          <p:cNvSpPr/>
          <p:nvPr/>
        </p:nvSpPr>
        <p:spPr>
          <a:xfrm>
            <a:off x="66046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8" name="Google Shape;888;p30"/>
          <p:cNvCxnSpPr>
            <a:stCxn id="886" idx="0"/>
            <a:endCxn id="887" idx="4"/>
          </p:cNvCxnSpPr>
          <p:nvPr/>
        </p:nvCxnSpPr>
        <p:spPr>
          <a:xfrm rot="10800000">
            <a:off x="6817970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30"/>
          <p:cNvCxnSpPr/>
          <p:nvPr/>
        </p:nvCxnSpPr>
        <p:spPr>
          <a:xfrm>
            <a:off x="6254723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0" name="Google Shape;890;p30"/>
          <p:cNvSpPr txBox="1"/>
          <p:nvPr/>
        </p:nvSpPr>
        <p:spPr>
          <a:xfrm>
            <a:off x="647505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891" name="Google Shape;891;p30"/>
          <p:cNvSpPr txBox="1"/>
          <p:nvPr/>
        </p:nvSpPr>
        <p:spPr>
          <a:xfrm>
            <a:off x="7212770" y="518133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892" name="Google Shape;892;p30"/>
          <p:cNvSpPr txBox="1"/>
          <p:nvPr/>
        </p:nvSpPr>
        <p:spPr>
          <a:xfrm>
            <a:off x="7911792" y="51813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grpSp>
        <p:nvGrpSpPr>
          <p:cNvPr id="893" name="Google Shape;893;p30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894" name="Google Shape;894;p30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6" name="Google Shape;896;p30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1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903" name="Google Shape;903;p31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04" name="Google Shape;904;p31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05" name="Google Shape;905;p31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06" name="Google Shape;906;p31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1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1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0" name="Google Shape;910;p31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1" name="Google Shape;911;p31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2" name="Google Shape;912;p31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31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4" name="Google Shape;914;p31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1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6" name="Google Shape;916;p31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31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31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1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0" name="Google Shape;920;p31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1" name="Google Shape;921;p31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31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1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924" name="Google Shape;924;p31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31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6" name="Google Shape;926;p31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927" name="Google Shape;927;p31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1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9" name="Google Shape;929;p31"/>
          <p:cNvCxnSpPr>
            <a:stCxn id="927" idx="0"/>
            <a:endCxn id="928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31"/>
          <p:cNvCxnSpPr>
            <a:endCxn id="928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31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32" name="Google Shape;932;p31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33" name="Google Shape;933;p31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934" name="Google Shape;934;p31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31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31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31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31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9" name="Google Shape;939;p31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0" name="Google Shape;940;p31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1" name="Google Shape;941;p31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2" name="Google Shape;942;p31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3" name="Google Shape;943;p31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44" name="Google Shape;944;p31"/>
          <p:cNvCxnSpPr/>
          <p:nvPr/>
        </p:nvCxnSpPr>
        <p:spPr>
          <a:xfrm rot="10800000">
            <a:off x="1113191" y="3264829"/>
            <a:ext cx="64872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31"/>
          <p:cNvCxnSpPr/>
          <p:nvPr/>
        </p:nvCxnSpPr>
        <p:spPr>
          <a:xfrm rot="10800000">
            <a:off x="2483891" y="3225975"/>
            <a:ext cx="5116500" cy="39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31"/>
          <p:cNvCxnSpPr/>
          <p:nvPr/>
        </p:nvCxnSpPr>
        <p:spPr>
          <a:xfrm rot="10800000">
            <a:off x="1942368" y="3259275"/>
            <a:ext cx="5670600" cy="360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31"/>
          <p:cNvCxnSpPr/>
          <p:nvPr/>
        </p:nvCxnSpPr>
        <p:spPr>
          <a:xfrm rot="10800000">
            <a:off x="3455568" y="3281175"/>
            <a:ext cx="4157400" cy="339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31"/>
          <p:cNvCxnSpPr/>
          <p:nvPr/>
        </p:nvCxnSpPr>
        <p:spPr>
          <a:xfrm rot="10800000">
            <a:off x="4219678" y="3288444"/>
            <a:ext cx="3393300" cy="327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9" name="Google Shape;949;p31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0" name="Google Shape;950;p31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31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2" name="Google Shape;952;p31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31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4" name="Google Shape;954;p31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55" name="Google Shape;955;p31"/>
          <p:cNvCxnSpPr>
            <a:endCxn id="956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31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7" name="Google Shape;957;p31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8" name="Google Shape;958;p31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  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V4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9" name="Google Shape;959;p31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0" name="Google Shape;960;p31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31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2" name="Google Shape;962;p31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31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4" name="Google Shape;964;p31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31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6" name="Google Shape;966;p31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Y4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7" name="Google Shape;967;p31"/>
          <p:cNvCxnSpPr/>
          <p:nvPr/>
        </p:nvCxnSpPr>
        <p:spPr>
          <a:xfrm rot="10800000">
            <a:off x="7596471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31"/>
          <p:cNvSpPr txBox="1"/>
          <p:nvPr/>
        </p:nvSpPr>
        <p:spPr>
          <a:xfrm>
            <a:off x="7215226" y="15190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Raul’s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69" name="Google Shape;969;p31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1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1" name="Google Shape;971;p31"/>
          <p:cNvCxnSpPr>
            <a:stCxn id="969" idx="0"/>
            <a:endCxn id="970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31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973" name="Google Shape;973;p31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31"/>
          <p:cNvSpPr/>
          <p:nvPr/>
        </p:nvSpPr>
        <p:spPr>
          <a:xfrm>
            <a:off x="4267050" y="1430125"/>
            <a:ext cx="3242724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75" name="Google Shape;975;p31"/>
          <p:cNvSpPr/>
          <p:nvPr/>
        </p:nvSpPr>
        <p:spPr>
          <a:xfrm>
            <a:off x="6608570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1"/>
          <p:cNvSpPr/>
          <p:nvPr/>
        </p:nvSpPr>
        <p:spPr>
          <a:xfrm>
            <a:off x="66046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31"/>
          <p:cNvCxnSpPr>
            <a:stCxn id="975" idx="0"/>
            <a:endCxn id="976" idx="4"/>
          </p:cNvCxnSpPr>
          <p:nvPr/>
        </p:nvCxnSpPr>
        <p:spPr>
          <a:xfrm rot="10800000">
            <a:off x="6817970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31"/>
          <p:cNvCxnSpPr/>
          <p:nvPr/>
        </p:nvCxnSpPr>
        <p:spPr>
          <a:xfrm>
            <a:off x="6254723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9" name="Google Shape;979;p31"/>
          <p:cNvSpPr txBox="1"/>
          <p:nvPr/>
        </p:nvSpPr>
        <p:spPr>
          <a:xfrm>
            <a:off x="647505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80" name="Google Shape;980;p31"/>
          <p:cNvSpPr txBox="1"/>
          <p:nvPr/>
        </p:nvSpPr>
        <p:spPr>
          <a:xfrm>
            <a:off x="7281695" y="4716858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81" name="Google Shape;981;p31"/>
          <p:cNvSpPr txBox="1"/>
          <p:nvPr/>
        </p:nvSpPr>
        <p:spPr>
          <a:xfrm>
            <a:off x="7911792" y="51813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82" name="Google Shape;982;p31"/>
          <p:cNvSpPr/>
          <p:nvPr/>
        </p:nvSpPr>
        <p:spPr>
          <a:xfrm>
            <a:off x="73996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1"/>
          <p:cNvSpPr/>
          <p:nvPr/>
        </p:nvSpPr>
        <p:spPr>
          <a:xfrm>
            <a:off x="73957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4" name="Google Shape;984;p31"/>
          <p:cNvCxnSpPr>
            <a:stCxn id="982" idx="0"/>
            <a:endCxn id="983" idx="4"/>
          </p:cNvCxnSpPr>
          <p:nvPr/>
        </p:nvCxnSpPr>
        <p:spPr>
          <a:xfrm rot="10800000">
            <a:off x="76090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31"/>
          <p:cNvCxnSpPr/>
          <p:nvPr/>
        </p:nvCxnSpPr>
        <p:spPr>
          <a:xfrm>
            <a:off x="70458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86" name="Google Shape;986;p31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987" name="Google Shape;987;p31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9" name="Google Shape;989;p31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0" name="Google Shape;990;p31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2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996" name="Google Shape;996;p32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97" name="Google Shape;997;p32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98" name="Google Shape;998;p32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99" name="Google Shape;999;p32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00" name="Google Shape;1000;p32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2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2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3" name="Google Shape;1003;p32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4" name="Google Shape;1004;p32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5" name="Google Shape;1005;p32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6" name="Google Shape;1006;p32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7" name="Google Shape;1007;p32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2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9" name="Google Shape;1009;p32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32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32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2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3" name="Google Shape;1013;p32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32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5" name="Google Shape;1015;p32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2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017" name="Google Shape;1017;p32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32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9" name="Google Shape;1019;p32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020" name="Google Shape;1020;p32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2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2" name="Google Shape;1022;p32"/>
          <p:cNvCxnSpPr>
            <a:stCxn id="1020" idx="0"/>
            <a:endCxn id="1021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32"/>
          <p:cNvCxnSpPr>
            <a:endCxn id="1021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4" name="Google Shape;1024;p32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25" name="Google Shape;1025;p32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26" name="Google Shape;1026;p32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027" name="Google Shape;1027;p32"/>
          <p:cNvCxnSpPr/>
          <p:nvPr/>
        </p:nvCxnSpPr>
        <p:spPr>
          <a:xfrm rot="10800000">
            <a:off x="983200" y="3369529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32"/>
          <p:cNvCxnSpPr/>
          <p:nvPr/>
        </p:nvCxnSpPr>
        <p:spPr>
          <a:xfrm rot="10800000">
            <a:off x="1759662" y="3361994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32"/>
          <p:cNvCxnSpPr/>
          <p:nvPr/>
        </p:nvCxnSpPr>
        <p:spPr>
          <a:xfrm rot="10800000">
            <a:off x="2536125" y="3374955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32"/>
          <p:cNvCxnSpPr/>
          <p:nvPr/>
        </p:nvCxnSpPr>
        <p:spPr>
          <a:xfrm rot="10800000">
            <a:off x="3312588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1" name="Google Shape;1031;p32"/>
          <p:cNvCxnSpPr/>
          <p:nvPr/>
        </p:nvCxnSpPr>
        <p:spPr>
          <a:xfrm rot="10800000">
            <a:off x="4089050" y="3374628"/>
            <a:ext cx="0" cy="238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2" name="Google Shape;1032;p32"/>
          <p:cNvSpPr txBox="1"/>
          <p:nvPr/>
        </p:nvSpPr>
        <p:spPr>
          <a:xfrm>
            <a:off x="847750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3" name="Google Shape;1033;p32"/>
          <p:cNvSpPr txBox="1"/>
          <p:nvPr/>
        </p:nvSpPr>
        <p:spPr>
          <a:xfrm>
            <a:off x="1631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4" name="Google Shape;1034;p32"/>
          <p:cNvSpPr txBox="1"/>
          <p:nvPr/>
        </p:nvSpPr>
        <p:spPr>
          <a:xfrm>
            <a:off x="2393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5" name="Google Shape;1035;p32"/>
          <p:cNvSpPr txBox="1"/>
          <p:nvPr/>
        </p:nvSpPr>
        <p:spPr>
          <a:xfrm>
            <a:off x="3155575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6" name="Google Shape;1036;p32"/>
          <p:cNvSpPr txBox="1"/>
          <p:nvPr/>
        </p:nvSpPr>
        <p:spPr>
          <a:xfrm>
            <a:off x="3939401" y="2826576"/>
            <a:ext cx="22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7" name="Google Shape;1037;p32"/>
          <p:cNvCxnSpPr/>
          <p:nvPr/>
        </p:nvCxnSpPr>
        <p:spPr>
          <a:xfrm rot="10800000">
            <a:off x="1113107" y="3264829"/>
            <a:ext cx="7265700" cy="353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38" name="Google Shape;1038;p32"/>
          <p:cNvCxnSpPr/>
          <p:nvPr/>
        </p:nvCxnSpPr>
        <p:spPr>
          <a:xfrm rot="10800000">
            <a:off x="1949807" y="3266475"/>
            <a:ext cx="6429000" cy="353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39" name="Google Shape;1039;p32"/>
          <p:cNvCxnSpPr/>
          <p:nvPr/>
        </p:nvCxnSpPr>
        <p:spPr>
          <a:xfrm rot="10800000">
            <a:off x="2728294" y="3266475"/>
            <a:ext cx="5664600" cy="353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40" name="Google Shape;1040;p32"/>
          <p:cNvCxnSpPr/>
          <p:nvPr/>
        </p:nvCxnSpPr>
        <p:spPr>
          <a:xfrm rot="10800000">
            <a:off x="3484894" y="3288375"/>
            <a:ext cx="4908000" cy="33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41" name="Google Shape;1041;p32"/>
          <p:cNvCxnSpPr/>
          <p:nvPr/>
        </p:nvCxnSpPr>
        <p:spPr>
          <a:xfrm rot="10800000">
            <a:off x="4270605" y="3251844"/>
            <a:ext cx="4122300" cy="363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42" name="Google Shape;1042;p32"/>
          <p:cNvCxnSpPr/>
          <p:nvPr/>
        </p:nvCxnSpPr>
        <p:spPr>
          <a:xfrm rot="10800000">
            <a:off x="983200" y="28451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3" name="Google Shape;1043;p32"/>
          <p:cNvCxnSpPr/>
          <p:nvPr/>
        </p:nvCxnSpPr>
        <p:spPr>
          <a:xfrm rot="10800000">
            <a:off x="1759662" y="28368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4" name="Google Shape;1044;p32"/>
          <p:cNvCxnSpPr/>
          <p:nvPr/>
        </p:nvCxnSpPr>
        <p:spPr>
          <a:xfrm rot="10800000">
            <a:off x="2536125" y="28512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5" name="Google Shape;1045;p32"/>
          <p:cNvCxnSpPr/>
          <p:nvPr/>
        </p:nvCxnSpPr>
        <p:spPr>
          <a:xfrm rot="10800000">
            <a:off x="3312588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6" name="Google Shape;1046;p32"/>
          <p:cNvCxnSpPr/>
          <p:nvPr/>
        </p:nvCxnSpPr>
        <p:spPr>
          <a:xfrm rot="10800000">
            <a:off x="4089050" y="28508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7" name="Google Shape;1047;p32"/>
          <p:cNvSpPr/>
          <p:nvPr/>
        </p:nvSpPr>
        <p:spPr>
          <a:xfrm>
            <a:off x="822075" y="1917051"/>
            <a:ext cx="35211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048" name="Google Shape;1048;p32"/>
          <p:cNvCxnSpPr>
            <a:endCxn id="1049" idx="2"/>
          </p:cNvCxnSpPr>
          <p:nvPr/>
        </p:nvCxnSpPr>
        <p:spPr>
          <a:xfrm rot="10800000">
            <a:off x="2126025" y="1573474"/>
            <a:ext cx="0" cy="3237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32"/>
          <p:cNvSpPr txBox="1"/>
          <p:nvPr/>
        </p:nvSpPr>
        <p:spPr>
          <a:xfrm>
            <a:off x="717825" y="1173274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w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0" name="Google Shape;1050;p32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1" name="Google Shape;1051;p32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  V4                    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V5</a:t>
            </a: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              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2" name="Google Shape;1052;p32"/>
          <p:cNvSpPr txBox="1"/>
          <p:nvPr/>
        </p:nvSpPr>
        <p:spPr>
          <a:xfrm>
            <a:off x="823125" y="2468675"/>
            <a:ext cx="35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                   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            s</a:t>
            </a:r>
            <a:r>
              <a:rPr baseline="-25000" lang="es-419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aseline="-25000" lang="es-419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3" name="Google Shape;1053;p32"/>
          <p:cNvCxnSpPr/>
          <p:nvPr/>
        </p:nvCxnSpPr>
        <p:spPr>
          <a:xfrm rot="10800000">
            <a:off x="983200" y="2311794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32"/>
          <p:cNvCxnSpPr/>
          <p:nvPr/>
        </p:nvCxnSpPr>
        <p:spPr>
          <a:xfrm rot="10800000">
            <a:off x="1759662" y="230341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32"/>
          <p:cNvCxnSpPr/>
          <p:nvPr/>
        </p:nvCxnSpPr>
        <p:spPr>
          <a:xfrm rot="10800000">
            <a:off x="2536125" y="2317830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32"/>
          <p:cNvCxnSpPr/>
          <p:nvPr/>
        </p:nvCxnSpPr>
        <p:spPr>
          <a:xfrm rot="10800000">
            <a:off x="3312588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32"/>
          <p:cNvCxnSpPr/>
          <p:nvPr/>
        </p:nvCxnSpPr>
        <p:spPr>
          <a:xfrm rot="10800000">
            <a:off x="4089050" y="2317466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58" name="Google Shape;1058;p32"/>
          <p:cNvGrpSpPr/>
          <p:nvPr/>
        </p:nvGrpSpPr>
        <p:grpSpPr>
          <a:xfrm>
            <a:off x="3267274" y="911925"/>
            <a:ext cx="459625" cy="954300"/>
            <a:chOff x="3267274" y="911925"/>
            <a:chExt cx="459625" cy="954300"/>
          </a:xfrm>
        </p:grpSpPr>
        <p:sp>
          <p:nvSpPr>
            <p:cNvPr id="1059" name="Google Shape;1059;p32"/>
            <p:cNvSpPr txBox="1"/>
            <p:nvPr/>
          </p:nvSpPr>
          <p:spPr>
            <a:xfrm>
              <a:off x="3300299" y="911925"/>
              <a:ext cx="426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</a:t>
              </a: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h2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h3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h4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3D85C6"/>
                  </a:solidFill>
                  <a:latin typeface="Lato"/>
                  <a:ea typeface="Lato"/>
                  <a:cs typeface="Lato"/>
                  <a:sym typeface="Lato"/>
                </a:rPr>
                <a:t>h5</a:t>
              </a:r>
              <a:endParaRPr b="1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3267274" y="967600"/>
              <a:ext cx="426600" cy="836700"/>
            </a:xfrm>
            <a:prstGeom prst="bracketPair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1" name="Google Shape;1061;p32"/>
          <p:cNvSpPr txBox="1"/>
          <p:nvPr/>
        </p:nvSpPr>
        <p:spPr>
          <a:xfrm>
            <a:off x="2954832" y="1164400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2" name="Google Shape;1062;p32"/>
          <p:cNvSpPr txBox="1"/>
          <p:nvPr/>
        </p:nvSpPr>
        <p:spPr>
          <a:xfrm>
            <a:off x="3899175" y="112252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Y5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3" name="Google Shape;1063;p32"/>
          <p:cNvCxnSpPr/>
          <p:nvPr/>
        </p:nvCxnSpPr>
        <p:spPr>
          <a:xfrm rot="10800000">
            <a:off x="8358471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4" name="Google Shape;1064;p32"/>
          <p:cNvSpPr txBox="1"/>
          <p:nvPr/>
        </p:nvSpPr>
        <p:spPr>
          <a:xfrm>
            <a:off x="7817350" y="1671450"/>
            <a:ext cx="10188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&lt;END&gt; 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65" name="Google Shape;1065;p32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2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7" name="Google Shape;1067;p32"/>
          <p:cNvCxnSpPr>
            <a:stCxn id="1065" idx="0"/>
            <a:endCxn id="1066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32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069" name="Google Shape;1069;p32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0" name="Google Shape;1070;p32"/>
          <p:cNvSpPr/>
          <p:nvPr/>
        </p:nvSpPr>
        <p:spPr>
          <a:xfrm>
            <a:off x="4267050" y="1430125"/>
            <a:ext cx="4012965" cy="957775"/>
          </a:xfrm>
          <a:custGeom>
            <a:rect b="b" l="l" r="r" t="t"/>
            <a:pathLst>
              <a:path extrusionOk="0" h="38311" w="33894">
                <a:moveTo>
                  <a:pt x="0" y="0"/>
                </a:moveTo>
                <a:cubicBezTo>
                  <a:pt x="4026" y="6355"/>
                  <a:pt x="18504" y="35733"/>
                  <a:pt x="24153" y="38130"/>
                </a:cubicBezTo>
                <a:cubicBezTo>
                  <a:pt x="29802" y="40527"/>
                  <a:pt x="32271" y="18340"/>
                  <a:pt x="33894" y="14382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71" name="Google Shape;1071;p32"/>
          <p:cNvSpPr/>
          <p:nvPr/>
        </p:nvSpPr>
        <p:spPr>
          <a:xfrm>
            <a:off x="6608570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2"/>
          <p:cNvSpPr/>
          <p:nvPr/>
        </p:nvSpPr>
        <p:spPr>
          <a:xfrm>
            <a:off x="66046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3" name="Google Shape;1073;p32"/>
          <p:cNvCxnSpPr>
            <a:stCxn id="1071" idx="0"/>
            <a:endCxn id="1072" idx="4"/>
          </p:cNvCxnSpPr>
          <p:nvPr/>
        </p:nvCxnSpPr>
        <p:spPr>
          <a:xfrm rot="10800000">
            <a:off x="6817970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4" name="Google Shape;1074;p32"/>
          <p:cNvCxnSpPr/>
          <p:nvPr/>
        </p:nvCxnSpPr>
        <p:spPr>
          <a:xfrm>
            <a:off x="6254723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32"/>
          <p:cNvSpPr txBox="1"/>
          <p:nvPr/>
        </p:nvSpPr>
        <p:spPr>
          <a:xfrm>
            <a:off x="647505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76" name="Google Shape;1076;p32"/>
          <p:cNvSpPr txBox="1"/>
          <p:nvPr/>
        </p:nvSpPr>
        <p:spPr>
          <a:xfrm>
            <a:off x="7281695" y="4716858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77" name="Google Shape;1077;p32"/>
          <p:cNvSpPr txBox="1"/>
          <p:nvPr/>
        </p:nvSpPr>
        <p:spPr>
          <a:xfrm>
            <a:off x="7987992" y="47241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78" name="Google Shape;1078;p32"/>
          <p:cNvSpPr/>
          <p:nvPr/>
        </p:nvSpPr>
        <p:spPr>
          <a:xfrm>
            <a:off x="73996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2"/>
          <p:cNvSpPr/>
          <p:nvPr/>
        </p:nvSpPr>
        <p:spPr>
          <a:xfrm>
            <a:off x="73957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0" name="Google Shape;1080;p32"/>
          <p:cNvCxnSpPr>
            <a:stCxn id="1078" idx="0"/>
            <a:endCxn id="1079" idx="4"/>
          </p:cNvCxnSpPr>
          <p:nvPr/>
        </p:nvCxnSpPr>
        <p:spPr>
          <a:xfrm rot="10800000">
            <a:off x="76090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32"/>
          <p:cNvCxnSpPr/>
          <p:nvPr/>
        </p:nvCxnSpPr>
        <p:spPr>
          <a:xfrm>
            <a:off x="70458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32"/>
          <p:cNvSpPr/>
          <p:nvPr/>
        </p:nvSpPr>
        <p:spPr>
          <a:xfrm>
            <a:off x="8183496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2"/>
          <p:cNvSpPr/>
          <p:nvPr/>
        </p:nvSpPr>
        <p:spPr>
          <a:xfrm>
            <a:off x="817953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4" name="Google Shape;1084;p32"/>
          <p:cNvCxnSpPr>
            <a:stCxn id="1082" idx="0"/>
            <a:endCxn id="1083" idx="4"/>
          </p:cNvCxnSpPr>
          <p:nvPr/>
        </p:nvCxnSpPr>
        <p:spPr>
          <a:xfrm rot="10800000">
            <a:off x="8392896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32"/>
          <p:cNvCxnSpPr/>
          <p:nvPr/>
        </p:nvCxnSpPr>
        <p:spPr>
          <a:xfrm>
            <a:off x="7829649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6" name="Google Shape;1086;p32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</a:t>
            </a: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7" name="Google Shape;1087;p32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3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093" name="Google Shape;1093;p33"/>
          <p:cNvSpPr txBox="1"/>
          <p:nvPr/>
        </p:nvSpPr>
        <p:spPr>
          <a:xfrm>
            <a:off x="1391740" y="469359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4" name="Google Shape;1094;p33"/>
          <p:cNvSpPr txBox="1"/>
          <p:nvPr/>
        </p:nvSpPr>
        <p:spPr>
          <a:xfrm>
            <a:off x="2177570" y="4716546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5" name="Google Shape;1095;p33"/>
          <p:cNvSpPr txBox="1"/>
          <p:nvPr/>
        </p:nvSpPr>
        <p:spPr>
          <a:xfrm>
            <a:off x="2954033" y="471597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6" name="Google Shape;1096;p33"/>
          <p:cNvSpPr txBox="1"/>
          <p:nvPr/>
        </p:nvSpPr>
        <p:spPr>
          <a:xfrm>
            <a:off x="3653056" y="471598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1532617" y="427669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3"/>
          <p:cNvSpPr/>
          <p:nvPr/>
        </p:nvSpPr>
        <p:spPr>
          <a:xfrm>
            <a:off x="756154" y="42898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3"/>
          <p:cNvSpPr/>
          <p:nvPr/>
        </p:nvSpPr>
        <p:spPr>
          <a:xfrm>
            <a:off x="759470" y="3618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0" name="Google Shape;1100;p33"/>
          <p:cNvCxnSpPr/>
          <p:nvPr/>
        </p:nvCxnSpPr>
        <p:spPr>
          <a:xfrm rot="10800000">
            <a:off x="983200" y="404213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1" name="Google Shape;1101;p33"/>
          <p:cNvSpPr/>
          <p:nvPr/>
        </p:nvSpPr>
        <p:spPr>
          <a:xfrm>
            <a:off x="1535933" y="3604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2" name="Google Shape;1102;p33"/>
          <p:cNvCxnSpPr/>
          <p:nvPr/>
        </p:nvCxnSpPr>
        <p:spPr>
          <a:xfrm rot="10800000">
            <a:off x="1759662" y="4034181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33"/>
          <p:cNvCxnSpPr/>
          <p:nvPr/>
        </p:nvCxnSpPr>
        <p:spPr>
          <a:xfrm>
            <a:off x="1189408" y="380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33"/>
          <p:cNvSpPr/>
          <p:nvPr/>
        </p:nvSpPr>
        <p:spPr>
          <a:xfrm>
            <a:off x="2309081" y="429926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3"/>
          <p:cNvSpPr/>
          <p:nvPr/>
        </p:nvSpPr>
        <p:spPr>
          <a:xfrm>
            <a:off x="2312397" y="3627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6" name="Google Shape;1106;p33"/>
          <p:cNvCxnSpPr/>
          <p:nvPr/>
        </p:nvCxnSpPr>
        <p:spPr>
          <a:xfrm rot="10800000">
            <a:off x="2536125" y="4047854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33"/>
          <p:cNvCxnSpPr/>
          <p:nvPr/>
        </p:nvCxnSpPr>
        <p:spPr>
          <a:xfrm>
            <a:off x="1965871" y="3824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8" name="Google Shape;1108;p33"/>
          <p:cNvSpPr/>
          <p:nvPr/>
        </p:nvSpPr>
        <p:spPr>
          <a:xfrm>
            <a:off x="3085544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3"/>
          <p:cNvSpPr/>
          <p:nvPr/>
        </p:nvSpPr>
        <p:spPr>
          <a:xfrm>
            <a:off x="3088860" y="3626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0" name="Google Shape;1110;p33"/>
          <p:cNvCxnSpPr/>
          <p:nvPr/>
        </p:nvCxnSpPr>
        <p:spPr>
          <a:xfrm rot="10800000">
            <a:off x="3312588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33"/>
          <p:cNvCxnSpPr/>
          <p:nvPr/>
        </p:nvCxnSpPr>
        <p:spPr>
          <a:xfrm>
            <a:off x="2742335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33"/>
          <p:cNvSpPr/>
          <p:nvPr/>
        </p:nvSpPr>
        <p:spPr>
          <a:xfrm>
            <a:off x="3862008" y="42986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3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114" name="Google Shape;1114;p33"/>
          <p:cNvCxnSpPr/>
          <p:nvPr/>
        </p:nvCxnSpPr>
        <p:spPr>
          <a:xfrm rot="10800000">
            <a:off x="4089050" y="4047509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33"/>
          <p:cNvCxnSpPr/>
          <p:nvPr/>
        </p:nvCxnSpPr>
        <p:spPr>
          <a:xfrm>
            <a:off x="3518798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6" name="Google Shape;1116;p33"/>
          <p:cNvSpPr txBox="1"/>
          <p:nvPr/>
        </p:nvSpPr>
        <p:spPr>
          <a:xfrm rot="-5400000">
            <a:off x="-870750" y="346605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117" name="Google Shape;1117;p33"/>
          <p:cNvSpPr/>
          <p:nvPr/>
        </p:nvSpPr>
        <p:spPr>
          <a:xfrm>
            <a:off x="5026747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33"/>
          <p:cNvSpPr/>
          <p:nvPr/>
        </p:nvSpPr>
        <p:spPr>
          <a:xfrm>
            <a:off x="502278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9" name="Google Shape;1119;p33"/>
          <p:cNvCxnSpPr>
            <a:stCxn id="1117" idx="0"/>
            <a:endCxn id="1118" idx="4"/>
          </p:cNvCxnSpPr>
          <p:nvPr/>
        </p:nvCxnSpPr>
        <p:spPr>
          <a:xfrm rot="10800000">
            <a:off x="5236147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33"/>
          <p:cNvCxnSpPr>
            <a:endCxn id="1118" idx="2"/>
          </p:cNvCxnSpPr>
          <p:nvPr/>
        </p:nvCxnSpPr>
        <p:spPr>
          <a:xfrm>
            <a:off x="4295287" y="3812750"/>
            <a:ext cx="727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1" name="Google Shape;1121;p33"/>
          <p:cNvSpPr txBox="1"/>
          <p:nvPr/>
        </p:nvSpPr>
        <p:spPr>
          <a:xfrm>
            <a:off x="4676262" y="471630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22" name="Google Shape;1122;p33"/>
          <p:cNvSpPr txBox="1"/>
          <p:nvPr/>
        </p:nvSpPr>
        <p:spPr>
          <a:xfrm>
            <a:off x="417525" y="469359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23" name="Google Shape;1123;p33"/>
          <p:cNvSpPr txBox="1"/>
          <p:nvPr/>
        </p:nvSpPr>
        <p:spPr>
          <a:xfrm rot="5400000">
            <a:off x="7742717" y="386150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124" name="Google Shape;1124;p33"/>
          <p:cNvCxnSpPr/>
          <p:nvPr/>
        </p:nvCxnSpPr>
        <p:spPr>
          <a:xfrm rot="10800000">
            <a:off x="983200" y="3165485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33"/>
          <p:cNvCxnSpPr/>
          <p:nvPr/>
        </p:nvCxnSpPr>
        <p:spPr>
          <a:xfrm rot="10800000">
            <a:off x="1759662" y="3151648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33"/>
          <p:cNvCxnSpPr/>
          <p:nvPr/>
        </p:nvCxnSpPr>
        <p:spPr>
          <a:xfrm rot="10800000">
            <a:off x="2536125" y="3175446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33"/>
          <p:cNvCxnSpPr/>
          <p:nvPr/>
        </p:nvCxnSpPr>
        <p:spPr>
          <a:xfrm rot="10800000">
            <a:off x="3312588" y="3174846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33"/>
          <p:cNvCxnSpPr/>
          <p:nvPr/>
        </p:nvCxnSpPr>
        <p:spPr>
          <a:xfrm rot="10800000">
            <a:off x="4089050" y="3174846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9" name="Google Shape;1129;p33"/>
          <p:cNvSpPr/>
          <p:nvPr/>
        </p:nvSpPr>
        <p:spPr>
          <a:xfrm>
            <a:off x="822075" y="2509200"/>
            <a:ext cx="3521100" cy="5727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ATENCIÓN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0" name="Google Shape;1130;p33"/>
          <p:cNvSpPr txBox="1"/>
          <p:nvPr/>
        </p:nvSpPr>
        <p:spPr>
          <a:xfrm>
            <a:off x="8439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V4                   V5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1" name="Google Shape;1131;p33"/>
          <p:cNvSpPr txBox="1"/>
          <p:nvPr/>
        </p:nvSpPr>
        <p:spPr>
          <a:xfrm>
            <a:off x="5111100" y="4827225"/>
            <a:ext cx="36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V1                   V2                     V3                     V4                    V5                                    </a:t>
            </a:r>
            <a:endParaRPr b="1" sz="10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2" name="Google Shape;1132;p33"/>
          <p:cNvCxnSpPr/>
          <p:nvPr/>
        </p:nvCxnSpPr>
        <p:spPr>
          <a:xfrm rot="10800000">
            <a:off x="8358471" y="1782398"/>
            <a:ext cx="16500" cy="1819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3" name="Google Shape;1133;p33"/>
          <p:cNvSpPr txBox="1"/>
          <p:nvPr/>
        </p:nvSpPr>
        <p:spPr>
          <a:xfrm>
            <a:off x="7817350" y="1671450"/>
            <a:ext cx="10188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&lt;END&gt; 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34" name="Google Shape;1134;p33"/>
          <p:cNvSpPr/>
          <p:nvPr/>
        </p:nvSpPr>
        <p:spPr>
          <a:xfrm>
            <a:off x="57994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3"/>
          <p:cNvSpPr/>
          <p:nvPr/>
        </p:nvSpPr>
        <p:spPr>
          <a:xfrm>
            <a:off x="57955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6" name="Google Shape;1136;p33"/>
          <p:cNvCxnSpPr>
            <a:stCxn id="1134" idx="0"/>
            <a:endCxn id="1135" idx="4"/>
          </p:cNvCxnSpPr>
          <p:nvPr/>
        </p:nvCxnSpPr>
        <p:spPr>
          <a:xfrm rot="10800000">
            <a:off x="60088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7" name="Google Shape;1137;p33"/>
          <p:cNvSpPr txBox="1"/>
          <p:nvPr/>
        </p:nvSpPr>
        <p:spPr>
          <a:xfrm>
            <a:off x="569850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38" name="Google Shape;1138;p33"/>
          <p:cNvCxnSpPr/>
          <p:nvPr/>
        </p:nvCxnSpPr>
        <p:spPr>
          <a:xfrm>
            <a:off x="54456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9" name="Google Shape;1139;p33"/>
          <p:cNvSpPr/>
          <p:nvPr/>
        </p:nvSpPr>
        <p:spPr>
          <a:xfrm>
            <a:off x="2873675" y="1789675"/>
            <a:ext cx="5406225" cy="716075"/>
          </a:xfrm>
          <a:custGeom>
            <a:rect b="b" l="l" r="r" t="t"/>
            <a:pathLst>
              <a:path extrusionOk="0" h="28643" w="216249">
                <a:moveTo>
                  <a:pt x="0" y="3492"/>
                </a:moveTo>
                <a:cubicBezTo>
                  <a:pt x="28324" y="7682"/>
                  <a:pt x="133905" y="29213"/>
                  <a:pt x="169946" y="28631"/>
                </a:cubicBezTo>
                <a:cubicBezTo>
                  <a:pt x="205988" y="28049"/>
                  <a:pt x="208532" y="4772"/>
                  <a:pt x="216249" y="0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40" name="Google Shape;1140;p33"/>
          <p:cNvSpPr/>
          <p:nvPr/>
        </p:nvSpPr>
        <p:spPr>
          <a:xfrm>
            <a:off x="6608570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3"/>
          <p:cNvSpPr/>
          <p:nvPr/>
        </p:nvSpPr>
        <p:spPr>
          <a:xfrm>
            <a:off x="66046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33"/>
          <p:cNvCxnSpPr>
            <a:stCxn id="1140" idx="0"/>
            <a:endCxn id="1141" idx="4"/>
          </p:cNvCxnSpPr>
          <p:nvPr/>
        </p:nvCxnSpPr>
        <p:spPr>
          <a:xfrm rot="10800000">
            <a:off x="6817970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33"/>
          <p:cNvCxnSpPr/>
          <p:nvPr/>
        </p:nvCxnSpPr>
        <p:spPr>
          <a:xfrm>
            <a:off x="6254723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33"/>
          <p:cNvSpPr txBox="1"/>
          <p:nvPr/>
        </p:nvSpPr>
        <p:spPr>
          <a:xfrm>
            <a:off x="6475051" y="47194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45" name="Google Shape;1145;p33"/>
          <p:cNvSpPr txBox="1"/>
          <p:nvPr/>
        </p:nvSpPr>
        <p:spPr>
          <a:xfrm>
            <a:off x="7281695" y="4716858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46" name="Google Shape;1146;p33"/>
          <p:cNvSpPr txBox="1"/>
          <p:nvPr/>
        </p:nvSpPr>
        <p:spPr>
          <a:xfrm>
            <a:off x="7987992" y="47241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47" name="Google Shape;1147;p33"/>
          <p:cNvSpPr/>
          <p:nvPr/>
        </p:nvSpPr>
        <p:spPr>
          <a:xfrm>
            <a:off x="7399671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3"/>
          <p:cNvSpPr/>
          <p:nvPr/>
        </p:nvSpPr>
        <p:spPr>
          <a:xfrm>
            <a:off x="7395711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9" name="Google Shape;1149;p33"/>
          <p:cNvCxnSpPr>
            <a:stCxn id="1147" idx="0"/>
            <a:endCxn id="1148" idx="4"/>
          </p:cNvCxnSpPr>
          <p:nvPr/>
        </p:nvCxnSpPr>
        <p:spPr>
          <a:xfrm rot="10800000">
            <a:off x="7609071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33"/>
          <p:cNvCxnSpPr/>
          <p:nvPr/>
        </p:nvCxnSpPr>
        <p:spPr>
          <a:xfrm>
            <a:off x="7045824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1" name="Google Shape;1151;p33"/>
          <p:cNvSpPr/>
          <p:nvPr/>
        </p:nvSpPr>
        <p:spPr>
          <a:xfrm>
            <a:off x="8183496" y="428739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3"/>
          <p:cNvSpPr/>
          <p:nvPr/>
        </p:nvSpPr>
        <p:spPr>
          <a:xfrm>
            <a:off x="8179537" y="3615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3" name="Google Shape;1153;p33"/>
          <p:cNvCxnSpPr>
            <a:stCxn id="1151" idx="0"/>
            <a:endCxn id="1152" idx="4"/>
          </p:cNvCxnSpPr>
          <p:nvPr/>
        </p:nvCxnSpPr>
        <p:spPr>
          <a:xfrm rot="10800000">
            <a:off x="8392896" y="4009898"/>
            <a:ext cx="3900" cy="277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33"/>
          <p:cNvCxnSpPr/>
          <p:nvPr/>
        </p:nvCxnSpPr>
        <p:spPr>
          <a:xfrm>
            <a:off x="7829649" y="3824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5" name="Google Shape;1155;p33"/>
          <p:cNvSpPr txBox="1"/>
          <p:nvPr/>
        </p:nvSpPr>
        <p:spPr>
          <a:xfrm>
            <a:off x="822075" y="3628725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h1              h2               h3               h4              h5  </a:t>
            </a:r>
            <a:endParaRPr b="1" sz="13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6" name="Google Shape;1156;p33"/>
          <p:cNvSpPr/>
          <p:nvPr/>
        </p:nvSpPr>
        <p:spPr>
          <a:xfrm>
            <a:off x="3865324" y="3626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7" name="Google Shape;1157;p33"/>
          <p:cNvCxnSpPr/>
          <p:nvPr/>
        </p:nvCxnSpPr>
        <p:spPr>
          <a:xfrm rot="10800000">
            <a:off x="4481505" y="3019044"/>
            <a:ext cx="3911400" cy="596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33"/>
          <p:cNvCxnSpPr/>
          <p:nvPr/>
        </p:nvCxnSpPr>
        <p:spPr>
          <a:xfrm rot="10800000">
            <a:off x="2536125" y="2032446"/>
            <a:ext cx="0" cy="438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9" name="Google Shape;1159;p33"/>
          <p:cNvSpPr/>
          <p:nvPr/>
        </p:nvSpPr>
        <p:spPr>
          <a:xfrm>
            <a:off x="2316356" y="1632267"/>
            <a:ext cx="426600" cy="394200"/>
          </a:xfrm>
          <a:prstGeom prst="ellipse">
            <a:avLst/>
          </a:prstGeom>
          <a:solidFill>
            <a:srgbClr val="B45F06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3"/>
          <p:cNvSpPr txBox="1"/>
          <p:nvPr/>
        </p:nvSpPr>
        <p:spPr>
          <a:xfrm>
            <a:off x="3240250" y="716500"/>
            <a:ext cx="4577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500"/>
              <a:buFont typeface="Lato"/>
              <a:buChar char="-"/>
            </a:pPr>
            <a:r>
              <a:rPr b="1" lang="es-419" sz="15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Tamaño fijo</a:t>
            </a:r>
            <a:endParaRPr b="1" sz="15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500"/>
              <a:buFont typeface="Lato"/>
              <a:buChar char="-"/>
            </a:pPr>
            <a:r>
              <a:rPr b="1" lang="es-419" sz="15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Información de toda la secuencia (valores)</a:t>
            </a:r>
            <a:endParaRPr b="1" sz="15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500"/>
              <a:buFont typeface="Lato"/>
              <a:buChar char="-"/>
            </a:pPr>
            <a:r>
              <a:rPr b="1" lang="es-419" sz="15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En función del estado actual (query)</a:t>
            </a:r>
            <a:endParaRPr b="1" sz="15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4"/>
          <p:cNvSpPr txBox="1"/>
          <p:nvPr>
            <p:ph type="title"/>
          </p:nvPr>
        </p:nvSpPr>
        <p:spPr>
          <a:xfrm>
            <a:off x="727650" y="54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Hierarchical Attention</a:t>
            </a:r>
            <a:endParaRPr/>
          </a:p>
        </p:txBody>
      </p:sp>
      <p:sp>
        <p:nvSpPr>
          <p:cNvPr id="1166" name="Google Shape;1166;p34"/>
          <p:cNvSpPr txBox="1"/>
          <p:nvPr>
            <p:ph idx="1" type="body"/>
          </p:nvPr>
        </p:nvSpPr>
        <p:spPr>
          <a:xfrm>
            <a:off x="729450" y="1425250"/>
            <a:ext cx="7688700" cy="29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Generan embeddings o representaciones para </a:t>
            </a:r>
            <a:r>
              <a:rPr lang="es-419"/>
              <a:t>múltiples</a:t>
            </a:r>
            <a:r>
              <a:rPr lang="es-419"/>
              <a:t> inputs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7" name="Google Shape;11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125" y="1274975"/>
            <a:ext cx="2908323" cy="3784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5"/>
          <p:cNvSpPr txBox="1"/>
          <p:nvPr>
            <p:ph type="title"/>
          </p:nvPr>
        </p:nvSpPr>
        <p:spPr>
          <a:xfrm>
            <a:off x="727650" y="54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Attention as Input Selector</a:t>
            </a:r>
            <a:endParaRPr/>
          </a:p>
        </p:txBody>
      </p:sp>
      <p:sp>
        <p:nvSpPr>
          <p:cNvPr id="1173" name="Google Shape;1173;p35"/>
          <p:cNvSpPr txBox="1"/>
          <p:nvPr>
            <p:ph idx="1" type="body"/>
          </p:nvPr>
        </p:nvSpPr>
        <p:spPr>
          <a:xfrm>
            <a:off x="729450" y="1425250"/>
            <a:ext cx="7688700" cy="29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Determina que </a:t>
            </a:r>
            <a:r>
              <a:rPr lang="es-419"/>
              <a:t>input</a:t>
            </a:r>
            <a:r>
              <a:rPr lang="es-419"/>
              <a:t> es el </a:t>
            </a:r>
            <a:r>
              <a:rPr lang="es-419"/>
              <a:t>más</a:t>
            </a:r>
            <a:r>
              <a:rPr lang="es-419"/>
              <a:t> </a:t>
            </a:r>
            <a:r>
              <a:rPr lang="es-419"/>
              <a:t>importante</a:t>
            </a:r>
            <a:r>
              <a:rPr lang="es-419"/>
              <a:t> para tomar la </a:t>
            </a:r>
            <a:r>
              <a:rPr lang="es-419"/>
              <a:t>decisión</a:t>
            </a:r>
            <a:r>
              <a:rPr lang="es-419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4" name="Google Shape;11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825" y="1973046"/>
            <a:ext cx="5552176" cy="28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36"/>
          <p:cNvSpPr txBox="1"/>
          <p:nvPr>
            <p:ph type="title"/>
          </p:nvPr>
        </p:nvSpPr>
        <p:spPr>
          <a:xfrm>
            <a:off x="692700" y="643750"/>
            <a:ext cx="1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Atención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180" name="Google Shape;1180;p36"/>
          <p:cNvSpPr txBox="1"/>
          <p:nvPr>
            <p:ph type="title"/>
          </p:nvPr>
        </p:nvSpPr>
        <p:spPr>
          <a:xfrm>
            <a:off x="692700" y="1634350"/>
            <a:ext cx="68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-"/>
            </a:pPr>
            <a:r>
              <a:rPr b="0" lang="es-419" sz="2111">
                <a:solidFill>
                  <a:srgbClr val="434343"/>
                </a:solidFill>
              </a:rPr>
              <a:t>Mejora las tareas de seq2seq como la traducción</a:t>
            </a:r>
            <a:endParaRPr b="0" sz="2111">
              <a:solidFill>
                <a:srgbClr val="434343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-"/>
            </a:pPr>
            <a:r>
              <a:rPr b="0" lang="es-419" sz="2111">
                <a:solidFill>
                  <a:srgbClr val="434343"/>
                </a:solidFill>
              </a:rPr>
              <a:t>Resuelve el problema del cuello de botella</a:t>
            </a:r>
            <a:endParaRPr b="0" sz="2111">
              <a:solidFill>
                <a:srgbClr val="434343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-"/>
            </a:pPr>
            <a:r>
              <a:rPr b="0" lang="es-419" sz="2111">
                <a:solidFill>
                  <a:srgbClr val="434343"/>
                </a:solidFill>
              </a:rPr>
              <a:t>Ayuda a evitar el vanishing gradient</a:t>
            </a:r>
            <a:endParaRPr b="0" sz="2111">
              <a:solidFill>
                <a:srgbClr val="434343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-"/>
            </a:pPr>
            <a:r>
              <a:rPr b="0" lang="es-419" sz="2111">
                <a:solidFill>
                  <a:srgbClr val="434343"/>
                </a:solidFill>
              </a:rPr>
              <a:t>Ayuda a la interpretabilidad de los modelos</a:t>
            </a:r>
            <a:endParaRPr b="0" sz="2111">
              <a:solidFill>
                <a:srgbClr val="434343"/>
              </a:solidFill>
            </a:endParaRPr>
          </a:p>
          <a:p>
            <a:pPr indent="-34925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-"/>
            </a:pPr>
            <a:r>
              <a:rPr b="0" lang="es-419" sz="2111">
                <a:solidFill>
                  <a:srgbClr val="434343"/>
                </a:solidFill>
              </a:rPr>
              <a:t>selección de entradas, importancia</a:t>
            </a:r>
            <a:endParaRPr b="0" sz="2111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Transformers</a:t>
            </a:r>
            <a:endParaRPr/>
          </a:p>
        </p:txBody>
      </p:sp>
      <p:sp>
        <p:nvSpPr>
          <p:cNvPr id="1186" name="Google Shape;1186;p37"/>
          <p:cNvSpPr txBox="1"/>
          <p:nvPr/>
        </p:nvSpPr>
        <p:spPr>
          <a:xfrm>
            <a:off x="6096550" y="44079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Vaswani, A. (2017). Attention is all you need. In </a:t>
            </a:r>
            <a:r>
              <a:rPr i="1" lang="es-419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Advances in neural information processing systems</a:t>
            </a:r>
            <a:r>
              <a:rPr lang="es-419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(pp. 5998-6008).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8"/>
          <p:cNvSpPr txBox="1"/>
          <p:nvPr/>
        </p:nvSpPr>
        <p:spPr>
          <a:xfrm>
            <a:off x="585728" y="2157413"/>
            <a:ext cx="3972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Calibri"/>
              <a:buNone/>
            </a:pPr>
            <a:r>
              <a:rPr b="0" i="1" lang="es-419" sz="2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Voy a guardar el queso en el [ ? 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9"/>
          <p:cNvSpPr txBox="1"/>
          <p:nvPr/>
        </p:nvSpPr>
        <p:spPr>
          <a:xfrm>
            <a:off x="587171" y="2207388"/>
            <a:ext cx="3972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Calibri"/>
              <a:buNone/>
            </a:pPr>
            <a:r>
              <a:rPr b="0" i="1" lang="es-419" sz="2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Voy a guardar el queso en el [ ? 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9"/>
          <p:cNvSpPr/>
          <p:nvPr/>
        </p:nvSpPr>
        <p:spPr>
          <a:xfrm flipH="1">
            <a:off x="1178684" y="2001898"/>
            <a:ext cx="3086100" cy="446100"/>
          </a:xfrm>
          <a:prstGeom prst="arc">
            <a:avLst>
              <a:gd fmla="val 10673901" name="adj1"/>
              <a:gd fmla="val 2612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9"/>
          <p:cNvSpPr/>
          <p:nvPr/>
        </p:nvSpPr>
        <p:spPr>
          <a:xfrm flipH="1">
            <a:off x="861884" y="2001896"/>
            <a:ext cx="3402900" cy="446100"/>
          </a:xfrm>
          <a:prstGeom prst="arc">
            <a:avLst>
              <a:gd fmla="val 1067390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9"/>
          <p:cNvSpPr/>
          <p:nvPr/>
        </p:nvSpPr>
        <p:spPr>
          <a:xfrm flipH="1">
            <a:off x="1678184" y="2001895"/>
            <a:ext cx="2586600" cy="446100"/>
          </a:xfrm>
          <a:prstGeom prst="arc">
            <a:avLst>
              <a:gd fmla="val 1067390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9"/>
          <p:cNvSpPr/>
          <p:nvPr/>
        </p:nvSpPr>
        <p:spPr>
          <a:xfrm flipH="1">
            <a:off x="2378983" y="2001894"/>
            <a:ext cx="1885800" cy="446100"/>
          </a:xfrm>
          <a:prstGeom prst="arc">
            <a:avLst>
              <a:gd fmla="val 1067390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9"/>
          <p:cNvSpPr/>
          <p:nvPr/>
        </p:nvSpPr>
        <p:spPr>
          <a:xfrm flipH="1">
            <a:off x="2874740" y="1972080"/>
            <a:ext cx="1368300" cy="556800"/>
          </a:xfrm>
          <a:prstGeom prst="arc">
            <a:avLst>
              <a:gd fmla="val 1067390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9"/>
          <p:cNvSpPr/>
          <p:nvPr/>
        </p:nvSpPr>
        <p:spPr>
          <a:xfrm flipH="1">
            <a:off x="3399054" y="1890704"/>
            <a:ext cx="876600" cy="719400"/>
          </a:xfrm>
          <a:prstGeom prst="arc">
            <a:avLst>
              <a:gd fmla="val 1032702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9"/>
          <p:cNvSpPr/>
          <p:nvPr/>
        </p:nvSpPr>
        <p:spPr>
          <a:xfrm flipH="1">
            <a:off x="3746840" y="1837902"/>
            <a:ext cx="496200" cy="845100"/>
          </a:xfrm>
          <a:prstGeom prst="arc">
            <a:avLst>
              <a:gd fmla="val 1032702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" name="Google Shape;1208;p40"/>
          <p:cNvGrpSpPr/>
          <p:nvPr/>
        </p:nvGrpSpPr>
        <p:grpSpPr>
          <a:xfrm>
            <a:off x="510324" y="1836977"/>
            <a:ext cx="4130664" cy="1586588"/>
            <a:chOff x="-7" y="3120077"/>
            <a:chExt cx="5507552" cy="2115451"/>
          </a:xfrm>
        </p:grpSpPr>
        <p:sp>
          <p:nvSpPr>
            <p:cNvPr id="1209" name="Google Shape;1209;p40"/>
            <p:cNvSpPr txBox="1"/>
            <p:nvPr/>
          </p:nvSpPr>
          <p:spPr>
            <a:xfrm>
              <a:off x="82345" y="3612725"/>
              <a:ext cx="54252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300"/>
                <a:buFont typeface="Calibri"/>
                <a:buNone/>
              </a:pPr>
              <a:r>
                <a:rPr b="0" i="1" lang="es-419" sz="2300" u="none" cap="none" strike="noStrike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Voy a guardar el queso en el [ ? ]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0"/>
            <p:cNvSpPr/>
            <p:nvPr/>
          </p:nvSpPr>
          <p:spPr>
            <a:xfrm flipH="1">
              <a:off x="871029" y="3338738"/>
              <a:ext cx="4114800" cy="594600"/>
            </a:xfrm>
            <a:prstGeom prst="arc">
              <a:avLst>
                <a:gd fmla="val 10673901" name="adj1"/>
                <a:gd fmla="val 2612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0"/>
            <p:cNvSpPr/>
            <p:nvPr/>
          </p:nvSpPr>
          <p:spPr>
            <a:xfrm flipH="1">
              <a:off x="448629" y="3338736"/>
              <a:ext cx="45372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0"/>
            <p:cNvSpPr/>
            <p:nvPr/>
          </p:nvSpPr>
          <p:spPr>
            <a:xfrm flipH="1">
              <a:off x="1537028" y="3338734"/>
              <a:ext cx="34488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0"/>
            <p:cNvSpPr/>
            <p:nvPr/>
          </p:nvSpPr>
          <p:spPr>
            <a:xfrm flipH="1">
              <a:off x="2471227" y="3338733"/>
              <a:ext cx="25146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0"/>
            <p:cNvSpPr/>
            <p:nvPr/>
          </p:nvSpPr>
          <p:spPr>
            <a:xfrm flipH="1">
              <a:off x="3132237" y="3298981"/>
              <a:ext cx="1824600" cy="7422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0"/>
            <p:cNvSpPr/>
            <p:nvPr/>
          </p:nvSpPr>
          <p:spPr>
            <a:xfrm flipH="1">
              <a:off x="3831522" y="3190479"/>
              <a:ext cx="1168800" cy="959100"/>
            </a:xfrm>
            <a:prstGeom prst="arc">
              <a:avLst>
                <a:gd fmla="val 1032702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0"/>
            <p:cNvSpPr/>
            <p:nvPr/>
          </p:nvSpPr>
          <p:spPr>
            <a:xfrm flipH="1">
              <a:off x="4295037" y="3120077"/>
              <a:ext cx="661800" cy="1126800"/>
            </a:xfrm>
            <a:prstGeom prst="arc">
              <a:avLst>
                <a:gd fmla="val 1032702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0"/>
            <p:cNvSpPr/>
            <p:nvPr/>
          </p:nvSpPr>
          <p:spPr>
            <a:xfrm flipH="1">
              <a:off x="3983922" y="3342879"/>
              <a:ext cx="1168800" cy="959100"/>
            </a:xfrm>
            <a:prstGeom prst="arc">
              <a:avLst>
                <a:gd fmla="val 1032702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8" name="Google Shape;1218;p40"/>
            <p:cNvCxnSpPr/>
            <p:nvPr/>
          </p:nvCxnSpPr>
          <p:spPr>
            <a:xfrm>
              <a:off x="339285" y="41205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9" name="Google Shape;1219;p40"/>
            <p:cNvCxnSpPr/>
            <p:nvPr/>
          </p:nvCxnSpPr>
          <p:spPr>
            <a:xfrm>
              <a:off x="745132" y="41205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0" name="Google Shape;1220;p40"/>
            <p:cNvCxnSpPr/>
            <p:nvPr/>
          </p:nvCxnSpPr>
          <p:spPr>
            <a:xfrm>
              <a:off x="1536949" y="41205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1" name="Google Shape;1221;p40"/>
            <p:cNvCxnSpPr/>
            <p:nvPr/>
          </p:nvCxnSpPr>
          <p:spPr>
            <a:xfrm>
              <a:off x="2404966" y="41205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2" name="Google Shape;1222;p40"/>
            <p:cNvCxnSpPr/>
            <p:nvPr/>
          </p:nvCxnSpPr>
          <p:spPr>
            <a:xfrm>
              <a:off x="3069231" y="41205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3" name="Google Shape;1223;p40"/>
            <p:cNvCxnSpPr/>
            <p:nvPr/>
          </p:nvCxnSpPr>
          <p:spPr>
            <a:xfrm>
              <a:off x="3831645" y="4133815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4" name="Google Shape;1224;p40"/>
            <p:cNvCxnSpPr/>
            <p:nvPr/>
          </p:nvCxnSpPr>
          <p:spPr>
            <a:xfrm>
              <a:off x="4295059" y="4114791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25" name="Google Shape;1225;p40"/>
            <p:cNvSpPr txBox="1"/>
            <p:nvPr/>
          </p:nvSpPr>
          <p:spPr>
            <a:xfrm>
              <a:off x="-7" y="48560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0"/>
            <p:cNvSpPr txBox="1"/>
            <p:nvPr/>
          </p:nvSpPr>
          <p:spPr>
            <a:xfrm>
              <a:off x="538067" y="48560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0"/>
            <p:cNvSpPr txBox="1"/>
            <p:nvPr/>
          </p:nvSpPr>
          <p:spPr>
            <a:xfrm>
              <a:off x="1164600" y="48560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0"/>
            <p:cNvSpPr txBox="1"/>
            <p:nvPr/>
          </p:nvSpPr>
          <p:spPr>
            <a:xfrm>
              <a:off x="2104399" y="48560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0"/>
            <p:cNvSpPr txBox="1"/>
            <p:nvPr/>
          </p:nvSpPr>
          <p:spPr>
            <a:xfrm>
              <a:off x="2755964" y="48560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0"/>
            <p:cNvSpPr txBox="1"/>
            <p:nvPr/>
          </p:nvSpPr>
          <p:spPr>
            <a:xfrm>
              <a:off x="3560407" y="4854133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0"/>
            <p:cNvSpPr txBox="1"/>
            <p:nvPr/>
          </p:nvSpPr>
          <p:spPr>
            <a:xfrm>
              <a:off x="4051583" y="4854133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2" name="Google Shape;1232;p40"/>
          <p:cNvSpPr/>
          <p:nvPr/>
        </p:nvSpPr>
        <p:spPr>
          <a:xfrm flipH="1">
            <a:off x="3722634" y="1837902"/>
            <a:ext cx="496200" cy="845100"/>
          </a:xfrm>
          <a:prstGeom prst="arc">
            <a:avLst>
              <a:gd fmla="val 10327021" name="adj1"/>
              <a:gd fmla="val 35498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oogle Shape;1237;p41"/>
          <p:cNvGrpSpPr/>
          <p:nvPr/>
        </p:nvGrpSpPr>
        <p:grpSpPr>
          <a:xfrm>
            <a:off x="702896" y="1404208"/>
            <a:ext cx="4017093" cy="2439557"/>
            <a:chOff x="5778146" y="1702877"/>
            <a:chExt cx="5356124" cy="3252742"/>
          </a:xfrm>
        </p:grpSpPr>
        <p:sp>
          <p:nvSpPr>
            <p:cNvPr id="1238" name="Google Shape;1238;p41"/>
            <p:cNvSpPr txBox="1"/>
            <p:nvPr/>
          </p:nvSpPr>
          <p:spPr>
            <a:xfrm>
              <a:off x="5918770" y="2195525"/>
              <a:ext cx="521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300"/>
                <a:buFont typeface="Calibri"/>
                <a:buNone/>
              </a:pPr>
              <a:r>
                <a:rPr b="0" i="1" lang="es-419" sz="2300" u="none" cap="none" strike="noStrike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Voy a guardar el queso en el [ ? ]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1"/>
            <p:cNvSpPr/>
            <p:nvPr/>
          </p:nvSpPr>
          <p:spPr>
            <a:xfrm flipH="1">
              <a:off x="6707454" y="1921538"/>
              <a:ext cx="4114800" cy="594600"/>
            </a:xfrm>
            <a:prstGeom prst="arc">
              <a:avLst>
                <a:gd fmla="val 10673901" name="adj1"/>
                <a:gd fmla="val 2612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1"/>
            <p:cNvSpPr/>
            <p:nvPr/>
          </p:nvSpPr>
          <p:spPr>
            <a:xfrm flipH="1">
              <a:off x="6285054" y="1921536"/>
              <a:ext cx="45372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1"/>
            <p:cNvSpPr/>
            <p:nvPr/>
          </p:nvSpPr>
          <p:spPr>
            <a:xfrm flipH="1">
              <a:off x="7373453" y="1921534"/>
              <a:ext cx="34488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1"/>
            <p:cNvSpPr/>
            <p:nvPr/>
          </p:nvSpPr>
          <p:spPr>
            <a:xfrm flipH="1">
              <a:off x="8307652" y="1921533"/>
              <a:ext cx="2514600" cy="5946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1"/>
            <p:cNvSpPr/>
            <p:nvPr/>
          </p:nvSpPr>
          <p:spPr>
            <a:xfrm flipH="1">
              <a:off x="8968662" y="1881781"/>
              <a:ext cx="1824600" cy="742200"/>
            </a:xfrm>
            <a:prstGeom prst="arc">
              <a:avLst>
                <a:gd fmla="val 1067390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1"/>
            <p:cNvSpPr/>
            <p:nvPr/>
          </p:nvSpPr>
          <p:spPr>
            <a:xfrm flipH="1">
              <a:off x="9667947" y="1773279"/>
              <a:ext cx="1168800" cy="959100"/>
            </a:xfrm>
            <a:prstGeom prst="arc">
              <a:avLst>
                <a:gd fmla="val 1032702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1"/>
            <p:cNvSpPr/>
            <p:nvPr/>
          </p:nvSpPr>
          <p:spPr>
            <a:xfrm flipH="1">
              <a:off x="10131462" y="1702877"/>
              <a:ext cx="661800" cy="1126800"/>
            </a:xfrm>
            <a:prstGeom prst="arc">
              <a:avLst>
                <a:gd fmla="val 10327021" name="adj1"/>
                <a:gd fmla="val 35498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46" name="Google Shape;1246;p41"/>
            <p:cNvCxnSpPr/>
            <p:nvPr/>
          </p:nvCxnSpPr>
          <p:spPr>
            <a:xfrm>
              <a:off x="6175710" y="27033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47" name="Google Shape;1247;p41"/>
            <p:cNvCxnSpPr/>
            <p:nvPr/>
          </p:nvCxnSpPr>
          <p:spPr>
            <a:xfrm>
              <a:off x="6581557" y="27033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48" name="Google Shape;1248;p41"/>
            <p:cNvCxnSpPr/>
            <p:nvPr/>
          </p:nvCxnSpPr>
          <p:spPr>
            <a:xfrm>
              <a:off x="7373374" y="27033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49" name="Google Shape;1249;p41"/>
            <p:cNvCxnSpPr/>
            <p:nvPr/>
          </p:nvCxnSpPr>
          <p:spPr>
            <a:xfrm>
              <a:off x="8241391" y="27033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0" name="Google Shape;1250;p41"/>
            <p:cNvCxnSpPr/>
            <p:nvPr/>
          </p:nvCxnSpPr>
          <p:spPr>
            <a:xfrm>
              <a:off x="8905656" y="2703363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1" name="Google Shape;1251;p41"/>
            <p:cNvCxnSpPr/>
            <p:nvPr/>
          </p:nvCxnSpPr>
          <p:spPr>
            <a:xfrm>
              <a:off x="9668070" y="2716615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2" name="Google Shape;1252;p41"/>
            <p:cNvCxnSpPr/>
            <p:nvPr/>
          </p:nvCxnSpPr>
          <p:spPr>
            <a:xfrm>
              <a:off x="10131484" y="2697591"/>
              <a:ext cx="0" cy="654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53" name="Google Shape;1253;p41"/>
            <p:cNvSpPr txBox="1"/>
            <p:nvPr/>
          </p:nvSpPr>
          <p:spPr>
            <a:xfrm>
              <a:off x="5836418" y="34388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1"/>
            <p:cNvSpPr txBox="1"/>
            <p:nvPr/>
          </p:nvSpPr>
          <p:spPr>
            <a:xfrm>
              <a:off x="6374492" y="34388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1"/>
            <p:cNvSpPr txBox="1"/>
            <p:nvPr/>
          </p:nvSpPr>
          <p:spPr>
            <a:xfrm>
              <a:off x="7001025" y="34388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41"/>
            <p:cNvSpPr txBox="1"/>
            <p:nvPr/>
          </p:nvSpPr>
          <p:spPr>
            <a:xfrm>
              <a:off x="7940824" y="34388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41"/>
            <p:cNvSpPr txBox="1"/>
            <p:nvPr/>
          </p:nvSpPr>
          <p:spPr>
            <a:xfrm>
              <a:off x="8592389" y="3438828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1"/>
            <p:cNvSpPr txBox="1"/>
            <p:nvPr/>
          </p:nvSpPr>
          <p:spPr>
            <a:xfrm>
              <a:off x="9396832" y="3436933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1"/>
            <p:cNvSpPr txBox="1"/>
            <p:nvPr/>
          </p:nvSpPr>
          <p:spPr>
            <a:xfrm>
              <a:off x="9888008" y="3436933"/>
              <a:ext cx="62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s-419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13%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1"/>
            <p:cNvSpPr/>
            <p:nvPr/>
          </p:nvSpPr>
          <p:spPr>
            <a:xfrm rot="-5400000">
              <a:off x="7892696" y="1743582"/>
              <a:ext cx="452100" cy="46812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41"/>
            <p:cNvSpPr txBox="1"/>
            <p:nvPr/>
          </p:nvSpPr>
          <p:spPr>
            <a:xfrm>
              <a:off x="7038534" y="4391319"/>
              <a:ext cx="21606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1" lang="es-419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refrigerador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42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267" name="Google Shape;1267;p42"/>
          <p:cNvSpPr txBox="1"/>
          <p:nvPr/>
        </p:nvSpPr>
        <p:spPr>
          <a:xfrm>
            <a:off x="191700" y="1283525"/>
            <a:ext cx="87606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En lugar de mirar las palabras de una secuencia de forma aislada o en un contexto limitado, el </a:t>
            </a:r>
            <a:r>
              <a:rPr b="1" lang="es-419" sz="16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mecanismo de atención</a:t>
            </a: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permite que cada palabra "vea" y se relacione con todas las demás palabras en la secuencia, proporcionando una comprensión contextual más rica.</a:t>
            </a:r>
            <a:endParaRPr sz="1600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8" name="Google Shape;1268;p42"/>
          <p:cNvPicPr preferRelativeResize="0"/>
          <p:nvPr/>
        </p:nvPicPr>
        <p:blipFill rotWithShape="1">
          <a:blip r:embed="rId3">
            <a:alphaModFix/>
          </a:blip>
          <a:srcRect b="0" l="-1209" r="-427" t="0"/>
          <a:stretch/>
        </p:blipFill>
        <p:spPr>
          <a:xfrm rot="5400000">
            <a:off x="6269350" y="2604150"/>
            <a:ext cx="2797775" cy="20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42"/>
          <p:cNvSpPr txBox="1"/>
          <p:nvPr/>
        </p:nvSpPr>
        <p:spPr>
          <a:xfrm>
            <a:off x="191700" y="2278925"/>
            <a:ext cx="621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Cada token calcula su representación ponderando al resto de los tokens en la secuencia.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0" name="Google Shape;127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63" y="3042100"/>
            <a:ext cx="2534175" cy="184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0095" y="2725625"/>
            <a:ext cx="1328809" cy="24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3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Ventajas sobre RNNs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277" name="Google Shape;1277;p43"/>
          <p:cNvSpPr txBox="1"/>
          <p:nvPr/>
        </p:nvSpPr>
        <p:spPr>
          <a:xfrm>
            <a:off x="191700" y="1466775"/>
            <a:ext cx="8760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RNNs no permiten </a:t>
            </a: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interacción</a:t>
            </a: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directa</a:t>
            </a: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: 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Los token no tienen interacción directa, a medida que se alejan la relación se desvanece. 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Fuerza interacción lineal.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Procesamiento en Paralelo: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A diferencia de las RNNs que procesan secuencias paso a paso, los Transformers pueden procesar todos los elementos de la secuencia simultáneamente, lo que los hace significativamente más rápidos y escalables.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Dependencias a Largo Plazo: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Las RNNs tienen problemas con dependencias a largo plazo debido al desvanecimiento del gradiente. Los Transformers, con su mecanismo de atención, pueden capturar mejor estas dependencias.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Arquitectura más flexible</a:t>
            </a: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Los transformers pueden usar diferentes tipos de atención, diferentes tipos de capas, y son más adaptables a diferentes tareas o dominios.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Positional Embeddings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45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Codificación Posicional en Transformers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288" name="Google Shape;1288;p45"/>
          <p:cNvSpPr txBox="1"/>
          <p:nvPr/>
        </p:nvSpPr>
        <p:spPr>
          <a:xfrm>
            <a:off x="191700" y="1271300"/>
            <a:ext cx="87606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Ausencia de Orden: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A diferencia de las RNNs los Transformers procesan la entrada en paralelo. Esto significa que, por defecto, no tienen una noción del orden de los datos.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Importancia del Orden: 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En muchas tareas de NLP, el orden de las palabras es esencial para entender el significado. Por ejemplo, "Juan golpeó a Pedro" tiene un significado diferente de "Pedro golpeó a Juan".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Positional Embeddings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Idea: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Proporcionar a los Transformers información sobre la posición de cada palabra en una secuencia.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Suma a los Embeddings: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Estas codificaciones se suman directamente a los embeddings de palabras antes de pasar por el modelo.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6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Codificación Posicional en Transformers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294" name="Google Shape;1294;p46"/>
          <p:cNvSpPr txBox="1"/>
          <p:nvPr/>
        </p:nvSpPr>
        <p:spPr>
          <a:xfrm>
            <a:off x="249875" y="1386475"/>
            <a:ext cx="87606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Solución: 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Para la posición p y la dimensión i del embedding, las codificaciones se calculan como: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Ventajas</a:t>
            </a:r>
            <a:endParaRPr b="1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Desambiguación: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Proporciona claridad donde el orden de las palabras es crucial para el significado.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Escala a Secuencias de Diferentes Longitudes: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A diferencia de los embeddings aprendidos que requieren una longitud fija, las codificaciones sinusoidales pueden calcularse para secuencias de cualquier longitud.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5" name="Google Shape;1295;p46"/>
          <p:cNvPicPr preferRelativeResize="0"/>
          <p:nvPr/>
        </p:nvPicPr>
        <p:blipFill rotWithShape="1">
          <a:blip r:embed="rId3">
            <a:alphaModFix/>
          </a:blip>
          <a:srcRect b="0" l="0" r="0" t="7792"/>
          <a:stretch/>
        </p:blipFill>
        <p:spPr>
          <a:xfrm>
            <a:off x="406650" y="1957088"/>
            <a:ext cx="3477375" cy="12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0825" y="1739275"/>
            <a:ext cx="4446525" cy="23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7"/>
          <p:cNvSpPr txBox="1"/>
          <p:nvPr/>
        </p:nvSpPr>
        <p:spPr>
          <a:xfrm>
            <a:off x="392050" y="1353550"/>
            <a:ext cx="835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s-419" sz="2000">
                <a:latin typeface="Lato"/>
                <a:ea typeface="Lato"/>
                <a:cs typeface="Lato"/>
                <a:sym typeface="Lato"/>
              </a:rPr>
              <a:t> ganó y sumó 3 puntos que lo dejan en la punta del campeonato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2" name="Google Shape;1302;p47"/>
          <p:cNvCxnSpPr/>
          <p:nvPr/>
        </p:nvCxnSpPr>
        <p:spPr>
          <a:xfrm>
            <a:off x="104762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3" name="Google Shape;1303;p47"/>
          <p:cNvCxnSpPr/>
          <p:nvPr/>
        </p:nvCxnSpPr>
        <p:spPr>
          <a:xfrm>
            <a:off x="165722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4" name="Google Shape;1304;p47"/>
          <p:cNvCxnSpPr/>
          <p:nvPr/>
        </p:nvCxnSpPr>
        <p:spPr>
          <a:xfrm>
            <a:off x="205277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47"/>
          <p:cNvCxnSpPr/>
          <p:nvPr/>
        </p:nvCxnSpPr>
        <p:spPr>
          <a:xfrm>
            <a:off x="249542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6" name="Google Shape;1306;p47"/>
          <p:cNvCxnSpPr/>
          <p:nvPr/>
        </p:nvCxnSpPr>
        <p:spPr>
          <a:xfrm>
            <a:off x="2927351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7" name="Google Shape;1307;p47"/>
          <p:cNvCxnSpPr/>
          <p:nvPr/>
        </p:nvCxnSpPr>
        <p:spPr>
          <a:xfrm>
            <a:off x="3460751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47"/>
          <p:cNvCxnSpPr/>
          <p:nvPr/>
        </p:nvCxnSpPr>
        <p:spPr>
          <a:xfrm>
            <a:off x="4146551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9" name="Google Shape;1309;p47"/>
          <p:cNvCxnSpPr/>
          <p:nvPr/>
        </p:nvCxnSpPr>
        <p:spPr>
          <a:xfrm>
            <a:off x="4494624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0" name="Google Shape;1310;p47"/>
          <p:cNvCxnSpPr/>
          <p:nvPr/>
        </p:nvCxnSpPr>
        <p:spPr>
          <a:xfrm>
            <a:off x="494837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47"/>
          <p:cNvCxnSpPr/>
          <p:nvPr/>
        </p:nvCxnSpPr>
        <p:spPr>
          <a:xfrm>
            <a:off x="548177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47"/>
          <p:cNvCxnSpPr/>
          <p:nvPr/>
        </p:nvCxnSpPr>
        <p:spPr>
          <a:xfrm>
            <a:off x="5764750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3" name="Google Shape;1313;p47"/>
          <p:cNvCxnSpPr/>
          <p:nvPr/>
        </p:nvCxnSpPr>
        <p:spPr>
          <a:xfrm>
            <a:off x="6243775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47"/>
          <p:cNvCxnSpPr/>
          <p:nvPr/>
        </p:nvCxnSpPr>
        <p:spPr>
          <a:xfrm>
            <a:off x="6816999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47"/>
          <p:cNvCxnSpPr/>
          <p:nvPr/>
        </p:nvCxnSpPr>
        <p:spPr>
          <a:xfrm>
            <a:off x="7807599" y="2004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6" name="Google Shape;1316;p47"/>
          <p:cNvSpPr/>
          <p:nvPr/>
        </p:nvSpPr>
        <p:spPr>
          <a:xfrm>
            <a:off x="92387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7"/>
          <p:cNvSpPr/>
          <p:nvPr/>
        </p:nvSpPr>
        <p:spPr>
          <a:xfrm>
            <a:off x="193247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7"/>
          <p:cNvSpPr/>
          <p:nvPr/>
        </p:nvSpPr>
        <p:spPr>
          <a:xfrm>
            <a:off x="237167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47"/>
          <p:cNvSpPr/>
          <p:nvPr/>
        </p:nvSpPr>
        <p:spPr>
          <a:xfrm>
            <a:off x="2803588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47"/>
          <p:cNvSpPr/>
          <p:nvPr/>
        </p:nvSpPr>
        <p:spPr>
          <a:xfrm>
            <a:off x="3336812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47"/>
          <p:cNvSpPr/>
          <p:nvPr/>
        </p:nvSpPr>
        <p:spPr>
          <a:xfrm>
            <a:off x="4022800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47"/>
          <p:cNvSpPr/>
          <p:nvPr/>
        </p:nvSpPr>
        <p:spPr>
          <a:xfrm>
            <a:off x="4370874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7"/>
          <p:cNvSpPr/>
          <p:nvPr/>
        </p:nvSpPr>
        <p:spPr>
          <a:xfrm>
            <a:off x="482462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7"/>
          <p:cNvSpPr/>
          <p:nvPr/>
        </p:nvSpPr>
        <p:spPr>
          <a:xfrm>
            <a:off x="535802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7"/>
          <p:cNvSpPr/>
          <p:nvPr/>
        </p:nvSpPr>
        <p:spPr>
          <a:xfrm>
            <a:off x="5641000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47"/>
          <p:cNvSpPr/>
          <p:nvPr/>
        </p:nvSpPr>
        <p:spPr>
          <a:xfrm>
            <a:off x="6120025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47"/>
          <p:cNvSpPr/>
          <p:nvPr/>
        </p:nvSpPr>
        <p:spPr>
          <a:xfrm>
            <a:off x="6693250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7"/>
          <p:cNvSpPr/>
          <p:nvPr/>
        </p:nvSpPr>
        <p:spPr>
          <a:xfrm>
            <a:off x="7683850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47"/>
          <p:cNvSpPr/>
          <p:nvPr/>
        </p:nvSpPr>
        <p:spPr>
          <a:xfrm>
            <a:off x="1533476" y="22665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47"/>
          <p:cNvSpPr txBox="1"/>
          <p:nvPr/>
        </p:nvSpPr>
        <p:spPr>
          <a:xfrm>
            <a:off x="88947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1" name="Google Shape;1331;p47"/>
          <p:cNvSpPr txBox="1"/>
          <p:nvPr/>
        </p:nvSpPr>
        <p:spPr>
          <a:xfrm>
            <a:off x="149907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2" name="Google Shape;1332;p47"/>
          <p:cNvSpPr txBox="1"/>
          <p:nvPr/>
        </p:nvSpPr>
        <p:spPr>
          <a:xfrm>
            <a:off x="188735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3" name="Google Shape;1333;p47"/>
          <p:cNvSpPr txBox="1"/>
          <p:nvPr/>
        </p:nvSpPr>
        <p:spPr>
          <a:xfrm>
            <a:off x="233000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4" name="Google Shape;1334;p47"/>
          <p:cNvSpPr txBox="1"/>
          <p:nvPr/>
        </p:nvSpPr>
        <p:spPr>
          <a:xfrm>
            <a:off x="275810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5" name="Google Shape;1335;p47"/>
          <p:cNvSpPr txBox="1"/>
          <p:nvPr/>
        </p:nvSpPr>
        <p:spPr>
          <a:xfrm>
            <a:off x="329150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6" name="Google Shape;1336;p47"/>
          <p:cNvSpPr txBox="1"/>
          <p:nvPr/>
        </p:nvSpPr>
        <p:spPr>
          <a:xfrm>
            <a:off x="397730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7" name="Google Shape;1337;p47"/>
          <p:cNvSpPr txBox="1"/>
          <p:nvPr/>
        </p:nvSpPr>
        <p:spPr>
          <a:xfrm>
            <a:off x="433302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8" name="Google Shape;1338;p47"/>
          <p:cNvSpPr txBox="1"/>
          <p:nvPr/>
        </p:nvSpPr>
        <p:spPr>
          <a:xfrm>
            <a:off x="478295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9" name="Google Shape;1339;p47"/>
          <p:cNvSpPr txBox="1"/>
          <p:nvPr/>
        </p:nvSpPr>
        <p:spPr>
          <a:xfrm>
            <a:off x="529452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0" name="Google Shape;1340;p47"/>
          <p:cNvSpPr txBox="1"/>
          <p:nvPr/>
        </p:nvSpPr>
        <p:spPr>
          <a:xfrm>
            <a:off x="5577500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1" name="Google Shape;1341;p47"/>
          <p:cNvSpPr txBox="1"/>
          <p:nvPr/>
        </p:nvSpPr>
        <p:spPr>
          <a:xfrm>
            <a:off x="605652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2" name="Google Shape;1342;p47"/>
          <p:cNvSpPr txBox="1"/>
          <p:nvPr/>
        </p:nvSpPr>
        <p:spPr>
          <a:xfrm>
            <a:off x="6637025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3" name="Google Shape;1343;p47"/>
          <p:cNvSpPr txBox="1"/>
          <p:nvPr/>
        </p:nvSpPr>
        <p:spPr>
          <a:xfrm>
            <a:off x="7620349" y="2211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4" name="Google Shape;1344;p47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Positional Encoding</a:t>
            </a:r>
            <a:endParaRPr sz="2400">
              <a:solidFill>
                <a:srgbClr val="434343"/>
              </a:solidFill>
            </a:endParaRPr>
          </a:p>
        </p:txBody>
      </p:sp>
      <p:cxnSp>
        <p:nvCxnSpPr>
          <p:cNvPr id="1345" name="Google Shape;1345;p47"/>
          <p:cNvCxnSpPr/>
          <p:nvPr/>
        </p:nvCxnSpPr>
        <p:spPr>
          <a:xfrm>
            <a:off x="104762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6" name="Google Shape;1346;p47"/>
          <p:cNvCxnSpPr/>
          <p:nvPr/>
        </p:nvCxnSpPr>
        <p:spPr>
          <a:xfrm>
            <a:off x="165722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7" name="Google Shape;1347;p47"/>
          <p:cNvCxnSpPr/>
          <p:nvPr/>
        </p:nvCxnSpPr>
        <p:spPr>
          <a:xfrm>
            <a:off x="205277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8" name="Google Shape;1348;p47"/>
          <p:cNvCxnSpPr/>
          <p:nvPr/>
        </p:nvCxnSpPr>
        <p:spPr>
          <a:xfrm>
            <a:off x="249542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9" name="Google Shape;1349;p47"/>
          <p:cNvCxnSpPr/>
          <p:nvPr/>
        </p:nvCxnSpPr>
        <p:spPr>
          <a:xfrm>
            <a:off x="2927351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47"/>
          <p:cNvCxnSpPr/>
          <p:nvPr/>
        </p:nvCxnSpPr>
        <p:spPr>
          <a:xfrm>
            <a:off x="3460751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47"/>
          <p:cNvCxnSpPr/>
          <p:nvPr/>
        </p:nvCxnSpPr>
        <p:spPr>
          <a:xfrm>
            <a:off x="4146551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47"/>
          <p:cNvCxnSpPr/>
          <p:nvPr/>
        </p:nvCxnSpPr>
        <p:spPr>
          <a:xfrm>
            <a:off x="4494624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3" name="Google Shape;1353;p47"/>
          <p:cNvCxnSpPr/>
          <p:nvPr/>
        </p:nvCxnSpPr>
        <p:spPr>
          <a:xfrm>
            <a:off x="494837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4" name="Google Shape;1354;p47"/>
          <p:cNvCxnSpPr/>
          <p:nvPr/>
        </p:nvCxnSpPr>
        <p:spPr>
          <a:xfrm>
            <a:off x="548177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47"/>
          <p:cNvCxnSpPr/>
          <p:nvPr/>
        </p:nvCxnSpPr>
        <p:spPr>
          <a:xfrm>
            <a:off x="5764750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47"/>
          <p:cNvCxnSpPr/>
          <p:nvPr/>
        </p:nvCxnSpPr>
        <p:spPr>
          <a:xfrm>
            <a:off x="6243775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47"/>
          <p:cNvCxnSpPr/>
          <p:nvPr/>
        </p:nvCxnSpPr>
        <p:spPr>
          <a:xfrm>
            <a:off x="6816999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47"/>
          <p:cNvCxnSpPr/>
          <p:nvPr/>
        </p:nvCxnSpPr>
        <p:spPr>
          <a:xfrm>
            <a:off x="7807599" y="2538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9" name="Google Shape;1359;p47"/>
          <p:cNvCxnSpPr/>
          <p:nvPr/>
        </p:nvCxnSpPr>
        <p:spPr>
          <a:xfrm>
            <a:off x="104762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0" name="Google Shape;1360;p47"/>
          <p:cNvCxnSpPr/>
          <p:nvPr/>
        </p:nvCxnSpPr>
        <p:spPr>
          <a:xfrm>
            <a:off x="165722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47"/>
          <p:cNvCxnSpPr/>
          <p:nvPr/>
        </p:nvCxnSpPr>
        <p:spPr>
          <a:xfrm>
            <a:off x="205277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2" name="Google Shape;1362;p47"/>
          <p:cNvCxnSpPr/>
          <p:nvPr/>
        </p:nvCxnSpPr>
        <p:spPr>
          <a:xfrm>
            <a:off x="249542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47"/>
          <p:cNvCxnSpPr/>
          <p:nvPr/>
        </p:nvCxnSpPr>
        <p:spPr>
          <a:xfrm>
            <a:off x="2927351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4" name="Google Shape;1364;p47"/>
          <p:cNvCxnSpPr/>
          <p:nvPr/>
        </p:nvCxnSpPr>
        <p:spPr>
          <a:xfrm>
            <a:off x="3460751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5" name="Google Shape;1365;p47"/>
          <p:cNvCxnSpPr/>
          <p:nvPr/>
        </p:nvCxnSpPr>
        <p:spPr>
          <a:xfrm>
            <a:off x="4146551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6" name="Google Shape;1366;p47"/>
          <p:cNvCxnSpPr/>
          <p:nvPr/>
        </p:nvCxnSpPr>
        <p:spPr>
          <a:xfrm>
            <a:off x="4494624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7" name="Google Shape;1367;p47"/>
          <p:cNvCxnSpPr/>
          <p:nvPr/>
        </p:nvCxnSpPr>
        <p:spPr>
          <a:xfrm>
            <a:off x="494837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8" name="Google Shape;1368;p47"/>
          <p:cNvCxnSpPr/>
          <p:nvPr/>
        </p:nvCxnSpPr>
        <p:spPr>
          <a:xfrm>
            <a:off x="548177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9" name="Google Shape;1369;p47"/>
          <p:cNvCxnSpPr/>
          <p:nvPr/>
        </p:nvCxnSpPr>
        <p:spPr>
          <a:xfrm>
            <a:off x="5764750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0" name="Google Shape;1370;p47"/>
          <p:cNvCxnSpPr/>
          <p:nvPr/>
        </p:nvCxnSpPr>
        <p:spPr>
          <a:xfrm>
            <a:off x="6243775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1" name="Google Shape;1371;p47"/>
          <p:cNvCxnSpPr/>
          <p:nvPr/>
        </p:nvCxnSpPr>
        <p:spPr>
          <a:xfrm>
            <a:off x="6816999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2" name="Google Shape;1372;p47"/>
          <p:cNvCxnSpPr/>
          <p:nvPr/>
        </p:nvCxnSpPr>
        <p:spPr>
          <a:xfrm>
            <a:off x="7807599" y="31478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47"/>
          <p:cNvSpPr/>
          <p:nvPr/>
        </p:nvSpPr>
        <p:spPr>
          <a:xfrm>
            <a:off x="92387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47"/>
          <p:cNvSpPr/>
          <p:nvPr/>
        </p:nvSpPr>
        <p:spPr>
          <a:xfrm>
            <a:off x="193247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47"/>
          <p:cNvSpPr/>
          <p:nvPr/>
        </p:nvSpPr>
        <p:spPr>
          <a:xfrm>
            <a:off x="237167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7"/>
          <p:cNvSpPr/>
          <p:nvPr/>
        </p:nvSpPr>
        <p:spPr>
          <a:xfrm>
            <a:off x="2803588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47"/>
          <p:cNvSpPr/>
          <p:nvPr/>
        </p:nvSpPr>
        <p:spPr>
          <a:xfrm>
            <a:off x="3336812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47"/>
          <p:cNvSpPr/>
          <p:nvPr/>
        </p:nvSpPr>
        <p:spPr>
          <a:xfrm>
            <a:off x="4022800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47"/>
          <p:cNvSpPr/>
          <p:nvPr/>
        </p:nvSpPr>
        <p:spPr>
          <a:xfrm>
            <a:off x="4370874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47"/>
          <p:cNvSpPr/>
          <p:nvPr/>
        </p:nvSpPr>
        <p:spPr>
          <a:xfrm>
            <a:off x="482462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47"/>
          <p:cNvSpPr/>
          <p:nvPr/>
        </p:nvSpPr>
        <p:spPr>
          <a:xfrm>
            <a:off x="535802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47"/>
          <p:cNvSpPr/>
          <p:nvPr/>
        </p:nvSpPr>
        <p:spPr>
          <a:xfrm>
            <a:off x="5641000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47"/>
          <p:cNvSpPr/>
          <p:nvPr/>
        </p:nvSpPr>
        <p:spPr>
          <a:xfrm>
            <a:off x="6120025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47"/>
          <p:cNvSpPr/>
          <p:nvPr/>
        </p:nvSpPr>
        <p:spPr>
          <a:xfrm>
            <a:off x="6693250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47"/>
          <p:cNvSpPr/>
          <p:nvPr/>
        </p:nvSpPr>
        <p:spPr>
          <a:xfrm>
            <a:off x="7683850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47"/>
          <p:cNvSpPr/>
          <p:nvPr/>
        </p:nvSpPr>
        <p:spPr>
          <a:xfrm>
            <a:off x="1533476" y="3409500"/>
            <a:ext cx="247500" cy="2475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47"/>
          <p:cNvSpPr txBox="1"/>
          <p:nvPr/>
        </p:nvSpPr>
        <p:spPr>
          <a:xfrm>
            <a:off x="88947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8" name="Google Shape;1388;p47"/>
          <p:cNvSpPr txBox="1"/>
          <p:nvPr/>
        </p:nvSpPr>
        <p:spPr>
          <a:xfrm>
            <a:off x="149907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9" name="Google Shape;1389;p47"/>
          <p:cNvSpPr txBox="1"/>
          <p:nvPr/>
        </p:nvSpPr>
        <p:spPr>
          <a:xfrm>
            <a:off x="188735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0" name="Google Shape;1390;p47"/>
          <p:cNvSpPr txBox="1"/>
          <p:nvPr/>
        </p:nvSpPr>
        <p:spPr>
          <a:xfrm>
            <a:off x="233000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1" name="Google Shape;1391;p47"/>
          <p:cNvSpPr txBox="1"/>
          <p:nvPr/>
        </p:nvSpPr>
        <p:spPr>
          <a:xfrm>
            <a:off x="275810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2" name="Google Shape;1392;p47"/>
          <p:cNvSpPr txBox="1"/>
          <p:nvPr/>
        </p:nvSpPr>
        <p:spPr>
          <a:xfrm>
            <a:off x="329150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3" name="Google Shape;1393;p47"/>
          <p:cNvSpPr txBox="1"/>
          <p:nvPr/>
        </p:nvSpPr>
        <p:spPr>
          <a:xfrm>
            <a:off x="397730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4" name="Google Shape;1394;p47"/>
          <p:cNvSpPr txBox="1"/>
          <p:nvPr/>
        </p:nvSpPr>
        <p:spPr>
          <a:xfrm>
            <a:off x="433302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5" name="Google Shape;1395;p47"/>
          <p:cNvSpPr txBox="1"/>
          <p:nvPr/>
        </p:nvSpPr>
        <p:spPr>
          <a:xfrm>
            <a:off x="478295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6" name="Google Shape;1396;p47"/>
          <p:cNvSpPr txBox="1"/>
          <p:nvPr/>
        </p:nvSpPr>
        <p:spPr>
          <a:xfrm>
            <a:off x="529452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7" name="Google Shape;1397;p47"/>
          <p:cNvSpPr txBox="1"/>
          <p:nvPr/>
        </p:nvSpPr>
        <p:spPr>
          <a:xfrm>
            <a:off x="5577500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8" name="Google Shape;1398;p47"/>
          <p:cNvSpPr txBox="1"/>
          <p:nvPr/>
        </p:nvSpPr>
        <p:spPr>
          <a:xfrm>
            <a:off x="605652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9" name="Google Shape;1399;p47"/>
          <p:cNvSpPr txBox="1"/>
          <p:nvPr/>
        </p:nvSpPr>
        <p:spPr>
          <a:xfrm>
            <a:off x="6637025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0" name="Google Shape;1400;p47"/>
          <p:cNvSpPr txBox="1"/>
          <p:nvPr/>
        </p:nvSpPr>
        <p:spPr>
          <a:xfrm>
            <a:off x="7620349" y="33549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401" name="Google Shape;1401;p47"/>
          <p:cNvCxnSpPr/>
          <p:nvPr/>
        </p:nvCxnSpPr>
        <p:spPr>
          <a:xfrm>
            <a:off x="104762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2" name="Google Shape;1402;p47"/>
          <p:cNvCxnSpPr/>
          <p:nvPr/>
        </p:nvCxnSpPr>
        <p:spPr>
          <a:xfrm>
            <a:off x="165722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3" name="Google Shape;1403;p47"/>
          <p:cNvCxnSpPr/>
          <p:nvPr/>
        </p:nvCxnSpPr>
        <p:spPr>
          <a:xfrm>
            <a:off x="205277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4" name="Google Shape;1404;p47"/>
          <p:cNvCxnSpPr/>
          <p:nvPr/>
        </p:nvCxnSpPr>
        <p:spPr>
          <a:xfrm>
            <a:off x="249542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47"/>
          <p:cNvCxnSpPr/>
          <p:nvPr/>
        </p:nvCxnSpPr>
        <p:spPr>
          <a:xfrm>
            <a:off x="2927351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6" name="Google Shape;1406;p47"/>
          <p:cNvCxnSpPr/>
          <p:nvPr/>
        </p:nvCxnSpPr>
        <p:spPr>
          <a:xfrm>
            <a:off x="3460751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7" name="Google Shape;1407;p47"/>
          <p:cNvCxnSpPr/>
          <p:nvPr/>
        </p:nvCxnSpPr>
        <p:spPr>
          <a:xfrm>
            <a:off x="4146551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47"/>
          <p:cNvCxnSpPr/>
          <p:nvPr/>
        </p:nvCxnSpPr>
        <p:spPr>
          <a:xfrm>
            <a:off x="4494624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47"/>
          <p:cNvCxnSpPr/>
          <p:nvPr/>
        </p:nvCxnSpPr>
        <p:spPr>
          <a:xfrm>
            <a:off x="494837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47"/>
          <p:cNvCxnSpPr/>
          <p:nvPr/>
        </p:nvCxnSpPr>
        <p:spPr>
          <a:xfrm>
            <a:off x="548177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47"/>
          <p:cNvCxnSpPr/>
          <p:nvPr/>
        </p:nvCxnSpPr>
        <p:spPr>
          <a:xfrm>
            <a:off x="5764750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2" name="Google Shape;1412;p47"/>
          <p:cNvCxnSpPr/>
          <p:nvPr/>
        </p:nvCxnSpPr>
        <p:spPr>
          <a:xfrm>
            <a:off x="6243775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47"/>
          <p:cNvCxnSpPr/>
          <p:nvPr/>
        </p:nvCxnSpPr>
        <p:spPr>
          <a:xfrm>
            <a:off x="6816999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4" name="Google Shape;1414;p47"/>
          <p:cNvCxnSpPr/>
          <p:nvPr/>
        </p:nvCxnSpPr>
        <p:spPr>
          <a:xfrm>
            <a:off x="7807599" y="3681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5" name="Google Shape;1415;p47"/>
          <p:cNvSpPr/>
          <p:nvPr/>
        </p:nvSpPr>
        <p:spPr>
          <a:xfrm>
            <a:off x="815250" y="2805850"/>
            <a:ext cx="73665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6" name="Google Shape;1416;p47"/>
          <p:cNvSpPr/>
          <p:nvPr/>
        </p:nvSpPr>
        <p:spPr>
          <a:xfrm>
            <a:off x="854225" y="1753600"/>
            <a:ext cx="7366500" cy="247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Embeddings Map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Self-Attention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49"/>
          <p:cNvSpPr txBox="1"/>
          <p:nvPr/>
        </p:nvSpPr>
        <p:spPr>
          <a:xfrm>
            <a:off x="392050" y="1353550"/>
            <a:ext cx="835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7" name="Google Shape;1427;p49"/>
          <p:cNvSpPr/>
          <p:nvPr/>
        </p:nvSpPr>
        <p:spPr>
          <a:xfrm flipH="1">
            <a:off x="1074868" y="1783725"/>
            <a:ext cx="6512107" cy="1169272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28" name="Google Shape;1428;p49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429" name="Google Shape;1429;p49"/>
          <p:cNvSpPr/>
          <p:nvPr/>
        </p:nvSpPr>
        <p:spPr>
          <a:xfrm flipH="1">
            <a:off x="1074855" y="1783725"/>
            <a:ext cx="5669120" cy="1321679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0" name="Google Shape;1430;p49"/>
          <p:cNvSpPr/>
          <p:nvPr/>
        </p:nvSpPr>
        <p:spPr>
          <a:xfrm flipH="1">
            <a:off x="1074624" y="1783724"/>
            <a:ext cx="5180651" cy="1474086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1" name="Google Shape;1431;p49"/>
          <p:cNvSpPr/>
          <p:nvPr/>
        </p:nvSpPr>
        <p:spPr>
          <a:xfrm flipH="1">
            <a:off x="1074563" y="1783725"/>
            <a:ext cx="4655362" cy="1626493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2" name="Google Shape;1432;p49"/>
          <p:cNvSpPr/>
          <p:nvPr/>
        </p:nvSpPr>
        <p:spPr>
          <a:xfrm flipH="1">
            <a:off x="1074611" y="1783725"/>
            <a:ext cx="4337664" cy="1778900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3" name="Google Shape;1433;p49"/>
          <p:cNvSpPr/>
          <p:nvPr/>
        </p:nvSpPr>
        <p:spPr>
          <a:xfrm flipH="1">
            <a:off x="1075167" y="1783725"/>
            <a:ext cx="3909508" cy="1931308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4" name="Google Shape;1434;p49"/>
          <p:cNvSpPr/>
          <p:nvPr/>
        </p:nvSpPr>
        <p:spPr>
          <a:xfrm flipH="1">
            <a:off x="1074888" y="1783725"/>
            <a:ext cx="3433312" cy="2083715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5" name="Google Shape;1435;p49"/>
          <p:cNvSpPr/>
          <p:nvPr/>
        </p:nvSpPr>
        <p:spPr>
          <a:xfrm flipH="1">
            <a:off x="1075201" y="1783725"/>
            <a:ext cx="3054249" cy="2236122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6" name="Google Shape;1436;p49"/>
          <p:cNvSpPr/>
          <p:nvPr/>
        </p:nvSpPr>
        <p:spPr>
          <a:xfrm flipH="1">
            <a:off x="1074996" y="1783725"/>
            <a:ext cx="2565779" cy="2388529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7" name="Google Shape;1437;p49"/>
          <p:cNvSpPr/>
          <p:nvPr/>
        </p:nvSpPr>
        <p:spPr>
          <a:xfrm flipH="1">
            <a:off x="1074959" y="1783725"/>
            <a:ext cx="1881642" cy="2540936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8" name="Google Shape;1438;p49"/>
          <p:cNvSpPr/>
          <p:nvPr/>
        </p:nvSpPr>
        <p:spPr>
          <a:xfrm flipH="1">
            <a:off x="1074957" y="1783725"/>
            <a:ext cx="1417368" cy="2693343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9" name="Google Shape;1439;p49"/>
          <p:cNvSpPr/>
          <p:nvPr/>
        </p:nvSpPr>
        <p:spPr>
          <a:xfrm flipH="1">
            <a:off x="1074642" y="1783725"/>
            <a:ext cx="1026732" cy="2845750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40" name="Google Shape;1440;p49"/>
          <p:cNvSpPr/>
          <p:nvPr/>
        </p:nvSpPr>
        <p:spPr>
          <a:xfrm flipH="1">
            <a:off x="1074765" y="1783725"/>
            <a:ext cx="696761" cy="2998157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41" name="Google Shape;1441;p49"/>
          <p:cNvSpPr/>
          <p:nvPr/>
        </p:nvSpPr>
        <p:spPr>
          <a:xfrm flipH="1">
            <a:off x="1148304" y="1783725"/>
            <a:ext cx="183395" cy="3150509"/>
          </a:xfrm>
          <a:custGeom>
            <a:rect b="b" l="l" r="r" t="t"/>
            <a:pathLst>
              <a:path extrusionOk="0" h="21827" w="140264">
                <a:moveTo>
                  <a:pt x="140264" y="0"/>
                </a:moveTo>
                <a:cubicBezTo>
                  <a:pt x="120670" y="3638"/>
                  <a:pt x="46075" y="21706"/>
                  <a:pt x="22698" y="21826"/>
                </a:cubicBezTo>
                <a:cubicBezTo>
                  <a:pt x="-679" y="21946"/>
                  <a:pt x="3783" y="4238"/>
                  <a:pt x="0" y="720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0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447" name="Google Shape;1447;p50"/>
          <p:cNvSpPr txBox="1"/>
          <p:nvPr/>
        </p:nvSpPr>
        <p:spPr>
          <a:xfrm>
            <a:off x="69900" y="1216450"/>
            <a:ext cx="9004200" cy="4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Permite al modelo centrarse en diferentes partes de la entrada simultáneamente.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Q, K, V: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Queries (Q), Keys (K) y Values (V) son derivados de los embeddings de entrada.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En el caso de la auto-atención (self-attention), Q, K, y V provienen de la misma fuente, es decir, los embeddings de entrada.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Puntuación de Atención: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Softmax y Ponderación: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Los scores se pasan por una función softmax para obtener los pesos de atención.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Estos pesos determinan cuánta atención se debe prestar a cada palabra en la secuencia.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La salida de la atención se obtiene multiplicando los pesos por los Values (V).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Representación del Token: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La representación de cada token es una suma ponderada de los Values (V) de cada palabra en la secuencia, donde los pesos provienen de la etapa de softmax.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8" name="Google Shape;144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325" y="2886700"/>
            <a:ext cx="1230422" cy="4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51"/>
          <p:cNvSpPr txBox="1"/>
          <p:nvPr/>
        </p:nvSpPr>
        <p:spPr>
          <a:xfrm>
            <a:off x="392050" y="1353550"/>
            <a:ext cx="835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4" name="Google Shape;1454;p51"/>
          <p:cNvCxnSpPr/>
          <p:nvPr/>
        </p:nvCxnSpPr>
        <p:spPr>
          <a:xfrm>
            <a:off x="10476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5" name="Google Shape;1455;p51"/>
          <p:cNvCxnSpPr/>
          <p:nvPr/>
        </p:nvCxnSpPr>
        <p:spPr>
          <a:xfrm>
            <a:off x="16572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51"/>
          <p:cNvCxnSpPr/>
          <p:nvPr/>
        </p:nvCxnSpPr>
        <p:spPr>
          <a:xfrm>
            <a:off x="2052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7" name="Google Shape;1457;p51"/>
          <p:cNvCxnSpPr/>
          <p:nvPr/>
        </p:nvCxnSpPr>
        <p:spPr>
          <a:xfrm>
            <a:off x="24954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51"/>
          <p:cNvCxnSpPr/>
          <p:nvPr/>
        </p:nvCxnSpPr>
        <p:spPr>
          <a:xfrm>
            <a:off x="29273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51"/>
          <p:cNvCxnSpPr/>
          <p:nvPr/>
        </p:nvCxnSpPr>
        <p:spPr>
          <a:xfrm>
            <a:off x="34607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51"/>
          <p:cNvCxnSpPr/>
          <p:nvPr/>
        </p:nvCxnSpPr>
        <p:spPr>
          <a:xfrm>
            <a:off x="41465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51"/>
          <p:cNvCxnSpPr/>
          <p:nvPr/>
        </p:nvCxnSpPr>
        <p:spPr>
          <a:xfrm>
            <a:off x="4494624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2" name="Google Shape;1462;p51"/>
          <p:cNvCxnSpPr/>
          <p:nvPr/>
        </p:nvCxnSpPr>
        <p:spPr>
          <a:xfrm>
            <a:off x="49483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51"/>
          <p:cNvCxnSpPr/>
          <p:nvPr/>
        </p:nvCxnSpPr>
        <p:spPr>
          <a:xfrm>
            <a:off x="5481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51"/>
          <p:cNvCxnSpPr/>
          <p:nvPr/>
        </p:nvCxnSpPr>
        <p:spPr>
          <a:xfrm>
            <a:off x="5764750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51"/>
          <p:cNvCxnSpPr/>
          <p:nvPr/>
        </p:nvCxnSpPr>
        <p:spPr>
          <a:xfrm>
            <a:off x="6243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51"/>
          <p:cNvCxnSpPr/>
          <p:nvPr/>
        </p:nvCxnSpPr>
        <p:spPr>
          <a:xfrm>
            <a:off x="6816999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51"/>
          <p:cNvCxnSpPr/>
          <p:nvPr/>
        </p:nvCxnSpPr>
        <p:spPr>
          <a:xfrm>
            <a:off x="7807599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8" name="Google Shape;1468;p51"/>
          <p:cNvSpPr/>
          <p:nvPr/>
        </p:nvSpPr>
        <p:spPr>
          <a:xfrm>
            <a:off x="9238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51"/>
          <p:cNvSpPr/>
          <p:nvPr/>
        </p:nvSpPr>
        <p:spPr>
          <a:xfrm>
            <a:off x="19324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1"/>
          <p:cNvSpPr/>
          <p:nvPr/>
        </p:nvSpPr>
        <p:spPr>
          <a:xfrm>
            <a:off x="23716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1"/>
          <p:cNvSpPr/>
          <p:nvPr/>
        </p:nvSpPr>
        <p:spPr>
          <a:xfrm>
            <a:off x="2803588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1"/>
          <p:cNvSpPr/>
          <p:nvPr/>
        </p:nvSpPr>
        <p:spPr>
          <a:xfrm>
            <a:off x="3336812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1"/>
          <p:cNvSpPr/>
          <p:nvPr/>
        </p:nvSpPr>
        <p:spPr>
          <a:xfrm>
            <a:off x="402280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1"/>
          <p:cNvSpPr/>
          <p:nvPr/>
        </p:nvSpPr>
        <p:spPr>
          <a:xfrm>
            <a:off x="4370874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1"/>
          <p:cNvSpPr/>
          <p:nvPr/>
        </p:nvSpPr>
        <p:spPr>
          <a:xfrm>
            <a:off x="48246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1"/>
          <p:cNvSpPr/>
          <p:nvPr/>
        </p:nvSpPr>
        <p:spPr>
          <a:xfrm>
            <a:off x="53580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1"/>
          <p:cNvSpPr/>
          <p:nvPr/>
        </p:nvSpPr>
        <p:spPr>
          <a:xfrm>
            <a:off x="564100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51"/>
          <p:cNvSpPr/>
          <p:nvPr/>
        </p:nvSpPr>
        <p:spPr>
          <a:xfrm>
            <a:off x="61200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51"/>
          <p:cNvSpPr/>
          <p:nvPr/>
        </p:nvSpPr>
        <p:spPr>
          <a:xfrm>
            <a:off x="669325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1"/>
          <p:cNvSpPr/>
          <p:nvPr/>
        </p:nvSpPr>
        <p:spPr>
          <a:xfrm>
            <a:off x="768385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51"/>
          <p:cNvSpPr/>
          <p:nvPr/>
        </p:nvSpPr>
        <p:spPr>
          <a:xfrm>
            <a:off x="1533476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51"/>
          <p:cNvSpPr txBox="1"/>
          <p:nvPr/>
        </p:nvSpPr>
        <p:spPr>
          <a:xfrm>
            <a:off x="88947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3" name="Google Shape;1483;p51"/>
          <p:cNvSpPr txBox="1"/>
          <p:nvPr/>
        </p:nvSpPr>
        <p:spPr>
          <a:xfrm>
            <a:off x="149907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4" name="Google Shape;1484;p51"/>
          <p:cNvSpPr txBox="1"/>
          <p:nvPr/>
        </p:nvSpPr>
        <p:spPr>
          <a:xfrm>
            <a:off x="188735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5" name="Google Shape;1485;p51"/>
          <p:cNvSpPr txBox="1"/>
          <p:nvPr/>
        </p:nvSpPr>
        <p:spPr>
          <a:xfrm>
            <a:off x="23300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6" name="Google Shape;1486;p51"/>
          <p:cNvSpPr txBox="1"/>
          <p:nvPr/>
        </p:nvSpPr>
        <p:spPr>
          <a:xfrm>
            <a:off x="27581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7" name="Google Shape;1487;p51"/>
          <p:cNvSpPr txBox="1"/>
          <p:nvPr/>
        </p:nvSpPr>
        <p:spPr>
          <a:xfrm>
            <a:off x="32915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8" name="Google Shape;1488;p51"/>
          <p:cNvSpPr txBox="1"/>
          <p:nvPr/>
        </p:nvSpPr>
        <p:spPr>
          <a:xfrm>
            <a:off x="39773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9" name="Google Shape;1489;p51"/>
          <p:cNvSpPr txBox="1"/>
          <p:nvPr/>
        </p:nvSpPr>
        <p:spPr>
          <a:xfrm>
            <a:off x="43330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0" name="Google Shape;1490;p51"/>
          <p:cNvSpPr txBox="1"/>
          <p:nvPr/>
        </p:nvSpPr>
        <p:spPr>
          <a:xfrm>
            <a:off x="478295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1" name="Google Shape;1491;p51"/>
          <p:cNvSpPr txBox="1"/>
          <p:nvPr/>
        </p:nvSpPr>
        <p:spPr>
          <a:xfrm>
            <a:off x="52945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2" name="Google Shape;1492;p51"/>
          <p:cNvSpPr txBox="1"/>
          <p:nvPr/>
        </p:nvSpPr>
        <p:spPr>
          <a:xfrm>
            <a:off x="55775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3" name="Google Shape;1493;p51"/>
          <p:cNvSpPr txBox="1"/>
          <p:nvPr/>
        </p:nvSpPr>
        <p:spPr>
          <a:xfrm>
            <a:off x="60565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4" name="Google Shape;1494;p51"/>
          <p:cNvSpPr txBox="1"/>
          <p:nvPr/>
        </p:nvSpPr>
        <p:spPr>
          <a:xfrm>
            <a:off x="66370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5" name="Google Shape;1495;p51"/>
          <p:cNvSpPr txBox="1"/>
          <p:nvPr/>
        </p:nvSpPr>
        <p:spPr>
          <a:xfrm>
            <a:off x="7620349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6" name="Google Shape;1496;p51"/>
          <p:cNvSpPr/>
          <p:nvPr/>
        </p:nvSpPr>
        <p:spPr>
          <a:xfrm>
            <a:off x="314275" y="2593125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51"/>
          <p:cNvSpPr txBox="1"/>
          <p:nvPr/>
        </p:nvSpPr>
        <p:spPr>
          <a:xfrm>
            <a:off x="279875" y="2538600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498" name="Google Shape;1498;p51"/>
          <p:cNvCxnSpPr/>
          <p:nvPr/>
        </p:nvCxnSpPr>
        <p:spPr>
          <a:xfrm>
            <a:off x="10476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51"/>
          <p:cNvCxnSpPr/>
          <p:nvPr/>
        </p:nvCxnSpPr>
        <p:spPr>
          <a:xfrm>
            <a:off x="16572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51"/>
          <p:cNvCxnSpPr/>
          <p:nvPr/>
        </p:nvCxnSpPr>
        <p:spPr>
          <a:xfrm>
            <a:off x="2052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1" name="Google Shape;1501;p51"/>
          <p:cNvCxnSpPr/>
          <p:nvPr/>
        </p:nvCxnSpPr>
        <p:spPr>
          <a:xfrm>
            <a:off x="24954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2" name="Google Shape;1502;p51"/>
          <p:cNvCxnSpPr/>
          <p:nvPr/>
        </p:nvCxnSpPr>
        <p:spPr>
          <a:xfrm>
            <a:off x="29273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51"/>
          <p:cNvCxnSpPr/>
          <p:nvPr/>
        </p:nvCxnSpPr>
        <p:spPr>
          <a:xfrm>
            <a:off x="34607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51"/>
          <p:cNvCxnSpPr/>
          <p:nvPr/>
        </p:nvCxnSpPr>
        <p:spPr>
          <a:xfrm>
            <a:off x="41465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5" name="Google Shape;1505;p51"/>
          <p:cNvCxnSpPr/>
          <p:nvPr/>
        </p:nvCxnSpPr>
        <p:spPr>
          <a:xfrm>
            <a:off x="4494624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51"/>
          <p:cNvCxnSpPr/>
          <p:nvPr/>
        </p:nvCxnSpPr>
        <p:spPr>
          <a:xfrm>
            <a:off x="49483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7" name="Google Shape;1507;p51"/>
          <p:cNvCxnSpPr/>
          <p:nvPr/>
        </p:nvCxnSpPr>
        <p:spPr>
          <a:xfrm>
            <a:off x="5481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8" name="Google Shape;1508;p51"/>
          <p:cNvCxnSpPr/>
          <p:nvPr/>
        </p:nvCxnSpPr>
        <p:spPr>
          <a:xfrm>
            <a:off x="5764750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9" name="Google Shape;1509;p51"/>
          <p:cNvCxnSpPr/>
          <p:nvPr/>
        </p:nvCxnSpPr>
        <p:spPr>
          <a:xfrm>
            <a:off x="6243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0" name="Google Shape;1510;p51"/>
          <p:cNvCxnSpPr/>
          <p:nvPr/>
        </p:nvCxnSpPr>
        <p:spPr>
          <a:xfrm>
            <a:off x="6816999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1" name="Google Shape;1511;p51"/>
          <p:cNvCxnSpPr/>
          <p:nvPr/>
        </p:nvCxnSpPr>
        <p:spPr>
          <a:xfrm>
            <a:off x="7807599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2" name="Google Shape;1512;p51"/>
          <p:cNvCxnSpPr/>
          <p:nvPr/>
        </p:nvCxnSpPr>
        <p:spPr>
          <a:xfrm rot="10800000">
            <a:off x="742825" y="2592625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3" name="Google Shape;1513;p51"/>
          <p:cNvSpPr/>
          <p:nvPr/>
        </p:nvSpPr>
        <p:spPr>
          <a:xfrm>
            <a:off x="923875" y="3710550"/>
            <a:ext cx="71055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4" name="Google Shape;1514;p51"/>
          <p:cNvSpPr txBox="1"/>
          <p:nvPr/>
        </p:nvSpPr>
        <p:spPr>
          <a:xfrm>
            <a:off x="3060475" y="4354699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... 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5" name="Google Shape;1515;p51"/>
          <p:cNvCxnSpPr/>
          <p:nvPr/>
        </p:nvCxnSpPr>
        <p:spPr>
          <a:xfrm>
            <a:off x="4447074" y="4107425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6" name="Google Shape;1516;p51"/>
          <p:cNvSpPr txBox="1"/>
          <p:nvPr/>
        </p:nvSpPr>
        <p:spPr>
          <a:xfrm>
            <a:off x="5280362" y="4077650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7" name="Google Shape;1517;p51"/>
          <p:cNvSpPr/>
          <p:nvPr/>
        </p:nvSpPr>
        <p:spPr>
          <a:xfrm>
            <a:off x="5247337" y="413332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1"/>
          <p:cNvSpPr txBox="1"/>
          <p:nvPr/>
        </p:nvSpPr>
        <p:spPr>
          <a:xfrm>
            <a:off x="4933832" y="4365825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9" name="Google Shape;1519;p51"/>
          <p:cNvSpPr txBox="1"/>
          <p:nvPr/>
        </p:nvSpPr>
        <p:spPr>
          <a:xfrm>
            <a:off x="5878175" y="4323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0" name="Google Shape;1520;p51"/>
          <p:cNvSpPr/>
          <p:nvPr/>
        </p:nvSpPr>
        <p:spPr>
          <a:xfrm>
            <a:off x="923875" y="2567550"/>
            <a:ext cx="7105500" cy="3396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1" name="Google Shape;1521;p51"/>
          <p:cNvSpPr txBox="1"/>
          <p:nvPr/>
        </p:nvSpPr>
        <p:spPr>
          <a:xfrm>
            <a:off x="3060475" y="3059299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... 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2" name="Google Shape;1522;p51"/>
          <p:cNvCxnSpPr/>
          <p:nvPr/>
        </p:nvCxnSpPr>
        <p:spPr>
          <a:xfrm>
            <a:off x="4447074" y="29100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3" name="Google Shape;1523;p51"/>
          <p:cNvCxnSpPr/>
          <p:nvPr/>
        </p:nvCxnSpPr>
        <p:spPr>
          <a:xfrm>
            <a:off x="4447074" y="34434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4" name="Google Shape;1524;p51"/>
          <p:cNvSpPr txBox="1"/>
          <p:nvPr>
            <p:ph type="title"/>
          </p:nvPr>
        </p:nvSpPr>
        <p:spPr>
          <a:xfrm>
            <a:off x="692700" y="643750"/>
            <a:ext cx="71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Self-Attention: Queries, Keys y Values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52"/>
          <p:cNvSpPr txBox="1"/>
          <p:nvPr/>
        </p:nvSpPr>
        <p:spPr>
          <a:xfrm>
            <a:off x="392050" y="1353550"/>
            <a:ext cx="835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30" name="Google Shape;1530;p52"/>
          <p:cNvCxnSpPr/>
          <p:nvPr/>
        </p:nvCxnSpPr>
        <p:spPr>
          <a:xfrm>
            <a:off x="10476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1" name="Google Shape;1531;p52"/>
          <p:cNvCxnSpPr/>
          <p:nvPr/>
        </p:nvCxnSpPr>
        <p:spPr>
          <a:xfrm>
            <a:off x="16572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2" name="Google Shape;1532;p52"/>
          <p:cNvCxnSpPr/>
          <p:nvPr/>
        </p:nvCxnSpPr>
        <p:spPr>
          <a:xfrm>
            <a:off x="2052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3" name="Google Shape;1533;p52"/>
          <p:cNvCxnSpPr/>
          <p:nvPr/>
        </p:nvCxnSpPr>
        <p:spPr>
          <a:xfrm>
            <a:off x="249542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4" name="Google Shape;1534;p52"/>
          <p:cNvCxnSpPr/>
          <p:nvPr/>
        </p:nvCxnSpPr>
        <p:spPr>
          <a:xfrm>
            <a:off x="29273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5" name="Google Shape;1535;p52"/>
          <p:cNvCxnSpPr/>
          <p:nvPr/>
        </p:nvCxnSpPr>
        <p:spPr>
          <a:xfrm>
            <a:off x="34607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6" name="Google Shape;1536;p52"/>
          <p:cNvCxnSpPr/>
          <p:nvPr/>
        </p:nvCxnSpPr>
        <p:spPr>
          <a:xfrm>
            <a:off x="4146551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7" name="Google Shape;1537;p52"/>
          <p:cNvCxnSpPr/>
          <p:nvPr/>
        </p:nvCxnSpPr>
        <p:spPr>
          <a:xfrm>
            <a:off x="4494624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8" name="Google Shape;1538;p52"/>
          <p:cNvCxnSpPr/>
          <p:nvPr/>
        </p:nvCxnSpPr>
        <p:spPr>
          <a:xfrm>
            <a:off x="49483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9" name="Google Shape;1539;p52"/>
          <p:cNvCxnSpPr/>
          <p:nvPr/>
        </p:nvCxnSpPr>
        <p:spPr>
          <a:xfrm>
            <a:off x="5481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0" name="Google Shape;1540;p52"/>
          <p:cNvCxnSpPr/>
          <p:nvPr/>
        </p:nvCxnSpPr>
        <p:spPr>
          <a:xfrm>
            <a:off x="5764750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1" name="Google Shape;1541;p52"/>
          <p:cNvCxnSpPr/>
          <p:nvPr/>
        </p:nvCxnSpPr>
        <p:spPr>
          <a:xfrm>
            <a:off x="6243775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2" name="Google Shape;1542;p52"/>
          <p:cNvCxnSpPr/>
          <p:nvPr/>
        </p:nvCxnSpPr>
        <p:spPr>
          <a:xfrm>
            <a:off x="6816999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3" name="Google Shape;1543;p52"/>
          <p:cNvCxnSpPr/>
          <p:nvPr/>
        </p:nvCxnSpPr>
        <p:spPr>
          <a:xfrm>
            <a:off x="7807599" y="17762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4" name="Google Shape;1544;p52"/>
          <p:cNvSpPr/>
          <p:nvPr/>
        </p:nvSpPr>
        <p:spPr>
          <a:xfrm>
            <a:off x="9238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52"/>
          <p:cNvSpPr/>
          <p:nvPr/>
        </p:nvSpPr>
        <p:spPr>
          <a:xfrm>
            <a:off x="19324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52"/>
          <p:cNvSpPr/>
          <p:nvPr/>
        </p:nvSpPr>
        <p:spPr>
          <a:xfrm>
            <a:off x="237167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52"/>
          <p:cNvSpPr/>
          <p:nvPr/>
        </p:nvSpPr>
        <p:spPr>
          <a:xfrm>
            <a:off x="2803588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52"/>
          <p:cNvSpPr/>
          <p:nvPr/>
        </p:nvSpPr>
        <p:spPr>
          <a:xfrm>
            <a:off x="3336812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52"/>
          <p:cNvSpPr/>
          <p:nvPr/>
        </p:nvSpPr>
        <p:spPr>
          <a:xfrm>
            <a:off x="402280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52"/>
          <p:cNvSpPr/>
          <p:nvPr/>
        </p:nvSpPr>
        <p:spPr>
          <a:xfrm>
            <a:off x="4370874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52"/>
          <p:cNvSpPr/>
          <p:nvPr/>
        </p:nvSpPr>
        <p:spPr>
          <a:xfrm>
            <a:off x="48246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52"/>
          <p:cNvSpPr/>
          <p:nvPr/>
        </p:nvSpPr>
        <p:spPr>
          <a:xfrm>
            <a:off x="53580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52"/>
          <p:cNvSpPr/>
          <p:nvPr/>
        </p:nvSpPr>
        <p:spPr>
          <a:xfrm>
            <a:off x="564100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52"/>
          <p:cNvSpPr/>
          <p:nvPr/>
        </p:nvSpPr>
        <p:spPr>
          <a:xfrm>
            <a:off x="6120025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52"/>
          <p:cNvSpPr/>
          <p:nvPr/>
        </p:nvSpPr>
        <p:spPr>
          <a:xfrm>
            <a:off x="669325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52"/>
          <p:cNvSpPr/>
          <p:nvPr/>
        </p:nvSpPr>
        <p:spPr>
          <a:xfrm>
            <a:off x="7683850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52"/>
          <p:cNvSpPr/>
          <p:nvPr/>
        </p:nvSpPr>
        <p:spPr>
          <a:xfrm>
            <a:off x="1533476" y="2037900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52"/>
          <p:cNvSpPr txBox="1"/>
          <p:nvPr/>
        </p:nvSpPr>
        <p:spPr>
          <a:xfrm>
            <a:off x="88947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9" name="Google Shape;1559;p52"/>
          <p:cNvSpPr txBox="1"/>
          <p:nvPr/>
        </p:nvSpPr>
        <p:spPr>
          <a:xfrm>
            <a:off x="149907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0" name="Google Shape;1560;p52"/>
          <p:cNvSpPr txBox="1"/>
          <p:nvPr/>
        </p:nvSpPr>
        <p:spPr>
          <a:xfrm>
            <a:off x="188735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1" name="Google Shape;1561;p52"/>
          <p:cNvSpPr txBox="1"/>
          <p:nvPr/>
        </p:nvSpPr>
        <p:spPr>
          <a:xfrm>
            <a:off x="23300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2" name="Google Shape;1562;p52"/>
          <p:cNvSpPr txBox="1"/>
          <p:nvPr/>
        </p:nvSpPr>
        <p:spPr>
          <a:xfrm>
            <a:off x="27581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3" name="Google Shape;1563;p52"/>
          <p:cNvSpPr txBox="1"/>
          <p:nvPr/>
        </p:nvSpPr>
        <p:spPr>
          <a:xfrm>
            <a:off x="32915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4" name="Google Shape;1564;p52"/>
          <p:cNvSpPr txBox="1"/>
          <p:nvPr/>
        </p:nvSpPr>
        <p:spPr>
          <a:xfrm>
            <a:off x="39773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5" name="Google Shape;1565;p52"/>
          <p:cNvSpPr txBox="1"/>
          <p:nvPr/>
        </p:nvSpPr>
        <p:spPr>
          <a:xfrm>
            <a:off x="43330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6" name="Google Shape;1566;p52"/>
          <p:cNvSpPr txBox="1"/>
          <p:nvPr/>
        </p:nvSpPr>
        <p:spPr>
          <a:xfrm>
            <a:off x="478295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7" name="Google Shape;1567;p52"/>
          <p:cNvSpPr txBox="1"/>
          <p:nvPr/>
        </p:nvSpPr>
        <p:spPr>
          <a:xfrm>
            <a:off x="52945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8" name="Google Shape;1568;p52"/>
          <p:cNvSpPr txBox="1"/>
          <p:nvPr/>
        </p:nvSpPr>
        <p:spPr>
          <a:xfrm>
            <a:off x="5577500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9" name="Google Shape;1569;p52"/>
          <p:cNvSpPr txBox="1"/>
          <p:nvPr/>
        </p:nvSpPr>
        <p:spPr>
          <a:xfrm>
            <a:off x="60565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0" name="Google Shape;1570;p52"/>
          <p:cNvSpPr txBox="1"/>
          <p:nvPr/>
        </p:nvSpPr>
        <p:spPr>
          <a:xfrm>
            <a:off x="6637025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1" name="Google Shape;1571;p52"/>
          <p:cNvSpPr txBox="1"/>
          <p:nvPr/>
        </p:nvSpPr>
        <p:spPr>
          <a:xfrm>
            <a:off x="7620349" y="1983375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2" name="Google Shape;1572;p52"/>
          <p:cNvSpPr/>
          <p:nvPr/>
        </p:nvSpPr>
        <p:spPr>
          <a:xfrm>
            <a:off x="314275" y="2593125"/>
            <a:ext cx="247500" cy="2475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52"/>
          <p:cNvSpPr txBox="1"/>
          <p:nvPr/>
        </p:nvSpPr>
        <p:spPr>
          <a:xfrm>
            <a:off x="279875" y="2538600"/>
            <a:ext cx="4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r>
              <a:rPr b="1" baseline="-25000" lang="es-419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baseline="-25000"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74" name="Google Shape;1574;p52"/>
          <p:cNvCxnSpPr/>
          <p:nvPr/>
        </p:nvCxnSpPr>
        <p:spPr>
          <a:xfrm>
            <a:off x="10476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52"/>
          <p:cNvCxnSpPr/>
          <p:nvPr/>
        </p:nvCxnSpPr>
        <p:spPr>
          <a:xfrm>
            <a:off x="16572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6" name="Google Shape;1576;p52"/>
          <p:cNvCxnSpPr/>
          <p:nvPr/>
        </p:nvCxnSpPr>
        <p:spPr>
          <a:xfrm>
            <a:off x="2052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7" name="Google Shape;1577;p52"/>
          <p:cNvCxnSpPr/>
          <p:nvPr/>
        </p:nvCxnSpPr>
        <p:spPr>
          <a:xfrm>
            <a:off x="249542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52"/>
          <p:cNvCxnSpPr/>
          <p:nvPr/>
        </p:nvCxnSpPr>
        <p:spPr>
          <a:xfrm>
            <a:off x="29273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9" name="Google Shape;1579;p52"/>
          <p:cNvCxnSpPr/>
          <p:nvPr/>
        </p:nvCxnSpPr>
        <p:spPr>
          <a:xfrm>
            <a:off x="34607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0" name="Google Shape;1580;p52"/>
          <p:cNvCxnSpPr/>
          <p:nvPr/>
        </p:nvCxnSpPr>
        <p:spPr>
          <a:xfrm>
            <a:off x="4146551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1" name="Google Shape;1581;p52"/>
          <p:cNvCxnSpPr/>
          <p:nvPr/>
        </p:nvCxnSpPr>
        <p:spPr>
          <a:xfrm>
            <a:off x="4494624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2" name="Google Shape;1582;p52"/>
          <p:cNvCxnSpPr/>
          <p:nvPr/>
        </p:nvCxnSpPr>
        <p:spPr>
          <a:xfrm>
            <a:off x="49483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3" name="Google Shape;1583;p52"/>
          <p:cNvCxnSpPr/>
          <p:nvPr/>
        </p:nvCxnSpPr>
        <p:spPr>
          <a:xfrm>
            <a:off x="5481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4" name="Google Shape;1584;p52"/>
          <p:cNvCxnSpPr/>
          <p:nvPr/>
        </p:nvCxnSpPr>
        <p:spPr>
          <a:xfrm>
            <a:off x="5764750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5" name="Google Shape;1585;p52"/>
          <p:cNvCxnSpPr/>
          <p:nvPr/>
        </p:nvCxnSpPr>
        <p:spPr>
          <a:xfrm>
            <a:off x="6243775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6" name="Google Shape;1586;p52"/>
          <p:cNvCxnSpPr/>
          <p:nvPr/>
        </p:nvCxnSpPr>
        <p:spPr>
          <a:xfrm>
            <a:off x="6816999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7" name="Google Shape;1587;p52"/>
          <p:cNvCxnSpPr/>
          <p:nvPr/>
        </p:nvCxnSpPr>
        <p:spPr>
          <a:xfrm>
            <a:off x="7807599" y="23096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8" name="Google Shape;1588;p52"/>
          <p:cNvCxnSpPr/>
          <p:nvPr/>
        </p:nvCxnSpPr>
        <p:spPr>
          <a:xfrm rot="10800000">
            <a:off x="742825" y="2592625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9" name="Google Shape;1589;p52"/>
          <p:cNvSpPr/>
          <p:nvPr/>
        </p:nvSpPr>
        <p:spPr>
          <a:xfrm>
            <a:off x="923875" y="3710550"/>
            <a:ext cx="7105500" cy="33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90" name="Google Shape;1590;p52"/>
          <p:cNvSpPr txBox="1"/>
          <p:nvPr/>
        </p:nvSpPr>
        <p:spPr>
          <a:xfrm>
            <a:off x="3060475" y="4354699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... w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1" name="Google Shape;1591;p52"/>
          <p:cNvCxnSpPr/>
          <p:nvPr/>
        </p:nvCxnSpPr>
        <p:spPr>
          <a:xfrm>
            <a:off x="4447074" y="4107425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52"/>
          <p:cNvSpPr txBox="1"/>
          <p:nvPr/>
        </p:nvSpPr>
        <p:spPr>
          <a:xfrm>
            <a:off x="5280362" y="4077650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3" name="Google Shape;1593;p52"/>
          <p:cNvSpPr/>
          <p:nvPr/>
        </p:nvSpPr>
        <p:spPr>
          <a:xfrm>
            <a:off x="5247337" y="413332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52"/>
          <p:cNvSpPr txBox="1"/>
          <p:nvPr/>
        </p:nvSpPr>
        <p:spPr>
          <a:xfrm>
            <a:off x="4933832" y="4365825"/>
            <a:ext cx="12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x               =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5" name="Google Shape;1595;p52"/>
          <p:cNvSpPr txBox="1"/>
          <p:nvPr/>
        </p:nvSpPr>
        <p:spPr>
          <a:xfrm>
            <a:off x="5878175" y="4323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1" sz="18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6" name="Google Shape;1596;p52"/>
          <p:cNvSpPr/>
          <p:nvPr/>
        </p:nvSpPr>
        <p:spPr>
          <a:xfrm>
            <a:off x="923875" y="2567550"/>
            <a:ext cx="7105500" cy="3396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97" name="Google Shape;1597;p52"/>
          <p:cNvSpPr txBox="1"/>
          <p:nvPr/>
        </p:nvSpPr>
        <p:spPr>
          <a:xfrm>
            <a:off x="3060475" y="3059299"/>
            <a:ext cx="28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[s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 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... s</a:t>
            </a:r>
            <a:r>
              <a:rPr baseline="-25000" lang="es-419">
                <a:latin typeface="Lato"/>
                <a:ea typeface="Lato"/>
                <a:cs typeface="Lato"/>
                <a:sym typeface="Lato"/>
              </a:rPr>
              <a:t>114</a:t>
            </a:r>
            <a:r>
              <a:rPr lang="es-419">
                <a:latin typeface="Lato"/>
                <a:ea typeface="Lato"/>
                <a:cs typeface="Lato"/>
                <a:sym typeface="Lato"/>
              </a:rPr>
              <a:t>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8" name="Google Shape;1598;p52"/>
          <p:cNvCxnSpPr/>
          <p:nvPr/>
        </p:nvCxnSpPr>
        <p:spPr>
          <a:xfrm>
            <a:off x="4447074" y="29100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52"/>
          <p:cNvCxnSpPr/>
          <p:nvPr/>
        </p:nvCxnSpPr>
        <p:spPr>
          <a:xfrm>
            <a:off x="4447074" y="3443451"/>
            <a:ext cx="0" cy="2475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0" name="Google Shape;1600;p52"/>
          <p:cNvSpPr txBox="1"/>
          <p:nvPr>
            <p:ph type="title"/>
          </p:nvPr>
        </p:nvSpPr>
        <p:spPr>
          <a:xfrm>
            <a:off x="692700" y="643750"/>
            <a:ext cx="71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Self-Attention: Queries, Keys y Values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601" name="Google Shape;1601;p52"/>
          <p:cNvSpPr/>
          <p:nvPr/>
        </p:nvSpPr>
        <p:spPr>
          <a:xfrm>
            <a:off x="61775" y="3057349"/>
            <a:ext cx="752400" cy="3396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Query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2" name="Google Shape;1602;p52"/>
          <p:cNvSpPr/>
          <p:nvPr/>
        </p:nvSpPr>
        <p:spPr>
          <a:xfrm>
            <a:off x="8275100" y="2006250"/>
            <a:ext cx="593400" cy="3396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Key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03" name="Google Shape;1603;p52"/>
          <p:cNvCxnSpPr/>
          <p:nvPr/>
        </p:nvCxnSpPr>
        <p:spPr>
          <a:xfrm rot="10800000">
            <a:off x="437975" y="2860138"/>
            <a:ext cx="0" cy="199500"/>
          </a:xfrm>
          <a:prstGeom prst="straightConnector1">
            <a:avLst/>
          </a:prstGeom>
          <a:noFill/>
          <a:ln cap="flat" cmpd="sng" w="19050">
            <a:solidFill>
              <a:srgbClr val="20124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4" name="Google Shape;1604;p52"/>
          <p:cNvCxnSpPr/>
          <p:nvPr/>
        </p:nvCxnSpPr>
        <p:spPr>
          <a:xfrm>
            <a:off x="8166724" y="2076312"/>
            <a:ext cx="0" cy="199500"/>
          </a:xfrm>
          <a:prstGeom prst="straightConnector1">
            <a:avLst/>
          </a:prstGeom>
          <a:noFill/>
          <a:ln cap="flat" cmpd="sng" w="19050">
            <a:solidFill>
              <a:srgbClr val="20124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5" name="Google Shape;1605;p52"/>
          <p:cNvSpPr/>
          <p:nvPr/>
        </p:nvSpPr>
        <p:spPr>
          <a:xfrm>
            <a:off x="5899356" y="4701750"/>
            <a:ext cx="1157400" cy="3396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Values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06" name="Google Shape;1606;p52"/>
          <p:cNvCxnSpPr/>
          <p:nvPr/>
        </p:nvCxnSpPr>
        <p:spPr>
          <a:xfrm>
            <a:off x="5819161" y="4777388"/>
            <a:ext cx="0" cy="199500"/>
          </a:xfrm>
          <a:prstGeom prst="straightConnector1">
            <a:avLst/>
          </a:prstGeom>
          <a:noFill/>
          <a:ln cap="flat" cmpd="sng" w="19050">
            <a:solidFill>
              <a:srgbClr val="20124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3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2" name="Google Shape;1612;p53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53"/>
          <p:cNvSpPr/>
          <p:nvPr/>
        </p:nvSpPr>
        <p:spPr>
          <a:xfrm>
            <a:off x="2442838" y="13355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4" name="Google Shape;1614;p53"/>
          <p:cNvSpPr/>
          <p:nvPr/>
        </p:nvSpPr>
        <p:spPr>
          <a:xfrm>
            <a:off x="2442838" y="2354650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5" name="Google Shape;1615;p53"/>
          <p:cNvSpPr/>
          <p:nvPr/>
        </p:nvSpPr>
        <p:spPr>
          <a:xfrm>
            <a:off x="2442813" y="33809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16" name="Google Shape;1616;p53"/>
          <p:cNvCxnSpPr>
            <a:stCxn id="1612" idx="3"/>
            <a:endCxn id="1613" idx="1"/>
          </p:cNvCxnSpPr>
          <p:nvPr/>
        </p:nvCxnSpPr>
        <p:spPr>
          <a:xfrm flipH="1" rot="10800000">
            <a:off x="1718474" y="1618300"/>
            <a:ext cx="7245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7" name="Google Shape;1617;p53"/>
          <p:cNvCxnSpPr>
            <a:stCxn id="1612" idx="3"/>
            <a:endCxn id="1614" idx="1"/>
          </p:cNvCxnSpPr>
          <p:nvPr/>
        </p:nvCxnSpPr>
        <p:spPr>
          <a:xfrm>
            <a:off x="1718474" y="2641000"/>
            <a:ext cx="724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8" name="Google Shape;1618;p53"/>
          <p:cNvCxnSpPr>
            <a:stCxn id="1612" idx="3"/>
            <a:endCxn id="1615" idx="1"/>
          </p:cNvCxnSpPr>
          <p:nvPr/>
        </p:nvCxnSpPr>
        <p:spPr>
          <a:xfrm>
            <a:off x="1718474" y="2641000"/>
            <a:ext cx="7242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9" name="Google Shape;1619;p53"/>
          <p:cNvSpPr/>
          <p:nvPr/>
        </p:nvSpPr>
        <p:spPr>
          <a:xfrm>
            <a:off x="4238713" y="1821275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20" name="Google Shape;1620;p53"/>
          <p:cNvCxnSpPr>
            <a:stCxn id="1613" idx="3"/>
            <a:endCxn id="1619" idx="1"/>
          </p:cNvCxnSpPr>
          <p:nvPr/>
        </p:nvCxnSpPr>
        <p:spPr>
          <a:xfrm>
            <a:off x="3341938" y="1618300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1" name="Google Shape;1621;p53"/>
          <p:cNvCxnSpPr>
            <a:stCxn id="1614" idx="3"/>
            <a:endCxn id="1619" idx="1"/>
          </p:cNvCxnSpPr>
          <p:nvPr/>
        </p:nvCxnSpPr>
        <p:spPr>
          <a:xfrm flipH="1" rot="10800000">
            <a:off x="3341938" y="2047600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2" name="Google Shape;1622;p53"/>
          <p:cNvCxnSpPr>
            <a:stCxn id="1619" idx="3"/>
            <a:endCxn id="1623" idx="1"/>
          </p:cNvCxnSpPr>
          <p:nvPr/>
        </p:nvCxnSpPr>
        <p:spPr>
          <a:xfrm>
            <a:off x="5934613" y="2047625"/>
            <a:ext cx="760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3" name="Google Shape;1623;p53"/>
          <p:cNvSpPr/>
          <p:nvPr/>
        </p:nvSpPr>
        <p:spPr>
          <a:xfrm>
            <a:off x="6695338" y="1821275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24" name="Google Shape;1624;p53"/>
          <p:cNvCxnSpPr>
            <a:stCxn id="1623" idx="2"/>
            <a:endCxn id="1625" idx="0"/>
          </p:cNvCxnSpPr>
          <p:nvPr/>
        </p:nvCxnSpPr>
        <p:spPr>
          <a:xfrm>
            <a:off x="7273738" y="2273975"/>
            <a:ext cx="0" cy="116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5" name="Google Shape;1625;p53"/>
          <p:cNvSpPr/>
          <p:nvPr/>
        </p:nvSpPr>
        <p:spPr>
          <a:xfrm>
            <a:off x="6544850" y="3437350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26" name="Google Shape;1626;p53"/>
          <p:cNvCxnSpPr>
            <a:stCxn id="1615" idx="3"/>
            <a:endCxn id="1625" idx="1"/>
          </p:cNvCxnSpPr>
          <p:nvPr/>
        </p:nvCxnSpPr>
        <p:spPr>
          <a:xfrm>
            <a:off x="3341913" y="3663700"/>
            <a:ext cx="3202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7" name="Google Shape;1627;p53"/>
          <p:cNvSpPr txBox="1"/>
          <p:nvPr/>
        </p:nvSpPr>
        <p:spPr>
          <a:xfrm rot="-3271401">
            <a:off x="1580580" y="1695288"/>
            <a:ext cx="982130" cy="400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Query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8" name="Google Shape;1628;p53"/>
          <p:cNvSpPr txBox="1"/>
          <p:nvPr/>
        </p:nvSpPr>
        <p:spPr>
          <a:xfrm rot="3320349">
            <a:off x="1569834" y="3139513"/>
            <a:ext cx="982210" cy="400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Values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9" name="Google Shape;1629;p53"/>
          <p:cNvSpPr txBox="1"/>
          <p:nvPr/>
        </p:nvSpPr>
        <p:spPr>
          <a:xfrm>
            <a:off x="1845504" y="2341170"/>
            <a:ext cx="9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Keys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0" name="Google Shape;1630;p53"/>
          <p:cNvSpPr txBox="1"/>
          <p:nvPr/>
        </p:nvSpPr>
        <p:spPr>
          <a:xfrm>
            <a:off x="7093674" y="413432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1" name="Google Shape;1631;p53"/>
          <p:cNvSpPr/>
          <p:nvPr/>
        </p:nvSpPr>
        <p:spPr>
          <a:xfrm>
            <a:off x="7060649" y="419000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2" name="Google Shape;1632;p53"/>
          <p:cNvCxnSpPr>
            <a:stCxn id="1625" idx="2"/>
            <a:endCxn id="1631" idx="0"/>
          </p:cNvCxnSpPr>
          <p:nvPr/>
        </p:nvCxnSpPr>
        <p:spPr>
          <a:xfrm>
            <a:off x="7273700" y="3890050"/>
            <a:ext cx="300" cy="3000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3" name="Google Shape;1633;p53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4"/>
          <p:cNvSpPr/>
          <p:nvPr/>
        </p:nvSpPr>
        <p:spPr>
          <a:xfrm>
            <a:off x="2349850" y="1273150"/>
            <a:ext cx="5776500" cy="2742600"/>
          </a:xfrm>
          <a:prstGeom prst="roundRect">
            <a:avLst>
              <a:gd fmla="val 5570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54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0" name="Google Shape;1640;p54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54"/>
          <p:cNvSpPr/>
          <p:nvPr/>
        </p:nvSpPr>
        <p:spPr>
          <a:xfrm>
            <a:off x="2442838" y="13355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2" name="Google Shape;1642;p54"/>
          <p:cNvSpPr/>
          <p:nvPr/>
        </p:nvSpPr>
        <p:spPr>
          <a:xfrm>
            <a:off x="2442838" y="2354650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3" name="Google Shape;1643;p54"/>
          <p:cNvSpPr/>
          <p:nvPr/>
        </p:nvSpPr>
        <p:spPr>
          <a:xfrm>
            <a:off x="2442813" y="33809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44" name="Google Shape;1644;p54"/>
          <p:cNvCxnSpPr>
            <a:stCxn id="1640" idx="3"/>
            <a:endCxn id="1641" idx="1"/>
          </p:cNvCxnSpPr>
          <p:nvPr/>
        </p:nvCxnSpPr>
        <p:spPr>
          <a:xfrm flipH="1" rot="10800000">
            <a:off x="1718474" y="1618300"/>
            <a:ext cx="7245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5" name="Google Shape;1645;p54"/>
          <p:cNvCxnSpPr>
            <a:stCxn id="1640" idx="3"/>
            <a:endCxn id="1642" idx="1"/>
          </p:cNvCxnSpPr>
          <p:nvPr/>
        </p:nvCxnSpPr>
        <p:spPr>
          <a:xfrm>
            <a:off x="1718474" y="2641000"/>
            <a:ext cx="724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6" name="Google Shape;1646;p54"/>
          <p:cNvCxnSpPr>
            <a:stCxn id="1640" idx="3"/>
            <a:endCxn id="1643" idx="1"/>
          </p:cNvCxnSpPr>
          <p:nvPr/>
        </p:nvCxnSpPr>
        <p:spPr>
          <a:xfrm>
            <a:off x="1718474" y="2641000"/>
            <a:ext cx="7242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7" name="Google Shape;1647;p54"/>
          <p:cNvSpPr/>
          <p:nvPr/>
        </p:nvSpPr>
        <p:spPr>
          <a:xfrm>
            <a:off x="4238713" y="1821275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48" name="Google Shape;1648;p54"/>
          <p:cNvCxnSpPr>
            <a:stCxn id="1641" idx="3"/>
            <a:endCxn id="1647" idx="1"/>
          </p:cNvCxnSpPr>
          <p:nvPr/>
        </p:nvCxnSpPr>
        <p:spPr>
          <a:xfrm>
            <a:off x="3341938" y="1618300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9" name="Google Shape;1649;p54"/>
          <p:cNvCxnSpPr>
            <a:stCxn id="1642" idx="3"/>
            <a:endCxn id="1647" idx="1"/>
          </p:cNvCxnSpPr>
          <p:nvPr/>
        </p:nvCxnSpPr>
        <p:spPr>
          <a:xfrm flipH="1" rot="10800000">
            <a:off x="3341938" y="2047600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0" name="Google Shape;1650;p54"/>
          <p:cNvCxnSpPr>
            <a:stCxn id="1647" idx="3"/>
            <a:endCxn id="1651" idx="1"/>
          </p:cNvCxnSpPr>
          <p:nvPr/>
        </p:nvCxnSpPr>
        <p:spPr>
          <a:xfrm>
            <a:off x="5934613" y="2047625"/>
            <a:ext cx="760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1" name="Google Shape;1651;p54"/>
          <p:cNvSpPr/>
          <p:nvPr/>
        </p:nvSpPr>
        <p:spPr>
          <a:xfrm>
            <a:off x="6695338" y="1821275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52" name="Google Shape;1652;p54"/>
          <p:cNvCxnSpPr>
            <a:stCxn id="1651" idx="2"/>
            <a:endCxn id="1653" idx="0"/>
          </p:cNvCxnSpPr>
          <p:nvPr/>
        </p:nvCxnSpPr>
        <p:spPr>
          <a:xfrm>
            <a:off x="7273738" y="2273975"/>
            <a:ext cx="0" cy="116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3" name="Google Shape;1653;p54"/>
          <p:cNvSpPr/>
          <p:nvPr/>
        </p:nvSpPr>
        <p:spPr>
          <a:xfrm>
            <a:off x="6544850" y="3437350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54" name="Google Shape;1654;p54"/>
          <p:cNvCxnSpPr>
            <a:stCxn id="1643" idx="3"/>
            <a:endCxn id="1653" idx="1"/>
          </p:cNvCxnSpPr>
          <p:nvPr/>
        </p:nvCxnSpPr>
        <p:spPr>
          <a:xfrm>
            <a:off x="3341913" y="3663700"/>
            <a:ext cx="3202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5" name="Google Shape;1655;p54"/>
          <p:cNvSpPr txBox="1"/>
          <p:nvPr/>
        </p:nvSpPr>
        <p:spPr>
          <a:xfrm rot="-3271401">
            <a:off x="1580580" y="1695288"/>
            <a:ext cx="982130" cy="400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Query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6" name="Google Shape;1656;p54"/>
          <p:cNvSpPr txBox="1"/>
          <p:nvPr/>
        </p:nvSpPr>
        <p:spPr>
          <a:xfrm rot="3320349">
            <a:off x="1569834" y="3139513"/>
            <a:ext cx="982210" cy="400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Values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7" name="Google Shape;1657;p54"/>
          <p:cNvSpPr txBox="1"/>
          <p:nvPr/>
        </p:nvSpPr>
        <p:spPr>
          <a:xfrm>
            <a:off x="1845504" y="2341170"/>
            <a:ext cx="9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Keys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8" name="Google Shape;1658;p54"/>
          <p:cNvSpPr txBox="1"/>
          <p:nvPr/>
        </p:nvSpPr>
        <p:spPr>
          <a:xfrm>
            <a:off x="7093674" y="413432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9" name="Google Shape;1659;p54"/>
          <p:cNvSpPr/>
          <p:nvPr/>
        </p:nvSpPr>
        <p:spPr>
          <a:xfrm>
            <a:off x="7060649" y="419000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0" name="Google Shape;1660;p54"/>
          <p:cNvCxnSpPr>
            <a:stCxn id="1653" idx="2"/>
            <a:endCxn id="1659" idx="0"/>
          </p:cNvCxnSpPr>
          <p:nvPr/>
        </p:nvCxnSpPr>
        <p:spPr>
          <a:xfrm>
            <a:off x="7273700" y="3890050"/>
            <a:ext cx="300" cy="3000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1" name="Google Shape;1661;p54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55"/>
          <p:cNvSpPr/>
          <p:nvPr/>
        </p:nvSpPr>
        <p:spPr>
          <a:xfrm>
            <a:off x="2349850" y="1273150"/>
            <a:ext cx="5776500" cy="2742600"/>
          </a:xfrm>
          <a:prstGeom prst="roundRect">
            <a:avLst>
              <a:gd fmla="val 5570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55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8" name="Google Shape;1668;p55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5"/>
          <p:cNvSpPr/>
          <p:nvPr/>
        </p:nvSpPr>
        <p:spPr>
          <a:xfrm>
            <a:off x="2442838" y="13355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70" name="Google Shape;1670;p55"/>
          <p:cNvSpPr/>
          <p:nvPr/>
        </p:nvSpPr>
        <p:spPr>
          <a:xfrm>
            <a:off x="2442838" y="2354650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71" name="Google Shape;1671;p55"/>
          <p:cNvSpPr/>
          <p:nvPr/>
        </p:nvSpPr>
        <p:spPr>
          <a:xfrm>
            <a:off x="2442813" y="33809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72" name="Google Shape;1672;p55"/>
          <p:cNvCxnSpPr>
            <a:stCxn id="1668" idx="3"/>
            <a:endCxn id="1669" idx="1"/>
          </p:cNvCxnSpPr>
          <p:nvPr/>
        </p:nvCxnSpPr>
        <p:spPr>
          <a:xfrm flipH="1" rot="10800000">
            <a:off x="1718474" y="1618300"/>
            <a:ext cx="7245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3" name="Google Shape;1673;p55"/>
          <p:cNvCxnSpPr>
            <a:stCxn id="1668" idx="3"/>
            <a:endCxn id="1670" idx="1"/>
          </p:cNvCxnSpPr>
          <p:nvPr/>
        </p:nvCxnSpPr>
        <p:spPr>
          <a:xfrm>
            <a:off x="1718474" y="2641000"/>
            <a:ext cx="724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4" name="Google Shape;1674;p55"/>
          <p:cNvCxnSpPr>
            <a:stCxn id="1668" idx="3"/>
            <a:endCxn id="1671" idx="1"/>
          </p:cNvCxnSpPr>
          <p:nvPr/>
        </p:nvCxnSpPr>
        <p:spPr>
          <a:xfrm>
            <a:off x="1718474" y="2641000"/>
            <a:ext cx="7242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5" name="Google Shape;1675;p55"/>
          <p:cNvSpPr/>
          <p:nvPr/>
        </p:nvSpPr>
        <p:spPr>
          <a:xfrm>
            <a:off x="4238713" y="1821275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76" name="Google Shape;1676;p55"/>
          <p:cNvCxnSpPr>
            <a:stCxn id="1669" idx="3"/>
            <a:endCxn id="1675" idx="1"/>
          </p:cNvCxnSpPr>
          <p:nvPr/>
        </p:nvCxnSpPr>
        <p:spPr>
          <a:xfrm>
            <a:off x="3341938" y="1618300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7" name="Google Shape;1677;p55"/>
          <p:cNvCxnSpPr>
            <a:stCxn id="1670" idx="3"/>
            <a:endCxn id="1675" idx="1"/>
          </p:cNvCxnSpPr>
          <p:nvPr/>
        </p:nvCxnSpPr>
        <p:spPr>
          <a:xfrm flipH="1" rot="10800000">
            <a:off x="3341938" y="2047600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8" name="Google Shape;1678;p55"/>
          <p:cNvCxnSpPr>
            <a:stCxn id="1675" idx="3"/>
            <a:endCxn id="1679" idx="1"/>
          </p:cNvCxnSpPr>
          <p:nvPr/>
        </p:nvCxnSpPr>
        <p:spPr>
          <a:xfrm>
            <a:off x="5934613" y="2047625"/>
            <a:ext cx="760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9" name="Google Shape;1679;p55"/>
          <p:cNvSpPr/>
          <p:nvPr/>
        </p:nvSpPr>
        <p:spPr>
          <a:xfrm>
            <a:off x="6695338" y="1821275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80" name="Google Shape;1680;p55"/>
          <p:cNvCxnSpPr>
            <a:stCxn id="1679" idx="2"/>
            <a:endCxn id="1681" idx="0"/>
          </p:cNvCxnSpPr>
          <p:nvPr/>
        </p:nvCxnSpPr>
        <p:spPr>
          <a:xfrm>
            <a:off x="7273738" y="2273975"/>
            <a:ext cx="0" cy="116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1" name="Google Shape;1681;p55"/>
          <p:cNvSpPr/>
          <p:nvPr/>
        </p:nvSpPr>
        <p:spPr>
          <a:xfrm>
            <a:off x="6544850" y="3437350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82" name="Google Shape;1682;p55"/>
          <p:cNvCxnSpPr>
            <a:stCxn id="1671" idx="3"/>
            <a:endCxn id="1681" idx="1"/>
          </p:cNvCxnSpPr>
          <p:nvPr/>
        </p:nvCxnSpPr>
        <p:spPr>
          <a:xfrm>
            <a:off x="3341913" y="3663700"/>
            <a:ext cx="3202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3" name="Google Shape;1683;p55"/>
          <p:cNvSpPr txBox="1"/>
          <p:nvPr/>
        </p:nvSpPr>
        <p:spPr>
          <a:xfrm rot="-3271401">
            <a:off x="1580580" y="1695288"/>
            <a:ext cx="982130" cy="400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Query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4" name="Google Shape;1684;p55"/>
          <p:cNvSpPr txBox="1"/>
          <p:nvPr/>
        </p:nvSpPr>
        <p:spPr>
          <a:xfrm rot="3320349">
            <a:off x="1569834" y="3139513"/>
            <a:ext cx="982210" cy="400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Values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5" name="Google Shape;1685;p55"/>
          <p:cNvSpPr txBox="1"/>
          <p:nvPr/>
        </p:nvSpPr>
        <p:spPr>
          <a:xfrm>
            <a:off x="1845504" y="2341170"/>
            <a:ext cx="9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Keys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6" name="Google Shape;1686;p55"/>
          <p:cNvSpPr txBox="1"/>
          <p:nvPr/>
        </p:nvSpPr>
        <p:spPr>
          <a:xfrm>
            <a:off x="7093674" y="413432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7" name="Google Shape;1687;p55"/>
          <p:cNvSpPr/>
          <p:nvPr/>
        </p:nvSpPr>
        <p:spPr>
          <a:xfrm>
            <a:off x="7060649" y="419000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8" name="Google Shape;1688;p55"/>
          <p:cNvCxnSpPr>
            <a:stCxn id="1681" idx="2"/>
            <a:endCxn id="1687" idx="0"/>
          </p:cNvCxnSpPr>
          <p:nvPr/>
        </p:nvCxnSpPr>
        <p:spPr>
          <a:xfrm>
            <a:off x="7273700" y="3890050"/>
            <a:ext cx="300" cy="3000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9" name="Google Shape;1689;p55"/>
          <p:cNvCxnSpPr>
            <a:stCxn id="1687" idx="1"/>
            <a:endCxn id="1690" idx="3"/>
          </p:cNvCxnSpPr>
          <p:nvPr/>
        </p:nvCxnSpPr>
        <p:spPr>
          <a:xfrm rot="10800000">
            <a:off x="5701049" y="4608350"/>
            <a:ext cx="13596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55"/>
          <p:cNvSpPr/>
          <p:nvPr/>
        </p:nvSpPr>
        <p:spPr>
          <a:xfrm>
            <a:off x="4185684" y="4190000"/>
            <a:ext cx="1515300" cy="8367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Feed Forward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91" name="Google Shape;1691;p55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56"/>
          <p:cNvSpPr/>
          <p:nvPr/>
        </p:nvSpPr>
        <p:spPr>
          <a:xfrm>
            <a:off x="2349850" y="1273150"/>
            <a:ext cx="5776500" cy="2742600"/>
          </a:xfrm>
          <a:prstGeom prst="roundRect">
            <a:avLst>
              <a:gd fmla="val 5570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56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8" name="Google Shape;1698;p56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56"/>
          <p:cNvSpPr/>
          <p:nvPr/>
        </p:nvSpPr>
        <p:spPr>
          <a:xfrm>
            <a:off x="2442838" y="13355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0" name="Google Shape;1700;p56"/>
          <p:cNvSpPr/>
          <p:nvPr/>
        </p:nvSpPr>
        <p:spPr>
          <a:xfrm>
            <a:off x="2442838" y="2354650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1" name="Google Shape;1701;p56"/>
          <p:cNvSpPr/>
          <p:nvPr/>
        </p:nvSpPr>
        <p:spPr>
          <a:xfrm>
            <a:off x="2442813" y="3380950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02" name="Google Shape;1702;p56"/>
          <p:cNvCxnSpPr>
            <a:stCxn id="1698" idx="3"/>
            <a:endCxn id="1699" idx="1"/>
          </p:cNvCxnSpPr>
          <p:nvPr/>
        </p:nvCxnSpPr>
        <p:spPr>
          <a:xfrm flipH="1" rot="10800000">
            <a:off x="1718474" y="1618300"/>
            <a:ext cx="7245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56"/>
          <p:cNvCxnSpPr>
            <a:stCxn id="1698" idx="3"/>
            <a:endCxn id="1700" idx="1"/>
          </p:cNvCxnSpPr>
          <p:nvPr/>
        </p:nvCxnSpPr>
        <p:spPr>
          <a:xfrm>
            <a:off x="1718474" y="2641000"/>
            <a:ext cx="724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56"/>
          <p:cNvCxnSpPr>
            <a:stCxn id="1698" idx="3"/>
            <a:endCxn id="1701" idx="1"/>
          </p:cNvCxnSpPr>
          <p:nvPr/>
        </p:nvCxnSpPr>
        <p:spPr>
          <a:xfrm>
            <a:off x="1718474" y="2641000"/>
            <a:ext cx="7242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5" name="Google Shape;1705;p56"/>
          <p:cNvSpPr/>
          <p:nvPr/>
        </p:nvSpPr>
        <p:spPr>
          <a:xfrm>
            <a:off x="4238713" y="1821275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06" name="Google Shape;1706;p56"/>
          <p:cNvCxnSpPr>
            <a:stCxn id="1699" idx="3"/>
            <a:endCxn id="1705" idx="1"/>
          </p:cNvCxnSpPr>
          <p:nvPr/>
        </p:nvCxnSpPr>
        <p:spPr>
          <a:xfrm>
            <a:off x="3341938" y="1618300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7" name="Google Shape;1707;p56"/>
          <p:cNvCxnSpPr>
            <a:stCxn id="1700" idx="3"/>
            <a:endCxn id="1705" idx="1"/>
          </p:cNvCxnSpPr>
          <p:nvPr/>
        </p:nvCxnSpPr>
        <p:spPr>
          <a:xfrm flipH="1" rot="10800000">
            <a:off x="3341938" y="2047600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8" name="Google Shape;1708;p56"/>
          <p:cNvCxnSpPr>
            <a:stCxn id="1705" idx="3"/>
            <a:endCxn id="1709" idx="1"/>
          </p:cNvCxnSpPr>
          <p:nvPr/>
        </p:nvCxnSpPr>
        <p:spPr>
          <a:xfrm>
            <a:off x="5934613" y="2047625"/>
            <a:ext cx="760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56"/>
          <p:cNvSpPr/>
          <p:nvPr/>
        </p:nvSpPr>
        <p:spPr>
          <a:xfrm>
            <a:off x="6695338" y="1821275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10" name="Google Shape;1710;p56"/>
          <p:cNvCxnSpPr>
            <a:stCxn id="1709" idx="2"/>
            <a:endCxn id="1711" idx="0"/>
          </p:cNvCxnSpPr>
          <p:nvPr/>
        </p:nvCxnSpPr>
        <p:spPr>
          <a:xfrm>
            <a:off x="7273738" y="2273975"/>
            <a:ext cx="0" cy="116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1" name="Google Shape;1711;p56"/>
          <p:cNvSpPr/>
          <p:nvPr/>
        </p:nvSpPr>
        <p:spPr>
          <a:xfrm>
            <a:off x="6544850" y="3437350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12" name="Google Shape;1712;p56"/>
          <p:cNvCxnSpPr>
            <a:stCxn id="1701" idx="3"/>
            <a:endCxn id="1711" idx="1"/>
          </p:cNvCxnSpPr>
          <p:nvPr/>
        </p:nvCxnSpPr>
        <p:spPr>
          <a:xfrm>
            <a:off x="3341913" y="3663700"/>
            <a:ext cx="32028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3" name="Google Shape;1713;p56"/>
          <p:cNvSpPr txBox="1"/>
          <p:nvPr/>
        </p:nvSpPr>
        <p:spPr>
          <a:xfrm rot="-3271401">
            <a:off x="1580580" y="1695288"/>
            <a:ext cx="982130" cy="400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Query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4" name="Google Shape;1714;p56"/>
          <p:cNvSpPr txBox="1"/>
          <p:nvPr/>
        </p:nvSpPr>
        <p:spPr>
          <a:xfrm rot="3320349">
            <a:off x="1569834" y="3139513"/>
            <a:ext cx="982210" cy="400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Values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5" name="Google Shape;1715;p56"/>
          <p:cNvSpPr txBox="1"/>
          <p:nvPr/>
        </p:nvSpPr>
        <p:spPr>
          <a:xfrm>
            <a:off x="1845504" y="2341170"/>
            <a:ext cx="9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Keys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6" name="Google Shape;1716;p56"/>
          <p:cNvSpPr txBox="1"/>
          <p:nvPr/>
        </p:nvSpPr>
        <p:spPr>
          <a:xfrm>
            <a:off x="7093674" y="413432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7" name="Google Shape;1717;p56"/>
          <p:cNvSpPr/>
          <p:nvPr/>
        </p:nvSpPr>
        <p:spPr>
          <a:xfrm>
            <a:off x="7060649" y="419000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8" name="Google Shape;1718;p56"/>
          <p:cNvCxnSpPr>
            <a:stCxn id="1711" idx="2"/>
            <a:endCxn id="1717" idx="0"/>
          </p:cNvCxnSpPr>
          <p:nvPr/>
        </p:nvCxnSpPr>
        <p:spPr>
          <a:xfrm>
            <a:off x="7273700" y="3890050"/>
            <a:ext cx="300" cy="3000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9" name="Google Shape;1719;p56"/>
          <p:cNvCxnSpPr/>
          <p:nvPr/>
        </p:nvCxnSpPr>
        <p:spPr>
          <a:xfrm rot="10800000">
            <a:off x="5934613" y="2123825"/>
            <a:ext cx="760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0" name="Google Shape;1720;p56"/>
          <p:cNvCxnSpPr/>
          <p:nvPr/>
        </p:nvCxnSpPr>
        <p:spPr>
          <a:xfrm rot="10800000">
            <a:off x="7349938" y="2273975"/>
            <a:ext cx="0" cy="116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1" name="Google Shape;1721;p56"/>
          <p:cNvCxnSpPr/>
          <p:nvPr/>
        </p:nvCxnSpPr>
        <p:spPr>
          <a:xfrm rot="10800000">
            <a:off x="3341913" y="3739900"/>
            <a:ext cx="3202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2" name="Google Shape;1722;p56"/>
          <p:cNvCxnSpPr/>
          <p:nvPr/>
        </p:nvCxnSpPr>
        <p:spPr>
          <a:xfrm flipH="1" rot="10800000">
            <a:off x="7349900" y="3890050"/>
            <a:ext cx="300" cy="300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3" name="Google Shape;1723;p56"/>
          <p:cNvCxnSpPr/>
          <p:nvPr/>
        </p:nvCxnSpPr>
        <p:spPr>
          <a:xfrm flipH="1">
            <a:off x="3341938" y="2123800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4" name="Google Shape;1724;p56"/>
          <p:cNvCxnSpPr/>
          <p:nvPr/>
        </p:nvCxnSpPr>
        <p:spPr>
          <a:xfrm rot="10800000">
            <a:off x="3341938" y="1542100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5" name="Google Shape;1725;p56"/>
          <p:cNvCxnSpPr>
            <a:endCxn id="1726" idx="3"/>
          </p:cNvCxnSpPr>
          <p:nvPr/>
        </p:nvCxnSpPr>
        <p:spPr>
          <a:xfrm rot="10800000">
            <a:off x="5700984" y="4608350"/>
            <a:ext cx="13596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6" name="Google Shape;1726;p56"/>
          <p:cNvSpPr/>
          <p:nvPr/>
        </p:nvSpPr>
        <p:spPr>
          <a:xfrm>
            <a:off x="4185684" y="4190000"/>
            <a:ext cx="1515300" cy="8367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Feed Forward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27" name="Google Shape;1727;p56"/>
          <p:cNvCxnSpPr/>
          <p:nvPr/>
        </p:nvCxnSpPr>
        <p:spPr>
          <a:xfrm>
            <a:off x="5700984" y="4684550"/>
            <a:ext cx="135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8" name="Google Shape;1728;p56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729" name="Google Shape;1729;p56"/>
          <p:cNvSpPr txBox="1"/>
          <p:nvPr/>
        </p:nvSpPr>
        <p:spPr>
          <a:xfrm>
            <a:off x="45550" y="4492100"/>
            <a:ext cx="403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que </a:t>
            </a:r>
            <a:r>
              <a:rPr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necesitamos</a:t>
            </a:r>
            <a:r>
              <a:rPr lang="es-419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la Feed Forward?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7"/>
          <p:cNvSpPr/>
          <p:nvPr/>
        </p:nvSpPr>
        <p:spPr>
          <a:xfrm rot="-5400000">
            <a:off x="1788825" y="245520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35" name="Google Shape;1735;p57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736" name="Google Shape;1736;p57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7" name="Google Shape;1737;p57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8" name="Google Shape;1738;p57"/>
          <p:cNvCxnSpPr>
            <a:stCxn id="1737" idx="3"/>
            <a:endCxn id="1734" idx="0"/>
          </p:cNvCxnSpPr>
          <p:nvPr/>
        </p:nvCxnSpPr>
        <p:spPr>
          <a:xfrm>
            <a:off x="1718474" y="2641000"/>
            <a:ext cx="798300" cy="6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9" name="Google Shape;1739;p57"/>
          <p:cNvSpPr txBox="1"/>
          <p:nvPr/>
        </p:nvSpPr>
        <p:spPr>
          <a:xfrm>
            <a:off x="3759074" y="2178400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0" name="Google Shape;1740;p57"/>
          <p:cNvSpPr/>
          <p:nvPr/>
        </p:nvSpPr>
        <p:spPr>
          <a:xfrm>
            <a:off x="3726049" y="223407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1" name="Google Shape;1741;p57"/>
          <p:cNvCxnSpPr>
            <a:stCxn id="1740" idx="3"/>
            <a:endCxn id="1742" idx="1"/>
          </p:cNvCxnSpPr>
          <p:nvPr/>
        </p:nvCxnSpPr>
        <p:spPr>
          <a:xfrm flipH="1" rot="10800000">
            <a:off x="4152649" y="2647925"/>
            <a:ext cx="794100" cy="45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2" name="Google Shape;1742;p57"/>
          <p:cNvSpPr/>
          <p:nvPr/>
        </p:nvSpPr>
        <p:spPr>
          <a:xfrm>
            <a:off x="4946884" y="2229600"/>
            <a:ext cx="1515300" cy="8367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neuronal que queramos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43" name="Google Shape;1743;p57"/>
          <p:cNvCxnSpPr>
            <a:stCxn id="1734" idx="2"/>
            <a:endCxn id="1740" idx="1"/>
          </p:cNvCxnSpPr>
          <p:nvPr/>
        </p:nvCxnSpPr>
        <p:spPr>
          <a:xfrm>
            <a:off x="2902275" y="2647950"/>
            <a:ext cx="823800" cy="45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58"/>
          <p:cNvSpPr/>
          <p:nvPr/>
        </p:nvSpPr>
        <p:spPr>
          <a:xfrm rot="-5400000">
            <a:off x="1788825" y="245520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49" name="Google Shape;1749;p58"/>
          <p:cNvSpPr txBox="1"/>
          <p:nvPr>
            <p:ph type="title"/>
          </p:nvPr>
        </p:nvSpPr>
        <p:spPr>
          <a:xfrm>
            <a:off x="692700" y="643750"/>
            <a:ext cx="26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750" name="Google Shape;1750;p58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1" name="Google Shape;1751;p58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2" name="Google Shape;1752;p58"/>
          <p:cNvCxnSpPr>
            <a:stCxn id="1751" idx="3"/>
            <a:endCxn id="1748" idx="0"/>
          </p:cNvCxnSpPr>
          <p:nvPr/>
        </p:nvCxnSpPr>
        <p:spPr>
          <a:xfrm>
            <a:off x="1718474" y="2641000"/>
            <a:ext cx="798300" cy="6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3" name="Google Shape;1753;p58"/>
          <p:cNvSpPr txBox="1"/>
          <p:nvPr/>
        </p:nvSpPr>
        <p:spPr>
          <a:xfrm>
            <a:off x="5130674" y="2178400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4" name="Google Shape;1754;p58"/>
          <p:cNvSpPr/>
          <p:nvPr/>
        </p:nvSpPr>
        <p:spPr>
          <a:xfrm>
            <a:off x="5097649" y="223407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5" name="Google Shape;1755;p58"/>
          <p:cNvCxnSpPr>
            <a:stCxn id="1754" idx="3"/>
            <a:endCxn id="1756" idx="1"/>
          </p:cNvCxnSpPr>
          <p:nvPr/>
        </p:nvCxnSpPr>
        <p:spPr>
          <a:xfrm flipH="1" rot="10800000">
            <a:off x="5524249" y="2647925"/>
            <a:ext cx="717900" cy="45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6" name="Google Shape;1756;p58"/>
          <p:cNvSpPr/>
          <p:nvPr/>
        </p:nvSpPr>
        <p:spPr>
          <a:xfrm>
            <a:off x="6242284" y="2229600"/>
            <a:ext cx="1515300" cy="8367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neuronal que queramos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57" name="Google Shape;1757;p58"/>
          <p:cNvCxnSpPr>
            <a:stCxn id="1758" idx="2"/>
            <a:endCxn id="1754" idx="1"/>
          </p:cNvCxnSpPr>
          <p:nvPr/>
        </p:nvCxnSpPr>
        <p:spPr>
          <a:xfrm>
            <a:off x="4433938" y="2641000"/>
            <a:ext cx="663600" cy="11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9" name="Google Shape;1759;p58"/>
          <p:cNvSpPr/>
          <p:nvPr/>
        </p:nvSpPr>
        <p:spPr>
          <a:xfrm rot="-5400000">
            <a:off x="2558488" y="24482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8" name="Google Shape;1758;p58"/>
          <p:cNvSpPr/>
          <p:nvPr/>
        </p:nvSpPr>
        <p:spPr>
          <a:xfrm rot="-5400000">
            <a:off x="3320488" y="24482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60" name="Google Shape;1760;p58"/>
          <p:cNvCxnSpPr>
            <a:stCxn id="1748" idx="2"/>
            <a:endCxn id="1759" idx="0"/>
          </p:cNvCxnSpPr>
          <p:nvPr/>
        </p:nvCxnSpPr>
        <p:spPr>
          <a:xfrm flipH="1" rot="10800000">
            <a:off x="2902275" y="2641050"/>
            <a:ext cx="384300" cy="6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1" name="Google Shape;1761;p58"/>
          <p:cNvCxnSpPr>
            <a:stCxn id="1759" idx="2"/>
            <a:endCxn id="1758" idx="0"/>
          </p:cNvCxnSpPr>
          <p:nvPr/>
        </p:nvCxnSpPr>
        <p:spPr>
          <a:xfrm>
            <a:off x="3671938" y="264100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2" name="Google Shape;1762;p58"/>
          <p:cNvSpPr txBox="1"/>
          <p:nvPr/>
        </p:nvSpPr>
        <p:spPr>
          <a:xfrm>
            <a:off x="4506475" y="3351125"/>
            <a:ext cx="4525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Apilando bloques de self-attention podemos lograr extraer más información sobre las relaciones entre palabras</a:t>
            </a:r>
            <a:endParaRPr b="1" sz="17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Pero así y todo nos puede seguir faltando </a:t>
            </a:r>
            <a:r>
              <a:rPr b="1" lang="es-419" sz="17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atención</a:t>
            </a:r>
            <a:endParaRPr b="1" sz="17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59"/>
          <p:cNvSpPr/>
          <p:nvPr/>
        </p:nvSpPr>
        <p:spPr>
          <a:xfrm rot="-5400000">
            <a:off x="3625288" y="21434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68" name="Google Shape;1768;p59"/>
          <p:cNvSpPr/>
          <p:nvPr/>
        </p:nvSpPr>
        <p:spPr>
          <a:xfrm rot="-5400000">
            <a:off x="3472888" y="22958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69" name="Google Shape;1769;p59"/>
          <p:cNvSpPr/>
          <p:nvPr/>
        </p:nvSpPr>
        <p:spPr>
          <a:xfrm rot="-5400000">
            <a:off x="2863288" y="21434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0" name="Google Shape;1770;p59"/>
          <p:cNvSpPr/>
          <p:nvPr/>
        </p:nvSpPr>
        <p:spPr>
          <a:xfrm rot="-5400000">
            <a:off x="2710888" y="22958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1" name="Google Shape;1771;p59"/>
          <p:cNvSpPr/>
          <p:nvPr/>
        </p:nvSpPr>
        <p:spPr>
          <a:xfrm rot="-5400000">
            <a:off x="2093625" y="215040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2" name="Google Shape;1772;p59"/>
          <p:cNvSpPr/>
          <p:nvPr/>
        </p:nvSpPr>
        <p:spPr>
          <a:xfrm rot="-5400000">
            <a:off x="1941225" y="230280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3" name="Google Shape;1773;p59"/>
          <p:cNvSpPr/>
          <p:nvPr/>
        </p:nvSpPr>
        <p:spPr>
          <a:xfrm rot="-5400000">
            <a:off x="1788825" y="245520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4" name="Google Shape;1774;p59"/>
          <p:cNvSpPr txBox="1"/>
          <p:nvPr>
            <p:ph type="title"/>
          </p:nvPr>
        </p:nvSpPr>
        <p:spPr>
          <a:xfrm>
            <a:off x="692700" y="643750"/>
            <a:ext cx="5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Multiheaded </a:t>
            </a:r>
            <a:r>
              <a:rPr lang="es-419" sz="3000">
                <a:solidFill>
                  <a:srgbClr val="434343"/>
                </a:solidFill>
              </a:rPr>
              <a:t>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775" name="Google Shape;1775;p59"/>
          <p:cNvSpPr txBox="1"/>
          <p:nvPr/>
        </p:nvSpPr>
        <p:spPr>
          <a:xfrm>
            <a:off x="1324899" y="21669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6" name="Google Shape;1776;p59"/>
          <p:cNvSpPr/>
          <p:nvPr/>
        </p:nvSpPr>
        <p:spPr>
          <a:xfrm>
            <a:off x="1291874" y="2222650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7" name="Google Shape;1777;p59"/>
          <p:cNvCxnSpPr>
            <a:stCxn id="1776" idx="3"/>
            <a:endCxn id="1773" idx="0"/>
          </p:cNvCxnSpPr>
          <p:nvPr/>
        </p:nvCxnSpPr>
        <p:spPr>
          <a:xfrm>
            <a:off x="1718474" y="2641000"/>
            <a:ext cx="798300" cy="6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8" name="Google Shape;1778;p59"/>
          <p:cNvSpPr txBox="1"/>
          <p:nvPr/>
        </p:nvSpPr>
        <p:spPr>
          <a:xfrm>
            <a:off x="5130674" y="2178400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9" name="Google Shape;1779;p59"/>
          <p:cNvSpPr/>
          <p:nvPr/>
        </p:nvSpPr>
        <p:spPr>
          <a:xfrm>
            <a:off x="5097649" y="223407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0" name="Google Shape;1780;p59"/>
          <p:cNvCxnSpPr>
            <a:stCxn id="1779" idx="3"/>
            <a:endCxn id="1781" idx="1"/>
          </p:cNvCxnSpPr>
          <p:nvPr/>
        </p:nvCxnSpPr>
        <p:spPr>
          <a:xfrm flipH="1" rot="10800000">
            <a:off x="5524249" y="2647925"/>
            <a:ext cx="717900" cy="45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1" name="Google Shape;1781;p59"/>
          <p:cNvSpPr/>
          <p:nvPr/>
        </p:nvSpPr>
        <p:spPr>
          <a:xfrm>
            <a:off x="6242284" y="2229600"/>
            <a:ext cx="1515300" cy="8367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neuronal que queramos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82" name="Google Shape;1782;p59"/>
          <p:cNvCxnSpPr>
            <a:stCxn id="1783" idx="2"/>
            <a:endCxn id="1779" idx="1"/>
          </p:cNvCxnSpPr>
          <p:nvPr/>
        </p:nvCxnSpPr>
        <p:spPr>
          <a:xfrm>
            <a:off x="4433938" y="2641000"/>
            <a:ext cx="663600" cy="11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4" name="Google Shape;1784;p59"/>
          <p:cNvSpPr/>
          <p:nvPr/>
        </p:nvSpPr>
        <p:spPr>
          <a:xfrm rot="-5400000">
            <a:off x="2558488" y="24482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3" name="Google Shape;1783;p59"/>
          <p:cNvSpPr/>
          <p:nvPr/>
        </p:nvSpPr>
        <p:spPr>
          <a:xfrm rot="-5400000">
            <a:off x="3320488" y="2448250"/>
            <a:ext cx="1841400" cy="3855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85" name="Google Shape;1785;p59"/>
          <p:cNvCxnSpPr>
            <a:stCxn id="1773" idx="2"/>
            <a:endCxn id="1784" idx="0"/>
          </p:cNvCxnSpPr>
          <p:nvPr/>
        </p:nvCxnSpPr>
        <p:spPr>
          <a:xfrm flipH="1" rot="10800000">
            <a:off x="2902275" y="2641050"/>
            <a:ext cx="384300" cy="6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6" name="Google Shape;1786;p59"/>
          <p:cNvCxnSpPr>
            <a:stCxn id="1784" idx="2"/>
            <a:endCxn id="1783" idx="0"/>
          </p:cNvCxnSpPr>
          <p:nvPr/>
        </p:nvCxnSpPr>
        <p:spPr>
          <a:xfrm>
            <a:off x="3671938" y="264100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60"/>
          <p:cNvSpPr/>
          <p:nvPr/>
        </p:nvSpPr>
        <p:spPr>
          <a:xfrm>
            <a:off x="2349850" y="565525"/>
            <a:ext cx="6140100" cy="3319500"/>
          </a:xfrm>
          <a:prstGeom prst="roundRect">
            <a:avLst>
              <a:gd fmla="val 5570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60"/>
          <p:cNvSpPr/>
          <p:nvPr/>
        </p:nvSpPr>
        <p:spPr>
          <a:xfrm>
            <a:off x="6849650" y="2120125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3" name="Google Shape;1793;p60"/>
          <p:cNvSpPr/>
          <p:nvPr/>
        </p:nvSpPr>
        <p:spPr>
          <a:xfrm>
            <a:off x="7000138" y="1189850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4" name="Google Shape;1794;p60"/>
          <p:cNvSpPr/>
          <p:nvPr/>
        </p:nvSpPr>
        <p:spPr>
          <a:xfrm>
            <a:off x="4543513" y="1418450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5" name="Google Shape;1795;p60"/>
          <p:cNvSpPr/>
          <p:nvPr/>
        </p:nvSpPr>
        <p:spPr>
          <a:xfrm>
            <a:off x="2747613" y="29781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6" name="Google Shape;1796;p60"/>
          <p:cNvSpPr/>
          <p:nvPr/>
        </p:nvSpPr>
        <p:spPr>
          <a:xfrm>
            <a:off x="2595213" y="28257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7" name="Google Shape;1797;p60"/>
          <p:cNvSpPr/>
          <p:nvPr/>
        </p:nvSpPr>
        <p:spPr>
          <a:xfrm>
            <a:off x="2747638" y="1951825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8" name="Google Shape;1798;p60"/>
          <p:cNvSpPr/>
          <p:nvPr/>
        </p:nvSpPr>
        <p:spPr>
          <a:xfrm>
            <a:off x="2595238" y="1799425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9" name="Google Shape;1799;p60"/>
          <p:cNvSpPr/>
          <p:nvPr/>
        </p:nvSpPr>
        <p:spPr>
          <a:xfrm>
            <a:off x="2747638" y="9327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0" name="Google Shape;1800;p60"/>
          <p:cNvSpPr/>
          <p:nvPr/>
        </p:nvSpPr>
        <p:spPr>
          <a:xfrm>
            <a:off x="2595238" y="7803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1" name="Google Shape;1801;p60"/>
          <p:cNvSpPr txBox="1"/>
          <p:nvPr/>
        </p:nvSpPr>
        <p:spPr>
          <a:xfrm>
            <a:off x="1324899" y="1459349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2" name="Google Shape;1802;p60"/>
          <p:cNvSpPr/>
          <p:nvPr/>
        </p:nvSpPr>
        <p:spPr>
          <a:xfrm>
            <a:off x="1291874" y="1515025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60"/>
          <p:cNvSpPr/>
          <p:nvPr/>
        </p:nvSpPr>
        <p:spPr>
          <a:xfrm>
            <a:off x="2442838" y="6279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4" name="Google Shape;1804;p60"/>
          <p:cNvSpPr/>
          <p:nvPr/>
        </p:nvSpPr>
        <p:spPr>
          <a:xfrm>
            <a:off x="2442838" y="1647025"/>
            <a:ext cx="899100" cy="5727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5" name="Google Shape;1805;p60"/>
          <p:cNvSpPr/>
          <p:nvPr/>
        </p:nvSpPr>
        <p:spPr>
          <a:xfrm>
            <a:off x="2442813" y="2673325"/>
            <a:ext cx="899100" cy="5655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b="1" baseline="-25000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06" name="Google Shape;1806;p60"/>
          <p:cNvCxnSpPr>
            <a:stCxn id="1802" idx="3"/>
            <a:endCxn id="1803" idx="1"/>
          </p:cNvCxnSpPr>
          <p:nvPr/>
        </p:nvCxnSpPr>
        <p:spPr>
          <a:xfrm flipH="1" rot="10800000">
            <a:off x="1718474" y="910675"/>
            <a:ext cx="7245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7" name="Google Shape;1807;p60"/>
          <p:cNvCxnSpPr>
            <a:stCxn id="1802" idx="3"/>
            <a:endCxn id="1804" idx="1"/>
          </p:cNvCxnSpPr>
          <p:nvPr/>
        </p:nvCxnSpPr>
        <p:spPr>
          <a:xfrm>
            <a:off x="1718474" y="1933375"/>
            <a:ext cx="724500" cy="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8" name="Google Shape;1808;p60"/>
          <p:cNvCxnSpPr>
            <a:stCxn id="1802" idx="3"/>
            <a:endCxn id="1805" idx="1"/>
          </p:cNvCxnSpPr>
          <p:nvPr/>
        </p:nvCxnSpPr>
        <p:spPr>
          <a:xfrm>
            <a:off x="1718474" y="1933375"/>
            <a:ext cx="724200" cy="1022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9" name="Google Shape;1809;p60"/>
          <p:cNvCxnSpPr>
            <a:stCxn id="1803" idx="3"/>
            <a:endCxn id="1810" idx="1"/>
          </p:cNvCxnSpPr>
          <p:nvPr/>
        </p:nvCxnSpPr>
        <p:spPr>
          <a:xfrm>
            <a:off x="3341938" y="910675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1" name="Google Shape;1811;p60"/>
          <p:cNvCxnSpPr>
            <a:stCxn id="1804" idx="3"/>
            <a:endCxn id="1810" idx="1"/>
          </p:cNvCxnSpPr>
          <p:nvPr/>
        </p:nvCxnSpPr>
        <p:spPr>
          <a:xfrm flipH="1" rot="10800000">
            <a:off x="3341938" y="1339975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2" name="Google Shape;1812;p60"/>
          <p:cNvCxnSpPr>
            <a:stCxn id="1805" idx="3"/>
            <a:endCxn id="1813" idx="1"/>
          </p:cNvCxnSpPr>
          <p:nvPr/>
        </p:nvCxnSpPr>
        <p:spPr>
          <a:xfrm flipH="1" rot="10800000">
            <a:off x="3341913" y="2041675"/>
            <a:ext cx="3202800" cy="914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4" name="Google Shape;1814;p60"/>
          <p:cNvSpPr txBox="1"/>
          <p:nvPr/>
        </p:nvSpPr>
        <p:spPr>
          <a:xfrm rot="-3271401">
            <a:off x="1580580" y="987663"/>
            <a:ext cx="982130" cy="400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Query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5" name="Google Shape;1815;p60"/>
          <p:cNvSpPr txBox="1"/>
          <p:nvPr/>
        </p:nvSpPr>
        <p:spPr>
          <a:xfrm rot="3320349">
            <a:off x="1569834" y="2431888"/>
            <a:ext cx="982210" cy="400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Values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6" name="Google Shape;1816;p60"/>
          <p:cNvSpPr txBox="1"/>
          <p:nvPr/>
        </p:nvSpPr>
        <p:spPr>
          <a:xfrm>
            <a:off x="1845504" y="1633544"/>
            <a:ext cx="9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Keys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7" name="Google Shape;1817;p60"/>
          <p:cNvSpPr txBox="1"/>
          <p:nvPr/>
        </p:nvSpPr>
        <p:spPr>
          <a:xfrm>
            <a:off x="5159574" y="40726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8" name="Google Shape;1818;p60"/>
          <p:cNvSpPr/>
          <p:nvPr/>
        </p:nvSpPr>
        <p:spPr>
          <a:xfrm>
            <a:off x="5126549" y="4186551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9" name="Google Shape;1819;p60"/>
          <p:cNvCxnSpPr>
            <a:stCxn id="1818" idx="1"/>
            <a:endCxn id="1820" idx="3"/>
          </p:cNvCxnSpPr>
          <p:nvPr/>
        </p:nvCxnSpPr>
        <p:spPr>
          <a:xfrm flipH="1">
            <a:off x="4376549" y="4604901"/>
            <a:ext cx="750000" cy="75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0" name="Google Shape;1820;p60"/>
          <p:cNvSpPr/>
          <p:nvPr/>
        </p:nvSpPr>
        <p:spPr>
          <a:xfrm>
            <a:off x="2861175" y="4274325"/>
            <a:ext cx="1515300" cy="6762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Feed Forward</a:t>
            </a:r>
            <a:endParaRPr b="1" baseline="-25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1" name="Google Shape;1821;p60"/>
          <p:cNvSpPr/>
          <p:nvPr/>
        </p:nvSpPr>
        <p:spPr>
          <a:xfrm>
            <a:off x="6511225" y="2749525"/>
            <a:ext cx="1753200" cy="954300"/>
          </a:xfrm>
          <a:prstGeom prst="roundRect">
            <a:avLst>
              <a:gd fmla="val 5570" name="adj"/>
            </a:avLst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60"/>
          <p:cNvSpPr txBox="1"/>
          <p:nvPr/>
        </p:nvSpPr>
        <p:spPr>
          <a:xfrm>
            <a:off x="6636474" y="27010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3" name="Google Shape;1823;p60"/>
          <p:cNvSpPr/>
          <p:nvPr/>
        </p:nvSpPr>
        <p:spPr>
          <a:xfrm>
            <a:off x="6603449" y="2814951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60"/>
          <p:cNvSpPr txBox="1"/>
          <p:nvPr/>
        </p:nvSpPr>
        <p:spPr>
          <a:xfrm>
            <a:off x="7627074" y="2701075"/>
            <a:ext cx="42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5" name="Google Shape;1825;p60"/>
          <p:cNvSpPr/>
          <p:nvPr/>
        </p:nvSpPr>
        <p:spPr>
          <a:xfrm>
            <a:off x="7594049" y="2814951"/>
            <a:ext cx="426600" cy="836700"/>
          </a:xfrm>
          <a:prstGeom prst="bracketPair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60"/>
          <p:cNvSpPr txBox="1"/>
          <p:nvPr/>
        </p:nvSpPr>
        <p:spPr>
          <a:xfrm>
            <a:off x="5540574" y="4072675"/>
            <a:ext cx="4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endParaRPr b="1" baseline="-25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7" name="Google Shape;1827;p60"/>
          <p:cNvSpPr txBox="1"/>
          <p:nvPr/>
        </p:nvSpPr>
        <p:spPr>
          <a:xfrm>
            <a:off x="6988374" y="2646700"/>
            <a:ext cx="42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8" name="Google Shape;1828;p60"/>
          <p:cNvSpPr txBox="1"/>
          <p:nvPr/>
        </p:nvSpPr>
        <p:spPr>
          <a:xfrm>
            <a:off x="7978974" y="2646700"/>
            <a:ext cx="42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endParaRPr b="1" baseline="-25000" sz="1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9" name="Google Shape;1829;p60"/>
          <p:cNvSpPr txBox="1"/>
          <p:nvPr/>
        </p:nvSpPr>
        <p:spPr>
          <a:xfrm>
            <a:off x="7140774" y="2951500"/>
            <a:ext cx="4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D85C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1" baseline="-25000">
              <a:solidFill>
                <a:srgbClr val="3D85C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0" name="Google Shape;1830;p60"/>
          <p:cNvSpPr txBox="1"/>
          <p:nvPr>
            <p:ph type="title"/>
          </p:nvPr>
        </p:nvSpPr>
        <p:spPr>
          <a:xfrm>
            <a:off x="692700" y="-42050"/>
            <a:ext cx="5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Multiheaded Self-Attention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cxnSp>
        <p:nvCxnSpPr>
          <p:cNvPr id="1831" name="Google Shape;1831;p60"/>
          <p:cNvCxnSpPr>
            <a:stCxn id="1821" idx="1"/>
            <a:endCxn id="1832" idx="3"/>
          </p:cNvCxnSpPr>
          <p:nvPr/>
        </p:nvCxnSpPr>
        <p:spPr>
          <a:xfrm flipH="1">
            <a:off x="6072325" y="3226675"/>
            <a:ext cx="438900" cy="1599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60"/>
          <p:cNvCxnSpPr/>
          <p:nvPr/>
        </p:nvCxnSpPr>
        <p:spPr>
          <a:xfrm>
            <a:off x="3494338" y="1063075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60"/>
          <p:cNvCxnSpPr/>
          <p:nvPr/>
        </p:nvCxnSpPr>
        <p:spPr>
          <a:xfrm>
            <a:off x="3646738" y="1215475"/>
            <a:ext cx="896700" cy="429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60"/>
          <p:cNvCxnSpPr/>
          <p:nvPr/>
        </p:nvCxnSpPr>
        <p:spPr>
          <a:xfrm flipH="1" rot="10800000">
            <a:off x="3494338" y="1492375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60"/>
          <p:cNvCxnSpPr/>
          <p:nvPr/>
        </p:nvCxnSpPr>
        <p:spPr>
          <a:xfrm flipH="1" rot="10800000">
            <a:off x="3646738" y="1644775"/>
            <a:ext cx="896700" cy="593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60"/>
          <p:cNvSpPr/>
          <p:nvPr/>
        </p:nvSpPr>
        <p:spPr>
          <a:xfrm>
            <a:off x="4391113" y="1266050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0" name="Google Shape;1810;p60"/>
          <p:cNvSpPr/>
          <p:nvPr/>
        </p:nvSpPr>
        <p:spPr>
          <a:xfrm>
            <a:off x="4238713" y="1113650"/>
            <a:ext cx="1695900" cy="4527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Producto escalar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(matricial)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38" name="Google Shape;1838;p60"/>
          <p:cNvCxnSpPr>
            <a:stCxn id="1810" idx="3"/>
            <a:endCxn id="1839" idx="1"/>
          </p:cNvCxnSpPr>
          <p:nvPr/>
        </p:nvCxnSpPr>
        <p:spPr>
          <a:xfrm flipH="1" rot="10800000">
            <a:off x="5934613" y="1111400"/>
            <a:ext cx="760800" cy="228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60"/>
          <p:cNvCxnSpPr/>
          <p:nvPr/>
        </p:nvCxnSpPr>
        <p:spPr>
          <a:xfrm flipH="1" rot="10800000">
            <a:off x="6087013" y="1263800"/>
            <a:ext cx="760800" cy="228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1" name="Google Shape;1841;p60"/>
          <p:cNvCxnSpPr/>
          <p:nvPr/>
        </p:nvCxnSpPr>
        <p:spPr>
          <a:xfrm flipH="1" rot="10800000">
            <a:off x="6239413" y="1416200"/>
            <a:ext cx="760800" cy="228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2" name="Google Shape;1842;p60"/>
          <p:cNvSpPr/>
          <p:nvPr/>
        </p:nvSpPr>
        <p:spPr>
          <a:xfrm>
            <a:off x="6847738" y="1037450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39" name="Google Shape;1839;p60"/>
          <p:cNvSpPr/>
          <p:nvPr/>
        </p:nvSpPr>
        <p:spPr>
          <a:xfrm>
            <a:off x="6695338" y="885050"/>
            <a:ext cx="1156800" cy="4527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SOFTMAX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43" name="Google Shape;1843;p60"/>
          <p:cNvCxnSpPr>
            <a:stCxn id="1839" idx="2"/>
            <a:endCxn id="1813" idx="0"/>
          </p:cNvCxnSpPr>
          <p:nvPr/>
        </p:nvCxnSpPr>
        <p:spPr>
          <a:xfrm>
            <a:off x="7273738" y="1337750"/>
            <a:ext cx="0" cy="477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4" name="Google Shape;1844;p60"/>
          <p:cNvCxnSpPr/>
          <p:nvPr/>
        </p:nvCxnSpPr>
        <p:spPr>
          <a:xfrm>
            <a:off x="7426138" y="1490150"/>
            <a:ext cx="0" cy="477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5" name="Google Shape;1845;p60"/>
          <p:cNvCxnSpPr/>
          <p:nvPr/>
        </p:nvCxnSpPr>
        <p:spPr>
          <a:xfrm>
            <a:off x="7578538" y="1642550"/>
            <a:ext cx="0" cy="477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6" name="Google Shape;1846;p60"/>
          <p:cNvCxnSpPr/>
          <p:nvPr/>
        </p:nvCxnSpPr>
        <p:spPr>
          <a:xfrm>
            <a:off x="7318750" y="2424250"/>
            <a:ext cx="0" cy="3177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7" name="Google Shape;1847;p60"/>
          <p:cNvCxnSpPr/>
          <p:nvPr/>
        </p:nvCxnSpPr>
        <p:spPr>
          <a:xfrm>
            <a:off x="7621575" y="2571759"/>
            <a:ext cx="600" cy="1743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8" name="Google Shape;1848;p60"/>
          <p:cNvCxnSpPr/>
          <p:nvPr/>
        </p:nvCxnSpPr>
        <p:spPr>
          <a:xfrm flipH="1" rot="10800000">
            <a:off x="3494313" y="2194075"/>
            <a:ext cx="3202800" cy="914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60"/>
          <p:cNvCxnSpPr/>
          <p:nvPr/>
        </p:nvCxnSpPr>
        <p:spPr>
          <a:xfrm flipH="1" rot="10800000">
            <a:off x="3646713" y="2346475"/>
            <a:ext cx="3202800" cy="914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0" name="Google Shape;1850;p60"/>
          <p:cNvSpPr/>
          <p:nvPr/>
        </p:nvSpPr>
        <p:spPr>
          <a:xfrm>
            <a:off x="6697250" y="1967725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3" name="Google Shape;1813;p60"/>
          <p:cNvSpPr/>
          <p:nvPr/>
        </p:nvSpPr>
        <p:spPr>
          <a:xfrm>
            <a:off x="6544850" y="1815325"/>
            <a:ext cx="1457700" cy="45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Multiplicación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51" name="Google Shape;1851;p60"/>
          <p:cNvCxnSpPr/>
          <p:nvPr/>
        </p:nvCxnSpPr>
        <p:spPr>
          <a:xfrm>
            <a:off x="7063063" y="2273031"/>
            <a:ext cx="0" cy="4776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2" name="Google Shape;1832;p60"/>
          <p:cNvSpPr/>
          <p:nvPr/>
        </p:nvSpPr>
        <p:spPr>
          <a:xfrm>
            <a:off x="4614775" y="3129048"/>
            <a:ext cx="1457700" cy="5151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Concat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Lineal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52" name="Google Shape;1852;p60"/>
          <p:cNvCxnSpPr>
            <a:stCxn id="1832" idx="2"/>
            <a:endCxn id="1818" idx="0"/>
          </p:cNvCxnSpPr>
          <p:nvPr/>
        </p:nvCxnSpPr>
        <p:spPr>
          <a:xfrm flipH="1">
            <a:off x="5339725" y="3644148"/>
            <a:ext cx="3900" cy="542400"/>
          </a:xfrm>
          <a:prstGeom prst="straightConnector1">
            <a:avLst/>
          </a:prstGeom>
          <a:noFill/>
          <a:ln cap="flat" cmpd="sng" w="19050">
            <a:solidFill>
              <a:srgbClr val="4C113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6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Residual Connections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62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Conexiones Residuales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863" name="Google Shape;1863;p62"/>
          <p:cNvSpPr txBox="1"/>
          <p:nvPr/>
        </p:nvSpPr>
        <p:spPr>
          <a:xfrm>
            <a:off x="191700" y="1271300"/>
            <a:ext cx="8760600" cy="26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Conexiones que "saltan" una o más capas, sumando la entrada directamente a la salida.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Robo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Permiten que la información fluya directamente desde una capa anterior a una posterior, sin pasar por las capas intermedias.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Robo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Permiten que el gradiente de la función de pérdida se propague directamente hacia la entrada a través de las conexiones de salto, evitando así el problema del desvanecimiento del gradiente.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64" name="Google Shape;186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75" y="2933425"/>
            <a:ext cx="2883300" cy="20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5" name="Google Shape;186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475" y="3031138"/>
            <a:ext cx="29051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6" name="Google Shape;186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3345" y="2746637"/>
            <a:ext cx="1328809" cy="24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63"/>
          <p:cNvSpPr txBox="1"/>
          <p:nvPr>
            <p:ph type="title"/>
          </p:nvPr>
        </p:nvSpPr>
        <p:spPr>
          <a:xfrm>
            <a:off x="727650" y="610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Implicancias Prácticas</a:t>
            </a:r>
            <a:endParaRPr/>
          </a:p>
        </p:txBody>
      </p:sp>
      <p:sp>
        <p:nvSpPr>
          <p:cNvPr id="1872" name="Google Shape;1872;p63"/>
          <p:cNvSpPr txBox="1"/>
          <p:nvPr>
            <p:ph idx="1" type="body"/>
          </p:nvPr>
        </p:nvSpPr>
        <p:spPr>
          <a:xfrm>
            <a:off x="729450" y="1417200"/>
            <a:ext cx="76887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b="1" lang="es-419" sz="1400">
                <a:solidFill>
                  <a:srgbClr val="374151"/>
                </a:solidFill>
                <a:highlight>
                  <a:schemeClr val="lt1"/>
                </a:highlight>
              </a:rPr>
              <a:t>Entrenamiento Estable: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 Reducen el desvanecimiento del gradiente, aceleran la convergencia.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 sz="1400">
                <a:solidFill>
                  <a:srgbClr val="374151"/>
                </a:solidFill>
                <a:highlight>
                  <a:schemeClr val="lt1"/>
                </a:highlight>
              </a:rPr>
              <a:t>Preservación de Información: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 Aseguran que la información vital no se pierda entre capas.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 sz="1400">
                <a:solidFill>
                  <a:srgbClr val="374151"/>
                </a:solidFill>
                <a:highlight>
                  <a:schemeClr val="lt1"/>
                </a:highlight>
              </a:rPr>
              <a:t>Flexibilidad: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 Permiten que el modelo se ajuste finamente a la información contextual sin redefinir completamente un token.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b="1" lang="es-419" sz="1400">
                <a:solidFill>
                  <a:srgbClr val="374151"/>
                </a:solidFill>
                <a:highlight>
                  <a:schemeClr val="lt1"/>
                </a:highlight>
              </a:rPr>
              <a:t>Actualización Incremental: 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Permiten ajustes aditivos a los estados ocultos, conservando información original y agregando nueva.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b="1" lang="es-419" sz="1400">
                <a:solidFill>
                  <a:srgbClr val="374151"/>
                </a:solidFill>
                <a:highlight>
                  <a:schemeClr val="lt1"/>
                </a:highlight>
              </a:rPr>
              <a:t>Refinamiento a través de Capas: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 Cada capa refina el significado de un token basado en el contexto.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○"/>
            </a:pP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 "hombre" en "hombre joven" vs. "hombre araña". Las conexiones residuales ayudan a mantener la esencia original mientras se ajusta el contexto.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6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Layer Normalization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65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Layer Normalization (Normalización de Capa)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883" name="Google Shape;1883;p65"/>
          <p:cNvSpPr txBox="1"/>
          <p:nvPr/>
        </p:nvSpPr>
        <p:spPr>
          <a:xfrm>
            <a:off x="0" y="1271300"/>
            <a:ext cx="89523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Técnica de regularización diseñada para acelerar el entrenamiento de modelos neuronales profundos.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Reducir la variación no informativa en los valores del vector oculto normalizando dentro de cada capa.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AutoNum type="arabicPeriod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Promedio de los valores del hidden vector 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AutoNum type="arabicPeriod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Desviación 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Estándar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AutoNum type="arabicPeriod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Parámetros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de escala y sesgo: 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γ  y β son parámetros entrenables.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4" name="Google Shape;188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475" y="2171700"/>
            <a:ext cx="117158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65"/>
          <p:cNvPicPr preferRelativeResize="0"/>
          <p:nvPr/>
        </p:nvPicPr>
        <p:blipFill rotWithShape="1">
          <a:blip r:embed="rId4">
            <a:alphaModFix/>
          </a:blip>
          <a:srcRect b="0" l="0" r="0" t="7279"/>
          <a:stretch/>
        </p:blipFill>
        <p:spPr>
          <a:xfrm>
            <a:off x="1604475" y="3084700"/>
            <a:ext cx="1864993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4475" y="3997699"/>
            <a:ext cx="1865000" cy="526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66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Layer Normalization (Normalización de Capa)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892" name="Google Shape;1892;p66"/>
          <p:cNvSpPr txBox="1"/>
          <p:nvPr/>
        </p:nvSpPr>
        <p:spPr>
          <a:xfrm>
            <a:off x="0" y="1564500"/>
            <a:ext cx="89523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Aceleración del Entrenamiento: Conduce a una convergencia más rápida al hacer que cada capa opere en un rango similar.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Estabilidad: Puede reducir problemas como el desvanecimiento o explosión del gradiente.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Normalización de Gradientes: El éxito de LayerNorm podría deberse a la normalización de los gradientes.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6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Encoder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68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Estructura del Encoder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903" name="Google Shape;1903;p68"/>
          <p:cNvSpPr txBox="1"/>
          <p:nvPr/>
        </p:nvSpPr>
        <p:spPr>
          <a:xfrm>
            <a:off x="0" y="1331375"/>
            <a:ext cx="7464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: Cada bloque del encoder consta de dos subcapas principales: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Atención Multi-Head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Red Feed-Forward (FFN)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Estado Oculto (hidden state):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Es la representación del embedding en la capa i,  la información acumulada de las entradas procesadas hasta el momento.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b="1"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Evolución:</a:t>
            </a: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En cada capa del encoder, el estado oculto se actualiza y refina a través de las operaciones de atención y la red FFN.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Normalización y Conexiones Residuales: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Después de cada subcapa (atención y FFN), se aplica una conexión residual seguida de una normalización de capa.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4" name="Google Shape;190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4892" y="1132648"/>
            <a:ext cx="1581782" cy="287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69"/>
          <p:cNvSpPr txBox="1"/>
          <p:nvPr>
            <p:ph type="title"/>
          </p:nvPr>
        </p:nvSpPr>
        <p:spPr>
          <a:xfrm>
            <a:off x="406650" y="624275"/>
            <a:ext cx="83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Configurando el</a:t>
            </a:r>
            <a:r>
              <a:rPr lang="es-419" sz="3000">
                <a:solidFill>
                  <a:srgbClr val="434343"/>
                </a:solidFill>
              </a:rPr>
              <a:t> Encoder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910" name="Google Shape;1910;p69"/>
          <p:cNvSpPr txBox="1"/>
          <p:nvPr/>
        </p:nvSpPr>
        <p:spPr>
          <a:xfrm>
            <a:off x="0" y="1282500"/>
            <a:ext cx="59988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Número de Capas (Num. Layers): Define la profundidad del modelo. BERT base tiene 12, mientras que BERT large tiene 24.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Dimensiones Ocultas (Hidden Dimensions): El tamaño de los embeddings y de las representaciones intermedias. En BERT base es 768 y en BERT large es 1024.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Longitud de Secuencia (Sequence Length): Define la máxima longitud de tokens que el modelo puede procesar en una única entrada. Bert es 512.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Otros Parámetros Importantes: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Num. Attention Heads: Define cuántas "cabezas" se utilizan en la atención multi-cabeza.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Intermediate Size: Tamaño de la capa oculta en la red feed-forward.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Activation: Función de activación utilizada (por ejemplo, gelu).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11" name="Google Shape;191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200" y="879650"/>
            <a:ext cx="2911950" cy="4111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70"/>
          <p:cNvSpPr txBox="1"/>
          <p:nvPr>
            <p:ph type="title"/>
          </p:nvPr>
        </p:nvSpPr>
        <p:spPr>
          <a:xfrm>
            <a:off x="727650" y="61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Representando el Input</a:t>
            </a:r>
            <a:endParaRPr/>
          </a:p>
        </p:txBody>
      </p:sp>
      <p:pic>
        <p:nvPicPr>
          <p:cNvPr id="1917" name="Google Shape;191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1900"/>
            <a:ext cx="8839200" cy="302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71"/>
          <p:cNvSpPr txBox="1"/>
          <p:nvPr>
            <p:ph type="title"/>
          </p:nvPr>
        </p:nvSpPr>
        <p:spPr>
          <a:xfrm>
            <a:off x="727650" y="61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Pretraining + Fine Tuning</a:t>
            </a:r>
            <a:endParaRPr/>
          </a:p>
        </p:txBody>
      </p:sp>
      <p:pic>
        <p:nvPicPr>
          <p:cNvPr id="1923" name="Google Shape;192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263" y="1229175"/>
            <a:ext cx="6280528" cy="368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72"/>
          <p:cNvSpPr txBox="1"/>
          <p:nvPr>
            <p:ph type="title"/>
          </p:nvPr>
        </p:nvSpPr>
        <p:spPr>
          <a:xfrm>
            <a:off x="727650" y="61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Masked Language Pretraining</a:t>
            </a:r>
            <a:endParaRPr/>
          </a:p>
        </p:txBody>
      </p:sp>
      <p:pic>
        <p:nvPicPr>
          <p:cNvPr id="1929" name="Google Shape;19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513" y="1303175"/>
            <a:ext cx="7132987" cy="36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73"/>
          <p:cNvSpPr txBox="1"/>
          <p:nvPr>
            <p:ph type="title"/>
          </p:nvPr>
        </p:nvSpPr>
        <p:spPr>
          <a:xfrm>
            <a:off x="727650" y="61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Masked Language Pretraining</a:t>
            </a:r>
            <a:endParaRPr/>
          </a:p>
        </p:txBody>
      </p:sp>
      <p:pic>
        <p:nvPicPr>
          <p:cNvPr id="1935" name="Google Shape;19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113" y="1364825"/>
            <a:ext cx="7039775" cy="33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74"/>
          <p:cNvSpPr txBox="1"/>
          <p:nvPr>
            <p:ph type="title"/>
          </p:nvPr>
        </p:nvSpPr>
        <p:spPr>
          <a:xfrm>
            <a:off x="277375" y="515750"/>
            <a:ext cx="8797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Ideales para tareas de clasificación de secuencias o tokens</a:t>
            </a:r>
            <a:endParaRPr/>
          </a:p>
        </p:txBody>
      </p:sp>
      <p:pic>
        <p:nvPicPr>
          <p:cNvPr id="1941" name="Google Shape;1941;p74"/>
          <p:cNvPicPr preferRelativeResize="0"/>
          <p:nvPr/>
        </p:nvPicPr>
        <p:blipFill rotWithShape="1">
          <a:blip r:embed="rId3">
            <a:alphaModFix/>
          </a:blip>
          <a:srcRect b="0" l="0" r="0" t="19595"/>
          <a:stretch/>
        </p:blipFill>
        <p:spPr>
          <a:xfrm>
            <a:off x="798025" y="1819950"/>
            <a:ext cx="3328424" cy="29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2" name="Google Shape;194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974" y="2147350"/>
            <a:ext cx="35814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75"/>
          <p:cNvSpPr txBox="1"/>
          <p:nvPr>
            <p:ph type="title"/>
          </p:nvPr>
        </p:nvSpPr>
        <p:spPr>
          <a:xfrm>
            <a:off x="727650" y="61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BERT resultados GLUE</a:t>
            </a:r>
            <a:endParaRPr/>
          </a:p>
        </p:txBody>
      </p:sp>
      <p:pic>
        <p:nvPicPr>
          <p:cNvPr id="1948" name="Google Shape;194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4550"/>
            <a:ext cx="8839198" cy="326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76"/>
          <p:cNvSpPr txBox="1"/>
          <p:nvPr>
            <p:ph type="title"/>
          </p:nvPr>
        </p:nvSpPr>
        <p:spPr>
          <a:xfrm>
            <a:off x="727650" y="61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BERT resultados SQUAD</a:t>
            </a:r>
            <a:endParaRPr/>
          </a:p>
        </p:txBody>
      </p:sp>
      <p:pic>
        <p:nvPicPr>
          <p:cNvPr id="1954" name="Google Shape;195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600" y="1315550"/>
            <a:ext cx="3522418" cy="36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77"/>
          <p:cNvSpPr txBox="1"/>
          <p:nvPr>
            <p:ph type="title"/>
          </p:nvPr>
        </p:nvSpPr>
        <p:spPr>
          <a:xfrm>
            <a:off x="727650" y="61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BERT SWAG</a:t>
            </a:r>
            <a:endParaRPr/>
          </a:p>
        </p:txBody>
      </p:sp>
      <p:pic>
        <p:nvPicPr>
          <p:cNvPr id="1960" name="Google Shape;19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688" y="1278525"/>
            <a:ext cx="5180622" cy="36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78"/>
          <p:cNvSpPr txBox="1"/>
          <p:nvPr>
            <p:ph type="title"/>
          </p:nvPr>
        </p:nvSpPr>
        <p:spPr>
          <a:xfrm>
            <a:off x="727650" y="61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BERT NER</a:t>
            </a:r>
            <a:endParaRPr/>
          </a:p>
        </p:txBody>
      </p:sp>
      <p:pic>
        <p:nvPicPr>
          <p:cNvPr id="1966" name="Google Shape;196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937" y="1327875"/>
            <a:ext cx="3580136" cy="368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79"/>
          <p:cNvSpPr txBox="1"/>
          <p:nvPr>
            <p:ph type="title"/>
          </p:nvPr>
        </p:nvSpPr>
        <p:spPr>
          <a:xfrm>
            <a:off x="727650" y="61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BERT hyperparámetros</a:t>
            </a:r>
            <a:endParaRPr/>
          </a:p>
        </p:txBody>
      </p:sp>
      <p:pic>
        <p:nvPicPr>
          <p:cNvPr id="1972" name="Google Shape;197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950" y="1303200"/>
            <a:ext cx="4699350" cy="36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8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Encoder-Decoder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81"/>
          <p:cNvSpPr txBox="1"/>
          <p:nvPr>
            <p:ph type="title"/>
          </p:nvPr>
        </p:nvSpPr>
        <p:spPr>
          <a:xfrm>
            <a:off x="489100" y="643750"/>
            <a:ext cx="55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Encoder-Decoder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983" name="Google Shape;1983;p81"/>
          <p:cNvSpPr txBox="1"/>
          <p:nvPr/>
        </p:nvSpPr>
        <p:spPr>
          <a:xfrm>
            <a:off x="358750" y="1270125"/>
            <a:ext cx="56526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Un diseño de dos partes para tareas generativas donde el encoder procesa la entrada y el decoder genera la salida.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○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e.g., traducción automática, summarization, question answering, tareas generativas.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El encoder crea una representación compacta de la entrada, que el decoder utiliza para producir la salida.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Lato"/>
              <a:buChar char="●"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Cada capa del decoder tiene dos subcapas de atención: una que se centra en la salida del decoder anterior y otra que se centra en la salida del encoder (atención encoder-decoder).</a:t>
            </a:r>
            <a:endParaRPr>
              <a:solidFill>
                <a:srgbClr val="374151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4" name="Google Shape;1984;p81"/>
          <p:cNvPicPr preferRelativeResize="0"/>
          <p:nvPr/>
        </p:nvPicPr>
        <p:blipFill rotWithShape="1">
          <a:blip r:embed="rId3">
            <a:alphaModFix/>
          </a:blip>
          <a:srcRect b="0" l="3763" r="0" t="0"/>
          <a:stretch/>
        </p:blipFill>
        <p:spPr>
          <a:xfrm>
            <a:off x="5958025" y="643750"/>
            <a:ext cx="3054000" cy="437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82"/>
          <p:cNvSpPr txBox="1"/>
          <p:nvPr>
            <p:ph type="title"/>
          </p:nvPr>
        </p:nvSpPr>
        <p:spPr>
          <a:xfrm>
            <a:off x="489100" y="643750"/>
            <a:ext cx="55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Encoder-Decoder</a:t>
            </a:r>
            <a:endParaRPr sz="2400">
              <a:solidFill>
                <a:srgbClr val="434343"/>
              </a:solidFill>
            </a:endParaRPr>
          </a:p>
        </p:txBody>
      </p:sp>
      <p:pic>
        <p:nvPicPr>
          <p:cNvPr id="1990" name="Google Shape;199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150" y="1368850"/>
            <a:ext cx="5754048" cy="36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83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96" name="Google Shape;1996;p83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7" name="Google Shape;1997;p83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998" name="Google Shape;1998;p83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999" name="Google Shape;1999;p83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0" name="Google Shape;2000;p83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001" name="Google Shape;2001;p83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02" name="Google Shape;2002;p83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003" name="Google Shape;2003;p83"/>
          <p:cNvCxnSpPr>
            <a:stCxn id="1998" idx="3"/>
            <a:endCxn id="2004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5" name="Google Shape;2005;p83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6" name="Google Shape;2006;p83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7" name="Google Shape;2007;p83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08" name="Google Shape;2008;p83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9" name="Google Shape;2009;p83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10" name="Google Shape;2010;p83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84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6" name="Google Shape;2016;p84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7" name="Google Shape;2017;p84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018" name="Google Shape;2018;p84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19" name="Google Shape;2019;p84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0" name="Google Shape;2020;p84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021" name="Google Shape;2021;p84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22" name="Google Shape;2022;p84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023" name="Google Shape;2023;p84"/>
          <p:cNvCxnSpPr>
            <a:stCxn id="2018" idx="3"/>
            <a:endCxn id="2024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5" name="Google Shape;2025;p84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6" name="Google Shape;2026;p84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7" name="Google Shape;2027;p84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28" name="Google Shape;2028;p84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84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0" name="Google Shape;2030;p84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1" name="Google Shape;2031;p84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32" name="Google Shape;2032;p84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33" name="Google Shape;2033;p84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85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39" name="Google Shape;2039;p85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0" name="Google Shape;2040;p85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041" name="Google Shape;2041;p85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42" name="Google Shape;2042;p85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3" name="Google Shape;2043;p85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044" name="Google Shape;2044;p85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5" name="Google Shape;2045;p85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046" name="Google Shape;2046;p85"/>
          <p:cNvCxnSpPr>
            <a:stCxn id="2041" idx="3"/>
            <a:endCxn id="2047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8" name="Google Shape;2048;p85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9" name="Google Shape;2049;p85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0" name="Google Shape;2050;p85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51" name="Google Shape;2051;p85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2" name="Google Shape;2052;p85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53" name="Google Shape;2053;p85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4" name="Google Shape;2054;p85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5" name="Google Shape;2055;p85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56" name="Google Shape;2056;p85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7" name="Google Shape;2057;p85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8" name="Google Shape;2058;p85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59" name="Google Shape;2059;p85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86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5" name="Google Shape;2065;p86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6" name="Google Shape;2066;p86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067" name="Google Shape;2067;p86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68" name="Google Shape;2068;p86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9" name="Google Shape;2069;p86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070" name="Google Shape;2070;p86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1" name="Google Shape;2071;p86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072" name="Google Shape;2072;p86"/>
          <p:cNvCxnSpPr>
            <a:stCxn id="2067" idx="3"/>
            <a:endCxn id="2073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4" name="Google Shape;2074;p86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75" name="Google Shape;2075;p86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6" name="Google Shape;2076;p86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77" name="Google Shape;2077;p86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86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79" name="Google Shape;2079;p86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0" name="Google Shape;2080;p86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1" name="Google Shape;2081;p86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2" name="Google Shape;2082;p86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3" name="Google Shape;2083;p86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4" name="Google Shape;2084;p86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5" name="Google Shape;2085;p86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6" name="Google Shape;2086;p86"/>
          <p:cNvSpPr txBox="1"/>
          <p:nvPr/>
        </p:nvSpPr>
        <p:spPr>
          <a:xfrm>
            <a:off x="2004850" y="23115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… 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7" name="Google Shape;2087;p86"/>
          <p:cNvCxnSpPr/>
          <p:nvPr/>
        </p:nvCxnSpPr>
        <p:spPr>
          <a:xfrm rot="10800000">
            <a:off x="22668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8" name="Google Shape;2088;p86"/>
          <p:cNvSpPr/>
          <p:nvPr/>
        </p:nvSpPr>
        <p:spPr>
          <a:xfrm>
            <a:off x="15514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87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4" name="Google Shape;2094;p87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5" name="Google Shape;2095;p87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096" name="Google Shape;2096;p87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97" name="Google Shape;2097;p87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8" name="Google Shape;2098;p87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099" name="Google Shape;2099;p87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00" name="Google Shape;2100;p87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101" name="Google Shape;2101;p87"/>
          <p:cNvCxnSpPr>
            <a:stCxn id="2096" idx="3"/>
            <a:endCxn id="2102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3" name="Google Shape;2103;p87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04" name="Google Shape;2104;p87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5" name="Google Shape;2105;p87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06" name="Google Shape;2106;p87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7" name="Google Shape;2107;p87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08" name="Google Shape;2108;p87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9" name="Google Shape;2109;p87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0" name="Google Shape;2110;p87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11" name="Google Shape;2111;p87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2" name="Google Shape;2112;p87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3" name="Google Shape;2113;p87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14" name="Google Shape;2114;p87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5" name="Google Shape;2115;p87"/>
          <p:cNvSpPr txBox="1"/>
          <p:nvPr/>
        </p:nvSpPr>
        <p:spPr>
          <a:xfrm>
            <a:off x="2004850" y="23115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… 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16" name="Google Shape;2116;p87"/>
          <p:cNvCxnSpPr/>
          <p:nvPr/>
        </p:nvCxnSpPr>
        <p:spPr>
          <a:xfrm rot="10800000">
            <a:off x="22668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7" name="Google Shape;2117;p87"/>
          <p:cNvSpPr/>
          <p:nvPr/>
        </p:nvSpPr>
        <p:spPr>
          <a:xfrm>
            <a:off x="15514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8" name="Google Shape;2118;p87"/>
          <p:cNvSpPr/>
          <p:nvPr/>
        </p:nvSpPr>
        <p:spPr>
          <a:xfrm>
            <a:off x="4995799" y="37302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Masked 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19" name="Google Shape;2119;p87"/>
          <p:cNvCxnSpPr/>
          <p:nvPr/>
        </p:nvCxnSpPr>
        <p:spPr>
          <a:xfrm rot="10800000">
            <a:off x="6229225" y="43317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88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5" name="Google Shape;2125;p88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6" name="Google Shape;2126;p88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127" name="Google Shape;2127;p88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28" name="Google Shape;2128;p88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9" name="Google Shape;2129;p88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130" name="Google Shape;2130;p88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31" name="Google Shape;2131;p88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132" name="Google Shape;2132;p88"/>
          <p:cNvCxnSpPr>
            <a:stCxn id="2127" idx="3"/>
            <a:endCxn id="2133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4" name="Google Shape;2134;p88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35" name="Google Shape;2135;p88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6" name="Google Shape;2136;p88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37" name="Google Shape;2137;p88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88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39" name="Google Shape;2139;p88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0" name="Google Shape;2140;p88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1" name="Google Shape;2141;p88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2" name="Google Shape;2142;p88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3" name="Google Shape;2143;p88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4" name="Google Shape;2144;p88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5" name="Google Shape;2145;p88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6" name="Google Shape;2146;p88"/>
          <p:cNvSpPr txBox="1"/>
          <p:nvPr/>
        </p:nvSpPr>
        <p:spPr>
          <a:xfrm>
            <a:off x="2004850" y="23115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… 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7" name="Google Shape;2147;p88"/>
          <p:cNvCxnSpPr/>
          <p:nvPr/>
        </p:nvCxnSpPr>
        <p:spPr>
          <a:xfrm rot="10800000">
            <a:off x="22668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8" name="Google Shape;2148;p88"/>
          <p:cNvSpPr/>
          <p:nvPr/>
        </p:nvSpPr>
        <p:spPr>
          <a:xfrm>
            <a:off x="15514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9" name="Google Shape;2149;p88"/>
          <p:cNvSpPr/>
          <p:nvPr/>
        </p:nvSpPr>
        <p:spPr>
          <a:xfrm>
            <a:off x="4995799" y="37302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Masked 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50" name="Google Shape;2150;p88"/>
          <p:cNvCxnSpPr/>
          <p:nvPr/>
        </p:nvCxnSpPr>
        <p:spPr>
          <a:xfrm rot="10800000">
            <a:off x="6229225" y="43317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1" name="Google Shape;2151;p88"/>
          <p:cNvCxnSpPr/>
          <p:nvPr/>
        </p:nvCxnSpPr>
        <p:spPr>
          <a:xfrm rot="10800000">
            <a:off x="6229225" y="33411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2" name="Google Shape;2152;p88"/>
          <p:cNvSpPr/>
          <p:nvPr/>
        </p:nvSpPr>
        <p:spPr>
          <a:xfrm>
            <a:off x="49957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Encoder-Decoder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Attention 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89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8" name="Google Shape;2158;p89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9" name="Google Shape;2159;p89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160" name="Google Shape;2160;p89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61" name="Google Shape;2161;p89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2" name="Google Shape;2162;p89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163" name="Google Shape;2163;p89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4" name="Google Shape;2164;p89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  <p:cxnSp>
        <p:nvCxnSpPr>
          <p:cNvPr id="2165" name="Google Shape;2165;p89"/>
          <p:cNvCxnSpPr>
            <a:stCxn id="2160" idx="3"/>
            <a:endCxn id="2166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7" name="Google Shape;2167;p89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8" name="Google Shape;2168;p89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9" name="Google Shape;2169;p89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70" name="Google Shape;2170;p89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89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72" name="Google Shape;2172;p89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89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4" name="Google Shape;2174;p89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5" name="Google Shape;2175;p89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6" name="Google Shape;2176;p89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7" name="Google Shape;2177;p89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8" name="Google Shape;2178;p89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9" name="Google Shape;2179;p89"/>
          <p:cNvSpPr txBox="1"/>
          <p:nvPr/>
        </p:nvSpPr>
        <p:spPr>
          <a:xfrm>
            <a:off x="2004850" y="23115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… 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80" name="Google Shape;2180;p89"/>
          <p:cNvCxnSpPr/>
          <p:nvPr/>
        </p:nvCxnSpPr>
        <p:spPr>
          <a:xfrm rot="10800000">
            <a:off x="22668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1" name="Google Shape;2181;p89"/>
          <p:cNvSpPr/>
          <p:nvPr/>
        </p:nvSpPr>
        <p:spPr>
          <a:xfrm>
            <a:off x="15514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2" name="Google Shape;2182;p89"/>
          <p:cNvSpPr/>
          <p:nvPr/>
        </p:nvSpPr>
        <p:spPr>
          <a:xfrm>
            <a:off x="4995799" y="37302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Masked 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183" name="Google Shape;2183;p89"/>
          <p:cNvCxnSpPr/>
          <p:nvPr/>
        </p:nvCxnSpPr>
        <p:spPr>
          <a:xfrm rot="10800000">
            <a:off x="6229225" y="43317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4" name="Google Shape;2184;p89"/>
          <p:cNvCxnSpPr/>
          <p:nvPr/>
        </p:nvCxnSpPr>
        <p:spPr>
          <a:xfrm rot="10800000">
            <a:off x="6229225" y="33411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5" name="Google Shape;2185;p89"/>
          <p:cNvSpPr/>
          <p:nvPr/>
        </p:nvSpPr>
        <p:spPr>
          <a:xfrm>
            <a:off x="49957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Encoder-Decoder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Attention 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6" name="Google Shape;2186;p89"/>
          <p:cNvSpPr txBox="1"/>
          <p:nvPr>
            <p:ph type="title"/>
          </p:nvPr>
        </p:nvSpPr>
        <p:spPr>
          <a:xfrm rot="-591">
            <a:off x="6191211" y="3355748"/>
            <a:ext cx="17457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500">
                <a:solidFill>
                  <a:srgbClr val="1155CC"/>
                </a:solidFill>
              </a:rPr>
              <a:t>Query</a:t>
            </a:r>
            <a:endParaRPr sz="960">
              <a:solidFill>
                <a:srgbClr val="1155CC"/>
              </a:solidFill>
            </a:endParaRPr>
          </a:p>
        </p:txBody>
      </p:sp>
      <p:sp>
        <p:nvSpPr>
          <p:cNvPr id="2187" name="Google Shape;2187;p89"/>
          <p:cNvSpPr txBox="1"/>
          <p:nvPr>
            <p:ph type="title"/>
          </p:nvPr>
        </p:nvSpPr>
        <p:spPr>
          <a:xfrm rot="2330845">
            <a:off x="3644561" y="2298607"/>
            <a:ext cx="1745720" cy="57286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500">
                <a:solidFill>
                  <a:srgbClr val="1155CC"/>
                </a:solidFill>
              </a:rPr>
              <a:t>Values y Key</a:t>
            </a:r>
            <a:endParaRPr sz="96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90"/>
          <p:cNvSpPr/>
          <p:nvPr/>
        </p:nvSpPr>
        <p:spPr>
          <a:xfrm>
            <a:off x="969050" y="1746025"/>
            <a:ext cx="2634900" cy="2749200"/>
          </a:xfrm>
          <a:prstGeom prst="roundRect">
            <a:avLst>
              <a:gd fmla="val 7236" name="adj"/>
            </a:avLst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3" name="Google Shape;2193;p90"/>
          <p:cNvSpPr txBox="1"/>
          <p:nvPr/>
        </p:nvSpPr>
        <p:spPr>
          <a:xfrm>
            <a:off x="1180450" y="4416000"/>
            <a:ext cx="2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River ganó y sumó 3 puntos que lo dejan en la punta del campeonato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4" name="Google Shape;2194;p90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Transformer: Traducción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195" name="Google Shape;2195;p90"/>
          <p:cNvSpPr/>
          <p:nvPr/>
        </p:nvSpPr>
        <p:spPr>
          <a:xfrm>
            <a:off x="10333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6" name="Google Shape;2196;p90"/>
          <p:cNvSpPr/>
          <p:nvPr/>
        </p:nvSpPr>
        <p:spPr>
          <a:xfrm>
            <a:off x="1453150" y="3768675"/>
            <a:ext cx="1626900" cy="338700"/>
          </a:xfrm>
          <a:prstGeom prst="roundRect">
            <a:avLst>
              <a:gd fmla="val 25650" name="adj"/>
            </a:avLst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Raleway"/>
                <a:ea typeface="Raleway"/>
                <a:cs typeface="Raleway"/>
                <a:sym typeface="Raleway"/>
              </a:rPr>
              <a:t>Positional Encoding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7" name="Google Shape;2197;p90"/>
          <p:cNvSpPr txBox="1"/>
          <p:nvPr/>
        </p:nvSpPr>
        <p:spPr>
          <a:xfrm>
            <a:off x="2004850" y="412575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BF9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BF9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98" name="Google Shape;2198;p90"/>
          <p:cNvCxnSpPr/>
          <p:nvPr/>
        </p:nvCxnSpPr>
        <p:spPr>
          <a:xfrm rot="10800000">
            <a:off x="2266825" y="411775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9" name="Google Shape;2199;p90"/>
          <p:cNvSpPr txBox="1"/>
          <p:nvPr/>
        </p:nvSpPr>
        <p:spPr>
          <a:xfrm>
            <a:off x="2004850" y="33492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 … V</a:t>
            </a:r>
            <a:r>
              <a:rPr b="1" baseline="-25000" lang="es-419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00" name="Google Shape;2200;p90"/>
          <p:cNvCxnSpPr/>
          <p:nvPr/>
        </p:nvCxnSpPr>
        <p:spPr>
          <a:xfrm rot="10800000">
            <a:off x="2266825" y="3341200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1" name="Google Shape;2201;p90"/>
          <p:cNvSpPr txBox="1"/>
          <p:nvPr/>
        </p:nvSpPr>
        <p:spPr>
          <a:xfrm>
            <a:off x="2004850" y="2311500"/>
            <a:ext cx="13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… Y</a:t>
            </a:r>
            <a:r>
              <a:rPr b="1" baseline="-25000" lang="es-419" sz="12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120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02" name="Google Shape;2202;p90"/>
          <p:cNvCxnSpPr/>
          <p:nvPr/>
        </p:nvCxnSpPr>
        <p:spPr>
          <a:xfrm rot="10800000">
            <a:off x="22668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3" name="Google Shape;2203;p90"/>
          <p:cNvSpPr/>
          <p:nvPr/>
        </p:nvSpPr>
        <p:spPr>
          <a:xfrm>
            <a:off x="15514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4" name="Google Shape;2204;p90"/>
          <p:cNvSpPr txBox="1"/>
          <p:nvPr/>
        </p:nvSpPr>
        <p:spPr>
          <a:xfrm>
            <a:off x="16252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2 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…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 Y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05" name="Google Shape;2205;p90"/>
          <p:cNvCxnSpPr/>
          <p:nvPr/>
        </p:nvCxnSpPr>
        <p:spPr>
          <a:xfrm rot="10800000">
            <a:off x="2266825" y="1533101"/>
            <a:ext cx="0" cy="200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6" name="Google Shape;2206;p90"/>
          <p:cNvSpPr/>
          <p:nvPr/>
        </p:nvSpPr>
        <p:spPr>
          <a:xfrm>
            <a:off x="4931450" y="1746025"/>
            <a:ext cx="2605500" cy="2749200"/>
          </a:xfrm>
          <a:prstGeom prst="roundRect">
            <a:avLst>
              <a:gd fmla="val 7236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7" name="Google Shape;2207;p90"/>
          <p:cNvSpPr/>
          <p:nvPr/>
        </p:nvSpPr>
        <p:spPr>
          <a:xfrm>
            <a:off x="4995799" y="37302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Masked Multiheaded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Self-Attention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08" name="Google Shape;2208;p90"/>
          <p:cNvCxnSpPr/>
          <p:nvPr/>
        </p:nvCxnSpPr>
        <p:spPr>
          <a:xfrm rot="10800000">
            <a:off x="6229225" y="33411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9" name="Google Shape;2209;p90"/>
          <p:cNvCxnSpPr/>
          <p:nvPr/>
        </p:nvCxnSpPr>
        <p:spPr>
          <a:xfrm rot="10800000">
            <a:off x="6229225" y="2303501"/>
            <a:ext cx="0" cy="4206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0" name="Google Shape;2210;p90"/>
          <p:cNvSpPr/>
          <p:nvPr/>
        </p:nvSpPr>
        <p:spPr>
          <a:xfrm>
            <a:off x="5513825" y="1883375"/>
            <a:ext cx="1441200" cy="420600"/>
          </a:xfrm>
          <a:prstGeom prst="roundRect">
            <a:avLst>
              <a:gd fmla="val 22532" name="adj"/>
            </a:avLst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Feed Foward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1" name="Google Shape;2211;p90"/>
          <p:cNvSpPr/>
          <p:nvPr/>
        </p:nvSpPr>
        <p:spPr>
          <a:xfrm>
            <a:off x="4995799" y="2739651"/>
            <a:ext cx="2477400" cy="562200"/>
          </a:xfrm>
          <a:prstGeom prst="roundRect">
            <a:avLst>
              <a:gd fmla="val 22532" name="adj"/>
            </a:avLst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Encoder-Decoder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aleway"/>
                <a:ea typeface="Raleway"/>
                <a:cs typeface="Raleway"/>
                <a:sym typeface="Raleway"/>
              </a:rPr>
              <a:t>Attention 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12" name="Google Shape;2212;p90"/>
          <p:cNvCxnSpPr>
            <a:stCxn id="2204" idx="3"/>
            <a:endCxn id="2211" idx="1"/>
          </p:cNvCxnSpPr>
          <p:nvPr/>
        </p:nvCxnSpPr>
        <p:spPr>
          <a:xfrm>
            <a:off x="2937100" y="1378300"/>
            <a:ext cx="2058600" cy="16425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3" name="Google Shape;2213;p90"/>
          <p:cNvSpPr txBox="1"/>
          <p:nvPr/>
        </p:nvSpPr>
        <p:spPr>
          <a:xfrm>
            <a:off x="5055737" y="4630050"/>
            <a:ext cx="23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Lato"/>
                <a:ea typeface="Lato"/>
                <a:cs typeface="Lato"/>
                <a:sym typeface="Lato"/>
              </a:rPr>
              <a:t>&lt;START&gt;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14" name="Google Shape;2214;p90"/>
          <p:cNvCxnSpPr/>
          <p:nvPr/>
        </p:nvCxnSpPr>
        <p:spPr>
          <a:xfrm rot="10800000">
            <a:off x="6229225" y="43317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5" name="Google Shape;2215;p90"/>
          <p:cNvCxnSpPr/>
          <p:nvPr/>
        </p:nvCxnSpPr>
        <p:spPr>
          <a:xfrm rot="10800000">
            <a:off x="6221950" y="1512325"/>
            <a:ext cx="0" cy="3528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6" name="Google Shape;2216;p90"/>
          <p:cNvSpPr txBox="1"/>
          <p:nvPr/>
        </p:nvSpPr>
        <p:spPr>
          <a:xfrm>
            <a:off x="5587600" y="117820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baseline="-25000" lang="es-419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17" name="Google Shape;2217;p90"/>
          <p:cNvCxnSpPr/>
          <p:nvPr/>
        </p:nvCxnSpPr>
        <p:spPr>
          <a:xfrm>
            <a:off x="6707650" y="138955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8" name="Google Shape;2218;p90"/>
          <p:cNvCxnSpPr/>
          <p:nvPr/>
        </p:nvCxnSpPr>
        <p:spPr>
          <a:xfrm>
            <a:off x="6707650" y="4804000"/>
            <a:ext cx="15132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19" name="Google Shape;2219;p90"/>
          <p:cNvCxnSpPr/>
          <p:nvPr/>
        </p:nvCxnSpPr>
        <p:spPr>
          <a:xfrm>
            <a:off x="8213600" y="1389550"/>
            <a:ext cx="0" cy="3404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0" name="Google Shape;2220;p90"/>
          <p:cNvSpPr txBox="1"/>
          <p:nvPr>
            <p:ph type="title"/>
          </p:nvPr>
        </p:nvSpPr>
        <p:spPr>
          <a:xfrm rot="-5400000">
            <a:off x="-29600" y="3290450"/>
            <a:ext cx="17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76A5AF"/>
                </a:solidFill>
              </a:rPr>
              <a:t>Encoder</a:t>
            </a:r>
            <a:endParaRPr sz="1360">
              <a:solidFill>
                <a:srgbClr val="76A5AF"/>
              </a:solidFill>
            </a:endParaRPr>
          </a:p>
        </p:txBody>
      </p:sp>
      <p:sp>
        <p:nvSpPr>
          <p:cNvPr id="2221" name="Google Shape;2221;p90"/>
          <p:cNvSpPr txBox="1"/>
          <p:nvPr>
            <p:ph type="title"/>
          </p:nvPr>
        </p:nvSpPr>
        <p:spPr>
          <a:xfrm rot="-5400000">
            <a:off x="4223050" y="3595250"/>
            <a:ext cx="12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00">
                <a:solidFill>
                  <a:srgbClr val="FFD966"/>
                </a:solidFill>
              </a:rPr>
              <a:t>Decoder</a:t>
            </a:r>
            <a:endParaRPr sz="136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9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Decoder Only 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92"/>
          <p:cNvSpPr txBox="1"/>
          <p:nvPr>
            <p:ph type="title"/>
          </p:nvPr>
        </p:nvSpPr>
        <p:spPr>
          <a:xfrm>
            <a:off x="729450" y="578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Decoder-Only Transformers</a:t>
            </a:r>
            <a:endParaRPr sz="3000">
              <a:solidFill>
                <a:srgbClr val="434343"/>
              </a:solidFill>
            </a:endParaRPr>
          </a:p>
        </p:txBody>
      </p:sp>
      <p:pic>
        <p:nvPicPr>
          <p:cNvPr id="2232" name="Google Shape;223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50" y="1384842"/>
            <a:ext cx="7874899" cy="3470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93"/>
          <p:cNvSpPr txBox="1"/>
          <p:nvPr>
            <p:ph type="title"/>
          </p:nvPr>
        </p:nvSpPr>
        <p:spPr>
          <a:xfrm>
            <a:off x="727650" y="56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Decoder-Only Transformers</a:t>
            </a:r>
            <a:endParaRPr/>
          </a:p>
        </p:txBody>
      </p:sp>
      <p:sp>
        <p:nvSpPr>
          <p:cNvPr id="2238" name="Google Shape;2238;p93"/>
          <p:cNvSpPr txBox="1"/>
          <p:nvPr>
            <p:ph idx="1" type="body"/>
          </p:nvPr>
        </p:nvSpPr>
        <p:spPr>
          <a:xfrm>
            <a:off x="34800" y="1393800"/>
            <a:ext cx="31053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A diferencia del modelo encoder-decoder que tiene dos 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componentes</a:t>
            </a: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, codificador y decodificador, los modelos solo-decodificadores consisten solo en el componente decoder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Entrenamiento Autorregresivo: Prediciendo la próxima palabra/token basado en tokens anteriores.</a:t>
            </a:r>
            <a:endParaRPr sz="1400">
              <a:solidFill>
                <a:srgbClr val="37415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374151"/>
                </a:solidFill>
                <a:highlight>
                  <a:schemeClr val="lt1"/>
                </a:highlight>
              </a:rPr>
              <a:t>Se alimenta con una secuencia de entrada (a veces precedida por un token especial) y genera directamente la salida sin una representación intermedia explícita.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id="2239" name="Google Shape;223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49" y="1393796"/>
            <a:ext cx="5919727" cy="2946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0" name="Google Shape;2240;p93"/>
          <p:cNvCxnSpPr>
            <a:endCxn id="2239" idx="2"/>
          </p:cNvCxnSpPr>
          <p:nvPr/>
        </p:nvCxnSpPr>
        <p:spPr>
          <a:xfrm>
            <a:off x="3126512" y="1492497"/>
            <a:ext cx="2981400" cy="28476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93"/>
          <p:cNvCxnSpPr>
            <a:stCxn id="2239" idx="0"/>
          </p:cNvCxnSpPr>
          <p:nvPr/>
        </p:nvCxnSpPr>
        <p:spPr>
          <a:xfrm flipH="1">
            <a:off x="3052412" y="1393796"/>
            <a:ext cx="3055500" cy="2960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2" name="Google Shape;2242;p93"/>
          <p:cNvSpPr txBox="1"/>
          <p:nvPr/>
        </p:nvSpPr>
        <p:spPr>
          <a:xfrm>
            <a:off x="3701925" y="4480150"/>
            <a:ext cx="4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solidFill>
                  <a:srgbClr val="37415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Que ventajas y desventajas tiene? 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94"/>
          <p:cNvSpPr txBox="1"/>
          <p:nvPr>
            <p:ph type="title"/>
          </p:nvPr>
        </p:nvSpPr>
        <p:spPr>
          <a:xfrm>
            <a:off x="727650" y="56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Decoder-Only Transformers</a:t>
            </a:r>
            <a:endParaRPr/>
          </a:p>
        </p:txBody>
      </p:sp>
      <p:pic>
        <p:nvPicPr>
          <p:cNvPr id="2248" name="Google Shape;22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101" y="1525225"/>
            <a:ext cx="6319800" cy="33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95"/>
          <p:cNvSpPr txBox="1"/>
          <p:nvPr>
            <p:ph type="title"/>
          </p:nvPr>
        </p:nvSpPr>
        <p:spPr>
          <a:xfrm>
            <a:off x="727650" y="56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Landscape</a:t>
            </a:r>
            <a:endParaRPr/>
          </a:p>
        </p:txBody>
      </p:sp>
      <p:pic>
        <p:nvPicPr>
          <p:cNvPr id="2254" name="Google Shape;225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9225"/>
            <a:ext cx="8839201" cy="2809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96"/>
          <p:cNvSpPr txBox="1"/>
          <p:nvPr>
            <p:ph type="title"/>
          </p:nvPr>
        </p:nvSpPr>
        <p:spPr>
          <a:xfrm>
            <a:off x="692700" y="643750"/>
            <a:ext cx="454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Transformer</a:t>
            </a:r>
            <a:endParaRPr sz="2400">
              <a:solidFill>
                <a:srgbClr val="434343"/>
              </a:solidFill>
            </a:endParaRPr>
          </a:p>
        </p:txBody>
      </p:sp>
      <p:pic>
        <p:nvPicPr>
          <p:cNvPr id="2260" name="Google Shape;226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00" y="1250950"/>
            <a:ext cx="947260" cy="38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1" name="Google Shape;226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452" y="1250950"/>
            <a:ext cx="1133656" cy="38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1108" y="1250950"/>
            <a:ext cx="882674" cy="38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3783" y="1250950"/>
            <a:ext cx="1380092" cy="38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3875" y="1250950"/>
            <a:ext cx="1225300" cy="11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96"/>
          <p:cNvSpPr txBox="1"/>
          <p:nvPr/>
        </p:nvSpPr>
        <p:spPr>
          <a:xfrm>
            <a:off x="6477300" y="48510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/>
              <a:t>huggingface.co/transformers/v3.5.1/quicktour.html</a:t>
            </a:r>
            <a:endParaRPr sz="9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97"/>
          <p:cNvSpPr txBox="1"/>
          <p:nvPr/>
        </p:nvSpPr>
        <p:spPr>
          <a:xfrm>
            <a:off x="921725" y="1977575"/>
            <a:ext cx="7144200" cy="1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0"/>
              <a:t>FIN</a:t>
            </a:r>
            <a:endParaRPr b="1" sz="6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98"/>
          <p:cNvSpPr txBox="1"/>
          <p:nvPr>
            <p:ph type="title"/>
          </p:nvPr>
        </p:nvSpPr>
        <p:spPr>
          <a:xfrm>
            <a:off x="727650" y="578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Reading List</a:t>
            </a:r>
            <a:endParaRPr/>
          </a:p>
        </p:txBody>
      </p:sp>
      <p:sp>
        <p:nvSpPr>
          <p:cNvPr id="2276" name="Google Shape;2276;p98"/>
          <p:cNvSpPr txBox="1"/>
          <p:nvPr>
            <p:ph idx="1" type="body"/>
          </p:nvPr>
        </p:nvSpPr>
        <p:spPr>
          <a:xfrm>
            <a:off x="729450" y="1420400"/>
            <a:ext cx="7688700" cy="29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15"/>
              <a:t>Hierarchical Attention Networks for Document Classification,   Yang et al., 2016</a:t>
            </a:r>
            <a:endParaRPr sz="4715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715"/>
              <a:t>Attention Is All You Need, Vaswani et. al. 2018</a:t>
            </a:r>
            <a:endParaRPr sz="4715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715"/>
              <a:t>BERT: Pre-training of Deep Bidirectional Transformers for Language Understanding et. al., 2019</a:t>
            </a:r>
            <a:endParaRPr sz="4715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715"/>
              <a:t>RoBERTa: A Robustly Optimized BERT Pretraining Approach Liu et. al, 2019</a:t>
            </a:r>
            <a:endParaRPr sz="4715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715"/>
              <a:t>Improving Language Understanding by Generative Pre-Training, Radford et. al., 2019</a:t>
            </a:r>
            <a:endParaRPr sz="4715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715"/>
              <a:t>DeBERTa: Decoding-enhanced BERT with Disentangled Attention, He et. al, 2020</a:t>
            </a:r>
            <a:endParaRPr b="1" sz="5215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