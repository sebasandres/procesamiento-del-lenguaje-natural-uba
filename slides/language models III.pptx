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93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9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</p:sldIdLst>
  <p:sldSz cy="5143500" cx="9144000"/>
  <p:notesSz cx="6858000" cy="9144000"/>
  <p:embeddedFontLst>
    <p:embeddedFont>
      <p:font typeface="Roboto"/>
      <p:regular r:id="rId99"/>
      <p:bold r:id="rId100"/>
      <p:italic r:id="rId101"/>
      <p:boldItalic r:id="rId10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102" Type="http://schemas.openxmlformats.org/officeDocument/2006/relationships/font" Target="fonts/Roboto-boldItalic.fntdata"/><Relationship Id="rId101" Type="http://schemas.openxmlformats.org/officeDocument/2006/relationships/font" Target="fonts/Roboto-italic.fntdata"/><Relationship Id="rId100" Type="http://schemas.openxmlformats.org/officeDocument/2006/relationships/font" Target="fonts/Roboto-bold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95" Type="http://schemas.openxmlformats.org/officeDocument/2006/relationships/slide" Target="slides/slide90.xml"/><Relationship Id="rId94" Type="http://schemas.openxmlformats.org/officeDocument/2006/relationships/slide" Target="slides/slide89.xml"/><Relationship Id="rId97" Type="http://schemas.openxmlformats.org/officeDocument/2006/relationships/slide" Target="slides/slide92.xml"/><Relationship Id="rId96" Type="http://schemas.openxmlformats.org/officeDocument/2006/relationships/slide" Target="slides/slide91.xml"/><Relationship Id="rId11" Type="http://schemas.openxmlformats.org/officeDocument/2006/relationships/slide" Target="slides/slide6.xml"/><Relationship Id="rId99" Type="http://schemas.openxmlformats.org/officeDocument/2006/relationships/font" Target="fonts/Roboto-regular.fntdata"/><Relationship Id="rId10" Type="http://schemas.openxmlformats.org/officeDocument/2006/relationships/slide" Target="slides/slide5.xml"/><Relationship Id="rId98" Type="http://schemas.openxmlformats.org/officeDocument/2006/relationships/slide" Target="slides/slide93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91" Type="http://schemas.openxmlformats.org/officeDocument/2006/relationships/slide" Target="slides/slide86.xml"/><Relationship Id="rId90" Type="http://schemas.openxmlformats.org/officeDocument/2006/relationships/slide" Target="slides/slide85.xml"/><Relationship Id="rId93" Type="http://schemas.openxmlformats.org/officeDocument/2006/relationships/slide" Target="slides/slide88.xml"/><Relationship Id="rId92" Type="http://schemas.openxmlformats.org/officeDocument/2006/relationships/slide" Target="slides/slide8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86" Type="http://schemas.openxmlformats.org/officeDocument/2006/relationships/slide" Target="slides/slide81.xml"/><Relationship Id="rId85" Type="http://schemas.openxmlformats.org/officeDocument/2006/relationships/slide" Target="slides/slide80.xml"/><Relationship Id="rId88" Type="http://schemas.openxmlformats.org/officeDocument/2006/relationships/slide" Target="slides/slide83.xml"/><Relationship Id="rId87" Type="http://schemas.openxmlformats.org/officeDocument/2006/relationships/slide" Target="slides/slide82.xml"/><Relationship Id="rId89" Type="http://schemas.openxmlformats.org/officeDocument/2006/relationships/slide" Target="slides/slide84.xml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75" Type="http://schemas.openxmlformats.org/officeDocument/2006/relationships/slide" Target="slides/slide70.xml"/><Relationship Id="rId74" Type="http://schemas.openxmlformats.org/officeDocument/2006/relationships/slide" Target="slides/slide69.xml"/><Relationship Id="rId77" Type="http://schemas.openxmlformats.org/officeDocument/2006/relationships/slide" Target="slides/slide72.xml"/><Relationship Id="rId76" Type="http://schemas.openxmlformats.org/officeDocument/2006/relationships/slide" Target="slides/slide71.xml"/><Relationship Id="rId79" Type="http://schemas.openxmlformats.org/officeDocument/2006/relationships/slide" Target="slides/slide74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66" Type="http://schemas.openxmlformats.org/officeDocument/2006/relationships/slide" Target="slides/slide61.xml"/><Relationship Id="rId65" Type="http://schemas.openxmlformats.org/officeDocument/2006/relationships/slide" Target="slides/slide60.xml"/><Relationship Id="rId68" Type="http://schemas.openxmlformats.org/officeDocument/2006/relationships/slide" Target="slides/slide63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69" Type="http://schemas.openxmlformats.org/officeDocument/2006/relationships/slide" Target="slides/slide6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55" Type="http://schemas.openxmlformats.org/officeDocument/2006/relationships/slide" Target="slides/slide50.xml"/><Relationship Id="rId54" Type="http://schemas.openxmlformats.org/officeDocument/2006/relationships/slide" Target="slides/slide49.xml"/><Relationship Id="rId57" Type="http://schemas.openxmlformats.org/officeDocument/2006/relationships/slide" Target="slides/slide52.xml"/><Relationship Id="rId56" Type="http://schemas.openxmlformats.org/officeDocument/2006/relationships/slide" Target="slides/slide51.xml"/><Relationship Id="rId59" Type="http://schemas.openxmlformats.org/officeDocument/2006/relationships/slide" Target="slides/slide54.xml"/><Relationship Id="rId58" Type="http://schemas.openxmlformats.org/officeDocument/2006/relationships/slide" Target="slides/slide5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ea27af167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ea27af167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ea27af167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ea27af167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ea27af1677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ea27af1677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ea27af1677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ea27af1677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1ea27af1677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1ea27af1677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ea40d680f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ea40d680f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1ea40d680f3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1ea40d680f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ea40d680f3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ea40d680f3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1ea40d680f3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1ea40d680f3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ea40d680f3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ea40d680f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1ea40d680f3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1ea40d680f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ea40d680f3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1ea40d680f3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1ea40d680f3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1ea40d680f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ea40d680f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ea40d680f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1ea40d680f3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1ea40d680f3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1ea40d680f3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1ea40d680f3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1ea9673e565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1ea9673e565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ea40d680f3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ea40d680f3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1ea40d680f3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1ea40d680f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a40d680f3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a40d680f3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ea40d680f3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ea40d680f3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ea9673e565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1ea9673e565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ea9673e565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ea9673e565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1ea9673e56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1ea9673e56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ea40d680f3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ea40d680f3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ea9673e565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ea9673e565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1ea40d680f3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1ea40d680f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ea40d680f3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ea40d680f3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1ea9673e56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1ea9673e56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ea40d680f3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ea40d680f3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1ea40d680f3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1ea40d680f3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1eb1f69b1d8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1eb1f69b1d8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1eb1f69b1d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1eb1f69b1d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ea40d680f3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ea40d680f3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1eb1f69b1d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1eb1f69b1d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1ea40d680f3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1ea40d680f3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1ea40d680f3_0_1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1ea40d680f3_0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1ea5b66b807_0_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1ea5b66b807_0_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1ea5b66b807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1ea5b66b807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1ea5b66b80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1ea5b66b80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ea5b66b80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ea5b66b80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1ea5b66b807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1ea5b66b807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ea5b66b80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ea5b66b80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1ea5b66b80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1ea5b66b80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1ea5b66b80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1ea5b66b80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1ea5b66b807_0_6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1ea5b66b807_0_6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1ea5b66b807_0_8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1ea5b66b807_0_8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1ea5b66b807_0_8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1ea5b66b807_0_8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ea5b66b807_0_8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ea5b66b807_0_8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1ea5b66b807_0_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g1ea5b66b807_0_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1ea5b66b807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1ea5b66b80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ea5b66b807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ea5b66b807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1ea5b66b807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1ea5b66b807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1ea5b66b807_0_1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7" name="Google Shape;557;g1ea5b66b807_0_1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1ea5b66b807_0_1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0" name="Google Shape;580;g1ea5b66b807_0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1ea5b66b807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1ea5b66b807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1ea5b66b807_0_2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1" name="Google Shape;611;g1ea5b66b807_0_2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1ea5b66b807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g1ea5b66b807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1ea5b66b807_0_2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1ea5b66b807_0_2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1ea5b66b807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1ea5b66b807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ea5b66b807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ea5b66b807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ea5b66b807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ea5b66b807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1ea5b66b807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1ea5b66b807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1ea5b66b807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1ea5b66b807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1ea5b66b80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1ea5b66b80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1ea5b66b807_0_10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5" name="Google Shape;675;g1ea5b66b807_0_10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1ea5b66b807_0_1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1ea5b66b807_0_1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1ea5b66b807_0_1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1ea5b66b807_0_1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1ea5b66b807_0_11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0" name="Google Shape;700;g1ea5b66b807_0_11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1ea5b66b807_0_1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1ea5b66b807_0_1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1ea5b66b807_0_1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1ea5b66b807_0_1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ea5b66b807_0_1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ea5b66b807_0_1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1ea5b66b807_0_1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1ea5b66b807_0_1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1ea5b66b807_0_12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5" name="Google Shape;735;g1ea5b66b807_0_12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1ea5b66b807_0_14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1ea5b66b807_0_1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ea5b66b807_0_14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1ea5b66b807_0_1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1ea5b66b807_0_14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3" name="Google Shape;763;g1ea5b66b807_0_14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1ea5b66b807_0_15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7" name="Google Shape;777;g1ea5b66b807_0_15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1ea5b66b807_0_16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g1ea5b66b807_0_16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1ea5b66b807_0_16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g1ea5b66b807_0_16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g1ea9673e565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g1ea9673e565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1ea9673e56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1ea9673e56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1ea9673e565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6" name="Google Shape;876;g1ea9673e565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ea5b66b807_0_17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g1ea5b66b807_0_17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1ea9673e565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1ea9673e565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1ea5b66b807_0_18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1ea5b66b807_0_18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1ea5b66b807_0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1ea5b66b807_0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1ea9673e565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1ea9673e565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g1ea9673e565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4" name="Google Shape;914;g1ea9673e565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1ea9673e565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1ea9673e565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g1ea9673e565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7" name="Google Shape;927;g1ea9673e565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4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g1ea40d680f3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6" name="Google Shape;936;g1ea40d680f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822960" y="4844839"/>
            <a:ext cx="1854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764639" y="4844839"/>
            <a:ext cx="361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7425344" y="4844839"/>
            <a:ext cx="9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6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36.jpg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Relationship Id="rId4" Type="http://schemas.openxmlformats.org/officeDocument/2006/relationships/image" Target="../media/image3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3.png"/><Relationship Id="rId4" Type="http://schemas.openxmlformats.org/officeDocument/2006/relationships/image" Target="../media/image22.png"/><Relationship Id="rId5" Type="http://schemas.openxmlformats.org/officeDocument/2006/relationships/image" Target="../media/image1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2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9.png"/><Relationship Id="rId4" Type="http://schemas.openxmlformats.org/officeDocument/2006/relationships/image" Target="../media/image2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23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9.png"/><Relationship Id="rId4" Type="http://schemas.openxmlformats.org/officeDocument/2006/relationships/image" Target="../media/image30.png"/><Relationship Id="rId5" Type="http://schemas.openxmlformats.org/officeDocument/2006/relationships/image" Target="../media/image27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4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6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5.png"/><Relationship Id="rId4" Type="http://schemas.openxmlformats.org/officeDocument/2006/relationships/image" Target="../media/image39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3.png"/><Relationship Id="rId4" Type="http://schemas.openxmlformats.org/officeDocument/2006/relationships/image" Target="../media/image55.png"/><Relationship Id="rId5" Type="http://schemas.openxmlformats.org/officeDocument/2006/relationships/image" Target="../media/image44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7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8.png"/><Relationship Id="rId4" Type="http://schemas.openxmlformats.org/officeDocument/2006/relationships/image" Target="../media/image67.png"/><Relationship Id="rId5" Type="http://schemas.openxmlformats.org/officeDocument/2006/relationships/image" Target="../media/image95.png"/><Relationship Id="rId6" Type="http://schemas.openxmlformats.org/officeDocument/2006/relationships/image" Target="../media/image84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.jpg"/><Relationship Id="rId4" Type="http://schemas.openxmlformats.org/officeDocument/2006/relationships/image" Target="../media/image16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36.jpg"/><Relationship Id="rId8" Type="http://schemas.openxmlformats.org/officeDocument/2006/relationships/image" Target="../media/image6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.jpg"/><Relationship Id="rId4" Type="http://schemas.openxmlformats.org/officeDocument/2006/relationships/image" Target="../media/image16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36.jpg"/><Relationship Id="rId8" Type="http://schemas.openxmlformats.org/officeDocument/2006/relationships/image" Target="../media/image6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69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3.png"/><Relationship Id="rId4" Type="http://schemas.openxmlformats.org/officeDocument/2006/relationships/image" Target="../media/image68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5.png"/><Relationship Id="rId4" Type="http://schemas.openxmlformats.org/officeDocument/2006/relationships/image" Target="../media/image57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3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5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9.png"/><Relationship Id="rId4" Type="http://schemas.openxmlformats.org/officeDocument/2006/relationships/image" Target="../media/image64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8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1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2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97.png"/><Relationship Id="rId4" Type="http://schemas.openxmlformats.org/officeDocument/2006/relationships/image" Target="../media/image66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60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62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80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6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4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83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82.jp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87.png"/><Relationship Id="rId4" Type="http://schemas.openxmlformats.org/officeDocument/2006/relationships/image" Target="../media/image98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7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88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94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86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81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96.png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85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0.xml"/><Relationship Id="rId3" Type="http://schemas.openxmlformats.org/officeDocument/2006/relationships/hyperlink" Target="https://ar5iv.org/abs/2109.07445" TargetMode="Externa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91.png"/><Relationship Id="rId4" Type="http://schemas.openxmlformats.org/officeDocument/2006/relationships/image" Target="../media/image89.png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90.png"/><Relationship Id="rId4" Type="http://schemas.openxmlformats.org/officeDocument/2006/relationships/image" Target="../media/image93.png"/><Relationship Id="rId5" Type="http://schemas.openxmlformats.org/officeDocument/2006/relationships/image" Target="../media/image99.png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Pretraining y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Generativos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Pretraining y transfer learning</a:t>
            </a:r>
            <a:endParaRPr/>
          </a:p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4982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 </a:t>
            </a:r>
            <a:r>
              <a:rPr b="1" lang="en"/>
              <a:t>preentrenamiento</a:t>
            </a:r>
            <a:r>
              <a:rPr lang="en"/>
              <a:t> en NLP implica entrenar un modelo en un corpus de texto grande en una </a:t>
            </a:r>
            <a:r>
              <a:rPr b="1" lang="en"/>
              <a:t>tarea general.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Esta fase ayuda al modelo a comprender las estructuras semánticas, sintácticas, a </a:t>
            </a:r>
            <a:r>
              <a:rPr b="1" lang="en"/>
              <a:t>incorporar conocimiento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Los modelos </a:t>
            </a:r>
            <a:r>
              <a:rPr lang="en"/>
              <a:t>pre entrenados</a:t>
            </a:r>
            <a:r>
              <a:rPr lang="en"/>
              <a:t> aprenden una rica </a:t>
            </a:r>
            <a:r>
              <a:rPr b="1" lang="en"/>
              <a:t>representación del lenguaje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Este proceso </a:t>
            </a:r>
            <a:r>
              <a:rPr b="1" lang="en"/>
              <a:t>acelera el entrenamiento para la tarea objetivo</a:t>
            </a:r>
            <a:r>
              <a:rPr lang="en"/>
              <a:t> y reduce la necesidad de datos para fine tuning (hasta 0 en modelos grandes!).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3800" y="1152475"/>
            <a:ext cx="3784650" cy="378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1716" y="2585923"/>
            <a:ext cx="1212880" cy="670696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/>
          <p:nvPr/>
        </p:nvSpPr>
        <p:spPr>
          <a:xfrm>
            <a:off x="3273751" y="2100094"/>
            <a:ext cx="12924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Preentrenado</a:t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16"/>
          <p:cNvCxnSpPr>
            <a:endCxn id="73" idx="1"/>
          </p:cNvCxnSpPr>
          <p:nvPr/>
        </p:nvCxnSpPr>
        <p:spPr>
          <a:xfrm flipH="1" rot="10800000">
            <a:off x="2190751" y="2500144"/>
            <a:ext cx="1083000" cy="138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5" name="Google Shape;75;p16"/>
          <p:cNvSpPr txBox="1"/>
          <p:nvPr/>
        </p:nvSpPr>
        <p:spPr>
          <a:xfrm>
            <a:off x="528320" y="1441913"/>
            <a:ext cx="1484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general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76" name="Google Shape;76;p16"/>
          <p:cNvPicPr preferRelativeResize="0"/>
          <p:nvPr/>
        </p:nvPicPr>
        <p:blipFill rotWithShape="1">
          <a:blip r:embed="rId4">
            <a:alphaModFix/>
          </a:blip>
          <a:srcRect b="40544" l="0" r="90046" t="25251"/>
          <a:stretch/>
        </p:blipFill>
        <p:spPr>
          <a:xfrm>
            <a:off x="5921563" y="930716"/>
            <a:ext cx="641417" cy="7398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Best Higher Education Books Of 2020" id="77" name="Google Shape;7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2199" y="1808871"/>
            <a:ext cx="987016" cy="7050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mputer program - Wikipedia" id="78" name="Google Shape;7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3436" y="2747381"/>
            <a:ext cx="584848" cy="438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rXiv.org (@arxiv) / X" id="79" name="Google Shape;7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8319" y="2272524"/>
            <a:ext cx="538157" cy="538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dobe Acrobat Reader: Edit PDF - Aplicaciones en Google Play" id="80" name="Google Shape;80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3436" y="1906708"/>
            <a:ext cx="488281" cy="48827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7076605" y="2074639"/>
            <a:ext cx="16527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Especializado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5696138" y="2100094"/>
            <a:ext cx="12129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Modelo Especializado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83" name="Google Shape;83;p16"/>
          <p:cNvPicPr preferRelativeResize="0"/>
          <p:nvPr/>
        </p:nvPicPr>
        <p:blipFill rotWithShape="1">
          <a:blip r:embed="rId4">
            <a:alphaModFix/>
          </a:blip>
          <a:srcRect b="40544" l="0" r="90046" t="25251"/>
          <a:stretch/>
        </p:blipFill>
        <p:spPr>
          <a:xfrm>
            <a:off x="5941892" y="3561563"/>
            <a:ext cx="641417" cy="73982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>
            <a:stCxn id="73" idx="3"/>
            <a:endCxn id="82" idx="1"/>
          </p:cNvCxnSpPr>
          <p:nvPr/>
        </p:nvCxnSpPr>
        <p:spPr>
          <a:xfrm>
            <a:off x="4566151" y="2500144"/>
            <a:ext cx="1130100" cy="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85" name="Google Shape;85;p16"/>
          <p:cNvSpPr txBox="1"/>
          <p:nvPr/>
        </p:nvSpPr>
        <p:spPr>
          <a:xfrm>
            <a:off x="5754267" y="4298485"/>
            <a:ext cx="17070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español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5754254" y="754304"/>
            <a:ext cx="1148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Inglés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" name="Google Shape;87;p16"/>
          <p:cNvCxnSpPr/>
          <p:nvPr/>
        </p:nvCxnSpPr>
        <p:spPr>
          <a:xfrm rot="10800000">
            <a:off x="6563005" y="1281705"/>
            <a:ext cx="513600" cy="10812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8" name="Google Shape;88;p16"/>
          <p:cNvCxnSpPr>
            <a:endCxn id="83" idx="3"/>
          </p:cNvCxnSpPr>
          <p:nvPr/>
        </p:nvCxnSpPr>
        <p:spPr>
          <a:xfrm flipH="1">
            <a:off x="6583309" y="2363077"/>
            <a:ext cx="493500" cy="15684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9" name="Google Shape;89;p16"/>
          <p:cNvCxnSpPr>
            <a:stCxn id="83" idx="0"/>
            <a:endCxn id="82" idx="2"/>
          </p:cNvCxnSpPr>
          <p:nvPr/>
        </p:nvCxnSpPr>
        <p:spPr>
          <a:xfrm flipH="1" rot="10800000">
            <a:off x="6262601" y="2900063"/>
            <a:ext cx="39900" cy="6615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90" name="Google Shape;90;p16"/>
          <p:cNvCxnSpPr>
            <a:stCxn id="82" idx="0"/>
            <a:endCxn id="76" idx="2"/>
          </p:cNvCxnSpPr>
          <p:nvPr/>
        </p:nvCxnSpPr>
        <p:spPr>
          <a:xfrm rot="10800000">
            <a:off x="6242288" y="1670494"/>
            <a:ext cx="60300" cy="4296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>
            <p:ph type="title"/>
          </p:nvPr>
        </p:nvSpPr>
        <p:spPr>
          <a:xfrm>
            <a:off x="311700" y="147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Primero preentrenabamos solo embeddings</a:t>
            </a:r>
            <a:endParaRPr/>
          </a:p>
        </p:txBody>
      </p:sp>
      <p:sp>
        <p:nvSpPr>
          <p:cNvPr id="96" name="Google Shape;96;p17"/>
          <p:cNvSpPr/>
          <p:nvPr/>
        </p:nvSpPr>
        <p:spPr>
          <a:xfrm>
            <a:off x="138691" y="1892151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138691" y="2387291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173015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173015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173014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138691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1606964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7"/>
          <p:cNvSpPr/>
          <p:nvPr/>
        </p:nvSpPr>
        <p:spPr>
          <a:xfrm>
            <a:off x="1572642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3040916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3040915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3006592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474865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440543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5908816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5908816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908816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5874493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1572642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1572642" y="3373979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1574297" y="2382828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1545341" y="1891275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3033814" y="2870314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3035872" y="2388563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3006592" y="1889832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4532700" y="2877488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4532700" y="3369908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4534355" y="2378758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4505399" y="1887204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5938798" y="2378758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5909842" y="1887204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449507" y="4706475"/>
            <a:ext cx="52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 txBox="1"/>
          <p:nvPr/>
        </p:nvSpPr>
        <p:spPr>
          <a:xfrm>
            <a:off x="1703200" y="4706475"/>
            <a:ext cx="105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hotel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3384951" y="4706475"/>
            <a:ext cx="70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4440550" y="4706475"/>
            <a:ext cx="124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buenisimo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6237687" y="4706475"/>
            <a:ext cx="26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006592" y="1295832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7307900" y="1167325"/>
            <a:ext cx="170400" cy="30213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7"/>
          <p:cNvSpPr/>
          <p:nvPr/>
        </p:nvSpPr>
        <p:spPr>
          <a:xfrm>
            <a:off x="7307900" y="4195050"/>
            <a:ext cx="97200" cy="5727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 txBox="1"/>
          <p:nvPr>
            <p:ph type="title"/>
          </p:nvPr>
        </p:nvSpPr>
        <p:spPr>
          <a:xfrm>
            <a:off x="7494400" y="2391625"/>
            <a:ext cx="1338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Inicialización</a:t>
            </a:r>
            <a:endParaRPr sz="152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random</a:t>
            </a:r>
            <a:endParaRPr sz="1520"/>
          </a:p>
        </p:txBody>
      </p:sp>
      <p:sp>
        <p:nvSpPr>
          <p:cNvPr id="135" name="Google Shape;135;p17"/>
          <p:cNvSpPr txBox="1"/>
          <p:nvPr>
            <p:ph type="title"/>
          </p:nvPr>
        </p:nvSpPr>
        <p:spPr>
          <a:xfrm>
            <a:off x="7494400" y="4344750"/>
            <a:ext cx="15459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Preentrenados</a:t>
            </a:r>
            <a:endParaRPr sz="152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/>
          <p:nvPr>
            <p:ph type="title"/>
          </p:nvPr>
        </p:nvSpPr>
        <p:spPr>
          <a:xfrm>
            <a:off x="311700" y="147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Luego empezamos a </a:t>
            </a:r>
            <a:r>
              <a:rPr lang="en"/>
              <a:t>preentrenar todo el modelo</a:t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138691" y="189215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138691" y="238729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173015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173015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173014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138691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1606964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1572642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3040916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3040915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3006592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4474865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4440543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5908816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5908816" y="337757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5908816" y="387271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5874493" y="4371441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1572642" y="2882430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1572642" y="3373979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1574297" y="2382828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1545341" y="1891275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3033814" y="2870314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3035872" y="2388563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3006592" y="1889832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4532700" y="2877488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4532700" y="3369908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4534355" y="2378758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505399" y="1887204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938798" y="2378758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5909842" y="1887204"/>
            <a:ext cx="1147800" cy="315900"/>
          </a:xfrm>
          <a:prstGeom prst="roundRect">
            <a:avLst>
              <a:gd fmla="val 16667" name="adj"/>
            </a:avLst>
          </a:prstGeom>
          <a:solidFill>
            <a:srgbClr val="1CADE4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449507" y="4706475"/>
            <a:ext cx="52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1703200" y="4706475"/>
            <a:ext cx="105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hotel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384951" y="4706475"/>
            <a:ext cx="70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4440550" y="4706475"/>
            <a:ext cx="124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buenisimo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6237687" y="4706475"/>
            <a:ext cx="26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006592" y="1295832"/>
            <a:ext cx="1147800" cy="315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7304900" y="1167325"/>
            <a:ext cx="97200" cy="6444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7307900" y="1892150"/>
            <a:ext cx="97200" cy="28755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8"/>
          <p:cNvSpPr txBox="1"/>
          <p:nvPr>
            <p:ph type="title"/>
          </p:nvPr>
        </p:nvSpPr>
        <p:spPr>
          <a:xfrm>
            <a:off x="7598350" y="1203175"/>
            <a:ext cx="1338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Inicialización</a:t>
            </a:r>
            <a:endParaRPr sz="152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random</a:t>
            </a:r>
            <a:endParaRPr sz="1520"/>
          </a:p>
        </p:txBody>
      </p:sp>
      <p:sp>
        <p:nvSpPr>
          <p:cNvPr id="180" name="Google Shape;180;p18"/>
          <p:cNvSpPr txBox="1"/>
          <p:nvPr>
            <p:ph type="title"/>
          </p:nvPr>
        </p:nvSpPr>
        <p:spPr>
          <a:xfrm>
            <a:off x="7494400" y="3145250"/>
            <a:ext cx="15459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520"/>
              <a:t>Preentrenados</a:t>
            </a:r>
            <a:endParaRPr sz="15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Algunos Tipos de Preentrenamiento</a:t>
            </a:r>
            <a:endParaRPr/>
          </a:p>
        </p:txBody>
      </p:sp>
      <p:sp>
        <p:nvSpPr>
          <p:cNvPr id="186" name="Google Shape;186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108">
                <a:solidFill>
                  <a:srgbClr val="374151"/>
                </a:solidFill>
              </a:rPr>
              <a:t>Modelo de Lenguaje Enmascarado (MLM):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108">
                <a:solidFill>
                  <a:srgbClr val="374151"/>
                </a:solidFill>
              </a:rPr>
              <a:t>Predice palabras enmascaradas en una oración.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108">
                <a:solidFill>
                  <a:srgbClr val="374151"/>
                </a:solidFill>
              </a:rPr>
              <a:t>Ejemplo: BERT</a:t>
            </a:r>
            <a:endParaRPr sz="5108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5108">
                <a:solidFill>
                  <a:srgbClr val="374151"/>
                </a:solidFill>
              </a:rPr>
              <a:t>Predicción de la Siguiente Palabra (NWP):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108">
                <a:solidFill>
                  <a:srgbClr val="374151"/>
                </a:solidFill>
              </a:rPr>
              <a:t>Predice la siguiente palabra en una secuencia.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108">
                <a:solidFill>
                  <a:srgbClr val="374151"/>
                </a:solidFill>
              </a:rPr>
              <a:t>Ejemplo: GPT</a:t>
            </a:r>
            <a:endParaRPr sz="5108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5108">
                <a:solidFill>
                  <a:schemeClr val="dk1"/>
                </a:solidFill>
              </a:rPr>
              <a:t>Predicción de la Siguiente Oración (NSP)</a:t>
            </a:r>
            <a:r>
              <a:rPr lang="en" sz="5108">
                <a:solidFill>
                  <a:srgbClr val="374151"/>
                </a:solidFill>
              </a:rPr>
              <a:t>: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108">
                <a:solidFill>
                  <a:srgbClr val="374151"/>
                </a:solidFill>
              </a:rPr>
              <a:t>Predice si una oración sigue a otra en un texto.</a:t>
            </a:r>
            <a:endParaRPr sz="5108">
              <a:solidFill>
                <a:srgbClr val="374151"/>
              </a:solidFill>
            </a:endParaRPr>
          </a:p>
          <a:p>
            <a:pPr indent="-309685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108">
                <a:solidFill>
                  <a:srgbClr val="374151"/>
                </a:solidFill>
              </a:rPr>
              <a:t>Ejemplo: BERT</a:t>
            </a:r>
            <a:endParaRPr sz="5108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8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5108">
                <a:solidFill>
                  <a:schemeClr val="dk1"/>
                </a:solidFill>
              </a:rPr>
              <a:t>Discriminativo:</a:t>
            </a:r>
            <a:endParaRPr sz="5108">
              <a:solidFill>
                <a:schemeClr val="dk1"/>
              </a:solidFill>
            </a:endParaRPr>
          </a:p>
          <a:p>
            <a:pPr indent="-309685" lvl="0" marL="45720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5108">
                <a:solidFill>
                  <a:schemeClr val="dk1"/>
                </a:solidFill>
              </a:rPr>
              <a:t>Aprender de los errores de un MLM</a:t>
            </a:r>
            <a:endParaRPr sz="5108">
              <a:solidFill>
                <a:schemeClr val="dk1"/>
              </a:solidFill>
            </a:endParaRPr>
          </a:p>
          <a:p>
            <a:pPr indent="-30968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5108">
                <a:solidFill>
                  <a:schemeClr val="dk1"/>
                </a:solidFill>
              </a:rPr>
              <a:t>Ejemplo: ELECTRA</a:t>
            </a:r>
            <a:endParaRPr sz="5108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91667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91667"/>
              <a:buFont typeface="Arial"/>
              <a:buNone/>
            </a:pPr>
            <a:r>
              <a:rPr lang="en" sz="1200">
                <a:solidFill>
                  <a:schemeClr val="dk1"/>
                </a:solidFill>
                <a:highlight>
                  <a:srgbClr val="F7F7F8"/>
                </a:highlight>
                <a:latin typeface="Roboto"/>
                <a:ea typeface="Roboto"/>
                <a:cs typeface="Roboto"/>
                <a:sym typeface="Roboto"/>
              </a:rPr>
              <a:t>…..</a:t>
            </a:r>
            <a:endParaRPr sz="1200">
              <a:solidFill>
                <a:schemeClr val="dk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"Vivo en Buenos _, Argentina."</a:t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  <p:sp>
        <p:nvSpPr>
          <p:cNvPr id="192" name="Google Shape;19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El 14 de julio de 1789 los habitantes de París _ la Bastilla</a:t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Más vale pájaro en mano que cien _.</a:t>
            </a:r>
            <a:endParaRPr/>
          </a:p>
        </p:txBody>
      </p:sp>
      <p:sp>
        <p:nvSpPr>
          <p:cNvPr id="204" name="Google Shape;20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El agua hierve a _ grados Celcius en condiciones atmosféricas normales</a:t>
            </a:r>
            <a:r>
              <a:rPr lang="en" sz="1200">
                <a:solidFill>
                  <a:srgbClr val="374151"/>
                </a:solidFill>
                <a:highlight>
                  <a:srgbClr val="F7F7F8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210" name="Google Shape;21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El _ a la tienda para comprar algunos víveres.</a:t>
            </a:r>
            <a:endParaRPr/>
          </a:p>
        </p:txBody>
      </p:sp>
      <p:sp>
        <p:nvSpPr>
          <p:cNvPr id="216" name="Google Shape;21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Un león es a una manada, como un lobo es a una _.</a:t>
            </a:r>
            <a:endParaRPr/>
          </a:p>
        </p:txBody>
      </p:sp>
      <p:sp>
        <p:nvSpPr>
          <p:cNvPr id="222" name="Google Shape;222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4 + _ = 9</a:t>
            </a:r>
            <a:endParaRPr/>
          </a:p>
        </p:txBody>
      </p:sp>
      <p:sp>
        <p:nvSpPr>
          <p:cNvPr id="228" name="Google Shape;228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Un hexágono tiene _ lados.</a:t>
            </a:r>
            <a:endParaRPr/>
          </a:p>
        </p:txBody>
      </p:sp>
      <p:sp>
        <p:nvSpPr>
          <p:cNvPr id="234" name="Google Shape;23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‘Ser o no ser’ es una línea famosa de _ </a:t>
            </a:r>
            <a:r>
              <a:rPr lang="en" sz="1200">
                <a:solidFill>
                  <a:srgbClr val="374151"/>
                </a:solidFill>
                <a:highlight>
                  <a:srgbClr val="F7F7F8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</p:txBody>
      </p:sp>
      <p:sp>
        <p:nvSpPr>
          <p:cNvPr id="240" name="Google Shape;24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_ Smith es conocido como el padre de la _ moderna.</a:t>
            </a:r>
            <a:endParaRPr/>
          </a:p>
        </p:txBody>
      </p:sp>
      <p:sp>
        <p:nvSpPr>
          <p:cNvPr id="246" name="Google Shape;246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Un partido de fútbol dura _ minutos</a:t>
            </a: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Un partido de rugby dura _ minutos.</a:t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A soccer _ lasts 90 minutes.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El hotel estaba sucio,</a:t>
            </a:r>
            <a:r>
              <a:rPr lang="en" sz="1700">
                <a:solidFill>
                  <a:srgbClr val="222222"/>
                </a:solidFill>
                <a:highlight>
                  <a:srgbClr val="FFFFFF"/>
                </a:highlight>
              </a:rPr>
              <a:t> la experiencia fue _.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Qué</a:t>
            </a:r>
            <a:r>
              <a:rPr lang="en"/>
              <a:t> aprenden los modelos durante el pre entrenamiento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Learning</a:t>
            </a:r>
            <a:endParaRPr/>
          </a:p>
        </p:txBody>
      </p:sp>
      <p:sp>
        <p:nvSpPr>
          <p:cNvPr id="264" name="Google Shape;264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1392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Hay </a:t>
            </a:r>
            <a:r>
              <a:rPr b="1" lang="en" sz="1734">
                <a:solidFill>
                  <a:srgbClr val="374151"/>
                </a:solidFill>
              </a:rPr>
              <a:t>mucho dato textual</a:t>
            </a:r>
            <a:r>
              <a:rPr lang="en" sz="1734">
                <a:solidFill>
                  <a:srgbClr val="374151"/>
                </a:solidFill>
              </a:rPr>
              <a:t> “gratuito”</a:t>
            </a:r>
            <a:endParaRPr sz="1734">
              <a:solidFill>
                <a:srgbClr val="374151"/>
              </a:solidFill>
            </a:endParaRPr>
          </a:p>
          <a:p>
            <a:pPr indent="-31392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1734">
                <a:solidFill>
                  <a:srgbClr val="374151"/>
                </a:solidFill>
              </a:rPr>
              <a:t>Eficiencia </a:t>
            </a:r>
            <a:r>
              <a:rPr lang="en" sz="1734">
                <a:solidFill>
                  <a:srgbClr val="374151"/>
                </a:solidFill>
              </a:rPr>
              <a:t>en el Aprendizaje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Inicio con red que ya conoce patrones.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Menos exploración aleatoria necesaria.</a:t>
            </a:r>
            <a:endParaRPr sz="1734">
              <a:solidFill>
                <a:srgbClr val="374151"/>
              </a:solidFill>
            </a:endParaRPr>
          </a:p>
          <a:p>
            <a:pPr indent="-31392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1734">
                <a:solidFill>
                  <a:srgbClr val="374151"/>
                </a:solidFill>
              </a:rPr>
              <a:t>Generalización </a:t>
            </a:r>
            <a:r>
              <a:rPr lang="en" sz="1734">
                <a:solidFill>
                  <a:srgbClr val="374151"/>
                </a:solidFill>
              </a:rPr>
              <a:t>para Tareas Específicas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Modelo adapta su conocimiento previo.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1734">
                <a:solidFill>
                  <a:srgbClr val="374151"/>
                </a:solidFill>
              </a:rPr>
              <a:t>Ajustes menores</a:t>
            </a:r>
            <a:r>
              <a:rPr lang="en" sz="1734">
                <a:solidFill>
                  <a:srgbClr val="374151"/>
                </a:solidFill>
              </a:rPr>
              <a:t> para tareas nuevas.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Reduce tiempo y datos necesarios.</a:t>
            </a:r>
            <a:endParaRPr sz="1734">
              <a:solidFill>
                <a:srgbClr val="374151"/>
              </a:solidFill>
            </a:endParaRPr>
          </a:p>
          <a:p>
            <a:pPr indent="-31392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Stochastic Gradient Descent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Inicio en un punto avanzado, no aleatorio.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La inicialización de parámetros está “cerca” del óptimo de fine tuning</a:t>
            </a:r>
            <a:endParaRPr sz="1734">
              <a:solidFill>
                <a:srgbClr val="374151"/>
              </a:solidFill>
            </a:endParaRPr>
          </a:p>
          <a:p>
            <a:pPr indent="-31392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1734">
                <a:solidFill>
                  <a:srgbClr val="374151"/>
                </a:solidFill>
              </a:rPr>
              <a:t>Búsqueda de solución óptima en un valle ya explorado.</a:t>
            </a:r>
            <a:endParaRPr sz="1734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/>
              <a:t>Modelo de Lenguaje Enmascarado (MLM)</a:t>
            </a:r>
            <a:endParaRPr/>
          </a:p>
        </p:txBody>
      </p:sp>
      <p:sp>
        <p:nvSpPr>
          <p:cNvPr id="270" name="Google Shape;270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321">
                <a:solidFill>
                  <a:srgbClr val="374151"/>
                </a:solidFill>
              </a:rPr>
              <a:t>Son </a:t>
            </a:r>
            <a:r>
              <a:rPr b="1" lang="en" sz="5321">
                <a:solidFill>
                  <a:srgbClr val="374151"/>
                </a:solidFill>
              </a:rPr>
              <a:t>bidireccionales</a:t>
            </a:r>
            <a:r>
              <a:rPr lang="en" sz="5321">
                <a:solidFill>
                  <a:srgbClr val="374151"/>
                </a:solidFill>
              </a:rPr>
              <a:t>, entrenados para predecir palabras ocultas en una oración al enmascarar algunas palabras durante el pre entrenamiento.</a:t>
            </a:r>
            <a:endParaRPr sz="5321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5321">
                <a:solidFill>
                  <a:srgbClr val="374151"/>
                </a:solidFill>
              </a:rPr>
              <a:t>BERT, ROBERTA, DEBERTA, etc.</a:t>
            </a:r>
            <a:endParaRPr sz="5321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5321">
                <a:solidFill>
                  <a:srgbClr val="374151"/>
                </a:solidFill>
              </a:rPr>
              <a:t>Captura </a:t>
            </a:r>
            <a:r>
              <a:rPr b="1" lang="en" sz="5321">
                <a:solidFill>
                  <a:srgbClr val="374151"/>
                </a:solidFill>
              </a:rPr>
              <a:t>contexto bidireccional</a:t>
            </a:r>
            <a:endParaRPr b="1" sz="5321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5321">
                <a:solidFill>
                  <a:srgbClr val="374151"/>
                </a:solidFill>
              </a:rPr>
              <a:t>Puede manejar múltiples tareas sin modificaciones arquitectónicas.</a:t>
            </a:r>
            <a:endParaRPr sz="5321">
              <a:solidFill>
                <a:srgbClr val="374151"/>
              </a:solidFill>
            </a:endParaRPr>
          </a:p>
          <a:p>
            <a:pPr indent="-313078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Aplicaciones:</a:t>
            </a:r>
            <a:endParaRPr sz="5321">
              <a:solidFill>
                <a:srgbClr val="374151"/>
              </a:solidFill>
            </a:endParaRPr>
          </a:p>
          <a:p>
            <a:pPr indent="-3130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Análisis de Sentimientos, Reconocimiento de Entidades Nombradas, Tareas de clasificación.</a:t>
            </a:r>
            <a:endParaRPr sz="5321">
              <a:solidFill>
                <a:srgbClr val="374151"/>
              </a:solidFill>
            </a:endParaRPr>
          </a:p>
          <a:p>
            <a:pPr indent="-3130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No se usa para generar texto. </a:t>
            </a:r>
            <a:endParaRPr sz="5321">
              <a:solidFill>
                <a:srgbClr val="374151"/>
              </a:solidFill>
            </a:endParaRPr>
          </a:p>
          <a:p>
            <a:pPr indent="-31307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Proceso</a:t>
            </a:r>
            <a:r>
              <a:rPr lang="en" sz="5321">
                <a:solidFill>
                  <a:srgbClr val="374151"/>
                </a:solidFill>
              </a:rPr>
              <a:t>:</a:t>
            </a:r>
            <a:endParaRPr sz="5321">
              <a:solidFill>
                <a:srgbClr val="374151"/>
              </a:solidFill>
            </a:endParaRPr>
          </a:p>
          <a:p>
            <a:pPr indent="-3130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Se </a:t>
            </a:r>
            <a:r>
              <a:rPr b="1" lang="en" sz="5321">
                <a:solidFill>
                  <a:srgbClr val="374151"/>
                </a:solidFill>
              </a:rPr>
              <a:t>enmascaran </a:t>
            </a:r>
            <a:r>
              <a:rPr lang="en" sz="5321">
                <a:solidFill>
                  <a:srgbClr val="374151"/>
                </a:solidFill>
              </a:rPr>
              <a:t>aleatoriamente palabras o grupos de palabras en las oraciones.</a:t>
            </a:r>
            <a:endParaRPr sz="5321">
              <a:solidFill>
                <a:srgbClr val="374151"/>
              </a:solidFill>
            </a:endParaRPr>
          </a:p>
          <a:p>
            <a:pPr indent="-3130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El modelo intenta </a:t>
            </a:r>
            <a:r>
              <a:rPr b="1" lang="en" sz="5321">
                <a:solidFill>
                  <a:srgbClr val="374151"/>
                </a:solidFill>
              </a:rPr>
              <a:t>predecir las palabras enmascaradas</a:t>
            </a:r>
            <a:r>
              <a:rPr lang="en" sz="5321">
                <a:solidFill>
                  <a:srgbClr val="374151"/>
                </a:solidFill>
              </a:rPr>
              <a:t> basándose en el contexto proporcionado por las palabras no enmascaradas.</a:t>
            </a:r>
            <a:endParaRPr sz="5321">
              <a:solidFill>
                <a:srgbClr val="374151"/>
              </a:solidFill>
            </a:endParaRPr>
          </a:p>
          <a:p>
            <a:pPr indent="-3130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5321">
                <a:solidFill>
                  <a:srgbClr val="374151"/>
                </a:solidFill>
              </a:rPr>
              <a:t>Solamente computamos la </a:t>
            </a:r>
            <a:r>
              <a:rPr b="1" lang="en" sz="5321">
                <a:solidFill>
                  <a:srgbClr val="374151"/>
                </a:solidFill>
              </a:rPr>
              <a:t>pérdida </a:t>
            </a:r>
            <a:r>
              <a:rPr lang="en" sz="5321">
                <a:solidFill>
                  <a:srgbClr val="374151"/>
                </a:solidFill>
              </a:rPr>
              <a:t>sobre la palabra enmascarada.</a:t>
            </a:r>
            <a:endParaRPr sz="5321">
              <a:solidFill>
                <a:srgbClr val="374151"/>
              </a:solidFill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/>
              <a:t>Modelo de Lenguaje Enmascarado (MLM)</a:t>
            </a:r>
            <a:endParaRPr/>
          </a:p>
        </p:txBody>
      </p:sp>
      <p:pic>
        <p:nvPicPr>
          <p:cNvPr id="276" name="Google Shape;2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3175" y="1175925"/>
            <a:ext cx="5718007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5"/>
          <p:cNvSpPr txBox="1"/>
          <p:nvPr>
            <p:ph type="title"/>
          </p:nvPr>
        </p:nvSpPr>
        <p:spPr>
          <a:xfrm>
            <a:off x="146100" y="408375"/>
            <a:ext cx="8997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/>
              <a:t>BERT detalles preparación de datos para pre entrenamiento</a:t>
            </a:r>
            <a:endParaRPr/>
          </a:p>
        </p:txBody>
      </p:sp>
      <p:sp>
        <p:nvSpPr>
          <p:cNvPr id="282" name="Google Shape;282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/>
          </a:bodyPr>
          <a:lstStyle/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Predecir un 15% aleatorio de tokens (sub)palabras.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Reemplazar la palabra de entrada con [MASK] el 80% de las veces.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Reemplazar la palabra de entrada con un token aleatorio el 10% de las veces.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Dejar la palabra de entrada sin cambios el 10% de las veces y predecirla.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BooksCorpus (800 millones palabras) 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English Wikipedia (2,500 millones palabras)</a:t>
            </a:r>
            <a:endParaRPr sz="5321">
              <a:solidFill>
                <a:srgbClr val="374151"/>
              </a:solidFill>
            </a:endParaRPr>
          </a:p>
          <a:p>
            <a:pPr indent="-338421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5321">
                <a:solidFill>
                  <a:srgbClr val="374151"/>
                </a:solidFill>
              </a:rPr>
              <a:t>Variaciones:</a:t>
            </a:r>
            <a:endParaRPr sz="5321">
              <a:solidFill>
                <a:srgbClr val="374151"/>
              </a:solidFill>
            </a:endParaRPr>
          </a:p>
          <a:p>
            <a:pPr indent="-253365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390"/>
              <a:buFont typeface="Roboto"/>
              <a:buChar char="○"/>
            </a:pPr>
            <a:r>
              <a:rPr lang="en" sz="5321">
                <a:solidFill>
                  <a:srgbClr val="374151"/>
                </a:solidFill>
              </a:rPr>
              <a:t>No predecir la siguiente oración y entrenar más tiempo</a:t>
            </a:r>
            <a:endParaRPr sz="5321">
              <a:solidFill>
                <a:srgbClr val="374151"/>
              </a:solidFill>
            </a:endParaRPr>
          </a:p>
          <a:p>
            <a:pPr indent="-253365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390"/>
              <a:buFont typeface="Roboto"/>
              <a:buChar char="○"/>
            </a:pPr>
            <a:r>
              <a:rPr lang="en" sz="5321">
                <a:solidFill>
                  <a:srgbClr val="374151"/>
                </a:solidFill>
              </a:rPr>
              <a:t>Enmascarar tokens contiguos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6"/>
          <p:cNvSpPr txBox="1"/>
          <p:nvPr>
            <p:ph type="title"/>
          </p:nvPr>
        </p:nvSpPr>
        <p:spPr>
          <a:xfrm>
            <a:off x="146100" y="408375"/>
            <a:ext cx="8997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/>
              <a:t>Pretraining ELECTRA</a:t>
            </a:r>
            <a:endParaRPr/>
          </a:p>
        </p:txBody>
      </p:sp>
      <p:pic>
        <p:nvPicPr>
          <p:cNvPr id="288" name="Google Shape;28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475" y="1176338"/>
            <a:ext cx="796290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1775" y="3705238"/>
            <a:ext cx="668655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7"/>
          <p:cNvSpPr txBox="1"/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ELECTRA</a:t>
            </a:r>
            <a:endParaRPr/>
          </a:p>
        </p:txBody>
      </p:sp>
      <p:sp>
        <p:nvSpPr>
          <p:cNvPr id="295" name="Google Shape;295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3675" y="712926"/>
            <a:ext cx="8056649" cy="239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9776" y="3065124"/>
            <a:ext cx="5924426" cy="2078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Alternativas a MLMs pretraining</a:t>
            </a:r>
            <a:endParaRPr/>
          </a:p>
        </p:txBody>
      </p:sp>
      <p:pic>
        <p:nvPicPr>
          <p:cNvPr id="303" name="Google Shape;3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825" y="1206775"/>
            <a:ext cx="7882342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Adapters</a:t>
            </a:r>
            <a:endParaRPr/>
          </a:p>
        </p:txBody>
      </p:sp>
      <p:sp>
        <p:nvSpPr>
          <p:cNvPr id="309" name="Google Shape;309;p39"/>
          <p:cNvSpPr txBox="1"/>
          <p:nvPr>
            <p:ph idx="1" type="body"/>
          </p:nvPr>
        </p:nvSpPr>
        <p:spPr>
          <a:xfrm>
            <a:off x="311700" y="1152475"/>
            <a:ext cx="8520600" cy="37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10000"/>
          </a:bodyPr>
          <a:lstStyle/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Limitaciones del fine tuning: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3150">
                <a:solidFill>
                  <a:srgbClr val="374151"/>
                </a:solidFill>
              </a:rPr>
              <a:t>Recursos Intensivos</a:t>
            </a:r>
            <a:r>
              <a:rPr lang="en" sz="3150">
                <a:solidFill>
                  <a:srgbClr val="374151"/>
                </a:solidFill>
              </a:rPr>
              <a:t>: Requiere recursos computacionales y memoria significativos.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3150">
                <a:solidFill>
                  <a:srgbClr val="374151"/>
                </a:solidFill>
              </a:rPr>
              <a:t>Riesgo de Overfitting</a:t>
            </a:r>
            <a:r>
              <a:rPr lang="en" sz="3150">
                <a:solidFill>
                  <a:srgbClr val="374151"/>
                </a:solidFill>
              </a:rPr>
              <a:t>: Mayor riesgo de sobreajuste en conjuntos de datos específicos de tareas más pequeñas.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Tiempo de Entrenamiento: Puede ser muy largo, especialmente con modelos grandes.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3150">
                <a:solidFill>
                  <a:srgbClr val="374151"/>
                </a:solidFill>
              </a:rPr>
              <a:t>Aprendizaje Multi-tarea</a:t>
            </a:r>
            <a:r>
              <a:rPr lang="en" sz="3150">
                <a:solidFill>
                  <a:srgbClr val="374151"/>
                </a:solidFill>
              </a:rPr>
              <a:t>: Típicamente requiere modelos separados para cada tarea.</a:t>
            </a:r>
            <a:endParaRPr sz="3150">
              <a:solidFill>
                <a:srgbClr val="374151"/>
              </a:solidFill>
            </a:endParaRPr>
          </a:p>
          <a:p>
            <a:pPr indent="0" lvl="0" marL="9144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3150">
              <a:solidFill>
                <a:srgbClr val="374151"/>
              </a:solidFill>
            </a:endParaRPr>
          </a:p>
          <a:p>
            <a:pPr indent="-308610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Adaptadores: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Definición: </a:t>
            </a:r>
            <a:r>
              <a:rPr b="1" lang="en" sz="3150">
                <a:solidFill>
                  <a:srgbClr val="374151"/>
                </a:solidFill>
              </a:rPr>
              <a:t>Módulos entrenables pequeños</a:t>
            </a:r>
            <a:r>
              <a:rPr lang="en" sz="3150">
                <a:solidFill>
                  <a:srgbClr val="374151"/>
                </a:solidFill>
              </a:rPr>
              <a:t> insertados dentro de modelos pre-entrenados, permitiendo ajuste fino específico de tarea con menos parámetros.</a:t>
            </a:r>
            <a:endParaRPr sz="3150">
              <a:solidFill>
                <a:srgbClr val="374151"/>
              </a:solidFill>
            </a:endParaRPr>
          </a:p>
          <a:p>
            <a:pPr indent="-3086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Ventajas:</a:t>
            </a:r>
            <a:endParaRPr sz="3150">
              <a:solidFill>
                <a:srgbClr val="374151"/>
              </a:solidFill>
            </a:endParaRPr>
          </a:p>
          <a:p>
            <a:pPr indent="-308610" lvl="2" marL="13716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Menos recursos computacionales requeridos.</a:t>
            </a:r>
            <a:endParaRPr sz="3150">
              <a:solidFill>
                <a:srgbClr val="374151"/>
              </a:solidFill>
            </a:endParaRPr>
          </a:p>
          <a:p>
            <a:pPr indent="-308610" lvl="2" marL="13716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Preserva el conocimiento del modelo pre-entrenado.</a:t>
            </a:r>
            <a:endParaRPr sz="3150">
              <a:solidFill>
                <a:srgbClr val="374151"/>
              </a:solidFill>
            </a:endParaRPr>
          </a:p>
          <a:p>
            <a:pPr indent="-308610" lvl="2" marL="13716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3150">
                <a:solidFill>
                  <a:srgbClr val="374151"/>
                </a:solidFill>
              </a:rPr>
              <a:t>Permite el aprendizaje multi-tarea con un solo modelo pre-entrenado.</a:t>
            </a:r>
            <a:endParaRPr sz="315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Varios tipos de adapters</a:t>
            </a:r>
            <a:endParaRPr/>
          </a:p>
        </p:txBody>
      </p:sp>
      <p:pic>
        <p:nvPicPr>
          <p:cNvPr id="315" name="Google Shape;31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0" y="1658825"/>
            <a:ext cx="6096000" cy="248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/>
              <a:t>Adaptación de Low Rank (LoRA)</a:t>
            </a:r>
            <a:endParaRPr/>
          </a:p>
        </p:txBody>
      </p:sp>
      <p:sp>
        <p:nvSpPr>
          <p:cNvPr id="321" name="Google Shape;321;p41"/>
          <p:cNvSpPr txBox="1"/>
          <p:nvPr>
            <p:ph idx="1" type="body"/>
          </p:nvPr>
        </p:nvSpPr>
        <p:spPr>
          <a:xfrm>
            <a:off x="311700" y="1152475"/>
            <a:ext cx="8612400" cy="386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6510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lang="en" sz="2517">
                <a:solidFill>
                  <a:srgbClr val="374151"/>
                </a:solidFill>
              </a:rPr>
              <a:t>Diseñado para </a:t>
            </a:r>
            <a:r>
              <a:rPr b="1" lang="en" sz="2517">
                <a:solidFill>
                  <a:srgbClr val="374151"/>
                </a:solidFill>
              </a:rPr>
              <a:t>fine</a:t>
            </a:r>
            <a:r>
              <a:rPr b="1" lang="en" sz="2517">
                <a:solidFill>
                  <a:srgbClr val="374151"/>
                </a:solidFill>
              </a:rPr>
              <a:t> tuning</a:t>
            </a:r>
            <a:r>
              <a:rPr lang="en" sz="2517">
                <a:solidFill>
                  <a:srgbClr val="374151"/>
                </a:solidFill>
              </a:rPr>
              <a:t>  de grandes modelos de lenguaje.</a:t>
            </a:r>
            <a:endParaRPr sz="2517">
              <a:solidFill>
                <a:srgbClr val="374151"/>
              </a:solidFill>
            </a:endParaRPr>
          </a:p>
          <a:p>
            <a:pPr indent="-3165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lang="en" sz="2517">
                <a:solidFill>
                  <a:srgbClr val="374151"/>
                </a:solidFill>
              </a:rPr>
              <a:t>Mantiene </a:t>
            </a:r>
            <a:r>
              <a:rPr b="1" lang="en" sz="2517">
                <a:solidFill>
                  <a:srgbClr val="374151"/>
                </a:solidFill>
              </a:rPr>
              <a:t>intactos los pesos del modelo pre-entrenado</a:t>
            </a:r>
            <a:r>
              <a:rPr lang="en" sz="2517">
                <a:solidFill>
                  <a:srgbClr val="374151"/>
                </a:solidFill>
              </a:rPr>
              <a:t>.</a:t>
            </a:r>
            <a:endParaRPr sz="2517">
              <a:solidFill>
                <a:srgbClr val="374151"/>
              </a:solidFill>
            </a:endParaRPr>
          </a:p>
          <a:p>
            <a:pPr indent="-3165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b="1" lang="en" sz="2517">
                <a:solidFill>
                  <a:srgbClr val="374151"/>
                </a:solidFill>
              </a:rPr>
              <a:t>Introduce matrices via descomposición de rango</a:t>
            </a:r>
            <a:r>
              <a:rPr lang="en" sz="2517">
                <a:solidFill>
                  <a:srgbClr val="374151"/>
                </a:solidFill>
              </a:rPr>
              <a:t> entrenable en cada capa del Transformador.</a:t>
            </a:r>
            <a:endParaRPr sz="2517">
              <a:solidFill>
                <a:srgbClr val="374151"/>
              </a:solidFill>
            </a:endParaRPr>
          </a:p>
          <a:p>
            <a:pPr indent="-3165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b="1" lang="en" sz="2517">
                <a:solidFill>
                  <a:srgbClr val="374151"/>
                </a:solidFill>
              </a:rPr>
              <a:t>Reduce significativamente el número de parámetros entrenables</a:t>
            </a:r>
            <a:r>
              <a:rPr lang="en" sz="2517">
                <a:solidFill>
                  <a:srgbClr val="374151"/>
                </a:solidFill>
              </a:rPr>
              <a:t> para tareas posteriores.</a:t>
            </a:r>
            <a:endParaRPr sz="2517">
              <a:solidFill>
                <a:srgbClr val="374151"/>
              </a:solidFill>
            </a:endParaRPr>
          </a:p>
          <a:p>
            <a:pPr indent="-3165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2517">
                <a:solidFill>
                  <a:srgbClr val="374151"/>
                </a:solidFill>
              </a:rPr>
              <a:t>Funcionamiento:</a:t>
            </a:r>
            <a:endParaRPr sz="2517">
              <a:solidFill>
                <a:srgbClr val="374151"/>
              </a:solidFill>
            </a:endParaRPr>
          </a:p>
          <a:p>
            <a:pPr indent="-3165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2517">
                <a:solidFill>
                  <a:srgbClr val="374151"/>
                </a:solidFill>
              </a:rPr>
              <a:t>Utiliza dos matrices más pequeñas para aproximar la matriz de pesos más grande del modelo pre-entrenado.</a:t>
            </a:r>
            <a:endParaRPr sz="2517">
              <a:solidFill>
                <a:srgbClr val="374151"/>
              </a:solidFill>
            </a:endParaRPr>
          </a:p>
          <a:p>
            <a:pPr indent="-3165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2517">
                <a:solidFill>
                  <a:srgbClr val="374151"/>
                </a:solidFill>
              </a:rPr>
              <a:t>Estas matrices más pequeñas se ajustan finamente en lugar de toda la matriz de pesos, formando el adaptador LoRA.</a:t>
            </a:r>
            <a:endParaRPr sz="2517">
              <a:solidFill>
                <a:srgbClr val="374151"/>
              </a:solidFill>
            </a:endParaRPr>
          </a:p>
          <a:p>
            <a:pPr indent="-31651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lang="en" sz="2517">
                <a:solidFill>
                  <a:srgbClr val="374151"/>
                </a:solidFill>
              </a:rPr>
              <a:t>Ventajas:</a:t>
            </a:r>
            <a:endParaRPr sz="2517">
              <a:solidFill>
                <a:srgbClr val="374151"/>
              </a:solidFill>
            </a:endParaRPr>
          </a:p>
          <a:p>
            <a:pPr indent="-3165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b="1" lang="en" sz="2517">
                <a:solidFill>
                  <a:srgbClr val="374151"/>
                </a:solidFill>
              </a:rPr>
              <a:t>Reduce los parámetros entrenables</a:t>
            </a:r>
            <a:r>
              <a:rPr lang="en" sz="2517">
                <a:solidFill>
                  <a:srgbClr val="374151"/>
                </a:solidFill>
              </a:rPr>
              <a:t>, minimizando el riesgo de </a:t>
            </a:r>
            <a:r>
              <a:rPr lang="en" sz="2517">
                <a:solidFill>
                  <a:srgbClr val="374151"/>
                </a:solidFill>
              </a:rPr>
              <a:t>overfitting</a:t>
            </a:r>
            <a:r>
              <a:rPr lang="en" sz="2517">
                <a:solidFill>
                  <a:srgbClr val="374151"/>
                </a:solidFill>
              </a:rPr>
              <a:t> especialmente con conjuntos de datos específicos de tareas más pequeñas.</a:t>
            </a:r>
            <a:endParaRPr sz="2517">
              <a:solidFill>
                <a:srgbClr val="374151"/>
              </a:solidFill>
            </a:endParaRPr>
          </a:p>
          <a:p>
            <a:pPr indent="-3165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lang="en" sz="2517">
                <a:solidFill>
                  <a:srgbClr val="374151"/>
                </a:solidFill>
              </a:rPr>
              <a:t>Reduce </a:t>
            </a:r>
            <a:r>
              <a:rPr b="1" lang="en" sz="2517">
                <a:solidFill>
                  <a:srgbClr val="374151"/>
                </a:solidFill>
              </a:rPr>
              <a:t>tiempos de entrenamiento</a:t>
            </a:r>
            <a:r>
              <a:rPr lang="en" sz="2517">
                <a:solidFill>
                  <a:srgbClr val="374151"/>
                </a:solidFill>
              </a:rPr>
              <a:t>.</a:t>
            </a:r>
            <a:endParaRPr sz="2517">
              <a:solidFill>
                <a:srgbClr val="374151"/>
              </a:solidFill>
            </a:endParaRPr>
          </a:p>
          <a:p>
            <a:pPr indent="-31651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Roboto"/>
              <a:buChar char="●"/>
            </a:pPr>
            <a:r>
              <a:rPr lang="en" sz="2517">
                <a:solidFill>
                  <a:srgbClr val="374151"/>
                </a:solidFill>
              </a:rPr>
              <a:t>Facilita la conmutación eficiente de tareas, ventajoso en escenarios de aprendizaje </a:t>
            </a:r>
            <a:r>
              <a:rPr b="1" lang="en" sz="2517">
                <a:solidFill>
                  <a:srgbClr val="374151"/>
                </a:solidFill>
              </a:rPr>
              <a:t>multi-tarea</a:t>
            </a:r>
            <a:r>
              <a:rPr lang="en" sz="2517">
                <a:solidFill>
                  <a:srgbClr val="374151"/>
                </a:solidFill>
              </a:rPr>
              <a:t>.</a:t>
            </a:r>
            <a:endParaRPr sz="2517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22" name="Google Shape;32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3188" y="63700"/>
            <a:ext cx="2790825" cy="163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Proceso de LoRA</a:t>
            </a:r>
            <a:endParaRPr/>
          </a:p>
        </p:txBody>
      </p:sp>
      <p:sp>
        <p:nvSpPr>
          <p:cNvPr id="328" name="Google Shape;328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-36497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AutoNum type="arabicPeriod"/>
            </a:pPr>
            <a:r>
              <a:rPr lang="en" sz="4521">
                <a:solidFill>
                  <a:srgbClr val="374151"/>
                </a:solidFill>
              </a:rPr>
              <a:t>Congelamiento de Parámetros preentrenados</a:t>
            </a:r>
            <a:endParaRPr sz="4521">
              <a:solidFill>
                <a:srgbClr val="374151"/>
              </a:solidFill>
            </a:endParaRPr>
          </a:p>
          <a:p>
            <a:pPr indent="-36497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AutoNum type="arabicPeriod"/>
            </a:pPr>
            <a:r>
              <a:rPr lang="en" sz="4521">
                <a:solidFill>
                  <a:srgbClr val="374151"/>
                </a:solidFill>
              </a:rPr>
              <a:t>Introducción de Matrices de Bajo Rango:</a:t>
            </a:r>
            <a:endParaRPr sz="4521">
              <a:solidFill>
                <a:srgbClr val="374151"/>
              </a:solidFill>
            </a:endParaRPr>
          </a:p>
          <a:p>
            <a:pPr indent="-364978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AutoNum type="arabicPeriod"/>
            </a:pPr>
            <a:r>
              <a:rPr lang="en" sz="4521">
                <a:solidFill>
                  <a:srgbClr val="374151"/>
                </a:solidFill>
              </a:rPr>
              <a:t>Proces</a:t>
            </a:r>
            <a:r>
              <a:rPr lang="en" sz="4521">
                <a:solidFill>
                  <a:srgbClr val="374151"/>
                </a:solidFill>
              </a:rPr>
              <a:t>o de Ajuste Fino:</a:t>
            </a:r>
            <a:endParaRPr sz="4521">
              <a:solidFill>
                <a:srgbClr val="374151"/>
              </a:solidFill>
            </a:endParaRPr>
          </a:p>
          <a:p>
            <a:pPr indent="-3649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AutoNum type="alphaLcPeriod"/>
            </a:pPr>
            <a:r>
              <a:rPr lang="en" sz="4521">
                <a:solidFill>
                  <a:srgbClr val="374151"/>
                </a:solidFill>
              </a:rPr>
              <a:t>Forward: En cada capa, combinar los pesos originales y los nuevos pesos de las matrices de bajo rango para calcular las salidas de la capa.</a:t>
            </a:r>
            <a:endParaRPr sz="4521">
              <a:solidFill>
                <a:srgbClr val="374151"/>
              </a:solidFill>
            </a:endParaRPr>
          </a:p>
          <a:p>
            <a:pPr indent="-364978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AutoNum type="alphaLcPeriod"/>
            </a:pPr>
            <a:r>
              <a:rPr lang="en" sz="4521">
                <a:solidFill>
                  <a:srgbClr val="374151"/>
                </a:solidFill>
              </a:rPr>
              <a:t>Backward Pass: Calcular los gradientes para los nuevos parámetros en las matrices de bajo rango y actualizarlos</a:t>
            </a:r>
            <a:endParaRPr sz="4521">
              <a:solidFill>
                <a:srgbClr val="374151"/>
              </a:solidFill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Proceso de LoRA</a:t>
            </a:r>
            <a:endParaRPr/>
          </a:p>
        </p:txBody>
      </p:sp>
      <p:pic>
        <p:nvPicPr>
          <p:cNvPr id="334" name="Google Shape;33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9537" y="1182350"/>
            <a:ext cx="3744925" cy="356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4"/>
          <p:cNvSpPr txBox="1"/>
          <p:nvPr>
            <p:ph type="title"/>
          </p:nvPr>
        </p:nvSpPr>
        <p:spPr>
          <a:xfrm>
            <a:off x="311700" y="2260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6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66667"/>
              <a:buFont typeface="Arial"/>
              <a:buNone/>
            </a:pPr>
            <a:r>
              <a:rPr lang="en"/>
              <a:t>Limitaciones de los Encoders en la Generación de Texto</a:t>
            </a:r>
            <a:endParaRPr b="1" sz="1650"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4"/>
          <p:cNvSpPr txBox="1"/>
          <p:nvPr>
            <p:ph idx="1" type="body"/>
          </p:nvPr>
        </p:nvSpPr>
        <p:spPr>
          <a:xfrm>
            <a:off x="311700" y="696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286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374151"/>
                </a:solidFill>
              </a:rPr>
              <a:t>Naturaleza Bidireccional: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Procesamiento simultáneo de tokens en ambas direcciones.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Falta de capacidad para generar texto de manera secuencial.</a:t>
            </a:r>
            <a:endParaRPr sz="1200">
              <a:solidFill>
                <a:srgbClr val="374151"/>
              </a:solidFill>
            </a:endParaRPr>
          </a:p>
          <a:p>
            <a:pPr indent="-2286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374151"/>
                </a:solidFill>
              </a:rPr>
              <a:t>Falta de Naturaleza Autorregresiva: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Generación de texto requiere consideración del contexto previo.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Los decodificadores procesan datos de manera autorregresiva, paso a paso.</a:t>
            </a:r>
            <a:endParaRPr sz="120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1" name="Google Shape;34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3550" y="2276050"/>
            <a:ext cx="3222825" cy="272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5"/>
          <p:cNvSpPr txBox="1"/>
          <p:nvPr>
            <p:ph type="title"/>
          </p:nvPr>
        </p:nvSpPr>
        <p:spPr>
          <a:xfrm>
            <a:off x="311700" y="310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Encoders Decoders</a:t>
            </a:r>
            <a:endParaRPr/>
          </a:p>
        </p:txBody>
      </p:sp>
      <p:sp>
        <p:nvSpPr>
          <p:cNvPr id="347" name="Google Shape;347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 input pasa por un bidirectional encoder y el output es autorregresivo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El input bidireccional “aprovecha mejor” el contexto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Encoder procesa el texto de entrada</a:t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Decoder genera el texto de salida</a:t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374151"/>
                </a:solidFill>
              </a:rPr>
              <a:t>Uso de la atención para conectar codificador y decodificador</a:t>
            </a:r>
            <a:endParaRPr sz="120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8" name="Google Shape;34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6355" y="1576650"/>
            <a:ext cx="2899750" cy="356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BART</a:t>
            </a:r>
            <a:endParaRPr/>
          </a:p>
        </p:txBody>
      </p:sp>
      <p:sp>
        <p:nvSpPr>
          <p:cNvPr id="354" name="Google Shape;354;p46"/>
          <p:cNvSpPr txBox="1"/>
          <p:nvPr>
            <p:ph idx="1" type="body"/>
          </p:nvPr>
        </p:nvSpPr>
        <p:spPr>
          <a:xfrm>
            <a:off x="311700" y="1152475"/>
            <a:ext cx="3720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 ofusca el texto en el encoder:</a:t>
            </a:r>
            <a:endParaRPr/>
          </a:p>
          <a:p>
            <a:pPr indent="-342900" lvl="0" marL="9144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Token Masking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Sentence Permutation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Rotation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Token Deletion</a:t>
            </a:r>
            <a:endParaRPr/>
          </a:p>
        </p:txBody>
      </p:sp>
      <p:pic>
        <p:nvPicPr>
          <p:cNvPr id="355" name="Google Shape;35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1650" y="1017725"/>
            <a:ext cx="4683025" cy="207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6834" y="3270018"/>
            <a:ext cx="4352665" cy="12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BART Pretraining</a:t>
            </a:r>
            <a:endParaRPr/>
          </a:p>
        </p:txBody>
      </p:sp>
      <p:pic>
        <p:nvPicPr>
          <p:cNvPr id="362" name="Google Shape;36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3537" y="1152475"/>
            <a:ext cx="7396925" cy="3582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Encoders Decoders - T5</a:t>
            </a:r>
            <a:endParaRPr/>
          </a:p>
        </p:txBody>
      </p:sp>
      <p:sp>
        <p:nvSpPr>
          <p:cNvPr id="368" name="Google Shape;368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T5: Preentrnamiento via “span corruption”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El objetivo es detectar el input original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 una tarea de </a:t>
            </a:r>
            <a:r>
              <a:rPr lang="en"/>
              <a:t>generación</a:t>
            </a:r>
            <a:r>
              <a:rPr lang="en"/>
              <a:t> de texto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Preentrenamiento en C4 (Colossal Clean Crawled Corpus)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69" name="Google Shape;36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1425" y="1661079"/>
            <a:ext cx="4157150" cy="175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5851" y="182575"/>
            <a:ext cx="2790109" cy="147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850" y="3416025"/>
            <a:ext cx="668655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Denoising vs. LM</a:t>
            </a:r>
            <a:endParaRPr/>
          </a:p>
        </p:txBody>
      </p:sp>
      <p:sp>
        <p:nvSpPr>
          <p:cNvPr id="377" name="Google Shape;377;p4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78" name="Google Shape;37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900" y="1636725"/>
            <a:ext cx="8880199" cy="293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Encoders Decoders - T5</a:t>
            </a:r>
            <a:endParaRPr/>
          </a:p>
        </p:txBody>
      </p:sp>
      <p:sp>
        <p:nvSpPr>
          <p:cNvPr id="384" name="Google Shape;384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Puede ser fine-tuneado para varias tareas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El objetivo es detectar el input original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 una tarea de generación de texto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Entrenamiento supervisado en tareas específicas de NLP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Adaptabilidad a través del ajuste fino para tareas concretas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  </a:t>
            </a:r>
            <a:endParaRPr/>
          </a:p>
        </p:txBody>
      </p:sp>
      <p:pic>
        <p:nvPicPr>
          <p:cNvPr id="385" name="Google Shape;385;p50"/>
          <p:cNvPicPr preferRelativeResize="0"/>
          <p:nvPr/>
        </p:nvPicPr>
        <p:blipFill rotWithShape="1">
          <a:blip r:embed="rId3">
            <a:alphaModFix/>
          </a:blip>
          <a:srcRect b="0" l="429" r="4233" t="0"/>
          <a:stretch/>
        </p:blipFill>
        <p:spPr>
          <a:xfrm>
            <a:off x="131400" y="3066175"/>
            <a:ext cx="5018974" cy="205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50"/>
          <p:cNvPicPr preferRelativeResize="0"/>
          <p:nvPr/>
        </p:nvPicPr>
        <p:blipFill rotWithShape="1">
          <a:blip r:embed="rId4">
            <a:alphaModFix/>
          </a:blip>
          <a:srcRect b="0" l="5472" r="3627" t="0"/>
          <a:stretch/>
        </p:blipFill>
        <p:spPr>
          <a:xfrm>
            <a:off x="5401400" y="249825"/>
            <a:ext cx="3678800" cy="464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Decoder Only Models</a:t>
            </a:r>
            <a:endParaRPr/>
          </a:p>
        </p:txBody>
      </p:sp>
      <p:sp>
        <p:nvSpPr>
          <p:cNvPr id="392" name="Google Shape;392;p51"/>
          <p:cNvSpPr txBox="1"/>
          <p:nvPr>
            <p:ph idx="1" type="body"/>
          </p:nvPr>
        </p:nvSpPr>
        <p:spPr>
          <a:xfrm>
            <a:off x="311700" y="1152475"/>
            <a:ext cx="3282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Los modelos solo decodificadores son una clase de modelos de lenguaje </a:t>
            </a:r>
            <a:r>
              <a:rPr b="1"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enfocados en generar texto</a:t>
            </a: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 basado en el contexto previo.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Ideales cuando el output es una secuencia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Objetivo del Prentrenamiento: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El modelo</a:t>
            </a:r>
            <a:r>
              <a:rPr b="1"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 predice la próxima palabra</a:t>
            </a:r>
            <a:endParaRPr b="1"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Emula la predicción de la siguiente palabra dada la historia</a:t>
            </a:r>
            <a:endParaRPr sz="1200">
              <a:solidFill>
                <a:srgbClr val="37415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93" name="Google Shape;393;p51"/>
          <p:cNvPicPr preferRelativeResize="0"/>
          <p:nvPr/>
        </p:nvPicPr>
        <p:blipFill rotWithShape="1">
          <a:blip r:embed="rId3">
            <a:alphaModFix/>
          </a:blip>
          <a:srcRect b="28166" l="0" r="75511" t="0"/>
          <a:stretch/>
        </p:blipFill>
        <p:spPr>
          <a:xfrm>
            <a:off x="6723200" y="1352896"/>
            <a:ext cx="2109200" cy="243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51"/>
          <p:cNvPicPr preferRelativeResize="0"/>
          <p:nvPr/>
        </p:nvPicPr>
        <p:blipFill rotWithShape="1">
          <a:blip r:embed="rId4">
            <a:alphaModFix/>
          </a:blip>
          <a:srcRect b="43310" l="27336" r="49597" t="4427"/>
          <a:stretch/>
        </p:blipFill>
        <p:spPr>
          <a:xfrm>
            <a:off x="3665400" y="1163976"/>
            <a:ext cx="2987000" cy="269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</a:t>
            </a:r>
            <a:endParaRPr/>
          </a:p>
        </p:txBody>
      </p:sp>
      <p:sp>
        <p:nvSpPr>
          <p:cNvPr id="400" name="Google Shape;400;p52"/>
          <p:cNvSpPr txBox="1"/>
          <p:nvPr>
            <p:ph idx="1" type="body"/>
          </p:nvPr>
        </p:nvSpPr>
        <p:spPr>
          <a:xfrm>
            <a:off x="122175" y="1152475"/>
            <a:ext cx="893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374151"/>
                </a:solidFill>
              </a:rPr>
              <a:t>Un modelo de lenguaje basado en la arquitectura </a:t>
            </a:r>
            <a:r>
              <a:rPr b="1" lang="en" sz="1500">
                <a:solidFill>
                  <a:srgbClr val="374151"/>
                </a:solidFill>
              </a:rPr>
              <a:t>Transformer</a:t>
            </a:r>
            <a:r>
              <a:rPr lang="en" sz="1500">
                <a:solidFill>
                  <a:srgbClr val="374151"/>
                </a:solidFill>
              </a:rPr>
              <a:t>, especializado en generar texto.</a:t>
            </a:r>
            <a:endParaRPr sz="1500">
              <a:solidFill>
                <a:srgbClr val="37415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374151"/>
                </a:solidFill>
              </a:rPr>
              <a:t>Modelo </a:t>
            </a:r>
            <a:r>
              <a:rPr b="1" lang="en" sz="1500">
                <a:solidFill>
                  <a:srgbClr val="374151"/>
                </a:solidFill>
              </a:rPr>
              <a:t>unidireccional </a:t>
            </a:r>
            <a:r>
              <a:rPr lang="en" sz="1500">
                <a:solidFill>
                  <a:srgbClr val="374151"/>
                </a:solidFill>
              </a:rPr>
              <a:t>(solo mira el pasado)</a:t>
            </a:r>
            <a:endParaRPr sz="1500">
              <a:solidFill>
                <a:srgbClr val="37415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374151"/>
                </a:solidFill>
              </a:rPr>
              <a:t>Foco en la Arquitectura de </a:t>
            </a:r>
            <a:r>
              <a:rPr b="1" lang="en" sz="1500">
                <a:solidFill>
                  <a:srgbClr val="374151"/>
                </a:solidFill>
              </a:rPr>
              <a:t>Decodificador</a:t>
            </a:r>
            <a:r>
              <a:rPr lang="en" sz="1500">
                <a:solidFill>
                  <a:srgbClr val="374151"/>
                </a:solidFill>
              </a:rPr>
              <a:t>:</a:t>
            </a:r>
            <a:endParaRPr sz="1500">
              <a:solidFill>
                <a:srgbClr val="37415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374151"/>
                </a:solidFill>
              </a:rPr>
              <a:t>En contraste con las arquitecturas encoder-decoder que primero codifican la entrada y luego generan una salida, </a:t>
            </a:r>
            <a:r>
              <a:rPr b="1" lang="en" sz="1500">
                <a:solidFill>
                  <a:srgbClr val="374151"/>
                </a:solidFill>
              </a:rPr>
              <a:t>GPT utiliza solo la fase de decodificación</a:t>
            </a:r>
            <a:r>
              <a:rPr lang="en" sz="1500">
                <a:solidFill>
                  <a:srgbClr val="374151"/>
                </a:solidFill>
              </a:rPr>
              <a:t>.</a:t>
            </a:r>
            <a:endParaRPr sz="1500">
              <a:solidFill>
                <a:srgbClr val="37415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374151"/>
                </a:solidFill>
              </a:rPr>
              <a:t>Generación Directa de Texto: </a:t>
            </a:r>
            <a:r>
              <a:rPr b="1" lang="en" sz="1500">
                <a:solidFill>
                  <a:srgbClr val="374151"/>
                </a:solidFill>
              </a:rPr>
              <a:t>GPT trata la entrada como un prefijo condicional</a:t>
            </a:r>
            <a:r>
              <a:rPr lang="en" sz="1500">
                <a:solidFill>
                  <a:srgbClr val="374151"/>
                </a:solidFill>
              </a:rPr>
              <a:t> para el modelo de lenguaje, permitiendo la generación directa de texto sin la etapa intermedia de codificación.</a:t>
            </a:r>
            <a:endParaRPr sz="1500">
              <a:solidFill>
                <a:srgbClr val="37415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00"/>
              <a:buFont typeface="Arial"/>
              <a:buChar char="●"/>
            </a:pPr>
            <a:r>
              <a:rPr b="1" lang="en" sz="1500">
                <a:solidFill>
                  <a:srgbClr val="374151"/>
                </a:solidFill>
              </a:rPr>
              <a:t>No requiere tratamiento específico del prompt</a:t>
            </a:r>
            <a:r>
              <a:rPr lang="en" sz="1500">
                <a:solidFill>
                  <a:srgbClr val="374151"/>
                </a:solidFill>
              </a:rPr>
              <a:t>.</a:t>
            </a:r>
            <a:endParaRPr sz="150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Preentrenamiento: predecir la siguiente palabra</a:t>
            </a:r>
            <a:endParaRPr/>
          </a:p>
        </p:txBody>
      </p:sp>
      <p:sp>
        <p:nvSpPr>
          <p:cNvPr id="406" name="Google Shape;406;p53"/>
          <p:cNvSpPr/>
          <p:nvPr/>
        </p:nvSpPr>
        <p:spPr>
          <a:xfrm>
            <a:off x="2358391" y="1600230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53"/>
          <p:cNvSpPr/>
          <p:nvPr/>
        </p:nvSpPr>
        <p:spPr>
          <a:xfrm>
            <a:off x="2358391" y="2038381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53"/>
          <p:cNvSpPr/>
          <p:nvPr/>
        </p:nvSpPr>
        <p:spPr>
          <a:xfrm>
            <a:off x="2386966" y="24765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53"/>
          <p:cNvSpPr/>
          <p:nvPr/>
        </p:nvSpPr>
        <p:spPr>
          <a:xfrm>
            <a:off x="2386966" y="291468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53"/>
          <p:cNvSpPr/>
          <p:nvPr/>
        </p:nvSpPr>
        <p:spPr>
          <a:xfrm>
            <a:off x="2386965" y="33528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53"/>
          <p:cNvSpPr/>
          <p:nvPr/>
        </p:nvSpPr>
        <p:spPr>
          <a:xfrm>
            <a:off x="2358391" y="379416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53"/>
          <p:cNvSpPr/>
          <p:nvPr/>
        </p:nvSpPr>
        <p:spPr>
          <a:xfrm>
            <a:off x="3580765" y="33528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53"/>
          <p:cNvSpPr/>
          <p:nvPr/>
        </p:nvSpPr>
        <p:spPr>
          <a:xfrm>
            <a:off x="3552191" y="379416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53"/>
          <p:cNvSpPr/>
          <p:nvPr/>
        </p:nvSpPr>
        <p:spPr>
          <a:xfrm>
            <a:off x="4774565" y="291468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53"/>
          <p:cNvSpPr/>
          <p:nvPr/>
        </p:nvSpPr>
        <p:spPr>
          <a:xfrm>
            <a:off x="4774565" y="33528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53"/>
          <p:cNvSpPr/>
          <p:nvPr/>
        </p:nvSpPr>
        <p:spPr>
          <a:xfrm>
            <a:off x="4745990" y="379416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53"/>
          <p:cNvSpPr/>
          <p:nvPr/>
        </p:nvSpPr>
        <p:spPr>
          <a:xfrm>
            <a:off x="5968364" y="33528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3"/>
          <p:cNvSpPr/>
          <p:nvPr/>
        </p:nvSpPr>
        <p:spPr>
          <a:xfrm>
            <a:off x="5939790" y="379416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3"/>
          <p:cNvSpPr/>
          <p:nvPr/>
        </p:nvSpPr>
        <p:spPr>
          <a:xfrm>
            <a:off x="7162165" y="24765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3"/>
          <p:cNvSpPr/>
          <p:nvPr/>
        </p:nvSpPr>
        <p:spPr>
          <a:xfrm>
            <a:off x="7162165" y="291468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53"/>
          <p:cNvSpPr/>
          <p:nvPr/>
        </p:nvSpPr>
        <p:spPr>
          <a:xfrm>
            <a:off x="7162164" y="33528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53"/>
          <p:cNvSpPr/>
          <p:nvPr/>
        </p:nvSpPr>
        <p:spPr>
          <a:xfrm>
            <a:off x="7133590" y="379416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53"/>
          <p:cNvSpPr txBox="1"/>
          <p:nvPr/>
        </p:nvSpPr>
        <p:spPr>
          <a:xfrm>
            <a:off x="2446235" y="1317305"/>
            <a:ext cx="837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elefante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3"/>
          <p:cNvSpPr txBox="1"/>
          <p:nvPr/>
        </p:nvSpPr>
        <p:spPr>
          <a:xfrm>
            <a:off x="3855930" y="1317305"/>
            <a:ext cx="34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3"/>
          <p:cNvSpPr txBox="1"/>
          <p:nvPr/>
        </p:nvSpPr>
        <p:spPr>
          <a:xfrm>
            <a:off x="4957919" y="1332968"/>
            <a:ext cx="5889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rosa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3"/>
          <p:cNvSpPr txBox="1"/>
          <p:nvPr/>
        </p:nvSpPr>
        <p:spPr>
          <a:xfrm>
            <a:off x="6343025" y="1313263"/>
            <a:ext cx="257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3"/>
          <p:cNvSpPr txBox="1"/>
          <p:nvPr/>
        </p:nvSpPr>
        <p:spPr>
          <a:xfrm>
            <a:off x="7310612" y="1317305"/>
            <a:ext cx="5889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&lt;end&gt;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53"/>
          <p:cNvSpPr/>
          <p:nvPr/>
        </p:nvSpPr>
        <p:spPr>
          <a:xfrm>
            <a:off x="3552191" y="2476531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53"/>
          <p:cNvSpPr/>
          <p:nvPr/>
        </p:nvSpPr>
        <p:spPr>
          <a:xfrm>
            <a:off x="3552191" y="291150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53"/>
          <p:cNvSpPr/>
          <p:nvPr/>
        </p:nvSpPr>
        <p:spPr>
          <a:xfrm>
            <a:off x="3553568" y="20344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53"/>
          <p:cNvSpPr/>
          <p:nvPr/>
        </p:nvSpPr>
        <p:spPr>
          <a:xfrm>
            <a:off x="3529462" y="159945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53"/>
          <p:cNvSpPr/>
          <p:nvPr/>
        </p:nvSpPr>
        <p:spPr>
          <a:xfrm>
            <a:off x="4768653" y="2465810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53"/>
          <p:cNvSpPr/>
          <p:nvPr/>
        </p:nvSpPr>
        <p:spPr>
          <a:xfrm>
            <a:off x="4770367" y="2039507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53"/>
          <p:cNvSpPr/>
          <p:nvPr/>
        </p:nvSpPr>
        <p:spPr>
          <a:xfrm>
            <a:off x="4745990" y="1598178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53"/>
          <p:cNvSpPr/>
          <p:nvPr/>
        </p:nvSpPr>
        <p:spPr>
          <a:xfrm>
            <a:off x="6016513" y="2472158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53"/>
          <p:cNvSpPr/>
          <p:nvPr/>
        </p:nvSpPr>
        <p:spPr>
          <a:xfrm>
            <a:off x="6016513" y="290790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53"/>
          <p:cNvSpPr/>
          <p:nvPr/>
        </p:nvSpPr>
        <p:spPr>
          <a:xfrm>
            <a:off x="6017891" y="2030830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53"/>
          <p:cNvSpPr/>
          <p:nvPr/>
        </p:nvSpPr>
        <p:spPr>
          <a:xfrm>
            <a:off x="5993785" y="159585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53"/>
          <p:cNvSpPr/>
          <p:nvPr/>
        </p:nvSpPr>
        <p:spPr>
          <a:xfrm>
            <a:off x="7187125" y="2030830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53"/>
          <p:cNvSpPr/>
          <p:nvPr/>
        </p:nvSpPr>
        <p:spPr>
          <a:xfrm>
            <a:off x="7163018" y="159585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53"/>
          <p:cNvSpPr txBox="1"/>
          <p:nvPr/>
        </p:nvSpPr>
        <p:spPr>
          <a:xfrm>
            <a:off x="2617153" y="4090635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53"/>
          <p:cNvSpPr txBox="1"/>
          <p:nvPr/>
        </p:nvSpPr>
        <p:spPr>
          <a:xfrm>
            <a:off x="3660884" y="4090635"/>
            <a:ext cx="738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elefante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53"/>
          <p:cNvSpPr txBox="1"/>
          <p:nvPr/>
        </p:nvSpPr>
        <p:spPr>
          <a:xfrm>
            <a:off x="5060988" y="4090635"/>
            <a:ext cx="371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3"/>
          <p:cNvSpPr txBox="1"/>
          <p:nvPr/>
        </p:nvSpPr>
        <p:spPr>
          <a:xfrm>
            <a:off x="6213276" y="4090635"/>
            <a:ext cx="446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rosa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3"/>
          <p:cNvSpPr txBox="1"/>
          <p:nvPr/>
        </p:nvSpPr>
        <p:spPr>
          <a:xfrm>
            <a:off x="7435958" y="4090635"/>
            <a:ext cx="221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3"/>
          <p:cNvSpPr txBox="1"/>
          <p:nvPr/>
        </p:nvSpPr>
        <p:spPr>
          <a:xfrm>
            <a:off x="1001300" y="3977793"/>
            <a:ext cx="10890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3"/>
          <p:cNvSpPr txBox="1"/>
          <p:nvPr/>
        </p:nvSpPr>
        <p:spPr>
          <a:xfrm>
            <a:off x="1060855" y="1231026"/>
            <a:ext cx="10890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3"/>
          <p:cNvSpPr txBox="1"/>
          <p:nvPr>
            <p:ph idx="1" type="body"/>
          </p:nvPr>
        </p:nvSpPr>
        <p:spPr>
          <a:xfrm>
            <a:off x="553900" y="4637600"/>
            <a:ext cx="8079300" cy="3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rPr lang="en" sz="8400"/>
              <a:t>El </a:t>
            </a:r>
            <a:r>
              <a:rPr b="1" lang="en" sz="8400"/>
              <a:t>modelo</a:t>
            </a:r>
            <a:r>
              <a:rPr lang="en" sz="8400"/>
              <a:t> aprende a predecir la siguiente palabra dado el pasado</a:t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- Pretraining</a:t>
            </a:r>
            <a:endParaRPr/>
          </a:p>
        </p:txBody>
      </p:sp>
      <p:pic>
        <p:nvPicPr>
          <p:cNvPr id="454" name="Google Shape;454;p54"/>
          <p:cNvPicPr preferRelativeResize="0"/>
          <p:nvPr/>
        </p:nvPicPr>
        <p:blipFill rotWithShape="1">
          <a:blip r:embed="rId3">
            <a:alphaModFix/>
          </a:blip>
          <a:srcRect b="0" l="0" r="0" t="10482"/>
          <a:stretch/>
        </p:blipFill>
        <p:spPr>
          <a:xfrm>
            <a:off x="1361875" y="2406313"/>
            <a:ext cx="6420250" cy="9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28175" y="3397550"/>
            <a:ext cx="6153951" cy="151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17087" y="1179475"/>
            <a:ext cx="3909826" cy="114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1</a:t>
            </a:r>
            <a:endParaRPr/>
          </a:p>
        </p:txBody>
      </p:sp>
      <p:pic>
        <p:nvPicPr>
          <p:cNvPr id="462" name="Google Shape;462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7822" y="1093600"/>
            <a:ext cx="6763501" cy="393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GPT1 pretraining</a:t>
            </a:r>
            <a:endParaRPr/>
          </a:p>
        </p:txBody>
      </p:sp>
      <p:pic>
        <p:nvPicPr>
          <p:cNvPr id="468" name="Google Shape;468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7575" y="1926775"/>
            <a:ext cx="8150400" cy="186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- Fine Tuning</a:t>
            </a:r>
            <a:endParaRPr/>
          </a:p>
        </p:txBody>
      </p:sp>
      <p:pic>
        <p:nvPicPr>
          <p:cNvPr id="474" name="Google Shape;474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0175" y="1349638"/>
            <a:ext cx="6143625" cy="82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4500" y="2409175"/>
            <a:ext cx="5715000" cy="120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57"/>
          <p:cNvPicPr preferRelativeResize="0"/>
          <p:nvPr/>
        </p:nvPicPr>
        <p:blipFill rotWithShape="1">
          <a:blip r:embed="rId5">
            <a:alphaModFix/>
          </a:blip>
          <a:srcRect b="0" l="0" r="0" t="20153"/>
          <a:stretch/>
        </p:blipFill>
        <p:spPr>
          <a:xfrm>
            <a:off x="2750050" y="3878300"/>
            <a:ext cx="4514850" cy="59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5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83" name="Google Shape;48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4170"/>
            <a:ext cx="9144001" cy="4975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1 Fine Tuning</a:t>
            </a:r>
            <a:endParaRPr/>
          </a:p>
        </p:txBody>
      </p:sp>
      <p:pic>
        <p:nvPicPr>
          <p:cNvPr id="489" name="Google Shape;48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290695"/>
            <a:ext cx="8520598" cy="31399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0"/>
          <p:cNvSpPr txBox="1"/>
          <p:nvPr>
            <p:ph type="title"/>
          </p:nvPr>
        </p:nvSpPr>
        <p:spPr>
          <a:xfrm>
            <a:off x="311688" y="138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GPT: </a:t>
            </a:r>
            <a:r>
              <a:rPr lang="en"/>
              <a:t>Generación de Texto</a:t>
            </a:r>
            <a:endParaRPr/>
          </a:p>
        </p:txBody>
      </p:sp>
      <p:sp>
        <p:nvSpPr>
          <p:cNvPr id="495" name="Google Shape;495;p60"/>
          <p:cNvSpPr txBox="1"/>
          <p:nvPr>
            <p:ph idx="1" type="body"/>
          </p:nvPr>
        </p:nvSpPr>
        <p:spPr>
          <a:xfrm>
            <a:off x="340475" y="863550"/>
            <a:ext cx="6476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rgbClr val="374151"/>
                </a:solidFill>
              </a:rPr>
              <a:t>Mecánica de Generación de Texto:</a:t>
            </a:r>
            <a:endParaRPr sz="1400">
              <a:solidFill>
                <a:srgbClr val="37415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374151"/>
                </a:solidFill>
              </a:rPr>
              <a:t>GPT genera texto palabra por palabra, utilizando su conocimiento previo y el contexto proporcionado.</a:t>
            </a:r>
            <a:endParaRPr>
              <a:solidFill>
                <a:srgbClr val="37415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374151"/>
                </a:solidFill>
              </a:rPr>
              <a:t>La generación se basa en probabilidades, seleccionando cada nueva palabra en función de qué tan bien encaja en el contexto actual.</a:t>
            </a:r>
            <a:endParaRPr>
              <a:solidFill>
                <a:srgbClr val="37415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374151"/>
                </a:solidFill>
              </a:rPr>
              <a:t>El entrenamiento se hace con secuencias “perfectas” mientras que durante generación los errores se propagan.</a:t>
            </a:r>
            <a:endParaRPr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96" name="Google Shape;496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263" y="3052638"/>
            <a:ext cx="87534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17063" y="556038"/>
            <a:ext cx="2085975" cy="189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61"/>
          <p:cNvSpPr txBox="1"/>
          <p:nvPr>
            <p:ph idx="1" type="body"/>
          </p:nvPr>
        </p:nvSpPr>
        <p:spPr>
          <a:xfrm>
            <a:off x="414821" y="1949813"/>
            <a:ext cx="66687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i="1" lang="en" sz="2300"/>
              <a:t>Voy a guardar el queso en el refrigerador</a:t>
            </a:r>
            <a:endParaRPr/>
          </a:p>
        </p:txBody>
      </p:sp>
      <p:cxnSp>
        <p:nvCxnSpPr>
          <p:cNvPr id="503" name="Google Shape;503;p61"/>
          <p:cNvCxnSpPr/>
          <p:nvPr/>
        </p:nvCxnSpPr>
        <p:spPr>
          <a:xfrm flipH="1" rot="10800000">
            <a:off x="390671" y="1946213"/>
            <a:ext cx="3750900" cy="36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4" name="Google Shape;504;p61"/>
          <p:cNvSpPr/>
          <p:nvPr/>
        </p:nvSpPr>
        <p:spPr>
          <a:xfrm>
            <a:off x="2038350" y="1704975"/>
            <a:ext cx="2257500" cy="406500"/>
          </a:xfrm>
          <a:prstGeom prst="arc">
            <a:avLst>
              <a:gd fmla="val 10673901" name="adj1"/>
              <a:gd fmla="val 0" name="adj2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61"/>
          <p:cNvSpPr txBox="1"/>
          <p:nvPr>
            <p:ph type="title"/>
          </p:nvPr>
        </p:nvSpPr>
        <p:spPr>
          <a:xfrm>
            <a:off x="729450" y="549406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de Lenguaje Generativos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62"/>
          <p:cNvSpPr txBox="1"/>
          <p:nvPr>
            <p:ph idx="1" type="body"/>
          </p:nvPr>
        </p:nvSpPr>
        <p:spPr>
          <a:xfrm>
            <a:off x="414821" y="1949813"/>
            <a:ext cx="66687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i="1" lang="en" sz="2300"/>
              <a:t>Voy a guardar el queso en el refrigerador para</a:t>
            </a:r>
            <a:endParaRPr/>
          </a:p>
        </p:txBody>
      </p:sp>
      <p:cxnSp>
        <p:nvCxnSpPr>
          <p:cNvPr id="511" name="Google Shape;511;p62"/>
          <p:cNvCxnSpPr/>
          <p:nvPr/>
        </p:nvCxnSpPr>
        <p:spPr>
          <a:xfrm>
            <a:off x="390524" y="1949813"/>
            <a:ext cx="5328300" cy="60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2" name="Google Shape;512;p62"/>
          <p:cNvSpPr/>
          <p:nvPr/>
        </p:nvSpPr>
        <p:spPr>
          <a:xfrm>
            <a:off x="3199286" y="1699303"/>
            <a:ext cx="2810700" cy="381000"/>
          </a:xfrm>
          <a:prstGeom prst="arc">
            <a:avLst>
              <a:gd fmla="val 10673901" name="adj1"/>
              <a:gd fmla="val 21582084" name="adj2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62"/>
          <p:cNvSpPr txBox="1"/>
          <p:nvPr>
            <p:ph type="title"/>
          </p:nvPr>
        </p:nvSpPr>
        <p:spPr>
          <a:xfrm>
            <a:off x="729450" y="549406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de Lenguaje Generativos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3"/>
          <p:cNvSpPr txBox="1"/>
          <p:nvPr>
            <p:ph idx="1" type="body"/>
          </p:nvPr>
        </p:nvSpPr>
        <p:spPr>
          <a:xfrm>
            <a:off x="414826" y="1949825"/>
            <a:ext cx="82710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i="1" lang="en" sz="2300"/>
              <a:t>Voy a guardar el queso en el refrigerador para conservarlo</a:t>
            </a:r>
            <a:endParaRPr/>
          </a:p>
        </p:txBody>
      </p:sp>
      <p:cxnSp>
        <p:nvCxnSpPr>
          <p:cNvPr id="519" name="Google Shape;519;p63"/>
          <p:cNvCxnSpPr/>
          <p:nvPr/>
        </p:nvCxnSpPr>
        <p:spPr>
          <a:xfrm flipH="1" rot="10800000">
            <a:off x="390524" y="1946213"/>
            <a:ext cx="5999400" cy="36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0" name="Google Shape;520;p63"/>
          <p:cNvSpPr/>
          <p:nvPr/>
        </p:nvSpPr>
        <p:spPr>
          <a:xfrm>
            <a:off x="3628429" y="1712354"/>
            <a:ext cx="3217200" cy="343800"/>
          </a:xfrm>
          <a:prstGeom prst="arc">
            <a:avLst>
              <a:gd fmla="val 10673901" name="adj1"/>
              <a:gd fmla="val 37045" name="adj2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63"/>
          <p:cNvSpPr txBox="1"/>
          <p:nvPr>
            <p:ph type="title"/>
          </p:nvPr>
        </p:nvSpPr>
        <p:spPr>
          <a:xfrm>
            <a:off x="729450" y="549406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de Lenguaje Generativos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64"/>
          <p:cNvSpPr txBox="1"/>
          <p:nvPr>
            <p:ph idx="1" type="body"/>
          </p:nvPr>
        </p:nvSpPr>
        <p:spPr>
          <a:xfrm>
            <a:off x="414825" y="1949825"/>
            <a:ext cx="86355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i="1" lang="en" sz="2300"/>
              <a:t>Voy a guardar el queso en el refrigerador para conservarlo fresco</a:t>
            </a:r>
            <a:endParaRPr/>
          </a:p>
        </p:txBody>
      </p:sp>
      <p:cxnSp>
        <p:nvCxnSpPr>
          <p:cNvPr id="527" name="Google Shape;527;p64"/>
          <p:cNvCxnSpPr/>
          <p:nvPr/>
        </p:nvCxnSpPr>
        <p:spPr>
          <a:xfrm flipH="1" rot="10800000">
            <a:off x="390524" y="1946213"/>
            <a:ext cx="7494900" cy="360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64"/>
          <p:cNvSpPr/>
          <p:nvPr/>
        </p:nvSpPr>
        <p:spPr>
          <a:xfrm>
            <a:off x="4361132" y="1701740"/>
            <a:ext cx="3906600" cy="347700"/>
          </a:xfrm>
          <a:prstGeom prst="arc">
            <a:avLst>
              <a:gd fmla="val 10673901" name="adj1"/>
              <a:gd fmla="val 21589455" name="adj2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64"/>
          <p:cNvSpPr txBox="1"/>
          <p:nvPr>
            <p:ph type="title"/>
          </p:nvPr>
        </p:nvSpPr>
        <p:spPr>
          <a:xfrm>
            <a:off x="729450" y="549406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de Lenguaje Generativos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5"/>
          <p:cNvSpPr txBox="1"/>
          <p:nvPr>
            <p:ph type="title"/>
          </p:nvPr>
        </p:nvSpPr>
        <p:spPr>
          <a:xfrm>
            <a:off x="0" y="440225"/>
            <a:ext cx="927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 2: Language Models are Unsupervised Multitask Learners </a:t>
            </a:r>
            <a:endParaRPr/>
          </a:p>
        </p:txBody>
      </p:sp>
      <p:sp>
        <p:nvSpPr>
          <p:cNvPr id="535" name="Google Shape;535;p6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536" name="Google Shape;536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26" y="1120675"/>
            <a:ext cx="6938400" cy="209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36813" y="1152475"/>
            <a:ext cx="18573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8" name="Google Shape;538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22875" y="3267475"/>
            <a:ext cx="5884249" cy="172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GPT2</a:t>
            </a:r>
            <a:endParaRPr/>
          </a:p>
        </p:txBody>
      </p:sp>
      <p:sp>
        <p:nvSpPr>
          <p:cNvPr id="544" name="Google Shape;544;p6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Modelo más grande que GPT1 1.5b &gt; 117M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Secuencias más grandes (512 vs 1024)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Entrenado en más datos mejor curados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Preentrenado con la predicción de la siguiente palabra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Focalizado en zero shot</a:t>
            </a:r>
            <a:endParaRPr/>
          </a:p>
        </p:txBody>
      </p:sp>
      <p:pic>
        <p:nvPicPr>
          <p:cNvPr id="545" name="Google Shape;545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763" y="3025613"/>
            <a:ext cx="8372475" cy="180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Escala es todo lo que necesitas</a:t>
            </a:r>
            <a:endParaRPr/>
          </a:p>
        </p:txBody>
      </p:sp>
      <p:pic>
        <p:nvPicPr>
          <p:cNvPr id="551" name="Google Shape;551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8" y="1207550"/>
            <a:ext cx="2744208" cy="276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67"/>
          <p:cNvPicPr preferRelativeResize="0"/>
          <p:nvPr/>
        </p:nvPicPr>
        <p:blipFill rotWithShape="1">
          <a:blip r:embed="rId4">
            <a:alphaModFix/>
          </a:blip>
          <a:srcRect b="0" l="0" r="0" t="8173"/>
          <a:stretch/>
        </p:blipFill>
        <p:spPr>
          <a:xfrm>
            <a:off x="2975950" y="1304364"/>
            <a:ext cx="2891099" cy="2534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7049" y="217925"/>
            <a:ext cx="3225600" cy="2460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7050" y="2925953"/>
            <a:ext cx="3225599" cy="18741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Google Shape;559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1716" y="2585923"/>
            <a:ext cx="1212880" cy="670696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p68"/>
          <p:cNvSpPr/>
          <p:nvPr/>
        </p:nvSpPr>
        <p:spPr>
          <a:xfrm>
            <a:off x="3273751" y="2100094"/>
            <a:ext cx="12924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Preentrenado</a:t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1" name="Google Shape;561;p68"/>
          <p:cNvCxnSpPr>
            <a:endCxn id="560" idx="1"/>
          </p:cNvCxnSpPr>
          <p:nvPr/>
        </p:nvCxnSpPr>
        <p:spPr>
          <a:xfrm flipH="1" rot="10800000">
            <a:off x="2190751" y="2500144"/>
            <a:ext cx="1083000" cy="138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62" name="Google Shape;562;p68"/>
          <p:cNvSpPr txBox="1"/>
          <p:nvPr/>
        </p:nvSpPr>
        <p:spPr>
          <a:xfrm>
            <a:off x="528320" y="1441913"/>
            <a:ext cx="1484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general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563" name="Google Shape;563;p68"/>
          <p:cNvPicPr preferRelativeResize="0"/>
          <p:nvPr/>
        </p:nvPicPr>
        <p:blipFill rotWithShape="1">
          <a:blip r:embed="rId4">
            <a:alphaModFix/>
          </a:blip>
          <a:srcRect b="40544" l="0" r="90046" t="25251"/>
          <a:stretch/>
        </p:blipFill>
        <p:spPr>
          <a:xfrm>
            <a:off x="5921563" y="930716"/>
            <a:ext cx="641417" cy="7398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Best Higher Education Books Of 2020" id="564" name="Google Shape;564;p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2199" y="1808871"/>
            <a:ext cx="987016" cy="7050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mputer program - Wikipedia" id="565" name="Google Shape;565;p6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3436" y="2747381"/>
            <a:ext cx="584848" cy="438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rXiv.org (@arxiv) / X" id="566" name="Google Shape;566;p6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8319" y="2272524"/>
            <a:ext cx="538157" cy="538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dobe Acrobat Reader: Edit PDF - Aplicaciones en Google Play" id="567" name="Google Shape;567;p6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3436" y="1906708"/>
            <a:ext cx="488281" cy="488279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68"/>
          <p:cNvSpPr txBox="1"/>
          <p:nvPr/>
        </p:nvSpPr>
        <p:spPr>
          <a:xfrm>
            <a:off x="7076605" y="2074639"/>
            <a:ext cx="16527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Especializado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68"/>
          <p:cNvSpPr/>
          <p:nvPr/>
        </p:nvSpPr>
        <p:spPr>
          <a:xfrm>
            <a:off x="5696138" y="2100094"/>
            <a:ext cx="12129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Modelo Especializado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570" name="Google Shape;570;p68"/>
          <p:cNvPicPr preferRelativeResize="0"/>
          <p:nvPr/>
        </p:nvPicPr>
        <p:blipFill rotWithShape="1">
          <a:blip r:embed="rId4">
            <a:alphaModFix/>
          </a:blip>
          <a:srcRect b="40544" l="0" r="90046" t="25251"/>
          <a:stretch/>
        </p:blipFill>
        <p:spPr>
          <a:xfrm>
            <a:off x="5941892" y="3561563"/>
            <a:ext cx="641417" cy="73982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1" name="Google Shape;571;p68"/>
          <p:cNvCxnSpPr>
            <a:stCxn id="560" idx="3"/>
            <a:endCxn id="569" idx="1"/>
          </p:cNvCxnSpPr>
          <p:nvPr/>
        </p:nvCxnSpPr>
        <p:spPr>
          <a:xfrm>
            <a:off x="4566151" y="2500144"/>
            <a:ext cx="1130100" cy="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572" name="Google Shape;572;p68"/>
          <p:cNvSpPr txBox="1"/>
          <p:nvPr/>
        </p:nvSpPr>
        <p:spPr>
          <a:xfrm>
            <a:off x="5754267" y="4298485"/>
            <a:ext cx="17070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español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8"/>
          <p:cNvSpPr txBox="1"/>
          <p:nvPr/>
        </p:nvSpPr>
        <p:spPr>
          <a:xfrm>
            <a:off x="5754254" y="754304"/>
            <a:ext cx="1148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Inglés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Google Shape;574;p68"/>
          <p:cNvCxnSpPr/>
          <p:nvPr/>
        </p:nvCxnSpPr>
        <p:spPr>
          <a:xfrm rot="10800000">
            <a:off x="6563005" y="1281705"/>
            <a:ext cx="513600" cy="10812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5" name="Google Shape;575;p68"/>
          <p:cNvCxnSpPr>
            <a:endCxn id="570" idx="3"/>
          </p:cNvCxnSpPr>
          <p:nvPr/>
        </p:nvCxnSpPr>
        <p:spPr>
          <a:xfrm flipH="1">
            <a:off x="6583309" y="2363077"/>
            <a:ext cx="493500" cy="15684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6" name="Google Shape;576;p68"/>
          <p:cNvCxnSpPr>
            <a:stCxn id="570" idx="0"/>
            <a:endCxn id="569" idx="2"/>
          </p:cNvCxnSpPr>
          <p:nvPr/>
        </p:nvCxnSpPr>
        <p:spPr>
          <a:xfrm flipH="1" rot="10800000">
            <a:off x="6262601" y="2900063"/>
            <a:ext cx="39900" cy="6615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7" name="Google Shape;577;p68"/>
          <p:cNvCxnSpPr>
            <a:stCxn id="569" idx="0"/>
            <a:endCxn id="563" idx="2"/>
          </p:cNvCxnSpPr>
          <p:nvPr/>
        </p:nvCxnSpPr>
        <p:spPr>
          <a:xfrm rot="10800000">
            <a:off x="6242288" y="1670494"/>
            <a:ext cx="60300" cy="4296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1716" y="2585923"/>
            <a:ext cx="1212880" cy="670696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69"/>
          <p:cNvSpPr/>
          <p:nvPr/>
        </p:nvSpPr>
        <p:spPr>
          <a:xfrm>
            <a:off x="3273750" y="2100100"/>
            <a:ext cx="12984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Preentrenado</a:t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4" name="Google Shape;584;p69"/>
          <p:cNvCxnSpPr>
            <a:endCxn id="583" idx="1"/>
          </p:cNvCxnSpPr>
          <p:nvPr/>
        </p:nvCxnSpPr>
        <p:spPr>
          <a:xfrm flipH="1" rot="10800000">
            <a:off x="2190750" y="2500150"/>
            <a:ext cx="1083000" cy="138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85" name="Google Shape;585;p69"/>
          <p:cNvSpPr txBox="1"/>
          <p:nvPr/>
        </p:nvSpPr>
        <p:spPr>
          <a:xfrm>
            <a:off x="528320" y="1441913"/>
            <a:ext cx="1484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general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586" name="Google Shape;586;p69"/>
          <p:cNvPicPr preferRelativeResize="0"/>
          <p:nvPr/>
        </p:nvPicPr>
        <p:blipFill rotWithShape="1">
          <a:blip r:embed="rId4">
            <a:alphaModFix/>
          </a:blip>
          <a:srcRect b="40542" l="0" r="90045" t="25251"/>
          <a:stretch/>
        </p:blipFill>
        <p:spPr>
          <a:xfrm>
            <a:off x="5921563" y="930716"/>
            <a:ext cx="641417" cy="7398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Best Higher Education Books Of 2020" id="587" name="Google Shape;587;p6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2199" y="1808871"/>
            <a:ext cx="987016" cy="7050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mputer program - Wikipedia" id="588" name="Google Shape;588;p6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3436" y="2747381"/>
            <a:ext cx="584848" cy="4380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rXiv.org (@arxiv) / X" id="589" name="Google Shape;589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8319" y="2272524"/>
            <a:ext cx="538157" cy="5381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dobe Acrobat Reader: Edit PDF - Aplicaciones en Google Play" id="590" name="Google Shape;590;p6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3436" y="1906708"/>
            <a:ext cx="488281" cy="488279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69"/>
          <p:cNvSpPr txBox="1"/>
          <p:nvPr/>
        </p:nvSpPr>
        <p:spPr>
          <a:xfrm>
            <a:off x="7076605" y="2074639"/>
            <a:ext cx="16527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Especializado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69"/>
          <p:cNvSpPr/>
          <p:nvPr/>
        </p:nvSpPr>
        <p:spPr>
          <a:xfrm>
            <a:off x="5696150" y="2100100"/>
            <a:ext cx="1206900" cy="8001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Modelo Especializado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ERT — Pre-training + Fine-tuning | by Dhaval Taunk | Analytics Vidhya |  Medium" id="593" name="Google Shape;593;p69"/>
          <p:cNvPicPr preferRelativeResize="0"/>
          <p:nvPr/>
        </p:nvPicPr>
        <p:blipFill rotWithShape="1">
          <a:blip r:embed="rId4">
            <a:alphaModFix/>
          </a:blip>
          <a:srcRect b="40542" l="0" r="90045" t="25251"/>
          <a:stretch/>
        </p:blipFill>
        <p:spPr>
          <a:xfrm>
            <a:off x="5941892" y="3561563"/>
            <a:ext cx="641417" cy="73982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4" name="Google Shape;594;p69"/>
          <p:cNvCxnSpPr>
            <a:stCxn id="583" idx="3"/>
            <a:endCxn id="592" idx="1"/>
          </p:cNvCxnSpPr>
          <p:nvPr/>
        </p:nvCxnSpPr>
        <p:spPr>
          <a:xfrm>
            <a:off x="4572150" y="2500150"/>
            <a:ext cx="1124100" cy="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595" name="Google Shape;595;p69"/>
          <p:cNvSpPr txBox="1"/>
          <p:nvPr/>
        </p:nvSpPr>
        <p:spPr>
          <a:xfrm>
            <a:off x="5754267" y="4298485"/>
            <a:ext cx="17070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español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69"/>
          <p:cNvSpPr txBox="1"/>
          <p:nvPr/>
        </p:nvSpPr>
        <p:spPr>
          <a:xfrm>
            <a:off x="5754254" y="754304"/>
            <a:ext cx="1148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en Inglés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7" name="Google Shape;597;p69"/>
          <p:cNvCxnSpPr/>
          <p:nvPr/>
        </p:nvCxnSpPr>
        <p:spPr>
          <a:xfrm rot="10800000">
            <a:off x="6563005" y="1281705"/>
            <a:ext cx="513600" cy="10812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98" name="Google Shape;598;p69"/>
          <p:cNvCxnSpPr>
            <a:endCxn id="593" idx="3"/>
          </p:cNvCxnSpPr>
          <p:nvPr/>
        </p:nvCxnSpPr>
        <p:spPr>
          <a:xfrm flipH="1">
            <a:off x="6583309" y="2363077"/>
            <a:ext cx="493500" cy="1568400"/>
          </a:xfrm>
          <a:prstGeom prst="straightConnector1">
            <a:avLst/>
          </a:prstGeom>
          <a:noFill/>
          <a:ln cap="flat" cmpd="sng" w="9525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99" name="Google Shape;599;p69"/>
          <p:cNvCxnSpPr>
            <a:stCxn id="593" idx="0"/>
            <a:endCxn id="592" idx="2"/>
          </p:cNvCxnSpPr>
          <p:nvPr/>
        </p:nvCxnSpPr>
        <p:spPr>
          <a:xfrm flipH="1" rot="10800000">
            <a:off x="6262601" y="2900063"/>
            <a:ext cx="36900" cy="6615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00" name="Google Shape;600;p69"/>
          <p:cNvCxnSpPr>
            <a:stCxn id="592" idx="0"/>
            <a:endCxn id="586" idx="2"/>
          </p:cNvCxnSpPr>
          <p:nvPr/>
        </p:nvCxnSpPr>
        <p:spPr>
          <a:xfrm rot="10800000">
            <a:off x="6242300" y="1670500"/>
            <a:ext cx="57300" cy="4296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01" name="Google Shape;601;p69"/>
          <p:cNvCxnSpPr/>
          <p:nvPr/>
        </p:nvCxnSpPr>
        <p:spPr>
          <a:xfrm>
            <a:off x="4742588" y="993775"/>
            <a:ext cx="3708600" cy="3311700"/>
          </a:xfrm>
          <a:prstGeom prst="straightConnector1">
            <a:avLst/>
          </a:prstGeom>
          <a:noFill/>
          <a:ln cap="flat" cmpd="sng" w="1270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2" name="Google Shape;602;p69"/>
          <p:cNvCxnSpPr/>
          <p:nvPr/>
        </p:nvCxnSpPr>
        <p:spPr>
          <a:xfrm flipH="1" rot="10800000">
            <a:off x="4912454" y="951694"/>
            <a:ext cx="3206100" cy="3283200"/>
          </a:xfrm>
          <a:prstGeom prst="straightConnector1">
            <a:avLst/>
          </a:prstGeom>
          <a:noFill/>
          <a:ln cap="flat" cmpd="sng" w="1270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70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Context Learning</a:t>
            </a:r>
            <a:endParaRPr/>
          </a:p>
        </p:txBody>
      </p:sp>
      <p:pic>
        <p:nvPicPr>
          <p:cNvPr id="608" name="Google Shape;608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2205" y="1498580"/>
            <a:ext cx="6279599" cy="233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Google Shape;613;p71"/>
          <p:cNvPicPr preferRelativeResize="0"/>
          <p:nvPr/>
        </p:nvPicPr>
        <p:blipFill rotWithShape="1">
          <a:blip r:embed="rId3">
            <a:alphaModFix/>
          </a:blip>
          <a:srcRect b="0" l="0" r="0" t="8759"/>
          <a:stretch/>
        </p:blipFill>
        <p:spPr>
          <a:xfrm>
            <a:off x="25406" y="447625"/>
            <a:ext cx="3905007" cy="38204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8269" y="427738"/>
            <a:ext cx="3562183" cy="386025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1"/>
          <p:cNvSpPr/>
          <p:nvPr/>
        </p:nvSpPr>
        <p:spPr>
          <a:xfrm>
            <a:off x="3930430" y="1920157"/>
            <a:ext cx="1404300" cy="875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71"/>
          <p:cNvSpPr/>
          <p:nvPr/>
        </p:nvSpPr>
        <p:spPr>
          <a:xfrm>
            <a:off x="0" y="4268100"/>
            <a:ext cx="9144000" cy="8754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71"/>
          <p:cNvSpPr txBox="1"/>
          <p:nvPr>
            <p:ph idx="1" type="body"/>
          </p:nvPr>
        </p:nvSpPr>
        <p:spPr>
          <a:xfrm>
            <a:off x="704771" y="4383525"/>
            <a:ext cx="7481400" cy="6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rPr lang="en" sz="6300"/>
              <a:t>Adaptar la tarea al modelo y no el modelo a la tarea</a:t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rPr lang="en" sz="6300"/>
              <a:t>Se usa el modelo out-of-the-box con input mínimo</a:t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rPr lang="en" sz="6300"/>
              <a:t>Interacción con el modelo intuitiva, en lenguaje natural</a:t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618" name="Google Shape;618;p71"/>
          <p:cNvSpPr txBox="1"/>
          <p:nvPr>
            <p:ph idx="1" type="body"/>
          </p:nvPr>
        </p:nvSpPr>
        <p:spPr>
          <a:xfrm>
            <a:off x="445744" y="4331663"/>
            <a:ext cx="222300" cy="3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</a:pPr>
            <a:r>
              <a:rPr lang="en" sz="2400">
                <a:solidFill>
                  <a:srgbClr val="4A86E8"/>
                </a:solidFill>
              </a:rPr>
              <a:t>&gt;</a:t>
            </a:r>
            <a:endParaRPr sz="24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</p:txBody>
      </p:sp>
      <p:sp>
        <p:nvSpPr>
          <p:cNvPr id="619" name="Google Shape;619;p71"/>
          <p:cNvSpPr txBox="1"/>
          <p:nvPr>
            <p:ph idx="1" type="body"/>
          </p:nvPr>
        </p:nvSpPr>
        <p:spPr>
          <a:xfrm>
            <a:off x="445744" y="4510463"/>
            <a:ext cx="222300" cy="3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</a:pPr>
            <a:r>
              <a:rPr lang="en" sz="2400">
                <a:solidFill>
                  <a:srgbClr val="4A86E8"/>
                </a:solidFill>
              </a:rPr>
              <a:t>&gt;</a:t>
            </a:r>
            <a:endParaRPr sz="24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</p:txBody>
      </p:sp>
      <p:sp>
        <p:nvSpPr>
          <p:cNvPr id="620" name="Google Shape;620;p71"/>
          <p:cNvSpPr txBox="1"/>
          <p:nvPr>
            <p:ph idx="1" type="body"/>
          </p:nvPr>
        </p:nvSpPr>
        <p:spPr>
          <a:xfrm>
            <a:off x="445744" y="4689263"/>
            <a:ext cx="222300" cy="3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</a:pPr>
            <a:r>
              <a:rPr lang="en" sz="2400">
                <a:solidFill>
                  <a:srgbClr val="4A86E8"/>
                </a:solidFill>
              </a:rPr>
              <a:t>&gt;</a:t>
            </a:r>
            <a:endParaRPr sz="24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70000"/>
              </a:lnSpc>
              <a:spcBef>
                <a:spcPts val="1100"/>
              </a:spcBef>
              <a:spcAft>
                <a:spcPts val="0"/>
              </a:spcAft>
              <a:buSzPts val="400"/>
              <a:buNone/>
            </a:pPr>
            <a:r>
              <a:t/>
            </a:r>
            <a:endParaRPr sz="100">
              <a:solidFill>
                <a:srgbClr val="4A86E8"/>
              </a:solidFill>
            </a:endParaRPr>
          </a:p>
        </p:txBody>
      </p:sp>
      <p:sp>
        <p:nvSpPr>
          <p:cNvPr id="621" name="Google Shape;621;p71"/>
          <p:cNvSpPr txBox="1"/>
          <p:nvPr>
            <p:ph type="title"/>
          </p:nvPr>
        </p:nvSpPr>
        <p:spPr>
          <a:xfrm>
            <a:off x="311700" y="27975"/>
            <a:ext cx="8520600" cy="419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Context Learning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GPT-3: Language Models are Few-Shot Learners </a:t>
            </a:r>
            <a:endParaRPr/>
          </a:p>
        </p:txBody>
      </p:sp>
      <p:pic>
        <p:nvPicPr>
          <p:cNvPr id="627" name="Google Shape;627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152476"/>
            <a:ext cx="5757750" cy="178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7863" y="3430088"/>
            <a:ext cx="4657725" cy="13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Más grandes y costosos</a:t>
            </a:r>
            <a:endParaRPr/>
          </a:p>
        </p:txBody>
      </p:sp>
      <p:pic>
        <p:nvPicPr>
          <p:cNvPr id="634" name="Google Shape;6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2713" y="1377988"/>
            <a:ext cx="5876925" cy="319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7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 del fine-tuning</a:t>
            </a:r>
            <a:endParaRPr/>
          </a:p>
        </p:txBody>
      </p:sp>
      <p:pic>
        <p:nvPicPr>
          <p:cNvPr id="640" name="Google Shape;640;p74"/>
          <p:cNvPicPr preferRelativeResize="0"/>
          <p:nvPr/>
        </p:nvPicPr>
        <p:blipFill rotWithShape="1">
          <a:blip r:embed="rId3">
            <a:alphaModFix/>
          </a:blip>
          <a:srcRect b="0" l="7986" r="7860" t="13734"/>
          <a:stretch/>
        </p:blipFill>
        <p:spPr>
          <a:xfrm>
            <a:off x="1563825" y="1225804"/>
            <a:ext cx="5742150" cy="366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7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Más grandes, más humanos</a:t>
            </a:r>
            <a:endParaRPr/>
          </a:p>
        </p:txBody>
      </p:sp>
      <p:pic>
        <p:nvPicPr>
          <p:cNvPr id="646" name="Google Shape;646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7825" y="1764113"/>
            <a:ext cx="4869175" cy="161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000" y="1256663"/>
            <a:ext cx="3836662" cy="263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Más ejemplos, mejor resultado</a:t>
            </a:r>
            <a:endParaRPr/>
          </a:p>
        </p:txBody>
      </p:sp>
      <p:pic>
        <p:nvPicPr>
          <p:cNvPr id="653" name="Google Shape;653;p76"/>
          <p:cNvPicPr preferRelativeResize="0"/>
          <p:nvPr/>
        </p:nvPicPr>
        <p:blipFill rotWithShape="1">
          <a:blip r:embed="rId3">
            <a:alphaModFix/>
          </a:blip>
          <a:srcRect b="0" l="6751" r="0" t="9674"/>
          <a:stretch/>
        </p:blipFill>
        <p:spPr>
          <a:xfrm>
            <a:off x="1074863" y="1157100"/>
            <a:ext cx="6994275" cy="38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Modelos más grandes aprenden más rápido</a:t>
            </a:r>
            <a:endParaRPr/>
          </a:p>
        </p:txBody>
      </p:sp>
      <p:pic>
        <p:nvPicPr>
          <p:cNvPr id="659" name="Google Shape;659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5875" y="1066800"/>
            <a:ext cx="6392250" cy="383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7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Todavía no satura</a:t>
            </a:r>
            <a:endParaRPr/>
          </a:p>
        </p:txBody>
      </p:sp>
      <p:pic>
        <p:nvPicPr>
          <p:cNvPr id="665" name="Google Shape;665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6463" y="1017729"/>
            <a:ext cx="5731074" cy="3824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7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Capacidades Emergentes</a:t>
            </a:r>
            <a:endParaRPr/>
          </a:p>
        </p:txBody>
      </p:sp>
      <p:pic>
        <p:nvPicPr>
          <p:cNvPr id="671" name="Google Shape;671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6250" y="1579325"/>
            <a:ext cx="4676775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2" name="Google Shape;672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21575" y="1416088"/>
            <a:ext cx="4972050" cy="315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80"/>
          <p:cNvSpPr/>
          <p:nvPr/>
        </p:nvSpPr>
        <p:spPr>
          <a:xfrm>
            <a:off x="774544" y="484088"/>
            <a:ext cx="7915200" cy="23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80"/>
          <p:cNvSpPr/>
          <p:nvPr/>
        </p:nvSpPr>
        <p:spPr>
          <a:xfrm>
            <a:off x="0" y="0"/>
            <a:ext cx="4448400" cy="51435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80"/>
          <p:cNvSpPr txBox="1"/>
          <p:nvPr>
            <p:ph idx="1" type="body"/>
          </p:nvPr>
        </p:nvSpPr>
        <p:spPr>
          <a:xfrm>
            <a:off x="783600" y="544088"/>
            <a:ext cx="3340200" cy="38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r>
              <a:rPr lang="en" sz="1700"/>
              <a:t>Las </a:t>
            </a:r>
            <a:r>
              <a:rPr b="1" lang="en" sz="1700"/>
              <a:t>capacidades emergentes </a:t>
            </a:r>
            <a:r>
              <a:rPr lang="en" sz="1700"/>
              <a:t>son habilidades no programadas explícitamente.</a:t>
            </a:r>
            <a:endParaRPr sz="17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r>
              <a:t/>
            </a:r>
            <a:endParaRPr sz="17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r>
              <a:rPr lang="en" sz="1700"/>
              <a:t>El modelo generaliza automáticamente para cualquier tarea</a:t>
            </a:r>
            <a:endParaRPr sz="1700"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1500"/>
              <a:buNone/>
            </a:pPr>
            <a:r>
              <a:t/>
            </a:r>
            <a:endParaRPr/>
          </a:p>
        </p:txBody>
      </p:sp>
      <p:sp>
        <p:nvSpPr>
          <p:cNvPr id="680" name="Google Shape;680;p80"/>
          <p:cNvSpPr txBox="1"/>
          <p:nvPr>
            <p:ph idx="1" type="body"/>
          </p:nvPr>
        </p:nvSpPr>
        <p:spPr>
          <a:xfrm>
            <a:off x="324309" y="410099"/>
            <a:ext cx="5319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20700">
                <a:solidFill>
                  <a:srgbClr val="4A86E8"/>
                </a:solidFill>
              </a:rPr>
              <a:t>&gt;</a:t>
            </a:r>
            <a:endParaRPr sz="207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pic>
        <p:nvPicPr>
          <p:cNvPr id="681" name="Google Shape;681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48250" y="0"/>
            <a:ext cx="469574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80"/>
          <p:cNvSpPr txBox="1"/>
          <p:nvPr>
            <p:ph idx="1" type="body"/>
          </p:nvPr>
        </p:nvSpPr>
        <p:spPr>
          <a:xfrm>
            <a:off x="482818" y="2073731"/>
            <a:ext cx="214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11100">
              <a:solidFill>
                <a:srgbClr val="3C78D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683" name="Google Shape;683;p80"/>
          <p:cNvSpPr txBox="1"/>
          <p:nvPr>
            <p:ph idx="1" type="body"/>
          </p:nvPr>
        </p:nvSpPr>
        <p:spPr>
          <a:xfrm>
            <a:off x="482818" y="2481919"/>
            <a:ext cx="214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11100">
              <a:solidFill>
                <a:srgbClr val="3C78D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684" name="Google Shape;684;p80"/>
          <p:cNvSpPr txBox="1"/>
          <p:nvPr>
            <p:ph idx="1" type="body"/>
          </p:nvPr>
        </p:nvSpPr>
        <p:spPr>
          <a:xfrm>
            <a:off x="482818" y="2691188"/>
            <a:ext cx="2148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11100">
              <a:solidFill>
                <a:srgbClr val="3C78D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685" name="Google Shape;685;p80"/>
          <p:cNvSpPr txBox="1"/>
          <p:nvPr>
            <p:ph idx="1" type="body"/>
          </p:nvPr>
        </p:nvSpPr>
        <p:spPr>
          <a:xfrm>
            <a:off x="774542" y="2308781"/>
            <a:ext cx="2972400" cy="18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Programar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Traducir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Generar Contenido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Entender datos estructurados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Resumir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Responder Preguntas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Extracción de Información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Diseño de experimentos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Seguir Instrucciones</a:t>
            </a:r>
            <a:endParaRPr sz="6300"/>
          </a:p>
          <a:p>
            <a:pPr indent="-265113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6300"/>
              <a:t>…</a:t>
            </a:r>
            <a:endParaRPr sz="63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81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Capacidades Emergentes</a:t>
            </a:r>
            <a:endParaRPr/>
          </a:p>
        </p:txBody>
      </p:sp>
      <p:pic>
        <p:nvPicPr>
          <p:cNvPr id="691" name="Google Shape;691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9024" y="658800"/>
            <a:ext cx="7425949" cy="431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82"/>
          <p:cNvSpPr txBox="1"/>
          <p:nvPr>
            <p:ph type="title"/>
          </p:nvPr>
        </p:nvSpPr>
        <p:spPr>
          <a:xfrm>
            <a:off x="0" y="447150"/>
            <a:ext cx="90531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marR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Explorando la Emergencia de Capacidades en Modelos de Lenguaje de Gran Escala</a:t>
            </a:r>
            <a:endParaRPr/>
          </a:p>
        </p:txBody>
      </p:sp>
      <p:sp>
        <p:nvSpPr>
          <p:cNvPr id="697" name="Google Shape;697;p82"/>
          <p:cNvSpPr txBox="1"/>
          <p:nvPr>
            <p:ph idx="1" type="body"/>
          </p:nvPr>
        </p:nvSpPr>
        <p:spPr>
          <a:xfrm>
            <a:off x="122175" y="1101175"/>
            <a:ext cx="88575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lang="en" sz="1200">
                <a:solidFill>
                  <a:srgbClr val="374151"/>
                </a:solidFill>
              </a:rPr>
              <a:t>Las habilidades en los Modelos de Lenguaje de Gran Escala (LLMs) </a:t>
            </a:r>
            <a:r>
              <a:rPr b="1" lang="en" sz="1200">
                <a:solidFill>
                  <a:srgbClr val="374151"/>
                </a:solidFill>
              </a:rPr>
              <a:t>emergen de manera impredecible y no se pueden extrapolar linealmente de modelos más pequeños.</a:t>
            </a:r>
            <a:endParaRPr b="1" sz="1200">
              <a:solidFill>
                <a:srgbClr val="37415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lang="en" sz="1200">
                <a:solidFill>
                  <a:srgbClr val="374151"/>
                </a:solidFill>
              </a:rPr>
              <a:t>GPT-3 con </a:t>
            </a:r>
            <a:r>
              <a:rPr b="1" lang="en" sz="1200">
                <a:solidFill>
                  <a:srgbClr val="374151"/>
                </a:solidFill>
              </a:rPr>
              <a:t>175 mil millones</a:t>
            </a:r>
            <a:r>
              <a:rPr lang="en" sz="1200">
                <a:solidFill>
                  <a:srgbClr val="374151"/>
                </a:solidFill>
              </a:rPr>
              <a:t> de parámetros mostró habilidades limitadas en el benchmark WiC con una sola muestra.</a:t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lang="en" sz="1200">
                <a:solidFill>
                  <a:srgbClr val="374151"/>
                </a:solidFill>
              </a:rPr>
              <a:t>Escalando a PaLM (</a:t>
            </a:r>
            <a:r>
              <a:rPr b="1" lang="en" sz="1200">
                <a:solidFill>
                  <a:srgbClr val="374151"/>
                </a:solidFill>
              </a:rPr>
              <a:t>540 mil millones de parámetros</a:t>
            </a:r>
            <a:r>
              <a:rPr lang="en" sz="1200">
                <a:solidFill>
                  <a:srgbClr val="374151"/>
                </a:solidFill>
              </a:rPr>
              <a:t>) mejoró significativamente el rendimiento, sin cambios arquitectónicos importantes.</a:t>
            </a:r>
            <a:endParaRPr sz="1200">
              <a:solidFill>
                <a:srgbClr val="37415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lang="en" sz="1200">
                <a:solidFill>
                  <a:srgbClr val="374151"/>
                </a:solidFill>
              </a:rPr>
              <a:t>La emergencia en los LLMs sigue siendo en gran parte </a:t>
            </a:r>
            <a:r>
              <a:rPr b="1" lang="en" sz="1200">
                <a:solidFill>
                  <a:srgbClr val="374151"/>
                </a:solidFill>
              </a:rPr>
              <a:t>inexplicada.</a:t>
            </a:r>
            <a:endParaRPr b="1" sz="1200">
              <a:solidFill>
                <a:srgbClr val="37415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b="1" lang="en" sz="1200">
                <a:solidFill>
                  <a:srgbClr val="374151"/>
                </a:solidFill>
              </a:rPr>
              <a:t>Hipótesis:</a:t>
            </a:r>
            <a:r>
              <a:rPr lang="en" sz="1200">
                <a:solidFill>
                  <a:srgbClr val="374151"/>
                </a:solidFill>
              </a:rPr>
              <a:t> Escalas mayores pueden permitir una mejor memorización y manejo de tareas complejas.</a:t>
            </a:r>
            <a:endParaRPr sz="1200">
              <a:solidFill>
                <a:srgbClr val="37415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●"/>
            </a:pPr>
            <a:r>
              <a:rPr lang="en" sz="1200">
                <a:solidFill>
                  <a:srgbClr val="374151"/>
                </a:solidFill>
              </a:rPr>
              <a:t>Teorías: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○"/>
            </a:pPr>
            <a:r>
              <a:rPr lang="en" sz="1200">
                <a:solidFill>
                  <a:srgbClr val="374151"/>
                </a:solidFill>
              </a:rPr>
              <a:t>El razonamiento de múltiples pasos puede requerir una cierta profundidad (número de capas) en el modelo.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○"/>
            </a:pPr>
            <a:r>
              <a:rPr lang="en" sz="1200">
                <a:solidFill>
                  <a:srgbClr val="374151"/>
                </a:solidFill>
              </a:rPr>
              <a:t>Modelos con más parámetros podrían almacenar conocimiento del mundo de manera comprimida y eficaz.</a:t>
            </a:r>
            <a:endParaRPr sz="1200">
              <a:solidFill>
                <a:srgbClr val="37415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Char char="○"/>
            </a:pPr>
            <a:r>
              <a:rPr lang="en" sz="1200">
                <a:solidFill>
                  <a:srgbClr val="374151"/>
                </a:solidFill>
              </a:rPr>
              <a:t>…</a:t>
            </a:r>
            <a:endParaRPr sz="1200">
              <a:solidFill>
                <a:srgbClr val="37415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83"/>
          <p:cNvSpPr/>
          <p:nvPr/>
        </p:nvSpPr>
        <p:spPr>
          <a:xfrm>
            <a:off x="38350" y="4147200"/>
            <a:ext cx="9144000" cy="9963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83"/>
          <p:cNvSpPr txBox="1"/>
          <p:nvPr>
            <p:ph idx="1" type="body"/>
          </p:nvPr>
        </p:nvSpPr>
        <p:spPr>
          <a:xfrm>
            <a:off x="786363" y="4291781"/>
            <a:ext cx="74814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rPr lang="en" sz="6300"/>
              <a:t>La alucinación en </a:t>
            </a:r>
            <a:r>
              <a:rPr b="1" lang="en" sz="6300"/>
              <a:t>LLMs</a:t>
            </a:r>
            <a:r>
              <a:rPr lang="en" sz="6300"/>
              <a:t> se refiere a la generación de texto que es semántica o sintácticamente plausible pero factualmente incorrecta.</a:t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t/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5714"/>
              <a:buNone/>
            </a:pPr>
            <a:r>
              <a:rPr lang="en" sz="6300"/>
              <a:t>Es difícil a simple vista darse cuenta que la información es incorrecta.</a:t>
            </a:r>
            <a:endParaRPr sz="6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704" name="Google Shape;704;p83"/>
          <p:cNvSpPr txBox="1"/>
          <p:nvPr>
            <p:ph idx="1" type="body"/>
          </p:nvPr>
        </p:nvSpPr>
        <p:spPr>
          <a:xfrm>
            <a:off x="484095" y="4210763"/>
            <a:ext cx="244500" cy="4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5000">
                <a:solidFill>
                  <a:srgbClr val="4A86E8"/>
                </a:solidFill>
              </a:rPr>
              <a:t>&gt;</a:t>
            </a:r>
            <a:endParaRPr sz="150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pic>
        <p:nvPicPr>
          <p:cNvPr id="705" name="Google Shape;705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4600" y="749850"/>
            <a:ext cx="5291494" cy="316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83"/>
          <p:cNvSpPr txBox="1"/>
          <p:nvPr>
            <p:ph idx="1" type="body"/>
          </p:nvPr>
        </p:nvSpPr>
        <p:spPr>
          <a:xfrm>
            <a:off x="484095" y="4677762"/>
            <a:ext cx="244500" cy="4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5000">
                <a:solidFill>
                  <a:srgbClr val="4A86E8"/>
                </a:solidFill>
              </a:rPr>
              <a:t>&gt;</a:t>
            </a:r>
            <a:endParaRPr sz="150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07" name="Google Shape;707;p83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Alucinaciones de los LLMs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2" name="Google Shape;712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7501" y="654950"/>
            <a:ext cx="4163350" cy="426060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84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Alucinaciones de los LLMs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5"/>
          <p:cNvSpPr txBox="1"/>
          <p:nvPr>
            <p:ph type="title"/>
          </p:nvPr>
        </p:nvSpPr>
        <p:spPr>
          <a:xfrm>
            <a:off x="366525" y="7325"/>
            <a:ext cx="83934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marR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Alucinaciones en la Generación de Lenguaje Natural</a:t>
            </a:r>
            <a:endParaRPr/>
          </a:p>
        </p:txBody>
      </p:sp>
      <p:sp>
        <p:nvSpPr>
          <p:cNvPr id="719" name="Google Shape;719;p85"/>
          <p:cNvSpPr txBox="1"/>
          <p:nvPr>
            <p:ph idx="1" type="body"/>
          </p:nvPr>
        </p:nvSpPr>
        <p:spPr>
          <a:xfrm>
            <a:off x="183250" y="649125"/>
            <a:ext cx="8723100" cy="4286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 fontScale="25000" lnSpcReduction="10000"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4300">
                <a:solidFill>
                  <a:srgbClr val="374151"/>
                </a:solidFill>
              </a:rPr>
              <a:t>Situaciones donde un modelo genera texto carece de sentido o tiene información factual </a:t>
            </a:r>
            <a:r>
              <a:rPr lang="en" sz="4300">
                <a:solidFill>
                  <a:srgbClr val="374151"/>
                </a:solidFill>
              </a:rPr>
              <a:t>errónea</a:t>
            </a:r>
            <a:r>
              <a:rPr lang="en" sz="4300">
                <a:solidFill>
                  <a:srgbClr val="374151"/>
                </a:solidFill>
              </a:rPr>
              <a:t>, aunque parezca fluido y arraigado en el contexto.</a:t>
            </a:r>
            <a:endParaRPr sz="4300">
              <a:solidFill>
                <a:srgbClr val="37415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25581"/>
              <a:buFont typeface="Arial"/>
              <a:buNone/>
            </a:pPr>
            <a:r>
              <a:rPr lang="en" sz="4300">
                <a:solidFill>
                  <a:srgbClr val="374151"/>
                </a:solidFill>
              </a:rPr>
              <a:t>Tipos de Alucinaciones: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4300">
                <a:solidFill>
                  <a:srgbClr val="374151"/>
                </a:solidFill>
              </a:rPr>
              <a:t>Alucinación Intrínseca:</a:t>
            </a:r>
            <a:r>
              <a:rPr lang="en" sz="4300">
                <a:solidFill>
                  <a:srgbClr val="374151"/>
                </a:solidFill>
              </a:rPr>
              <a:t> El contenido generado contradice directamente el contenido fuente. Por ejemplo, representando erróneamente fechas o eventos factuales.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4300">
                <a:solidFill>
                  <a:srgbClr val="374151"/>
                </a:solidFill>
              </a:rPr>
              <a:t>Alucinación Extrínseca:</a:t>
            </a:r>
            <a:r>
              <a:rPr lang="en" sz="4300">
                <a:solidFill>
                  <a:srgbClr val="374151"/>
                </a:solidFill>
              </a:rPr>
              <a:t> El contenido generado no puede ser verificado ni contradicho por la fuente. Esto podría involucrar agregar detalles no verificables o información no presente en la entrada.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4300">
                <a:solidFill>
                  <a:srgbClr val="374151"/>
                </a:solidFill>
              </a:rPr>
              <a:t>Fidelidad:</a:t>
            </a:r>
            <a:r>
              <a:rPr lang="en" sz="4300">
                <a:solidFill>
                  <a:srgbClr val="374151"/>
                </a:solidFill>
              </a:rPr>
              <a:t> Adherencia al contenido fuente. Los trabajos que se enfocan en maximizar la fidelidad buscan minimizar la alucinación.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Font typeface="Arial"/>
              <a:buChar char="●"/>
            </a:pPr>
            <a:r>
              <a:rPr b="1" lang="en" sz="4300">
                <a:solidFill>
                  <a:srgbClr val="374151"/>
                </a:solidFill>
              </a:rPr>
              <a:t>Facticidad:</a:t>
            </a:r>
            <a:r>
              <a:rPr lang="en" sz="4300">
                <a:solidFill>
                  <a:srgbClr val="374151"/>
                </a:solidFill>
              </a:rPr>
              <a:t> Se refiere a la alineación con contenido actual o factual. Esto puede ser diferente de la fidelidad dependiendo del 'hecho' definido (conocimiento del mundo vs. entrada de la fuente).</a:t>
            </a:r>
            <a:endParaRPr sz="4300">
              <a:solidFill>
                <a:srgbClr val="37415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" sz="4300">
                <a:solidFill>
                  <a:srgbClr val="374151"/>
                </a:solidFill>
              </a:rPr>
              <a:t>Causas Impulsadas por Datos: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4300">
                <a:solidFill>
                  <a:srgbClr val="374151"/>
                </a:solidFill>
              </a:rPr>
              <a:t>Las alucinaciones pueden surgir debido a</a:t>
            </a:r>
            <a:r>
              <a:rPr b="1" lang="en" sz="4300">
                <a:solidFill>
                  <a:srgbClr val="374151"/>
                </a:solidFill>
              </a:rPr>
              <a:t> errores en datos de entrenamiento.</a:t>
            </a:r>
            <a:r>
              <a:rPr lang="en" sz="4300">
                <a:solidFill>
                  <a:srgbClr val="374151"/>
                </a:solidFill>
              </a:rPr>
              <a:t> 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4300">
                <a:solidFill>
                  <a:srgbClr val="374151"/>
                </a:solidFill>
              </a:rPr>
              <a:t>Debido a la naturaleza inherente de algunas tareas de NLG que </a:t>
            </a:r>
            <a:r>
              <a:rPr b="1" lang="en" sz="4300">
                <a:solidFill>
                  <a:srgbClr val="374151"/>
                </a:solidFill>
              </a:rPr>
              <a:t>fomentan la divergencia por ejemplo creatividad</a:t>
            </a:r>
            <a:r>
              <a:rPr lang="en" sz="4300">
                <a:solidFill>
                  <a:srgbClr val="374151"/>
                </a:solidFill>
              </a:rPr>
              <a:t>.</a:t>
            </a:r>
            <a:endParaRPr sz="4300">
              <a:solidFill>
                <a:srgbClr val="37415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25581"/>
              <a:buFont typeface="Arial"/>
              <a:buNone/>
            </a:pPr>
            <a:r>
              <a:rPr lang="en" sz="4300">
                <a:solidFill>
                  <a:srgbClr val="374151"/>
                </a:solidFill>
              </a:rPr>
              <a:t>Influencias en el Entrenamiento y Modelado:</a:t>
            </a:r>
            <a:endParaRPr sz="4300">
              <a:solidFill>
                <a:srgbClr val="374151"/>
              </a:solidFill>
            </a:endParaRPr>
          </a:p>
          <a:p>
            <a:pPr indent="-296865" lvl="0" marL="45720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ct val="100000"/>
              <a:buChar char="●"/>
            </a:pPr>
            <a:r>
              <a:rPr lang="en" sz="4300">
                <a:solidFill>
                  <a:srgbClr val="374151"/>
                </a:solidFill>
              </a:rPr>
              <a:t>El aprendizaje de representación imperfecto, errores en la decodificación, sesgo de exposición durante el entrenamiento y el conocimiento fijo inherente del modelo pueden contribuir a las alucinaciones.</a:t>
            </a:r>
            <a:endParaRPr sz="4300">
              <a:solidFill>
                <a:srgbClr val="374151"/>
              </a:solidFill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86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Cómo mitigar las alucinaciones</a:t>
            </a:r>
            <a:endParaRPr/>
          </a:p>
        </p:txBody>
      </p:sp>
      <p:sp>
        <p:nvSpPr>
          <p:cNvPr id="725" name="Google Shape;725;p86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Mejorar calidad de datos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Mejorar modelos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Reinforcement</a:t>
            </a:r>
            <a:r>
              <a:rPr lang="en"/>
              <a:t> Learning via Reward models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Atención, sesgo condicionado por la fuente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Fuentes externas (e.g., RAG)</a:t>
            </a:r>
            <a:endParaRPr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87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Mejores modelos </a:t>
            </a:r>
            <a:endParaRPr/>
          </a:p>
        </p:txBody>
      </p:sp>
      <p:pic>
        <p:nvPicPr>
          <p:cNvPr id="731" name="Google Shape;731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263" y="649124"/>
            <a:ext cx="5132025" cy="403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32" name="Google Shape;732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3275" y="1422300"/>
            <a:ext cx="3362225" cy="145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88"/>
          <p:cNvSpPr/>
          <p:nvPr/>
        </p:nvSpPr>
        <p:spPr>
          <a:xfrm>
            <a:off x="1822988" y="3640139"/>
            <a:ext cx="1584300" cy="9969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Big LLM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 Generic Flat icon" id="738" name="Google Shape;738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5565" y="2635516"/>
            <a:ext cx="359172" cy="35917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39" name="Google Shape;739;p88"/>
          <p:cNvCxnSpPr>
            <a:stCxn id="738" idx="2"/>
            <a:endCxn id="737" idx="0"/>
          </p:cNvCxnSpPr>
          <p:nvPr/>
        </p:nvCxnSpPr>
        <p:spPr>
          <a:xfrm>
            <a:off x="2615151" y="2994688"/>
            <a:ext cx="0" cy="645600"/>
          </a:xfrm>
          <a:prstGeom prst="straightConnector1">
            <a:avLst/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40" name="Google Shape;740;p88"/>
          <p:cNvSpPr txBox="1"/>
          <p:nvPr/>
        </p:nvSpPr>
        <p:spPr>
          <a:xfrm>
            <a:off x="2681443" y="3147852"/>
            <a:ext cx="581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" sz="1400" u="none" cap="none" strike="noStrike">
                <a:solidFill>
                  <a:srgbClr val="76CEEF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88"/>
          <p:cNvSpPr/>
          <p:nvPr/>
        </p:nvSpPr>
        <p:spPr>
          <a:xfrm>
            <a:off x="4686192" y="3779856"/>
            <a:ext cx="1451100" cy="73980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Motor de Búsqueda Interno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2" name="Google Shape;742;p88"/>
          <p:cNvCxnSpPr/>
          <p:nvPr/>
        </p:nvCxnSpPr>
        <p:spPr>
          <a:xfrm>
            <a:off x="3390496" y="3941673"/>
            <a:ext cx="1278900" cy="11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dash"/>
            <a:round/>
            <a:headEnd len="sm" w="sm" type="none"/>
            <a:tailEnd len="med" w="med" type="triangle"/>
          </a:ln>
        </p:spPr>
      </p:cxnSp>
      <p:cxnSp>
        <p:nvCxnSpPr>
          <p:cNvPr id="743" name="Google Shape;743;p88"/>
          <p:cNvCxnSpPr/>
          <p:nvPr/>
        </p:nvCxnSpPr>
        <p:spPr>
          <a:xfrm>
            <a:off x="3407314" y="4353902"/>
            <a:ext cx="1278900" cy="11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dash"/>
            <a:round/>
            <a:headEnd len="med" w="med" type="triangle"/>
            <a:tailEnd len="sm" w="sm" type="none"/>
          </a:ln>
        </p:spPr>
      </p:cxnSp>
      <p:cxnSp>
        <p:nvCxnSpPr>
          <p:cNvPr id="744" name="Google Shape;744;p88"/>
          <p:cNvCxnSpPr>
            <a:stCxn id="737" idx="2"/>
            <a:endCxn id="738" idx="3"/>
          </p:cNvCxnSpPr>
          <p:nvPr/>
        </p:nvCxnSpPr>
        <p:spPr>
          <a:xfrm rot="-5400000">
            <a:off x="1794038" y="3636239"/>
            <a:ext cx="1821900" cy="179700"/>
          </a:xfrm>
          <a:prstGeom prst="bentConnector4">
            <a:avLst>
              <a:gd fmla="val -9410" name="adj1"/>
              <a:gd fmla="val 2253712" name="adj2"/>
            </a:avLst>
          </a:prstGeom>
          <a:noFill/>
          <a:ln cap="flat" cmpd="sng" w="31750">
            <a:solidFill>
              <a:srgbClr val="00206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45" name="Google Shape;745;p88"/>
          <p:cNvSpPr txBox="1"/>
          <p:nvPr/>
        </p:nvSpPr>
        <p:spPr>
          <a:xfrm>
            <a:off x="2681442" y="4852377"/>
            <a:ext cx="10905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" sz="1400" u="none" cap="none" strike="noStrike">
                <a:solidFill>
                  <a:srgbClr val="76CEEF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88"/>
          <p:cNvSpPr txBox="1"/>
          <p:nvPr>
            <p:ph idx="1" type="body"/>
          </p:nvPr>
        </p:nvSpPr>
        <p:spPr>
          <a:xfrm>
            <a:off x="336350" y="968575"/>
            <a:ext cx="7730700" cy="16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737"/>
              <a:buNone/>
            </a:pPr>
            <a:r>
              <a:rPr lang="en" sz="5700"/>
              <a:t>Ampliar el contexto con información externa mejora la factualidad de las respuestas</a:t>
            </a:r>
            <a:br>
              <a:rPr lang="en" sz="5700"/>
            </a:br>
            <a:endParaRPr sz="57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737"/>
              <a:buNone/>
            </a:pPr>
            <a:r>
              <a:rPr lang="en" sz="5700"/>
              <a:t>Se customiza el uso para usuarios o empresas: El modelo accede a documentos personales o internos de una empresa.</a:t>
            </a:r>
            <a:br>
              <a:rPr lang="en" sz="5700"/>
            </a:br>
            <a:endParaRPr sz="57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737"/>
              <a:buNone/>
            </a:pPr>
            <a:r>
              <a:rPr lang="en" sz="5700"/>
              <a:t>RAG combina el poder de generación del modelo con la búsqueda en colección específica de documentos:</a:t>
            </a:r>
            <a:endParaRPr sz="57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737"/>
              <a:buNone/>
            </a:pPr>
            <a:r>
              <a:t/>
            </a:r>
            <a:endParaRPr sz="5700"/>
          </a:p>
          <a:p>
            <a:pPr indent="-319088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5700"/>
              <a:t>Búsqueda de documentos relevantes</a:t>
            </a:r>
            <a:endParaRPr sz="5700"/>
          </a:p>
          <a:p>
            <a:pPr indent="-319088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5700"/>
              <a:t>Generar Respuesta</a:t>
            </a:r>
            <a:endParaRPr/>
          </a:p>
        </p:txBody>
      </p:sp>
      <p:sp>
        <p:nvSpPr>
          <p:cNvPr id="747" name="Google Shape;747;p88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Información Externa RAGs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89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Información Externa RAGs</a:t>
            </a:r>
            <a:endParaRPr/>
          </a:p>
        </p:txBody>
      </p:sp>
      <p:pic>
        <p:nvPicPr>
          <p:cNvPr id="753" name="Google Shape;753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80600" y="745250"/>
            <a:ext cx="5477975" cy="382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90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Costo</a:t>
            </a:r>
            <a:endParaRPr/>
          </a:p>
        </p:txBody>
      </p:sp>
      <p:sp>
        <p:nvSpPr>
          <p:cNvPr id="759" name="Google Shape;759;p90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Large Language Models: A New Moore's Law?" id="760" name="Google Shape;760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50" y="649125"/>
            <a:ext cx="6912900" cy="410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91"/>
          <p:cNvSpPr txBox="1"/>
          <p:nvPr>
            <p:ph idx="1" type="body"/>
          </p:nvPr>
        </p:nvSpPr>
        <p:spPr>
          <a:xfrm>
            <a:off x="430511" y="718502"/>
            <a:ext cx="8563500" cy="37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"/>
              <a:t> </a:t>
            </a:r>
            <a:endParaRPr/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15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766" name="Google Shape;766;p91"/>
          <p:cNvSpPr/>
          <p:nvPr/>
        </p:nvSpPr>
        <p:spPr>
          <a:xfrm>
            <a:off x="774544" y="484088"/>
            <a:ext cx="7915200" cy="23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91"/>
          <p:cNvSpPr txBox="1"/>
          <p:nvPr>
            <p:ph idx="1" type="body"/>
          </p:nvPr>
        </p:nvSpPr>
        <p:spPr>
          <a:xfrm>
            <a:off x="859245" y="987072"/>
            <a:ext cx="3015600" cy="33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rPr lang="en" sz="7800"/>
              <a:t>Significativos costos de entrenamiento, hosting e inferencia.</a:t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rPr lang="en" sz="7800"/>
              <a:t>Requerimientos sustanciales de infraestructura.</a:t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rPr lang="en" sz="7800"/>
              <a:t>Creciente demanda de chips GPU.</a:t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rPr lang="en" sz="7800"/>
              <a:t>Impacto Ambiental: Mayor consumo de energía y emisiones de carbono.</a:t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7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t/>
            </a:r>
            <a:endParaRPr sz="8400"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/>
          </a:p>
        </p:txBody>
      </p:sp>
      <p:sp>
        <p:nvSpPr>
          <p:cNvPr id="768" name="Google Shape;768;p91"/>
          <p:cNvSpPr txBox="1"/>
          <p:nvPr>
            <p:ph idx="1" type="body"/>
          </p:nvPr>
        </p:nvSpPr>
        <p:spPr>
          <a:xfrm>
            <a:off x="327340" y="837653"/>
            <a:ext cx="5319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20700">
                <a:solidFill>
                  <a:srgbClr val="4A86E8"/>
                </a:solidFill>
              </a:rPr>
              <a:t>&gt;</a:t>
            </a:r>
            <a:endParaRPr sz="207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pic>
        <p:nvPicPr>
          <p:cNvPr descr="Cost comparison of different LLMs compared to GPT 3.5, bar graph, with GPT 4 highest, Claude and GPT 3.5 smaller" id="769" name="Google Shape;769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4750" y="932373"/>
            <a:ext cx="3690025" cy="2280775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p91"/>
          <p:cNvSpPr txBox="1"/>
          <p:nvPr>
            <p:ph idx="1" type="body"/>
          </p:nvPr>
        </p:nvSpPr>
        <p:spPr>
          <a:xfrm>
            <a:off x="327340" y="1678343"/>
            <a:ext cx="5319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20700">
                <a:solidFill>
                  <a:srgbClr val="4A86E8"/>
                </a:solidFill>
              </a:rPr>
              <a:t>&gt;</a:t>
            </a:r>
            <a:endParaRPr sz="207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71" name="Google Shape;771;p91"/>
          <p:cNvSpPr txBox="1"/>
          <p:nvPr>
            <p:ph idx="1" type="body"/>
          </p:nvPr>
        </p:nvSpPr>
        <p:spPr>
          <a:xfrm>
            <a:off x="327340" y="2289087"/>
            <a:ext cx="5319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20700">
                <a:solidFill>
                  <a:srgbClr val="4A86E8"/>
                </a:solidFill>
              </a:rPr>
              <a:t>&gt;</a:t>
            </a:r>
            <a:endParaRPr sz="207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72" name="Google Shape;772;p91"/>
          <p:cNvSpPr txBox="1"/>
          <p:nvPr>
            <p:ph idx="1" type="body"/>
          </p:nvPr>
        </p:nvSpPr>
        <p:spPr>
          <a:xfrm>
            <a:off x="327340" y="2960356"/>
            <a:ext cx="5319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20700">
                <a:solidFill>
                  <a:srgbClr val="4A86E8"/>
                </a:solidFill>
              </a:rPr>
              <a:t>&gt;</a:t>
            </a:r>
            <a:endParaRPr sz="207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73" name="Google Shape;773;p91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 LLMs son muy costosos</a:t>
            </a:r>
            <a:endParaRPr/>
          </a:p>
        </p:txBody>
      </p:sp>
      <p:pic>
        <p:nvPicPr>
          <p:cNvPr id="774" name="Google Shape;774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3740" y="3431329"/>
            <a:ext cx="5032033" cy="15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92"/>
          <p:cNvSpPr/>
          <p:nvPr/>
        </p:nvSpPr>
        <p:spPr>
          <a:xfrm>
            <a:off x="811238" y="1267816"/>
            <a:ext cx="7637400" cy="22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92"/>
          <p:cNvSpPr txBox="1"/>
          <p:nvPr>
            <p:ph idx="1" type="body"/>
          </p:nvPr>
        </p:nvSpPr>
        <p:spPr>
          <a:xfrm>
            <a:off x="348320" y="935828"/>
            <a:ext cx="267900" cy="4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3200">
                <a:solidFill>
                  <a:srgbClr val="4A86E8"/>
                </a:solidFill>
              </a:rPr>
              <a:t>&gt;</a:t>
            </a:r>
            <a:endParaRPr sz="132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81" name="Google Shape;781;p92"/>
          <p:cNvSpPr txBox="1"/>
          <p:nvPr>
            <p:ph idx="1" type="body"/>
          </p:nvPr>
        </p:nvSpPr>
        <p:spPr>
          <a:xfrm>
            <a:off x="689888" y="1035147"/>
            <a:ext cx="8088600" cy="21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" sz="12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Objetivo: </a:t>
            </a: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reducir el tamaño y la complejidad del modelo, facilitando y acelerando su despliegue</a:t>
            </a:r>
            <a:endParaRPr sz="1200"/>
          </a:p>
          <a:p>
            <a:pPr indent="0" lvl="0" marL="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400"/>
              <a:buNone/>
            </a:pP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Una técnica para transferir conocimiento de un modelo grande (maestro) a un modelo más pequeño (estudiante)</a:t>
            </a:r>
            <a:endParaRPr sz="1200"/>
          </a:p>
          <a:p>
            <a:pPr indent="0" lvl="0" marL="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400"/>
              <a:buNone/>
            </a:pP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El estudiante aprende a imitar las predicciones del maestro </a:t>
            </a:r>
            <a:endParaRPr b="0" i="0" sz="120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400"/>
              <a:buNone/>
            </a:pPr>
            <a:r>
              <a:rPr b="0" i="0" lang="en" sz="12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Puede imitar los “comportamientos” o ser directamente en datos generados por el maestro </a:t>
            </a:r>
            <a:endParaRPr sz="120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500"/>
              <a:buNone/>
            </a:pP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Una simple destilación basada en datos</a:t>
            </a:r>
            <a:endParaRPr b="0" i="0" sz="120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34290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200"/>
              <a:buFont typeface="Calibri"/>
              <a:buAutoNum type="arabicPeriod"/>
            </a:pP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Generar un conjunto de datos utilizando las predicciones del modelo maestro</a:t>
            </a:r>
            <a:endParaRPr sz="1200"/>
          </a:p>
          <a:p>
            <a:pPr indent="-317500" lvl="0" marL="342900" rtl="0" algn="l">
              <a:lnSpc>
                <a:spcPct val="80000"/>
              </a:lnSpc>
              <a:spcBef>
                <a:spcPts val="1100"/>
              </a:spcBef>
              <a:spcAft>
                <a:spcPts val="0"/>
              </a:spcAft>
              <a:buSzPts val="1200"/>
              <a:buFont typeface="Calibri"/>
              <a:buAutoNum type="arabicPeriod"/>
            </a:pPr>
            <a:r>
              <a:rPr b="0" i="0" lang="en" sz="12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Afinar el modelo estudiante pre-entrenado en el conjunto de datos mediante instrucciones específicas</a:t>
            </a:r>
            <a:endParaRPr b="0" i="0" sz="120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92"/>
          <p:cNvSpPr/>
          <p:nvPr/>
        </p:nvSpPr>
        <p:spPr>
          <a:xfrm>
            <a:off x="1069561" y="3623556"/>
            <a:ext cx="1584300" cy="1353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 Grande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92"/>
          <p:cNvSpPr/>
          <p:nvPr/>
        </p:nvSpPr>
        <p:spPr>
          <a:xfrm>
            <a:off x="6774869" y="4014582"/>
            <a:ext cx="1327200" cy="571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 Chico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92"/>
          <p:cNvSpPr/>
          <p:nvPr/>
        </p:nvSpPr>
        <p:spPr>
          <a:xfrm>
            <a:off x="3932777" y="4066469"/>
            <a:ext cx="1327200" cy="467700"/>
          </a:xfrm>
          <a:prstGeom prst="ellipse">
            <a:avLst/>
          </a:prstGeom>
          <a:solidFill>
            <a:schemeClr val="accent1"/>
          </a:solidFill>
          <a:ln cap="flat" cmpd="sng" w="15875">
            <a:solidFill>
              <a:srgbClr val="0B4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5" name="Google Shape;785;p92"/>
          <p:cNvCxnSpPr>
            <a:stCxn id="782" idx="3"/>
            <a:endCxn id="784" idx="2"/>
          </p:cNvCxnSpPr>
          <p:nvPr/>
        </p:nvCxnSpPr>
        <p:spPr>
          <a:xfrm>
            <a:off x="2653862" y="4300356"/>
            <a:ext cx="1278900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86" name="Google Shape;786;p92"/>
          <p:cNvCxnSpPr>
            <a:stCxn id="784" idx="6"/>
            <a:endCxn id="783" idx="1"/>
          </p:cNvCxnSpPr>
          <p:nvPr/>
        </p:nvCxnSpPr>
        <p:spPr>
          <a:xfrm>
            <a:off x="5259977" y="4300319"/>
            <a:ext cx="1515000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87" name="Google Shape;787;p92"/>
          <p:cNvSpPr txBox="1"/>
          <p:nvPr/>
        </p:nvSpPr>
        <p:spPr>
          <a:xfrm>
            <a:off x="2822864" y="3996582"/>
            <a:ext cx="82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92"/>
          <p:cNvSpPr txBox="1"/>
          <p:nvPr/>
        </p:nvSpPr>
        <p:spPr>
          <a:xfrm>
            <a:off x="5255965" y="3969831"/>
            <a:ext cx="14508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Instruction Tuning</a:t>
            </a:r>
            <a:endParaRPr b="1" i="1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92"/>
          <p:cNvSpPr txBox="1"/>
          <p:nvPr>
            <p:ph idx="1" type="body"/>
          </p:nvPr>
        </p:nvSpPr>
        <p:spPr>
          <a:xfrm>
            <a:off x="348320" y="1230690"/>
            <a:ext cx="267900" cy="4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3200">
                <a:solidFill>
                  <a:srgbClr val="4A86E8"/>
                </a:solidFill>
              </a:rPr>
              <a:t>&gt;</a:t>
            </a:r>
            <a:endParaRPr sz="132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90" name="Google Shape;790;p92"/>
          <p:cNvSpPr txBox="1"/>
          <p:nvPr>
            <p:ph idx="1" type="body"/>
          </p:nvPr>
        </p:nvSpPr>
        <p:spPr>
          <a:xfrm>
            <a:off x="348320" y="1520153"/>
            <a:ext cx="267900" cy="4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3200">
                <a:solidFill>
                  <a:srgbClr val="4A86E8"/>
                </a:solidFill>
              </a:rPr>
              <a:t>&gt;</a:t>
            </a:r>
            <a:endParaRPr sz="132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91" name="Google Shape;791;p92"/>
          <p:cNvSpPr txBox="1"/>
          <p:nvPr>
            <p:ph idx="1" type="body"/>
          </p:nvPr>
        </p:nvSpPr>
        <p:spPr>
          <a:xfrm>
            <a:off x="348320" y="1757865"/>
            <a:ext cx="267900" cy="4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75"/>
              <a:buNone/>
            </a:pPr>
            <a:r>
              <a:rPr lang="en" sz="13200">
                <a:solidFill>
                  <a:srgbClr val="4A86E8"/>
                </a:solidFill>
              </a:rPr>
              <a:t>&gt;</a:t>
            </a:r>
            <a:endParaRPr sz="13200"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t/>
            </a:r>
            <a:endParaRPr>
              <a:solidFill>
                <a:srgbClr val="4A86E8"/>
              </a:solidFill>
            </a:endParaRPr>
          </a:p>
        </p:txBody>
      </p:sp>
      <p:sp>
        <p:nvSpPr>
          <p:cNvPr id="792" name="Google Shape;792;p92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Destilando LLMs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93"/>
          <p:cNvSpPr txBox="1"/>
          <p:nvPr>
            <p:ph type="title"/>
          </p:nvPr>
        </p:nvSpPr>
        <p:spPr>
          <a:xfrm>
            <a:off x="1742995" y="152084"/>
            <a:ext cx="5658000" cy="441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n"/>
              <a:t>Early Exit: Avoiding overthinking</a:t>
            </a:r>
            <a:endParaRPr/>
          </a:p>
        </p:txBody>
      </p:sp>
      <p:sp>
        <p:nvSpPr>
          <p:cNvPr id="798" name="Google Shape;798;p93"/>
          <p:cNvSpPr/>
          <p:nvPr/>
        </p:nvSpPr>
        <p:spPr>
          <a:xfrm>
            <a:off x="1646822" y="2457449"/>
            <a:ext cx="3039600" cy="30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93"/>
          <p:cNvSpPr txBox="1"/>
          <p:nvPr>
            <p:ph idx="1" type="body"/>
          </p:nvPr>
        </p:nvSpPr>
        <p:spPr>
          <a:xfrm>
            <a:off x="800110" y="1197612"/>
            <a:ext cx="7543800" cy="27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rmAutofit fontScale="77500" lnSpcReduction="20000"/>
          </a:bodyPr>
          <a:lstStyle/>
          <a:p>
            <a:pPr indent="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11111"/>
              </a:solidFill>
            </a:endParaRPr>
          </a:p>
          <a:p>
            <a:pPr indent="-73819" lvl="0" marL="63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83333"/>
              <a:buFont typeface="Arial"/>
              <a:buChar char="•"/>
            </a:pPr>
            <a:r>
              <a:rPr b="0" i="0" lang="en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Hidden states during generation tend to saturate </a:t>
            </a:r>
            <a:endParaRPr/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 b="0" i="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 b="0" i="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None/>
            </a:pPr>
            <a:r>
              <a:rPr lang="en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0" lvl="0" marL="3429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11111"/>
              </a:solidFill>
            </a:endParaRPr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635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ct val="83333"/>
              <a:buFont typeface="Arial"/>
              <a:buNone/>
            </a:pPr>
            <a:r>
              <a:t/>
            </a:r>
            <a:endParaRPr b="0" i="0">
              <a:solidFill>
                <a:srgbClr val="11111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0" name="Google Shape;80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315" y="2279905"/>
            <a:ext cx="8061075" cy="250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94"/>
          <p:cNvSpPr txBox="1"/>
          <p:nvPr>
            <p:ph type="title"/>
          </p:nvPr>
        </p:nvSpPr>
        <p:spPr>
          <a:xfrm>
            <a:off x="622020" y="342009"/>
            <a:ext cx="5658000" cy="441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n"/>
              <a:t>Early Exit</a:t>
            </a:r>
            <a:endParaRPr/>
          </a:p>
        </p:txBody>
      </p:sp>
      <p:sp>
        <p:nvSpPr>
          <p:cNvPr id="806" name="Google Shape;806;p94"/>
          <p:cNvSpPr/>
          <p:nvPr/>
        </p:nvSpPr>
        <p:spPr>
          <a:xfrm>
            <a:off x="1646822" y="2457449"/>
            <a:ext cx="3039600" cy="30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94"/>
          <p:cNvSpPr/>
          <p:nvPr/>
        </p:nvSpPr>
        <p:spPr>
          <a:xfrm>
            <a:off x="909722" y="19729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Layer n</a:t>
            </a:r>
            <a:endParaRPr sz="1100"/>
          </a:p>
        </p:txBody>
      </p:sp>
      <p:sp>
        <p:nvSpPr>
          <p:cNvPr id="808" name="Google Shape;808;p94"/>
          <p:cNvSpPr/>
          <p:nvPr/>
        </p:nvSpPr>
        <p:spPr>
          <a:xfrm>
            <a:off x="909722" y="241108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 sz="1100"/>
          </a:p>
        </p:txBody>
      </p:sp>
      <p:sp>
        <p:nvSpPr>
          <p:cNvPr id="809" name="Google Shape;809;p94"/>
          <p:cNvSpPr/>
          <p:nvPr/>
        </p:nvSpPr>
        <p:spPr>
          <a:xfrm>
            <a:off x="938297" y="284923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Layer 4</a:t>
            </a:r>
            <a:endParaRPr sz="1100"/>
          </a:p>
        </p:txBody>
      </p:sp>
      <p:sp>
        <p:nvSpPr>
          <p:cNvPr id="810" name="Google Shape;810;p94"/>
          <p:cNvSpPr/>
          <p:nvPr/>
        </p:nvSpPr>
        <p:spPr>
          <a:xfrm>
            <a:off x="938297" y="328738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Layer 3</a:t>
            </a:r>
            <a:endParaRPr sz="1100"/>
          </a:p>
        </p:txBody>
      </p:sp>
      <p:sp>
        <p:nvSpPr>
          <p:cNvPr id="811" name="Google Shape;811;p94"/>
          <p:cNvSpPr/>
          <p:nvPr/>
        </p:nvSpPr>
        <p:spPr>
          <a:xfrm>
            <a:off x="938297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Layer 2</a:t>
            </a:r>
            <a:endParaRPr sz="1100"/>
          </a:p>
        </p:txBody>
      </p:sp>
      <p:sp>
        <p:nvSpPr>
          <p:cNvPr id="812" name="Google Shape;812;p94"/>
          <p:cNvSpPr/>
          <p:nvPr/>
        </p:nvSpPr>
        <p:spPr>
          <a:xfrm>
            <a:off x="909722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Layer 1</a:t>
            </a:r>
            <a:endParaRPr sz="1100"/>
          </a:p>
        </p:txBody>
      </p:sp>
      <p:sp>
        <p:nvSpPr>
          <p:cNvPr id="813" name="Google Shape;813;p94"/>
          <p:cNvSpPr/>
          <p:nvPr/>
        </p:nvSpPr>
        <p:spPr>
          <a:xfrm>
            <a:off x="2132096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94"/>
          <p:cNvSpPr/>
          <p:nvPr/>
        </p:nvSpPr>
        <p:spPr>
          <a:xfrm>
            <a:off x="2103522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94"/>
          <p:cNvSpPr/>
          <p:nvPr/>
        </p:nvSpPr>
        <p:spPr>
          <a:xfrm>
            <a:off x="3325897" y="328738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94"/>
          <p:cNvSpPr/>
          <p:nvPr/>
        </p:nvSpPr>
        <p:spPr>
          <a:xfrm>
            <a:off x="3325896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94"/>
          <p:cNvSpPr/>
          <p:nvPr/>
        </p:nvSpPr>
        <p:spPr>
          <a:xfrm>
            <a:off x="3297322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94"/>
          <p:cNvSpPr/>
          <p:nvPr/>
        </p:nvSpPr>
        <p:spPr>
          <a:xfrm>
            <a:off x="4519696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94"/>
          <p:cNvSpPr/>
          <p:nvPr/>
        </p:nvSpPr>
        <p:spPr>
          <a:xfrm>
            <a:off x="4491122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94"/>
          <p:cNvSpPr/>
          <p:nvPr/>
        </p:nvSpPr>
        <p:spPr>
          <a:xfrm>
            <a:off x="5713496" y="284923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94"/>
          <p:cNvSpPr/>
          <p:nvPr/>
        </p:nvSpPr>
        <p:spPr>
          <a:xfrm>
            <a:off x="5713496" y="328738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94"/>
          <p:cNvSpPr/>
          <p:nvPr/>
        </p:nvSpPr>
        <p:spPr>
          <a:xfrm>
            <a:off x="5713496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94"/>
          <p:cNvSpPr/>
          <p:nvPr/>
        </p:nvSpPr>
        <p:spPr>
          <a:xfrm>
            <a:off x="5684921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94"/>
          <p:cNvSpPr/>
          <p:nvPr/>
        </p:nvSpPr>
        <p:spPr>
          <a:xfrm>
            <a:off x="6878721" y="416686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5875">
            <a:solidFill>
              <a:srgbClr val="147E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94"/>
          <p:cNvSpPr txBox="1"/>
          <p:nvPr/>
        </p:nvSpPr>
        <p:spPr>
          <a:xfrm>
            <a:off x="1071647" y="4469693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94"/>
          <p:cNvSpPr txBox="1"/>
          <p:nvPr/>
        </p:nvSpPr>
        <p:spPr>
          <a:xfrm>
            <a:off x="2362284" y="4469693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94"/>
          <p:cNvSpPr txBox="1"/>
          <p:nvPr/>
        </p:nvSpPr>
        <p:spPr>
          <a:xfrm>
            <a:off x="3556084" y="4469693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94"/>
          <p:cNvSpPr txBox="1"/>
          <p:nvPr/>
        </p:nvSpPr>
        <p:spPr>
          <a:xfrm>
            <a:off x="4674476" y="4469693"/>
            <a:ext cx="5889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</a:t>
            </a:r>
            <a:endParaRPr sz="1100"/>
          </a:p>
        </p:txBody>
      </p:sp>
      <p:sp>
        <p:nvSpPr>
          <p:cNvPr id="829" name="Google Shape;829;p94"/>
          <p:cNvSpPr txBox="1"/>
          <p:nvPr/>
        </p:nvSpPr>
        <p:spPr>
          <a:xfrm>
            <a:off x="5974252" y="4471675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</a:t>
            </a:r>
            <a:endParaRPr sz="1100"/>
          </a:p>
        </p:txBody>
      </p:sp>
      <p:sp>
        <p:nvSpPr>
          <p:cNvPr id="830" name="Google Shape;830;p94"/>
          <p:cNvSpPr txBox="1"/>
          <p:nvPr/>
        </p:nvSpPr>
        <p:spPr>
          <a:xfrm>
            <a:off x="7090651" y="4474847"/>
            <a:ext cx="5889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Table</a:t>
            </a:r>
            <a:endParaRPr sz="1100"/>
          </a:p>
        </p:txBody>
      </p:sp>
      <p:sp>
        <p:nvSpPr>
          <p:cNvPr id="831" name="Google Shape;831;p94"/>
          <p:cNvSpPr txBox="1"/>
          <p:nvPr/>
        </p:nvSpPr>
        <p:spPr>
          <a:xfrm>
            <a:off x="1178009" y="1672504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94"/>
          <p:cNvSpPr txBox="1"/>
          <p:nvPr/>
        </p:nvSpPr>
        <p:spPr>
          <a:xfrm>
            <a:off x="2385698" y="1691555"/>
            <a:ext cx="438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94"/>
          <p:cNvSpPr txBox="1"/>
          <p:nvPr/>
        </p:nvSpPr>
        <p:spPr>
          <a:xfrm>
            <a:off x="3511235" y="1668557"/>
            <a:ext cx="5889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</a:t>
            </a:r>
            <a:endParaRPr sz="1100"/>
          </a:p>
        </p:txBody>
      </p:sp>
      <p:sp>
        <p:nvSpPr>
          <p:cNvPr id="834" name="Google Shape;834;p94"/>
          <p:cNvSpPr txBox="1"/>
          <p:nvPr/>
        </p:nvSpPr>
        <p:spPr>
          <a:xfrm>
            <a:off x="4809028" y="1674500"/>
            <a:ext cx="523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</a:t>
            </a:r>
            <a:endParaRPr sz="1100"/>
          </a:p>
        </p:txBody>
      </p:sp>
      <p:sp>
        <p:nvSpPr>
          <p:cNvPr id="835" name="Google Shape;835;p94"/>
          <p:cNvSpPr txBox="1"/>
          <p:nvPr/>
        </p:nvSpPr>
        <p:spPr>
          <a:xfrm>
            <a:off x="5882564" y="1677659"/>
            <a:ext cx="5889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Table</a:t>
            </a:r>
            <a:endParaRPr sz="1100"/>
          </a:p>
        </p:txBody>
      </p:sp>
      <p:sp>
        <p:nvSpPr>
          <p:cNvPr id="836" name="Google Shape;836;p94"/>
          <p:cNvSpPr txBox="1"/>
          <p:nvPr/>
        </p:nvSpPr>
        <p:spPr>
          <a:xfrm>
            <a:off x="7062077" y="1670692"/>
            <a:ext cx="5889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&lt;end&gt;</a:t>
            </a:r>
            <a:endParaRPr sz="1100"/>
          </a:p>
        </p:txBody>
      </p:sp>
      <p:sp>
        <p:nvSpPr>
          <p:cNvPr id="837" name="Google Shape;837;p94"/>
          <p:cNvSpPr/>
          <p:nvPr/>
        </p:nvSpPr>
        <p:spPr>
          <a:xfrm>
            <a:off x="2103522" y="284923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94"/>
          <p:cNvSpPr/>
          <p:nvPr/>
        </p:nvSpPr>
        <p:spPr>
          <a:xfrm>
            <a:off x="2103522" y="3284207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94"/>
          <p:cNvSpPr/>
          <p:nvPr/>
        </p:nvSpPr>
        <p:spPr>
          <a:xfrm>
            <a:off x="2104900" y="240713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94"/>
          <p:cNvSpPr/>
          <p:nvPr/>
        </p:nvSpPr>
        <p:spPr>
          <a:xfrm>
            <a:off x="2080793" y="1972157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1" name="Google Shape;841;p94"/>
          <p:cNvCxnSpPr>
            <a:stCxn id="813" idx="0"/>
          </p:cNvCxnSpPr>
          <p:nvPr/>
        </p:nvCxnSpPr>
        <p:spPr>
          <a:xfrm rot="10800000">
            <a:off x="2599046" y="1949535"/>
            <a:ext cx="10800" cy="17760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42" name="Google Shape;842;p94"/>
          <p:cNvSpPr/>
          <p:nvPr/>
        </p:nvSpPr>
        <p:spPr>
          <a:xfrm>
            <a:off x="3319985" y="283851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94"/>
          <p:cNvSpPr/>
          <p:nvPr/>
        </p:nvSpPr>
        <p:spPr>
          <a:xfrm>
            <a:off x="3321698" y="2412209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94"/>
          <p:cNvSpPr/>
          <p:nvPr/>
        </p:nvSpPr>
        <p:spPr>
          <a:xfrm>
            <a:off x="3297322" y="1970880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5" name="Google Shape;845;p94"/>
          <p:cNvCxnSpPr>
            <a:stCxn id="815" idx="0"/>
            <a:endCxn id="833" idx="2"/>
          </p:cNvCxnSpPr>
          <p:nvPr/>
        </p:nvCxnSpPr>
        <p:spPr>
          <a:xfrm flipH="1" rot="10800000">
            <a:off x="3803647" y="1953284"/>
            <a:ext cx="2100" cy="13341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46" name="Google Shape;846;p94"/>
          <p:cNvSpPr/>
          <p:nvPr/>
        </p:nvSpPr>
        <p:spPr>
          <a:xfrm>
            <a:off x="4567845" y="2845631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94"/>
          <p:cNvSpPr/>
          <p:nvPr/>
        </p:nvSpPr>
        <p:spPr>
          <a:xfrm>
            <a:off x="4567845" y="328060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94"/>
          <p:cNvSpPr/>
          <p:nvPr/>
        </p:nvSpPr>
        <p:spPr>
          <a:xfrm>
            <a:off x="4569223" y="24035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94"/>
          <p:cNvSpPr/>
          <p:nvPr/>
        </p:nvSpPr>
        <p:spPr>
          <a:xfrm>
            <a:off x="4545116" y="196855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0" name="Google Shape;850;p94"/>
          <p:cNvCxnSpPr>
            <a:stCxn id="818" idx="0"/>
            <a:endCxn id="849" idx="0"/>
          </p:cNvCxnSpPr>
          <p:nvPr/>
        </p:nvCxnSpPr>
        <p:spPr>
          <a:xfrm flipH="1" rot="10800000">
            <a:off x="4997446" y="1968435"/>
            <a:ext cx="25500" cy="17571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51" name="Google Shape;851;p94"/>
          <p:cNvSpPr/>
          <p:nvPr/>
        </p:nvSpPr>
        <p:spPr>
          <a:xfrm>
            <a:off x="5738456" y="2403532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94"/>
          <p:cNvSpPr/>
          <p:nvPr/>
        </p:nvSpPr>
        <p:spPr>
          <a:xfrm>
            <a:off x="5714350" y="196855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3" name="Google Shape;853;p94"/>
          <p:cNvCxnSpPr>
            <a:stCxn id="820" idx="0"/>
            <a:endCxn id="835" idx="2"/>
          </p:cNvCxnSpPr>
          <p:nvPr/>
        </p:nvCxnSpPr>
        <p:spPr>
          <a:xfrm rot="10800000">
            <a:off x="6177146" y="1962434"/>
            <a:ext cx="14100" cy="8868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54" name="Google Shape;854;p94"/>
          <p:cNvSpPr/>
          <p:nvPr/>
        </p:nvSpPr>
        <p:spPr>
          <a:xfrm>
            <a:off x="6843481" y="3290561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94"/>
          <p:cNvSpPr/>
          <p:nvPr/>
        </p:nvSpPr>
        <p:spPr>
          <a:xfrm>
            <a:off x="6843481" y="372553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94"/>
          <p:cNvSpPr/>
          <p:nvPr/>
        </p:nvSpPr>
        <p:spPr>
          <a:xfrm>
            <a:off x="6844859" y="2848463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94"/>
          <p:cNvSpPr/>
          <p:nvPr/>
        </p:nvSpPr>
        <p:spPr>
          <a:xfrm>
            <a:off x="6820752" y="2413485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94"/>
          <p:cNvSpPr/>
          <p:nvPr/>
        </p:nvSpPr>
        <p:spPr>
          <a:xfrm>
            <a:off x="6820751" y="1968554"/>
            <a:ext cx="955500" cy="279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875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9" name="Google Shape;859;p94"/>
          <p:cNvCxnSpPr>
            <a:stCxn id="824" idx="0"/>
            <a:endCxn id="836" idx="2"/>
          </p:cNvCxnSpPr>
          <p:nvPr/>
        </p:nvCxnSpPr>
        <p:spPr>
          <a:xfrm rot="10800000">
            <a:off x="7356471" y="2170664"/>
            <a:ext cx="0" cy="19962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95"/>
          <p:cNvSpPr txBox="1"/>
          <p:nvPr>
            <p:ph type="title"/>
          </p:nvPr>
        </p:nvSpPr>
        <p:spPr>
          <a:xfrm>
            <a:off x="622020" y="342009"/>
            <a:ext cx="5658000" cy="441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n"/>
              <a:t>Early Exit Implementación</a:t>
            </a:r>
            <a:endParaRPr/>
          </a:p>
        </p:txBody>
      </p:sp>
      <p:sp>
        <p:nvSpPr>
          <p:cNvPr id="865" name="Google Shape;865;p95"/>
          <p:cNvSpPr txBox="1"/>
          <p:nvPr/>
        </p:nvSpPr>
        <p:spPr>
          <a:xfrm>
            <a:off x="622025" y="1124000"/>
            <a:ext cx="70371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Métricas de Saturación de los Hidden States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Cuán lejos está un hidden state del siguiente?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Clasificación: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Aprender un clasificador que me diga </a:t>
            </a:r>
            <a:r>
              <a:rPr lang="en" sz="1800">
                <a:solidFill>
                  <a:schemeClr val="dk2"/>
                </a:solidFill>
              </a:rPr>
              <a:t>cuándo</a:t>
            </a:r>
            <a:r>
              <a:rPr lang="en" sz="1800">
                <a:solidFill>
                  <a:schemeClr val="dk2"/>
                </a:solidFill>
              </a:rPr>
              <a:t> salir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Softmax Response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Si la red está muy segura de que token elegir paraar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866" name="Google Shape;866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6125" y="3025750"/>
            <a:ext cx="4283141" cy="186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96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 Problemas de Early Exit</a:t>
            </a:r>
            <a:endParaRPr/>
          </a:p>
        </p:txBody>
      </p:sp>
      <p:sp>
        <p:nvSpPr>
          <p:cNvPr id="872" name="Google Shape;872;p96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17500" lvl="0" marL="457200" rtl="0" algn="l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Batching: Hay que esperar a que salga el último token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KV Caching: Si un token sale después hay que recalcular el cache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Eficiencia: Si el token sale antes no atiende al último layer del previo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Incertidumbre de Costo: El peor caso es el costo de toda la red</a:t>
            </a:r>
            <a:endParaRPr/>
          </a:p>
        </p:txBody>
      </p:sp>
      <p:pic>
        <p:nvPicPr>
          <p:cNvPr id="873" name="Google Shape;873;p96"/>
          <p:cNvPicPr preferRelativeResize="0"/>
          <p:nvPr/>
        </p:nvPicPr>
        <p:blipFill rotWithShape="1">
          <a:blip r:embed="rId3">
            <a:alphaModFix/>
          </a:blip>
          <a:srcRect b="0" l="0" r="0" t="1691"/>
          <a:stretch/>
        </p:blipFill>
        <p:spPr>
          <a:xfrm>
            <a:off x="1189473" y="1840975"/>
            <a:ext cx="6511150" cy="294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97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Skipping vs. Early Exit</a:t>
            </a:r>
            <a:endParaRPr/>
          </a:p>
        </p:txBody>
      </p:sp>
      <p:pic>
        <p:nvPicPr>
          <p:cNvPr id="879" name="Google Shape;879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4575" y="1759300"/>
            <a:ext cx="6360550" cy="3323126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p97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17500" lvl="0" marL="457200" rtl="0" algn="l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Batching: Cada posición sale en el mismo lugar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KV Caching: Los tokens posteriores usan menos layers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Eficiencia: Se priorizan los layers superiores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Incertidumbre de Costo: Política de salida estática</a:t>
            </a:r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98"/>
          <p:cNvSpPr/>
          <p:nvPr/>
        </p:nvSpPr>
        <p:spPr>
          <a:xfrm>
            <a:off x="1646822" y="2457449"/>
            <a:ext cx="3039600" cy="30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98"/>
          <p:cNvSpPr txBox="1"/>
          <p:nvPr/>
        </p:nvSpPr>
        <p:spPr>
          <a:xfrm>
            <a:off x="831984" y="56943"/>
            <a:ext cx="7543800" cy="588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85000" lnSpcReduction="20000"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Calibri"/>
              <a:buNone/>
            </a:pPr>
            <a:r>
              <a:rPr lang="en" sz="60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Costo predecible</a:t>
            </a:r>
            <a:endParaRPr sz="1100"/>
          </a:p>
        </p:txBody>
      </p:sp>
      <p:pic>
        <p:nvPicPr>
          <p:cNvPr id="887" name="Google Shape;887;p98"/>
          <p:cNvPicPr preferRelativeResize="0"/>
          <p:nvPr/>
        </p:nvPicPr>
        <p:blipFill rotWithShape="1">
          <a:blip r:embed="rId3">
            <a:alphaModFix/>
          </a:blip>
          <a:srcRect b="0" l="25070" r="25802" t="34521"/>
          <a:stretch/>
        </p:blipFill>
        <p:spPr>
          <a:xfrm>
            <a:off x="2015289" y="1370902"/>
            <a:ext cx="4626144" cy="3141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99"/>
          <p:cNvSpPr txBox="1"/>
          <p:nvPr>
            <p:ph type="title"/>
          </p:nvPr>
        </p:nvSpPr>
        <p:spPr>
          <a:xfrm>
            <a:off x="800110" y="-12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Toxicidad y Sesgo en LLMs</a:t>
            </a:r>
            <a:endParaRPr/>
          </a:p>
        </p:txBody>
      </p:sp>
      <p:sp>
        <p:nvSpPr>
          <p:cNvPr id="893" name="Google Shape;893;p99"/>
          <p:cNvSpPr txBox="1"/>
          <p:nvPr>
            <p:ph idx="1" type="body"/>
          </p:nvPr>
        </p:nvSpPr>
        <p:spPr>
          <a:xfrm>
            <a:off x="305425" y="649125"/>
            <a:ext cx="85767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La </a:t>
            </a:r>
            <a:r>
              <a:rPr b="1" lang="en"/>
              <a:t>toxicidad </a:t>
            </a:r>
            <a:r>
              <a:rPr lang="en"/>
              <a:t>incluye lenguaje que es grosero, irrespetuoso o irrazonable, u ofensivo, incluyendo las sutilezas del lenguaje dañino​​.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Sesgo</a:t>
            </a:r>
            <a:r>
              <a:rPr lang="en"/>
              <a:t>: Más allá de la discriminación explícita, el sesgo incluye preferencias distribucionales sutiles que pueden no ser inmediatamente evidentes, pero que impactan significativamente en la equidad​​.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Complejidad en las Salidas de los LLMs: Los LLMs pueden generar salidas tóxicas inadvertidamente debido a sus </a:t>
            </a:r>
            <a:r>
              <a:rPr b="1" lang="en"/>
              <a:t>datos de entrenamiento</a:t>
            </a:r>
            <a:r>
              <a:rPr lang="en"/>
              <a:t>. La evaluación de estas salidas debe considerar tanto métricas de toxicidad automáticas como el juicio humano.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Doble naturaleza del sesgo, el sesgo de clasificación que conduce a falsos positivos y el </a:t>
            </a:r>
            <a:r>
              <a:rPr b="1" lang="en"/>
              <a:t>impacto dispar a través de idiomas</a:t>
            </a:r>
            <a:r>
              <a:rPr lang="en"/>
              <a:t>, que puede perpetuar sesgos sociales​.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00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Toxicidad y sesgo en LLMs</a:t>
            </a:r>
            <a:endParaRPr/>
          </a:p>
        </p:txBody>
      </p:sp>
      <p:pic>
        <p:nvPicPr>
          <p:cNvPr id="899" name="Google Shape;899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826" y="850425"/>
            <a:ext cx="6704373" cy="3914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4" name="Google Shape;904;p101"/>
          <p:cNvPicPr preferRelativeResize="0"/>
          <p:nvPr/>
        </p:nvPicPr>
        <p:blipFill rotWithShape="1">
          <a:blip r:embed="rId3">
            <a:alphaModFix/>
          </a:blip>
          <a:srcRect b="7641" l="0" r="0" t="54608"/>
          <a:stretch/>
        </p:blipFill>
        <p:spPr>
          <a:xfrm>
            <a:off x="249375" y="1888650"/>
            <a:ext cx="5154251" cy="168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5" name="Google Shape;905;p101"/>
          <p:cNvPicPr preferRelativeResize="0"/>
          <p:nvPr/>
        </p:nvPicPr>
        <p:blipFill rotWithShape="1">
          <a:blip r:embed="rId3">
            <a:alphaModFix/>
          </a:blip>
          <a:srcRect b="46487" l="24570" r="24412" t="0"/>
          <a:stretch/>
        </p:blipFill>
        <p:spPr>
          <a:xfrm>
            <a:off x="5955750" y="1537450"/>
            <a:ext cx="2629550" cy="2384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02"/>
          <p:cNvSpPr txBox="1"/>
          <p:nvPr>
            <p:ph type="title"/>
          </p:nvPr>
        </p:nvSpPr>
        <p:spPr>
          <a:xfrm>
            <a:off x="822949" y="7325"/>
            <a:ext cx="7924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Fuentes y causas de la toxicidad y el sesgo en LLMs</a:t>
            </a:r>
            <a:endParaRPr/>
          </a:p>
        </p:txBody>
      </p:sp>
      <p:sp>
        <p:nvSpPr>
          <p:cNvPr id="911" name="Google Shape;911;p102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Datos de Entrenamiento:</a:t>
            </a:r>
            <a:r>
              <a:rPr lang="en"/>
              <a:t> Los corpus web a gran escala utilizados frecuentemente para entrenar LLMs contienen altos niveles de toxicidad, reflejando los sesgos presentes en el entorno de internet más amplio​.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Consideraciones </a:t>
            </a:r>
            <a:r>
              <a:rPr b="1" lang="en"/>
              <a:t>Arquitectónicas</a:t>
            </a:r>
            <a:r>
              <a:rPr lang="en"/>
              <a:t>: Las complejas redes neuronales que forman los LLMs, aunque versátiles, pueden aprender y amplificar sesgos sociales inadvertidamente.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Influencia de la </a:t>
            </a:r>
            <a:r>
              <a:rPr b="1" lang="en"/>
              <a:t>Entrada del Usuario</a:t>
            </a:r>
            <a:r>
              <a:rPr lang="en"/>
              <a:t>: Las interacciones de los usuarios con los LLMs pueden provocar respuestas sesgadas o tóxicas, subrayando la importancia de diseñar modelos que sean robustos contra tales manipulaciones​.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3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Soluciones para la toxicidad y el sesgo en LLMs</a:t>
            </a:r>
            <a:endParaRPr/>
          </a:p>
        </p:txBody>
      </p:sp>
      <p:sp>
        <p:nvSpPr>
          <p:cNvPr id="917" name="Google Shape;917;p103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 lnSpcReduction="20000"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Prácticas de Datos</a:t>
            </a:r>
            <a:r>
              <a:rPr lang="en"/>
              <a:t>: Enfatizar la necesidad de evaluación y refinamiento robustos de los métodos de limpieza de datos. Estrategias para mitigar la toxicidad sin marginar a grupos a través de la sobrefiltración o la pérdida de cobertura​.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Métodos de Evaluación</a:t>
            </a:r>
            <a:r>
              <a:rPr lang="en"/>
              <a:t>: Técnicas de evaluación que puedan discernir sesgos abiertos y encubiertos, equilibrando la necesidad de seguridad con la representación de voces diversas​</a:t>
            </a:r>
            <a:r>
              <a:rPr lang="en">
                <a:uFill>
                  <a:noFill/>
                </a:uFill>
                <a:hlinkClick r:id="rId3"/>
              </a:rPr>
              <a:t>1</a:t>
            </a:r>
            <a:r>
              <a:rPr lang="en"/>
              <a:t>​.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Técnicas de Entrenamiento Adaptativo</a:t>
            </a:r>
            <a:r>
              <a:rPr lang="en"/>
              <a:t>: Explorar el entrenamiento adaptativo al dominio como una solución potencial para reducir la toxicidad, teniendo en cuenta el equilibrio delicado entre la calidad del modelo y el sesgo social​​. Por ejemplo a través de RLHF.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b="1" lang="en"/>
              <a:t>Compromiso Crítico del Usuario:</a:t>
            </a:r>
            <a:r>
              <a:rPr lang="en"/>
              <a:t> Subrayar la importancia de educar a los usuarios sobre las capacidades y riesgos de los LLMs, promoviendo un compromiso crítico y responsable con la tecnología​.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104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Asignando roles</a:t>
            </a:r>
            <a:endParaRPr/>
          </a:p>
        </p:txBody>
      </p:sp>
      <p:pic>
        <p:nvPicPr>
          <p:cNvPr id="923" name="Google Shape;923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752" y="867425"/>
            <a:ext cx="3177450" cy="3946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4" name="Google Shape;924;p10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4047" y="846213"/>
            <a:ext cx="4382326" cy="3451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5"/>
          <p:cNvSpPr txBox="1"/>
          <p:nvPr>
            <p:ph type="title"/>
          </p:nvPr>
        </p:nvSpPr>
        <p:spPr>
          <a:xfrm>
            <a:off x="822960" y="7313"/>
            <a:ext cx="7543800" cy="588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" name="Google Shape;930;p105"/>
          <p:cNvSpPr txBox="1"/>
          <p:nvPr>
            <p:ph idx="1" type="body"/>
          </p:nvPr>
        </p:nvSpPr>
        <p:spPr>
          <a:xfrm>
            <a:off x="822960" y="649137"/>
            <a:ext cx="7543800" cy="37527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31" name="Google Shape;931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0326" y="176423"/>
            <a:ext cx="6602598" cy="153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2" name="Google Shape;932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324" y="1282800"/>
            <a:ext cx="6218599" cy="153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3" name="Google Shape;933;p10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324" y="2456648"/>
            <a:ext cx="5911573" cy="166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7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10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Reading List</a:t>
            </a:r>
            <a:endParaRPr/>
          </a:p>
        </p:txBody>
      </p:sp>
      <p:sp>
        <p:nvSpPr>
          <p:cNvPr id="939" name="Google Shape;939;p10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ELECTRA: Pre-training Text Encoders as Discriminators Rather Than Generators, Clark et. al. 2020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Parameter-Efficient Transfer Learning for NLP, Housby et al., 2019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LoRA: Low-Rank Adaptation of Large Language Models, Hu et. al., 2021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Exploring the Limits of Transfer Learning with a Unified Text-to-Text Transformer, Raffel et al., 2020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PaLM: Scaling Language Modeling with Pathways, Chowdhery et. al., 2022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PaLM 2 Technical Report , 2023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Language Models are Unsupervised Multitask Learners, Radford et. al.,2019 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Language Models are Few-Shot Learners, Brown wt. Al., 2020</a:t>
            </a:r>
            <a:endParaRPr b="1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