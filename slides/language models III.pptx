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84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79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83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93.xml"/>
  <Override ContentType="application/vnd.openxmlformats-officedocument.presentationml.slide+xml" PartName="/ppt/slides/slide80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91.xml"/>
  <Override ContentType="application/vnd.openxmlformats-officedocument.presentationml.slide+xml" PartName="/ppt/slides/slide31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88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slide+xml" PartName="/ppt/slides/slide9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  <p:sldId id="342" r:id="rId92"/>
    <p:sldId id="343" r:id="rId93"/>
    <p:sldId id="344" r:id="rId94"/>
    <p:sldId id="345" r:id="rId95"/>
    <p:sldId id="346" r:id="rId96"/>
    <p:sldId id="347" r:id="rId97"/>
    <p:sldId id="348" r:id="rId98"/>
  </p:sldIdLst>
  <p:sldSz cy="5143500" cx="9144000"/>
  <p:notesSz cx="6858000" cy="9144000"/>
  <p:embeddedFontLst>
    <p:embeddedFont>
      <p:font typeface="Roboto"/>
      <p:regular r:id="rId99"/>
      <p:bold r:id="rId100"/>
      <p:italic r:id="rId101"/>
      <p:boldItalic r:id="rId10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102" Type="http://schemas.openxmlformats.org/officeDocument/2006/relationships/font" Target="fonts/Roboto-boldItalic.fntdata"/><Relationship Id="rId101" Type="http://schemas.openxmlformats.org/officeDocument/2006/relationships/font" Target="fonts/Roboto-italic.fntdata"/><Relationship Id="rId100" Type="http://schemas.openxmlformats.org/officeDocument/2006/relationships/font" Target="fonts/Roboto-bold.fntdata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95" Type="http://schemas.openxmlformats.org/officeDocument/2006/relationships/slide" Target="slides/slide90.xml"/><Relationship Id="rId94" Type="http://schemas.openxmlformats.org/officeDocument/2006/relationships/slide" Target="slides/slide89.xml"/><Relationship Id="rId97" Type="http://schemas.openxmlformats.org/officeDocument/2006/relationships/slide" Target="slides/slide92.xml"/><Relationship Id="rId96" Type="http://schemas.openxmlformats.org/officeDocument/2006/relationships/slide" Target="slides/slide91.xml"/><Relationship Id="rId11" Type="http://schemas.openxmlformats.org/officeDocument/2006/relationships/slide" Target="slides/slide6.xml"/><Relationship Id="rId99" Type="http://schemas.openxmlformats.org/officeDocument/2006/relationships/font" Target="fonts/Roboto-regular.fntdata"/><Relationship Id="rId10" Type="http://schemas.openxmlformats.org/officeDocument/2006/relationships/slide" Target="slides/slide5.xml"/><Relationship Id="rId98" Type="http://schemas.openxmlformats.org/officeDocument/2006/relationships/slide" Target="slides/slide93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91" Type="http://schemas.openxmlformats.org/officeDocument/2006/relationships/slide" Target="slides/slide86.xml"/><Relationship Id="rId90" Type="http://schemas.openxmlformats.org/officeDocument/2006/relationships/slide" Target="slides/slide85.xml"/><Relationship Id="rId93" Type="http://schemas.openxmlformats.org/officeDocument/2006/relationships/slide" Target="slides/slide88.xml"/><Relationship Id="rId92" Type="http://schemas.openxmlformats.org/officeDocument/2006/relationships/slide" Target="slides/slide8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84" Type="http://schemas.openxmlformats.org/officeDocument/2006/relationships/slide" Target="slides/slide79.xml"/><Relationship Id="rId83" Type="http://schemas.openxmlformats.org/officeDocument/2006/relationships/slide" Target="slides/slide78.xml"/><Relationship Id="rId86" Type="http://schemas.openxmlformats.org/officeDocument/2006/relationships/slide" Target="slides/slide81.xml"/><Relationship Id="rId85" Type="http://schemas.openxmlformats.org/officeDocument/2006/relationships/slide" Target="slides/slide80.xml"/><Relationship Id="rId88" Type="http://schemas.openxmlformats.org/officeDocument/2006/relationships/slide" Target="slides/slide83.xml"/><Relationship Id="rId87" Type="http://schemas.openxmlformats.org/officeDocument/2006/relationships/slide" Target="slides/slide82.xml"/><Relationship Id="rId89" Type="http://schemas.openxmlformats.org/officeDocument/2006/relationships/slide" Target="slides/slide84.xml"/><Relationship Id="rId80" Type="http://schemas.openxmlformats.org/officeDocument/2006/relationships/slide" Target="slides/slide75.xml"/><Relationship Id="rId82" Type="http://schemas.openxmlformats.org/officeDocument/2006/relationships/slide" Target="slides/slide77.xml"/><Relationship Id="rId81" Type="http://schemas.openxmlformats.org/officeDocument/2006/relationships/slide" Target="slides/slide7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75" Type="http://schemas.openxmlformats.org/officeDocument/2006/relationships/slide" Target="slides/slide70.xml"/><Relationship Id="rId74" Type="http://schemas.openxmlformats.org/officeDocument/2006/relationships/slide" Target="slides/slide69.xml"/><Relationship Id="rId77" Type="http://schemas.openxmlformats.org/officeDocument/2006/relationships/slide" Target="slides/slide72.xml"/><Relationship Id="rId76" Type="http://schemas.openxmlformats.org/officeDocument/2006/relationships/slide" Target="slides/slide71.xml"/><Relationship Id="rId79" Type="http://schemas.openxmlformats.org/officeDocument/2006/relationships/slide" Target="slides/slide74.xml"/><Relationship Id="rId78" Type="http://schemas.openxmlformats.org/officeDocument/2006/relationships/slide" Target="slides/slide73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66" Type="http://schemas.openxmlformats.org/officeDocument/2006/relationships/slide" Target="slides/slide61.xml"/><Relationship Id="rId65" Type="http://schemas.openxmlformats.org/officeDocument/2006/relationships/slide" Target="slides/slide60.xml"/><Relationship Id="rId68" Type="http://schemas.openxmlformats.org/officeDocument/2006/relationships/slide" Target="slides/slide63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69" Type="http://schemas.openxmlformats.org/officeDocument/2006/relationships/slide" Target="slides/slide6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55" Type="http://schemas.openxmlformats.org/officeDocument/2006/relationships/slide" Target="slides/slide50.xml"/><Relationship Id="rId54" Type="http://schemas.openxmlformats.org/officeDocument/2006/relationships/slide" Target="slides/slide49.xml"/><Relationship Id="rId57" Type="http://schemas.openxmlformats.org/officeDocument/2006/relationships/slide" Target="slides/slide52.xml"/><Relationship Id="rId56" Type="http://schemas.openxmlformats.org/officeDocument/2006/relationships/slide" Target="slides/slide51.xml"/><Relationship Id="rId59" Type="http://schemas.openxmlformats.org/officeDocument/2006/relationships/slide" Target="slides/slide54.xml"/><Relationship Id="rId58" Type="http://schemas.openxmlformats.org/officeDocument/2006/relationships/slide" Target="slides/slide5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1ea27af1677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1ea27af1677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ea27af1677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ea27af1677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1ea27af1677_0_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1ea27af1677_0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1ea27af1677_0_2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1ea27af1677_0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1ea27af1677_0_2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1ea27af1677_0_2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1ea40d680f3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1ea40d680f3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1ea40d680f3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1ea40d680f3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ea40d680f3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1ea40d680f3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1ea40d680f3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1ea40d680f3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1ea40d680f3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1ea40d680f3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1ea40d680f3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1ea40d680f3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1ea40d680f3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1ea40d680f3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1ea40d680f3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1ea40d680f3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1ea40d680f3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1ea40d680f3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1ea40d680f3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1ea40d680f3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1ea40d680f3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1ea40d680f3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1ea9673e565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1ea9673e565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1ea40d680f3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1ea40d680f3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1ea40d680f3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1ea40d680f3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1ea40d680f3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1ea40d680f3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ea40d680f3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1ea40d680f3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1ea9673e565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1ea9673e565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1ea9673e565_0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1ea9673e565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1ea9673e565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1ea9673e565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ea40d680f3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ea40d680f3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1ea9673e565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1ea9673e565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1ea40d680f3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1ea40d680f3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1ea40d680f3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g1ea40d680f3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1ea9673e565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1ea9673e565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1ea40d680f3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1ea40d680f3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1ea40d680f3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g1ea40d680f3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1eb1f69b1d8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1eb1f69b1d8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1eb1f69b1d8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1eb1f69b1d8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1ea40d680f3_0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1ea40d680f3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1eb1f69b1d8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Google Shape;374;g1eb1f69b1d8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1ea40d680f3_0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1" name="Google Shape;381;g1ea40d680f3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1ea40d680f3_0_1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9" name="Google Shape;389;g1ea40d680f3_0_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1ea5b66b807_0_4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" name="Google Shape;397;g1ea5b66b807_0_4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1ea5b66b807_0_4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g1ea5b66b807_0_4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1ea5b66b807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1ea5b66b807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1ea5b66b807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9" name="Google Shape;459;g1ea5b66b807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1ea5b66b807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5" name="Google Shape;465;g1ea5b66b807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1ea5b66b807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1" name="Google Shape;471;g1ea5b66b807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1ea5b66b807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9" name="Google Shape;479;g1ea5b66b807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1ea5b66b807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6" name="Google Shape;486;g1ea5b66b807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1ea5b66b807_0_6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1ea5b66b807_0_6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g1ea5b66b807_0_8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0" name="Google Shape;500;g1ea5b66b807_0_8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1ea5b66b807_0_8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8" name="Google Shape;508;g1ea5b66b807_0_8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g1ea5b66b807_0_8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6" name="Google Shape;516;g1ea5b66b807_0_8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g1ea5b66b807_0_8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4" name="Google Shape;524;g1ea5b66b807_0_8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1ea5b66b807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2" name="Google Shape;532;g1ea5b66b807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g1ea5b66b807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1" name="Google Shape;541;g1ea5b66b807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g1ea5b66b807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g1ea5b66b807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1ea5b66b807_0_10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57" name="Google Shape;557;g1ea5b66b807_0_10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g1ea5b66b807_0_1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80" name="Google Shape;580;g1ea5b66b807_0_1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g1ea5b66b807_0_4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5" name="Google Shape;605;g1ea5b66b807_0_4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g1ea5b66b807_0_28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11" name="Google Shape;611;g1ea5b66b807_0_28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g1ea5b66b807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4" name="Google Shape;624;g1ea5b66b807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g1ea5b66b807_0_2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1" name="Google Shape;631;g1ea5b66b807_0_2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g1ea5b66b807_0_2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7" name="Google Shape;637;g1ea5b66b807_0_2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g1ea5b66b807_0_3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3" name="Google Shape;643;g1ea5b66b807_0_3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g1ea5b66b807_0_2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0" name="Google Shape;650;g1ea5b66b807_0_2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g1ea5b66b807_0_4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6" name="Google Shape;656;g1ea5b66b807_0_4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g1ea5b66b807_0_2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2" name="Google Shape;662;g1ea5b66b807_0_2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g1ea5b66b807_0_2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8" name="Google Shape;668;g1ea5b66b807_0_2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g1ea5b66b807_0_10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75" name="Google Shape;675;g1ea5b66b807_0_10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g1ea5b66b807_0_1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8" name="Google Shape;688;g1ea5b66b807_0_1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g1ea5b66b807_0_1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4" name="Google Shape;694;g1ea5b66b807_0_1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g1ea5b66b807_0_114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00" name="Google Shape;700;g1ea5b66b807_0_11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g1ea5b66b807_0_12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0" name="Google Shape;710;g1ea5b66b807_0_12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g1ea5b66b807_0_1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6" name="Google Shape;716;g1ea5b66b807_0_1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g1ea5b66b807_0_12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2" name="Google Shape;722;g1ea5b66b807_0_12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g1ea5b66b807_0_12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8" name="Google Shape;728;g1ea5b66b807_0_12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g1ea5b66b807_0_127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35" name="Google Shape;735;g1ea5b66b807_0_127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g1ea5b66b807_0_14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0" name="Google Shape;750;g1ea5b66b807_0_14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g1ea5b66b807_0_14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6" name="Google Shape;756;g1ea5b66b807_0_14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g1ea5b66b807_0_14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63" name="Google Shape;763;g1ea5b66b807_0_14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g1ea5b66b807_0_153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77" name="Google Shape;777;g1ea5b66b807_0_15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g1ea5b66b807_0_164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5" name="Google Shape;795;g1ea5b66b807_0_16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g1ea5b66b807_0_165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3" name="Google Shape;803;g1ea5b66b807_0_16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g1ea9673e565_0_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2" name="Google Shape;862;g1ea9673e565_0_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7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g1ea9673e565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9" name="Google Shape;869;g1ea9673e565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4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g1ea9673e565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6" name="Google Shape;876;g1ea9673e565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g1ea5b66b807_0_179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3" name="Google Shape;883;g1ea5b66b807_0_179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8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g1ea9673e565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0" name="Google Shape;890;g1ea9673e565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g1ea5b66b807_0_18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6" name="Google Shape;896;g1ea5b66b807_0_18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0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g1ea5b66b807_0_4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2" name="Google Shape;902;g1ea5b66b807_0_4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6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g1ea9673e565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8" name="Google Shape;908;g1ea9673e565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2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Google Shape;913;g1ea9673e565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4" name="Google Shape;914;g1ea9673e565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g1ea9673e565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0" name="Google Shape;920;g1ea9673e565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5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g1ea9673e565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7" name="Google Shape;927;g1ea9673e565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4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g1ea40d680f3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6" name="Google Shape;936;g1ea40d680f3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822960" y="7313"/>
            <a:ext cx="7543800" cy="588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822960" y="649137"/>
            <a:ext cx="7543800" cy="37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rm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400"/>
              <a:buChar char=" "/>
              <a:defRPr/>
            </a:lvl1pPr>
            <a:lvl2pPr indent="-317500" lvl="1" marL="91440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Char char="◦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◦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◦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◦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◦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◦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◦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400"/>
              <a:buChar char="◦"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822960" y="4844839"/>
            <a:ext cx="1854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2764639" y="4844839"/>
            <a:ext cx="3617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7425344" y="4844839"/>
            <a:ext cx="984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Relationship Id="rId4" Type="http://schemas.openxmlformats.org/officeDocument/2006/relationships/image" Target="../media/image3.png"/><Relationship Id="rId5" Type="http://schemas.openxmlformats.org/officeDocument/2006/relationships/image" Target="../media/image1.jpg"/><Relationship Id="rId6" Type="http://schemas.openxmlformats.org/officeDocument/2006/relationships/image" Target="../media/image19.jpg"/><Relationship Id="rId7" Type="http://schemas.openxmlformats.org/officeDocument/2006/relationships/image" Target="../media/image7.jpg"/><Relationship Id="rId8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1.png"/><Relationship Id="rId4" Type="http://schemas.openxmlformats.org/officeDocument/2006/relationships/image" Target="../media/image2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7.png"/><Relationship Id="rId4" Type="http://schemas.openxmlformats.org/officeDocument/2006/relationships/image" Target="../media/image2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5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5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2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9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8.png"/><Relationship Id="rId4" Type="http://schemas.openxmlformats.org/officeDocument/2006/relationships/image" Target="../media/image16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5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6.png"/><Relationship Id="rId4" Type="http://schemas.openxmlformats.org/officeDocument/2006/relationships/image" Target="../media/image26.png"/><Relationship Id="rId5" Type="http://schemas.openxmlformats.org/officeDocument/2006/relationships/image" Target="../media/image22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7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5.png"/><Relationship Id="rId4" Type="http://schemas.openxmlformats.org/officeDocument/2006/relationships/image" Target="../media/image33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3.png"/><Relationship Id="rId4" Type="http://schemas.openxmlformats.org/officeDocument/2006/relationships/image" Target="../media/image29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8.png"/><Relationship Id="rId4" Type="http://schemas.openxmlformats.org/officeDocument/2006/relationships/image" Target="../media/image37.png"/><Relationship Id="rId5" Type="http://schemas.openxmlformats.org/officeDocument/2006/relationships/image" Target="../media/image31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62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36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30.png"/><Relationship Id="rId4" Type="http://schemas.openxmlformats.org/officeDocument/2006/relationships/image" Target="../media/image51.png"/><Relationship Id="rId5" Type="http://schemas.openxmlformats.org/officeDocument/2006/relationships/image" Target="../media/image32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72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58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35.png"/><Relationship Id="rId4" Type="http://schemas.openxmlformats.org/officeDocument/2006/relationships/image" Target="../media/image41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40.png"/><Relationship Id="rId4" Type="http://schemas.openxmlformats.org/officeDocument/2006/relationships/image" Target="../media/image71.png"/><Relationship Id="rId5" Type="http://schemas.openxmlformats.org/officeDocument/2006/relationships/image" Target="../media/image47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38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53.png"/><Relationship Id="rId4" Type="http://schemas.openxmlformats.org/officeDocument/2006/relationships/image" Target="../media/image79.png"/><Relationship Id="rId5" Type="http://schemas.openxmlformats.org/officeDocument/2006/relationships/image" Target="../media/image54.png"/><Relationship Id="rId6" Type="http://schemas.openxmlformats.org/officeDocument/2006/relationships/image" Target="../media/image90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2.jpg"/><Relationship Id="rId4" Type="http://schemas.openxmlformats.org/officeDocument/2006/relationships/image" Target="../media/image3.png"/><Relationship Id="rId5" Type="http://schemas.openxmlformats.org/officeDocument/2006/relationships/image" Target="../media/image1.jpg"/><Relationship Id="rId6" Type="http://schemas.openxmlformats.org/officeDocument/2006/relationships/image" Target="../media/image19.jpg"/><Relationship Id="rId7" Type="http://schemas.openxmlformats.org/officeDocument/2006/relationships/image" Target="../media/image7.jpg"/><Relationship Id="rId8" Type="http://schemas.openxmlformats.org/officeDocument/2006/relationships/image" Target="../media/image8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2.jpg"/><Relationship Id="rId4" Type="http://schemas.openxmlformats.org/officeDocument/2006/relationships/image" Target="../media/image3.png"/><Relationship Id="rId5" Type="http://schemas.openxmlformats.org/officeDocument/2006/relationships/image" Target="../media/image1.jpg"/><Relationship Id="rId6" Type="http://schemas.openxmlformats.org/officeDocument/2006/relationships/image" Target="../media/image19.jpg"/><Relationship Id="rId7" Type="http://schemas.openxmlformats.org/officeDocument/2006/relationships/image" Target="../media/image7.jpg"/><Relationship Id="rId8" Type="http://schemas.openxmlformats.org/officeDocument/2006/relationships/image" Target="../media/image8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60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59.png"/><Relationship Id="rId4" Type="http://schemas.openxmlformats.org/officeDocument/2006/relationships/image" Target="../media/image65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70.png"/><Relationship Id="rId4" Type="http://schemas.openxmlformats.org/officeDocument/2006/relationships/image" Target="../media/image57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61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78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80.png"/><Relationship Id="rId4" Type="http://schemas.openxmlformats.org/officeDocument/2006/relationships/image" Target="../media/image67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69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74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66.pn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68.png"/><Relationship Id="rId4" Type="http://schemas.openxmlformats.org/officeDocument/2006/relationships/image" Target="../media/image63.pn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87.pn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64.pn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93.pn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73.png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86.png"/><Relationship Id="rId4" Type="http://schemas.openxmlformats.org/officeDocument/2006/relationships/image" Target="../media/image83.png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75.png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77.png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84.jpg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82.png"/><Relationship Id="rId4" Type="http://schemas.openxmlformats.org/officeDocument/2006/relationships/image" Target="../media/image92.png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76.png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85.png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94.png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88.png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81.png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99.png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89.png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0.xml"/><Relationship Id="rId3" Type="http://schemas.openxmlformats.org/officeDocument/2006/relationships/hyperlink" Target="https://ar5iv.org/abs/2109.07445" TargetMode="External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1.xml"/><Relationship Id="rId3" Type="http://schemas.openxmlformats.org/officeDocument/2006/relationships/image" Target="../media/image95.png"/><Relationship Id="rId4" Type="http://schemas.openxmlformats.org/officeDocument/2006/relationships/image" Target="../media/image91.png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2.xml"/><Relationship Id="rId3" Type="http://schemas.openxmlformats.org/officeDocument/2006/relationships/image" Target="../media/image98.png"/><Relationship Id="rId4" Type="http://schemas.openxmlformats.org/officeDocument/2006/relationships/image" Target="../media/image97.png"/><Relationship Id="rId5" Type="http://schemas.openxmlformats.org/officeDocument/2006/relationships/image" Target="../media/image96.png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Pretraining y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Modelos Generativos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Pretraining y transfer learning</a:t>
            </a:r>
            <a:endParaRPr/>
          </a:p>
        </p:txBody>
      </p:sp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311700" y="1152475"/>
            <a:ext cx="4982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El </a:t>
            </a:r>
            <a:r>
              <a:rPr b="1" lang="en"/>
              <a:t>preentrenamiento</a:t>
            </a:r>
            <a:r>
              <a:rPr lang="en"/>
              <a:t> en NLP implica entrenar un modelo en un corpus de texto grande en una </a:t>
            </a:r>
            <a:r>
              <a:rPr b="1" lang="en"/>
              <a:t>tarea general.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Esta fase ayuda al modelo a comprender las estructuras semánticas, sintácticas, a </a:t>
            </a:r>
            <a:r>
              <a:rPr b="1" lang="en"/>
              <a:t>incorporar conocimiento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Los modelos </a:t>
            </a:r>
            <a:r>
              <a:rPr lang="en"/>
              <a:t>pre entrenados</a:t>
            </a:r>
            <a:r>
              <a:rPr lang="en"/>
              <a:t> aprenden una rica </a:t>
            </a:r>
            <a:r>
              <a:rPr b="1" lang="en"/>
              <a:t>representación del lenguaje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Este proceso </a:t>
            </a:r>
            <a:r>
              <a:rPr b="1" lang="en"/>
              <a:t>acelera el entrenamiento para la tarea objetivo</a:t>
            </a:r>
            <a:r>
              <a:rPr lang="en"/>
              <a:t> y reduce la necesidad de datos para fine tuning (hasta 0 en modelos grandes!).</a:t>
            </a:r>
            <a:endParaRPr sz="1200">
              <a:solidFill>
                <a:srgbClr val="374151"/>
              </a:solidFill>
              <a:highlight>
                <a:srgbClr val="F7F7F8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rgbClr val="374151"/>
              </a:solidFill>
              <a:highlight>
                <a:srgbClr val="F7F7F8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7" name="Google Shape;6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93800" y="1152475"/>
            <a:ext cx="3784650" cy="3784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1716" y="2585923"/>
            <a:ext cx="1212880" cy="6706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6"/>
          <p:cNvSpPr/>
          <p:nvPr/>
        </p:nvSpPr>
        <p:spPr>
          <a:xfrm>
            <a:off x="3273751" y="2100094"/>
            <a:ext cx="1292400" cy="8001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5875">
            <a:solidFill>
              <a:srgbClr val="0B49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LLM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Preentrenado</a:t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4" name="Google Shape;74;p16"/>
          <p:cNvCxnSpPr>
            <a:endCxn id="73" idx="1"/>
          </p:cNvCxnSpPr>
          <p:nvPr/>
        </p:nvCxnSpPr>
        <p:spPr>
          <a:xfrm flipH="1" rot="10800000">
            <a:off x="2190751" y="2500144"/>
            <a:ext cx="1083000" cy="13800"/>
          </a:xfrm>
          <a:prstGeom prst="straightConnector1">
            <a:avLst/>
          </a:prstGeom>
          <a:noFill/>
          <a:ln cap="flat" cmpd="sng" w="31750">
            <a:solidFill>
              <a:srgbClr val="00206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5" name="Google Shape;75;p16"/>
          <p:cNvSpPr txBox="1"/>
          <p:nvPr/>
        </p:nvSpPr>
        <p:spPr>
          <a:xfrm>
            <a:off x="528320" y="1441913"/>
            <a:ext cx="14847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Texto general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BERT — Pre-training + Fine-tuning | by Dhaval Taunk | Analytics Vidhya |  Medium" id="76" name="Google Shape;76;p16"/>
          <p:cNvPicPr preferRelativeResize="0"/>
          <p:nvPr/>
        </p:nvPicPr>
        <p:blipFill rotWithShape="1">
          <a:blip r:embed="rId4">
            <a:alphaModFix/>
          </a:blip>
          <a:srcRect b="40544" l="0" r="90046" t="25251"/>
          <a:stretch/>
        </p:blipFill>
        <p:spPr>
          <a:xfrm>
            <a:off x="5921563" y="930716"/>
            <a:ext cx="641417" cy="73982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he Best Higher Education Books Of 2020" id="77" name="Google Shape;77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72199" y="1808871"/>
            <a:ext cx="987016" cy="7050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omputer program - Wikipedia" id="78" name="Google Shape;78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3436" y="2747381"/>
            <a:ext cx="584848" cy="4380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rXiv.org (@arxiv) / X" id="79" name="Google Shape;79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28319" y="2272524"/>
            <a:ext cx="538157" cy="5381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dobe Acrobat Reader: Edit PDF - Aplicaciones en Google Play" id="80" name="Google Shape;80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13436" y="1906708"/>
            <a:ext cx="488281" cy="488279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6"/>
          <p:cNvSpPr txBox="1"/>
          <p:nvPr/>
        </p:nvSpPr>
        <p:spPr>
          <a:xfrm>
            <a:off x="7076605" y="2074639"/>
            <a:ext cx="16527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Texto Especializado</a:t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6"/>
          <p:cNvSpPr/>
          <p:nvPr/>
        </p:nvSpPr>
        <p:spPr>
          <a:xfrm>
            <a:off x="5696138" y="2100094"/>
            <a:ext cx="1212900" cy="8001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5875">
            <a:solidFill>
              <a:srgbClr val="0B49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Modelo Especializado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BERT — Pre-training + Fine-tuning | by Dhaval Taunk | Analytics Vidhya |  Medium" id="83" name="Google Shape;83;p16"/>
          <p:cNvPicPr preferRelativeResize="0"/>
          <p:nvPr/>
        </p:nvPicPr>
        <p:blipFill rotWithShape="1">
          <a:blip r:embed="rId4">
            <a:alphaModFix/>
          </a:blip>
          <a:srcRect b="40544" l="0" r="90046" t="25251"/>
          <a:stretch/>
        </p:blipFill>
        <p:spPr>
          <a:xfrm>
            <a:off x="5941892" y="3561563"/>
            <a:ext cx="641417" cy="73982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4" name="Google Shape;84;p16"/>
          <p:cNvCxnSpPr>
            <a:stCxn id="73" idx="3"/>
            <a:endCxn id="82" idx="1"/>
          </p:cNvCxnSpPr>
          <p:nvPr/>
        </p:nvCxnSpPr>
        <p:spPr>
          <a:xfrm>
            <a:off x="4566151" y="2500144"/>
            <a:ext cx="1130100" cy="0"/>
          </a:xfrm>
          <a:prstGeom prst="straightConnector1">
            <a:avLst/>
          </a:prstGeom>
          <a:noFill/>
          <a:ln cap="flat" cmpd="sng" w="31750">
            <a:solidFill>
              <a:srgbClr val="002060"/>
            </a:solidFill>
            <a:prstDash val="dash"/>
            <a:round/>
            <a:headEnd len="sm" w="sm" type="none"/>
            <a:tailEnd len="med" w="med" type="triangle"/>
          </a:ln>
        </p:spPr>
      </p:cxnSp>
      <p:sp>
        <p:nvSpPr>
          <p:cNvPr id="85" name="Google Shape;85;p16"/>
          <p:cNvSpPr txBox="1"/>
          <p:nvPr/>
        </p:nvSpPr>
        <p:spPr>
          <a:xfrm>
            <a:off x="5754267" y="4298485"/>
            <a:ext cx="17070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Texto en español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6"/>
          <p:cNvSpPr txBox="1"/>
          <p:nvPr/>
        </p:nvSpPr>
        <p:spPr>
          <a:xfrm>
            <a:off x="5754254" y="754304"/>
            <a:ext cx="11487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Texto en Inglés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7" name="Google Shape;87;p16"/>
          <p:cNvCxnSpPr/>
          <p:nvPr/>
        </p:nvCxnSpPr>
        <p:spPr>
          <a:xfrm rot="10800000">
            <a:off x="6563005" y="1281705"/>
            <a:ext cx="513600" cy="1081200"/>
          </a:xfrm>
          <a:prstGeom prst="straightConnector1">
            <a:avLst/>
          </a:prstGeom>
          <a:noFill/>
          <a:ln cap="flat" cmpd="sng" w="9525">
            <a:solidFill>
              <a:srgbClr val="00206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8" name="Google Shape;88;p16"/>
          <p:cNvCxnSpPr>
            <a:endCxn id="83" idx="3"/>
          </p:cNvCxnSpPr>
          <p:nvPr/>
        </p:nvCxnSpPr>
        <p:spPr>
          <a:xfrm flipH="1">
            <a:off x="6583309" y="2363077"/>
            <a:ext cx="493500" cy="1568400"/>
          </a:xfrm>
          <a:prstGeom prst="straightConnector1">
            <a:avLst/>
          </a:prstGeom>
          <a:noFill/>
          <a:ln cap="flat" cmpd="sng" w="9525">
            <a:solidFill>
              <a:srgbClr val="00206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9" name="Google Shape;89;p16"/>
          <p:cNvCxnSpPr>
            <a:stCxn id="83" idx="0"/>
            <a:endCxn id="82" idx="2"/>
          </p:cNvCxnSpPr>
          <p:nvPr/>
        </p:nvCxnSpPr>
        <p:spPr>
          <a:xfrm flipH="1" rot="10800000">
            <a:off x="6262601" y="2900063"/>
            <a:ext cx="39900" cy="661500"/>
          </a:xfrm>
          <a:prstGeom prst="straightConnector1">
            <a:avLst/>
          </a:prstGeom>
          <a:noFill/>
          <a:ln cap="flat" cmpd="sng" w="31750">
            <a:solidFill>
              <a:srgbClr val="00206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0" name="Google Shape;90;p16"/>
          <p:cNvCxnSpPr>
            <a:stCxn id="82" idx="0"/>
            <a:endCxn id="76" idx="2"/>
          </p:cNvCxnSpPr>
          <p:nvPr/>
        </p:nvCxnSpPr>
        <p:spPr>
          <a:xfrm rot="10800000">
            <a:off x="6242288" y="1670494"/>
            <a:ext cx="60300" cy="429600"/>
          </a:xfrm>
          <a:prstGeom prst="straightConnector1">
            <a:avLst/>
          </a:prstGeom>
          <a:noFill/>
          <a:ln cap="flat" cmpd="sng" w="31750">
            <a:solidFill>
              <a:srgbClr val="002060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7"/>
          <p:cNvSpPr txBox="1"/>
          <p:nvPr>
            <p:ph type="title"/>
          </p:nvPr>
        </p:nvSpPr>
        <p:spPr>
          <a:xfrm>
            <a:off x="311700" y="1477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Primero preentrenabamos solo embeddings</a:t>
            </a:r>
            <a:endParaRPr/>
          </a:p>
        </p:txBody>
      </p:sp>
      <p:sp>
        <p:nvSpPr>
          <p:cNvPr id="96" name="Google Shape;96;p17"/>
          <p:cNvSpPr/>
          <p:nvPr/>
        </p:nvSpPr>
        <p:spPr>
          <a:xfrm>
            <a:off x="138691" y="1892151"/>
            <a:ext cx="1147800" cy="3159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 cap="flat" cmpd="sng" w="15875">
            <a:solidFill>
              <a:srgbClr val="147E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7"/>
          <p:cNvSpPr/>
          <p:nvPr/>
        </p:nvSpPr>
        <p:spPr>
          <a:xfrm>
            <a:off x="138691" y="2387291"/>
            <a:ext cx="1147800" cy="3159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 cap="flat" cmpd="sng" w="15875">
            <a:solidFill>
              <a:srgbClr val="147E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7"/>
          <p:cNvSpPr/>
          <p:nvPr/>
        </p:nvSpPr>
        <p:spPr>
          <a:xfrm>
            <a:off x="173015" y="2882430"/>
            <a:ext cx="1147800" cy="3159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 cap="flat" cmpd="sng" w="15875">
            <a:solidFill>
              <a:srgbClr val="147E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7"/>
          <p:cNvSpPr/>
          <p:nvPr/>
        </p:nvSpPr>
        <p:spPr>
          <a:xfrm>
            <a:off x="173015" y="3377570"/>
            <a:ext cx="1147800" cy="3159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 cap="flat" cmpd="sng" w="15875">
            <a:solidFill>
              <a:srgbClr val="147E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7"/>
          <p:cNvSpPr/>
          <p:nvPr/>
        </p:nvSpPr>
        <p:spPr>
          <a:xfrm>
            <a:off x="173014" y="3872710"/>
            <a:ext cx="1147800" cy="3159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 cap="flat" cmpd="sng" w="15875">
            <a:solidFill>
              <a:srgbClr val="147E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7"/>
          <p:cNvSpPr/>
          <p:nvPr/>
        </p:nvSpPr>
        <p:spPr>
          <a:xfrm>
            <a:off x="138691" y="4371441"/>
            <a:ext cx="1147800" cy="315900"/>
          </a:xfrm>
          <a:prstGeom prst="roundRect">
            <a:avLst>
              <a:gd fmla="val 16667" name="adj"/>
            </a:avLst>
          </a:prstGeom>
          <a:solidFill>
            <a:srgbClr val="1CADE4"/>
          </a:solidFill>
          <a:ln cap="flat" cmpd="sng" w="15875">
            <a:solidFill>
              <a:srgbClr val="147E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7"/>
          <p:cNvSpPr/>
          <p:nvPr/>
        </p:nvSpPr>
        <p:spPr>
          <a:xfrm>
            <a:off x="1606964" y="3872710"/>
            <a:ext cx="1147800" cy="3159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 cap="flat" cmpd="sng" w="15875">
            <a:solidFill>
              <a:srgbClr val="147E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7"/>
          <p:cNvSpPr/>
          <p:nvPr/>
        </p:nvSpPr>
        <p:spPr>
          <a:xfrm>
            <a:off x="1572642" y="4371441"/>
            <a:ext cx="1147800" cy="315900"/>
          </a:xfrm>
          <a:prstGeom prst="roundRect">
            <a:avLst>
              <a:gd fmla="val 16667" name="adj"/>
            </a:avLst>
          </a:prstGeom>
          <a:solidFill>
            <a:srgbClr val="1CADE4"/>
          </a:solidFill>
          <a:ln cap="flat" cmpd="sng" w="15875">
            <a:solidFill>
              <a:srgbClr val="147E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7"/>
          <p:cNvSpPr/>
          <p:nvPr/>
        </p:nvSpPr>
        <p:spPr>
          <a:xfrm>
            <a:off x="3040916" y="3377570"/>
            <a:ext cx="1147800" cy="3159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 cap="flat" cmpd="sng" w="15875">
            <a:solidFill>
              <a:srgbClr val="147E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7"/>
          <p:cNvSpPr/>
          <p:nvPr/>
        </p:nvSpPr>
        <p:spPr>
          <a:xfrm>
            <a:off x="3040915" y="3872710"/>
            <a:ext cx="1147800" cy="3159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 cap="flat" cmpd="sng" w="15875">
            <a:solidFill>
              <a:srgbClr val="147E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7"/>
          <p:cNvSpPr/>
          <p:nvPr/>
        </p:nvSpPr>
        <p:spPr>
          <a:xfrm>
            <a:off x="3006592" y="4371441"/>
            <a:ext cx="1147800" cy="315900"/>
          </a:xfrm>
          <a:prstGeom prst="roundRect">
            <a:avLst>
              <a:gd fmla="val 16667" name="adj"/>
            </a:avLst>
          </a:prstGeom>
          <a:solidFill>
            <a:srgbClr val="1CADE4"/>
          </a:solidFill>
          <a:ln cap="flat" cmpd="sng" w="15875">
            <a:solidFill>
              <a:srgbClr val="147E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7"/>
          <p:cNvSpPr/>
          <p:nvPr/>
        </p:nvSpPr>
        <p:spPr>
          <a:xfrm>
            <a:off x="4474865" y="3872710"/>
            <a:ext cx="1147800" cy="3159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 cap="flat" cmpd="sng" w="15875">
            <a:solidFill>
              <a:srgbClr val="147E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7"/>
          <p:cNvSpPr/>
          <p:nvPr/>
        </p:nvSpPr>
        <p:spPr>
          <a:xfrm>
            <a:off x="4440543" y="4371441"/>
            <a:ext cx="1147800" cy="315900"/>
          </a:xfrm>
          <a:prstGeom prst="roundRect">
            <a:avLst>
              <a:gd fmla="val 16667" name="adj"/>
            </a:avLst>
          </a:prstGeom>
          <a:solidFill>
            <a:srgbClr val="1CADE4"/>
          </a:solidFill>
          <a:ln cap="flat" cmpd="sng" w="15875">
            <a:solidFill>
              <a:srgbClr val="147E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7"/>
          <p:cNvSpPr/>
          <p:nvPr/>
        </p:nvSpPr>
        <p:spPr>
          <a:xfrm>
            <a:off x="5908816" y="2882430"/>
            <a:ext cx="1147800" cy="3159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 cap="flat" cmpd="sng" w="15875">
            <a:solidFill>
              <a:srgbClr val="147E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7"/>
          <p:cNvSpPr/>
          <p:nvPr/>
        </p:nvSpPr>
        <p:spPr>
          <a:xfrm>
            <a:off x="5908816" y="3377570"/>
            <a:ext cx="1147800" cy="3159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 cap="flat" cmpd="sng" w="15875">
            <a:solidFill>
              <a:srgbClr val="147E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7"/>
          <p:cNvSpPr/>
          <p:nvPr/>
        </p:nvSpPr>
        <p:spPr>
          <a:xfrm>
            <a:off x="5908816" y="3872710"/>
            <a:ext cx="1147800" cy="3159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 cap="flat" cmpd="sng" w="15875">
            <a:solidFill>
              <a:srgbClr val="147E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7"/>
          <p:cNvSpPr/>
          <p:nvPr/>
        </p:nvSpPr>
        <p:spPr>
          <a:xfrm>
            <a:off x="5874493" y="4371441"/>
            <a:ext cx="1147800" cy="315900"/>
          </a:xfrm>
          <a:prstGeom prst="roundRect">
            <a:avLst>
              <a:gd fmla="val 16667" name="adj"/>
            </a:avLst>
          </a:prstGeom>
          <a:solidFill>
            <a:srgbClr val="1CADE4"/>
          </a:solidFill>
          <a:ln cap="flat" cmpd="sng" w="15875">
            <a:solidFill>
              <a:srgbClr val="147E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7"/>
          <p:cNvSpPr/>
          <p:nvPr/>
        </p:nvSpPr>
        <p:spPr>
          <a:xfrm>
            <a:off x="1572642" y="2882430"/>
            <a:ext cx="1147800" cy="3159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 cap="flat" cmpd="sng" w="15875">
            <a:solidFill>
              <a:srgbClr val="147E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7"/>
          <p:cNvSpPr/>
          <p:nvPr/>
        </p:nvSpPr>
        <p:spPr>
          <a:xfrm>
            <a:off x="1572642" y="3373979"/>
            <a:ext cx="1147800" cy="3159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 cap="flat" cmpd="sng" w="15875">
            <a:solidFill>
              <a:srgbClr val="147E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7"/>
          <p:cNvSpPr/>
          <p:nvPr/>
        </p:nvSpPr>
        <p:spPr>
          <a:xfrm>
            <a:off x="1574297" y="2382828"/>
            <a:ext cx="1147800" cy="3159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 cap="flat" cmpd="sng" w="15875">
            <a:solidFill>
              <a:srgbClr val="147E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7"/>
          <p:cNvSpPr/>
          <p:nvPr/>
        </p:nvSpPr>
        <p:spPr>
          <a:xfrm>
            <a:off x="1545341" y="1891275"/>
            <a:ext cx="1147800" cy="3159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 cap="flat" cmpd="sng" w="15875">
            <a:solidFill>
              <a:srgbClr val="147E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7"/>
          <p:cNvSpPr/>
          <p:nvPr/>
        </p:nvSpPr>
        <p:spPr>
          <a:xfrm>
            <a:off x="3033814" y="2870314"/>
            <a:ext cx="1147800" cy="3159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 cap="flat" cmpd="sng" w="15875">
            <a:solidFill>
              <a:srgbClr val="147E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7"/>
          <p:cNvSpPr/>
          <p:nvPr/>
        </p:nvSpPr>
        <p:spPr>
          <a:xfrm>
            <a:off x="3035872" y="2388563"/>
            <a:ext cx="1147800" cy="3159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 cap="flat" cmpd="sng" w="15875">
            <a:solidFill>
              <a:srgbClr val="147E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7"/>
          <p:cNvSpPr/>
          <p:nvPr/>
        </p:nvSpPr>
        <p:spPr>
          <a:xfrm>
            <a:off x="3006592" y="1889832"/>
            <a:ext cx="1147800" cy="3159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 cap="flat" cmpd="sng" w="15875">
            <a:solidFill>
              <a:srgbClr val="147E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7"/>
          <p:cNvSpPr/>
          <p:nvPr/>
        </p:nvSpPr>
        <p:spPr>
          <a:xfrm>
            <a:off x="4532700" y="2877488"/>
            <a:ext cx="1147800" cy="3159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 cap="flat" cmpd="sng" w="15875">
            <a:solidFill>
              <a:srgbClr val="147E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7"/>
          <p:cNvSpPr/>
          <p:nvPr/>
        </p:nvSpPr>
        <p:spPr>
          <a:xfrm>
            <a:off x="4532700" y="3369908"/>
            <a:ext cx="1147800" cy="3159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 cap="flat" cmpd="sng" w="15875">
            <a:solidFill>
              <a:srgbClr val="147E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7"/>
          <p:cNvSpPr/>
          <p:nvPr/>
        </p:nvSpPr>
        <p:spPr>
          <a:xfrm>
            <a:off x="4534355" y="2378758"/>
            <a:ext cx="1147800" cy="3159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 cap="flat" cmpd="sng" w="15875">
            <a:solidFill>
              <a:srgbClr val="147E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7"/>
          <p:cNvSpPr/>
          <p:nvPr/>
        </p:nvSpPr>
        <p:spPr>
          <a:xfrm>
            <a:off x="4505399" y="1887204"/>
            <a:ext cx="1147800" cy="3159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 cap="flat" cmpd="sng" w="15875">
            <a:solidFill>
              <a:srgbClr val="147E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7"/>
          <p:cNvSpPr/>
          <p:nvPr/>
        </p:nvSpPr>
        <p:spPr>
          <a:xfrm>
            <a:off x="5938798" y="2378758"/>
            <a:ext cx="1147800" cy="3159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 cap="flat" cmpd="sng" w="15875">
            <a:solidFill>
              <a:srgbClr val="147E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7"/>
          <p:cNvSpPr/>
          <p:nvPr/>
        </p:nvSpPr>
        <p:spPr>
          <a:xfrm>
            <a:off x="5909842" y="1887204"/>
            <a:ext cx="1147800" cy="3159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 cap="flat" cmpd="sng" w="15875">
            <a:solidFill>
              <a:srgbClr val="147E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7"/>
          <p:cNvSpPr txBox="1"/>
          <p:nvPr/>
        </p:nvSpPr>
        <p:spPr>
          <a:xfrm>
            <a:off x="449507" y="4706475"/>
            <a:ext cx="526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El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7"/>
          <p:cNvSpPr txBox="1"/>
          <p:nvPr/>
        </p:nvSpPr>
        <p:spPr>
          <a:xfrm>
            <a:off x="1703200" y="4706475"/>
            <a:ext cx="1051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hotel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7"/>
          <p:cNvSpPr txBox="1"/>
          <p:nvPr/>
        </p:nvSpPr>
        <p:spPr>
          <a:xfrm>
            <a:off x="3384951" y="4706475"/>
            <a:ext cx="707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7"/>
          <p:cNvSpPr txBox="1"/>
          <p:nvPr/>
        </p:nvSpPr>
        <p:spPr>
          <a:xfrm>
            <a:off x="4440550" y="4706475"/>
            <a:ext cx="1241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buenisimo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7"/>
          <p:cNvSpPr txBox="1"/>
          <p:nvPr/>
        </p:nvSpPr>
        <p:spPr>
          <a:xfrm>
            <a:off x="6237687" y="4706475"/>
            <a:ext cx="265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17"/>
          <p:cNvSpPr/>
          <p:nvPr/>
        </p:nvSpPr>
        <p:spPr>
          <a:xfrm>
            <a:off x="3006592" y="1295832"/>
            <a:ext cx="1147800" cy="3159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 cap="flat" cmpd="sng" w="15875">
            <a:solidFill>
              <a:srgbClr val="147E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7"/>
          <p:cNvSpPr/>
          <p:nvPr/>
        </p:nvSpPr>
        <p:spPr>
          <a:xfrm>
            <a:off x="7307900" y="1167325"/>
            <a:ext cx="170400" cy="30213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7"/>
          <p:cNvSpPr/>
          <p:nvPr/>
        </p:nvSpPr>
        <p:spPr>
          <a:xfrm>
            <a:off x="7307900" y="4195050"/>
            <a:ext cx="97200" cy="5727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7"/>
          <p:cNvSpPr txBox="1"/>
          <p:nvPr>
            <p:ph type="title"/>
          </p:nvPr>
        </p:nvSpPr>
        <p:spPr>
          <a:xfrm>
            <a:off x="7494400" y="2391625"/>
            <a:ext cx="1338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520"/>
              <a:t>Inicialización</a:t>
            </a:r>
            <a:endParaRPr sz="152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520"/>
              <a:t>random</a:t>
            </a:r>
            <a:endParaRPr sz="1520"/>
          </a:p>
        </p:txBody>
      </p:sp>
      <p:sp>
        <p:nvSpPr>
          <p:cNvPr id="135" name="Google Shape;135;p17"/>
          <p:cNvSpPr txBox="1"/>
          <p:nvPr>
            <p:ph type="title"/>
          </p:nvPr>
        </p:nvSpPr>
        <p:spPr>
          <a:xfrm>
            <a:off x="7494400" y="4344750"/>
            <a:ext cx="15459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520"/>
              <a:t>Preentrenados</a:t>
            </a:r>
            <a:endParaRPr sz="152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8"/>
          <p:cNvSpPr txBox="1"/>
          <p:nvPr>
            <p:ph type="title"/>
          </p:nvPr>
        </p:nvSpPr>
        <p:spPr>
          <a:xfrm>
            <a:off x="311700" y="1477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Luego empezamos a </a:t>
            </a:r>
            <a:r>
              <a:rPr lang="en"/>
              <a:t>preentrenar todo el modelo</a:t>
            </a:r>
            <a:endParaRPr/>
          </a:p>
        </p:txBody>
      </p:sp>
      <p:sp>
        <p:nvSpPr>
          <p:cNvPr id="141" name="Google Shape;141;p18"/>
          <p:cNvSpPr/>
          <p:nvPr/>
        </p:nvSpPr>
        <p:spPr>
          <a:xfrm>
            <a:off x="138691" y="1892151"/>
            <a:ext cx="1147800" cy="315900"/>
          </a:xfrm>
          <a:prstGeom prst="roundRect">
            <a:avLst>
              <a:gd fmla="val 16667" name="adj"/>
            </a:avLst>
          </a:prstGeom>
          <a:solidFill>
            <a:srgbClr val="1CADE4"/>
          </a:solidFill>
          <a:ln cap="flat" cmpd="sng" w="15875">
            <a:solidFill>
              <a:srgbClr val="147E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8"/>
          <p:cNvSpPr/>
          <p:nvPr/>
        </p:nvSpPr>
        <p:spPr>
          <a:xfrm>
            <a:off x="138691" y="2387291"/>
            <a:ext cx="1147800" cy="315900"/>
          </a:xfrm>
          <a:prstGeom prst="roundRect">
            <a:avLst>
              <a:gd fmla="val 16667" name="adj"/>
            </a:avLst>
          </a:prstGeom>
          <a:solidFill>
            <a:srgbClr val="1CADE4"/>
          </a:solidFill>
          <a:ln cap="flat" cmpd="sng" w="15875">
            <a:solidFill>
              <a:srgbClr val="147E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8"/>
          <p:cNvSpPr/>
          <p:nvPr/>
        </p:nvSpPr>
        <p:spPr>
          <a:xfrm>
            <a:off x="173015" y="2882430"/>
            <a:ext cx="1147800" cy="315900"/>
          </a:xfrm>
          <a:prstGeom prst="roundRect">
            <a:avLst>
              <a:gd fmla="val 16667" name="adj"/>
            </a:avLst>
          </a:prstGeom>
          <a:solidFill>
            <a:srgbClr val="1CADE4"/>
          </a:solidFill>
          <a:ln cap="flat" cmpd="sng" w="15875">
            <a:solidFill>
              <a:srgbClr val="147E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8"/>
          <p:cNvSpPr/>
          <p:nvPr/>
        </p:nvSpPr>
        <p:spPr>
          <a:xfrm>
            <a:off x="173015" y="3377570"/>
            <a:ext cx="1147800" cy="315900"/>
          </a:xfrm>
          <a:prstGeom prst="roundRect">
            <a:avLst>
              <a:gd fmla="val 16667" name="adj"/>
            </a:avLst>
          </a:prstGeom>
          <a:solidFill>
            <a:srgbClr val="1CADE4"/>
          </a:solidFill>
          <a:ln cap="flat" cmpd="sng" w="15875">
            <a:solidFill>
              <a:srgbClr val="147E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8"/>
          <p:cNvSpPr/>
          <p:nvPr/>
        </p:nvSpPr>
        <p:spPr>
          <a:xfrm>
            <a:off x="173014" y="3872710"/>
            <a:ext cx="1147800" cy="315900"/>
          </a:xfrm>
          <a:prstGeom prst="roundRect">
            <a:avLst>
              <a:gd fmla="val 16667" name="adj"/>
            </a:avLst>
          </a:prstGeom>
          <a:solidFill>
            <a:srgbClr val="1CADE4"/>
          </a:solidFill>
          <a:ln cap="flat" cmpd="sng" w="15875">
            <a:solidFill>
              <a:srgbClr val="147E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8"/>
          <p:cNvSpPr/>
          <p:nvPr/>
        </p:nvSpPr>
        <p:spPr>
          <a:xfrm>
            <a:off x="138691" y="4371441"/>
            <a:ext cx="1147800" cy="315900"/>
          </a:xfrm>
          <a:prstGeom prst="roundRect">
            <a:avLst>
              <a:gd fmla="val 16667" name="adj"/>
            </a:avLst>
          </a:prstGeom>
          <a:solidFill>
            <a:srgbClr val="1CADE4"/>
          </a:solidFill>
          <a:ln cap="flat" cmpd="sng" w="15875">
            <a:solidFill>
              <a:srgbClr val="147E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8"/>
          <p:cNvSpPr/>
          <p:nvPr/>
        </p:nvSpPr>
        <p:spPr>
          <a:xfrm>
            <a:off x="1606964" y="3872710"/>
            <a:ext cx="1147800" cy="315900"/>
          </a:xfrm>
          <a:prstGeom prst="roundRect">
            <a:avLst>
              <a:gd fmla="val 16667" name="adj"/>
            </a:avLst>
          </a:prstGeom>
          <a:solidFill>
            <a:srgbClr val="1CADE4"/>
          </a:solidFill>
          <a:ln cap="flat" cmpd="sng" w="15875">
            <a:solidFill>
              <a:srgbClr val="147E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8"/>
          <p:cNvSpPr/>
          <p:nvPr/>
        </p:nvSpPr>
        <p:spPr>
          <a:xfrm>
            <a:off x="1572642" y="4371441"/>
            <a:ext cx="1147800" cy="315900"/>
          </a:xfrm>
          <a:prstGeom prst="roundRect">
            <a:avLst>
              <a:gd fmla="val 16667" name="adj"/>
            </a:avLst>
          </a:prstGeom>
          <a:solidFill>
            <a:srgbClr val="1CADE4"/>
          </a:solidFill>
          <a:ln cap="flat" cmpd="sng" w="15875">
            <a:solidFill>
              <a:srgbClr val="147E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8"/>
          <p:cNvSpPr/>
          <p:nvPr/>
        </p:nvSpPr>
        <p:spPr>
          <a:xfrm>
            <a:off x="3040916" y="3377570"/>
            <a:ext cx="1147800" cy="315900"/>
          </a:xfrm>
          <a:prstGeom prst="roundRect">
            <a:avLst>
              <a:gd fmla="val 16667" name="adj"/>
            </a:avLst>
          </a:prstGeom>
          <a:solidFill>
            <a:srgbClr val="1CADE4"/>
          </a:solidFill>
          <a:ln cap="flat" cmpd="sng" w="15875">
            <a:solidFill>
              <a:srgbClr val="147E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8"/>
          <p:cNvSpPr/>
          <p:nvPr/>
        </p:nvSpPr>
        <p:spPr>
          <a:xfrm>
            <a:off x="3040915" y="3872710"/>
            <a:ext cx="1147800" cy="315900"/>
          </a:xfrm>
          <a:prstGeom prst="roundRect">
            <a:avLst>
              <a:gd fmla="val 16667" name="adj"/>
            </a:avLst>
          </a:prstGeom>
          <a:solidFill>
            <a:srgbClr val="1CADE4"/>
          </a:solidFill>
          <a:ln cap="flat" cmpd="sng" w="15875">
            <a:solidFill>
              <a:srgbClr val="147E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8"/>
          <p:cNvSpPr/>
          <p:nvPr/>
        </p:nvSpPr>
        <p:spPr>
          <a:xfrm>
            <a:off x="3006592" y="4371441"/>
            <a:ext cx="1147800" cy="315900"/>
          </a:xfrm>
          <a:prstGeom prst="roundRect">
            <a:avLst>
              <a:gd fmla="val 16667" name="adj"/>
            </a:avLst>
          </a:prstGeom>
          <a:solidFill>
            <a:srgbClr val="1CADE4"/>
          </a:solidFill>
          <a:ln cap="flat" cmpd="sng" w="15875">
            <a:solidFill>
              <a:srgbClr val="147E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8"/>
          <p:cNvSpPr/>
          <p:nvPr/>
        </p:nvSpPr>
        <p:spPr>
          <a:xfrm>
            <a:off x="4474865" y="3872710"/>
            <a:ext cx="1147800" cy="315900"/>
          </a:xfrm>
          <a:prstGeom prst="roundRect">
            <a:avLst>
              <a:gd fmla="val 16667" name="adj"/>
            </a:avLst>
          </a:prstGeom>
          <a:solidFill>
            <a:srgbClr val="1CADE4"/>
          </a:solidFill>
          <a:ln cap="flat" cmpd="sng" w="15875">
            <a:solidFill>
              <a:srgbClr val="147E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8"/>
          <p:cNvSpPr/>
          <p:nvPr/>
        </p:nvSpPr>
        <p:spPr>
          <a:xfrm>
            <a:off x="4440543" y="4371441"/>
            <a:ext cx="1147800" cy="315900"/>
          </a:xfrm>
          <a:prstGeom prst="roundRect">
            <a:avLst>
              <a:gd fmla="val 16667" name="adj"/>
            </a:avLst>
          </a:prstGeom>
          <a:solidFill>
            <a:srgbClr val="1CADE4"/>
          </a:solidFill>
          <a:ln cap="flat" cmpd="sng" w="15875">
            <a:solidFill>
              <a:srgbClr val="147E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8"/>
          <p:cNvSpPr/>
          <p:nvPr/>
        </p:nvSpPr>
        <p:spPr>
          <a:xfrm>
            <a:off x="5908816" y="2882430"/>
            <a:ext cx="1147800" cy="315900"/>
          </a:xfrm>
          <a:prstGeom prst="roundRect">
            <a:avLst>
              <a:gd fmla="val 16667" name="adj"/>
            </a:avLst>
          </a:prstGeom>
          <a:solidFill>
            <a:srgbClr val="1CADE4"/>
          </a:solidFill>
          <a:ln cap="flat" cmpd="sng" w="15875">
            <a:solidFill>
              <a:srgbClr val="147E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8"/>
          <p:cNvSpPr/>
          <p:nvPr/>
        </p:nvSpPr>
        <p:spPr>
          <a:xfrm>
            <a:off x="5908816" y="3377570"/>
            <a:ext cx="1147800" cy="315900"/>
          </a:xfrm>
          <a:prstGeom prst="roundRect">
            <a:avLst>
              <a:gd fmla="val 16667" name="adj"/>
            </a:avLst>
          </a:prstGeom>
          <a:solidFill>
            <a:srgbClr val="1CADE4"/>
          </a:solidFill>
          <a:ln cap="flat" cmpd="sng" w="15875">
            <a:solidFill>
              <a:srgbClr val="147E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8"/>
          <p:cNvSpPr/>
          <p:nvPr/>
        </p:nvSpPr>
        <p:spPr>
          <a:xfrm>
            <a:off x="5908816" y="3872710"/>
            <a:ext cx="1147800" cy="315900"/>
          </a:xfrm>
          <a:prstGeom prst="roundRect">
            <a:avLst>
              <a:gd fmla="val 16667" name="adj"/>
            </a:avLst>
          </a:prstGeom>
          <a:solidFill>
            <a:srgbClr val="1CADE4"/>
          </a:solidFill>
          <a:ln cap="flat" cmpd="sng" w="15875">
            <a:solidFill>
              <a:srgbClr val="147E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8"/>
          <p:cNvSpPr/>
          <p:nvPr/>
        </p:nvSpPr>
        <p:spPr>
          <a:xfrm>
            <a:off x="5874493" y="4371441"/>
            <a:ext cx="1147800" cy="315900"/>
          </a:xfrm>
          <a:prstGeom prst="roundRect">
            <a:avLst>
              <a:gd fmla="val 16667" name="adj"/>
            </a:avLst>
          </a:prstGeom>
          <a:solidFill>
            <a:srgbClr val="1CADE4"/>
          </a:solidFill>
          <a:ln cap="flat" cmpd="sng" w="15875">
            <a:solidFill>
              <a:srgbClr val="147E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8"/>
          <p:cNvSpPr/>
          <p:nvPr/>
        </p:nvSpPr>
        <p:spPr>
          <a:xfrm>
            <a:off x="1572642" y="2882430"/>
            <a:ext cx="1147800" cy="315900"/>
          </a:xfrm>
          <a:prstGeom prst="roundRect">
            <a:avLst>
              <a:gd fmla="val 16667" name="adj"/>
            </a:avLst>
          </a:prstGeom>
          <a:solidFill>
            <a:srgbClr val="1CADE4"/>
          </a:solidFill>
          <a:ln cap="flat" cmpd="sng" w="15875">
            <a:solidFill>
              <a:srgbClr val="147E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8"/>
          <p:cNvSpPr/>
          <p:nvPr/>
        </p:nvSpPr>
        <p:spPr>
          <a:xfrm>
            <a:off x="1572642" y="3373979"/>
            <a:ext cx="1147800" cy="315900"/>
          </a:xfrm>
          <a:prstGeom prst="roundRect">
            <a:avLst>
              <a:gd fmla="val 16667" name="adj"/>
            </a:avLst>
          </a:prstGeom>
          <a:solidFill>
            <a:srgbClr val="1CADE4"/>
          </a:solidFill>
          <a:ln cap="flat" cmpd="sng" w="15875">
            <a:solidFill>
              <a:srgbClr val="147E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8"/>
          <p:cNvSpPr/>
          <p:nvPr/>
        </p:nvSpPr>
        <p:spPr>
          <a:xfrm>
            <a:off x="1574297" y="2382828"/>
            <a:ext cx="1147800" cy="315900"/>
          </a:xfrm>
          <a:prstGeom prst="roundRect">
            <a:avLst>
              <a:gd fmla="val 16667" name="adj"/>
            </a:avLst>
          </a:prstGeom>
          <a:solidFill>
            <a:srgbClr val="1CADE4"/>
          </a:solidFill>
          <a:ln cap="flat" cmpd="sng" w="15875">
            <a:solidFill>
              <a:srgbClr val="147E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8"/>
          <p:cNvSpPr/>
          <p:nvPr/>
        </p:nvSpPr>
        <p:spPr>
          <a:xfrm>
            <a:off x="1545341" y="1891275"/>
            <a:ext cx="1147800" cy="315900"/>
          </a:xfrm>
          <a:prstGeom prst="roundRect">
            <a:avLst>
              <a:gd fmla="val 16667" name="adj"/>
            </a:avLst>
          </a:prstGeom>
          <a:solidFill>
            <a:srgbClr val="1CADE4"/>
          </a:solidFill>
          <a:ln cap="flat" cmpd="sng" w="15875">
            <a:solidFill>
              <a:srgbClr val="147E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8"/>
          <p:cNvSpPr/>
          <p:nvPr/>
        </p:nvSpPr>
        <p:spPr>
          <a:xfrm>
            <a:off x="3033814" y="2870314"/>
            <a:ext cx="1147800" cy="315900"/>
          </a:xfrm>
          <a:prstGeom prst="roundRect">
            <a:avLst>
              <a:gd fmla="val 16667" name="adj"/>
            </a:avLst>
          </a:prstGeom>
          <a:solidFill>
            <a:srgbClr val="1CADE4"/>
          </a:solidFill>
          <a:ln cap="flat" cmpd="sng" w="15875">
            <a:solidFill>
              <a:srgbClr val="147E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8"/>
          <p:cNvSpPr/>
          <p:nvPr/>
        </p:nvSpPr>
        <p:spPr>
          <a:xfrm>
            <a:off x="3035872" y="2388563"/>
            <a:ext cx="1147800" cy="315900"/>
          </a:xfrm>
          <a:prstGeom prst="roundRect">
            <a:avLst>
              <a:gd fmla="val 16667" name="adj"/>
            </a:avLst>
          </a:prstGeom>
          <a:solidFill>
            <a:srgbClr val="1CADE4"/>
          </a:solidFill>
          <a:ln cap="flat" cmpd="sng" w="15875">
            <a:solidFill>
              <a:srgbClr val="147E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8"/>
          <p:cNvSpPr/>
          <p:nvPr/>
        </p:nvSpPr>
        <p:spPr>
          <a:xfrm>
            <a:off x="3006592" y="1889832"/>
            <a:ext cx="1147800" cy="315900"/>
          </a:xfrm>
          <a:prstGeom prst="roundRect">
            <a:avLst>
              <a:gd fmla="val 16667" name="adj"/>
            </a:avLst>
          </a:prstGeom>
          <a:solidFill>
            <a:srgbClr val="1CADE4"/>
          </a:solidFill>
          <a:ln cap="flat" cmpd="sng" w="15875">
            <a:solidFill>
              <a:srgbClr val="147E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8"/>
          <p:cNvSpPr/>
          <p:nvPr/>
        </p:nvSpPr>
        <p:spPr>
          <a:xfrm>
            <a:off x="4532700" y="2877488"/>
            <a:ext cx="1147800" cy="315900"/>
          </a:xfrm>
          <a:prstGeom prst="roundRect">
            <a:avLst>
              <a:gd fmla="val 16667" name="adj"/>
            </a:avLst>
          </a:prstGeom>
          <a:solidFill>
            <a:srgbClr val="1CADE4"/>
          </a:solidFill>
          <a:ln cap="flat" cmpd="sng" w="15875">
            <a:solidFill>
              <a:srgbClr val="147E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8"/>
          <p:cNvSpPr/>
          <p:nvPr/>
        </p:nvSpPr>
        <p:spPr>
          <a:xfrm>
            <a:off x="4532700" y="3369908"/>
            <a:ext cx="1147800" cy="315900"/>
          </a:xfrm>
          <a:prstGeom prst="roundRect">
            <a:avLst>
              <a:gd fmla="val 16667" name="adj"/>
            </a:avLst>
          </a:prstGeom>
          <a:solidFill>
            <a:srgbClr val="1CADE4"/>
          </a:solidFill>
          <a:ln cap="flat" cmpd="sng" w="15875">
            <a:solidFill>
              <a:srgbClr val="147E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8"/>
          <p:cNvSpPr/>
          <p:nvPr/>
        </p:nvSpPr>
        <p:spPr>
          <a:xfrm>
            <a:off x="4534355" y="2378758"/>
            <a:ext cx="1147800" cy="315900"/>
          </a:xfrm>
          <a:prstGeom prst="roundRect">
            <a:avLst>
              <a:gd fmla="val 16667" name="adj"/>
            </a:avLst>
          </a:prstGeom>
          <a:solidFill>
            <a:srgbClr val="1CADE4"/>
          </a:solidFill>
          <a:ln cap="flat" cmpd="sng" w="15875">
            <a:solidFill>
              <a:srgbClr val="147E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8"/>
          <p:cNvSpPr/>
          <p:nvPr/>
        </p:nvSpPr>
        <p:spPr>
          <a:xfrm>
            <a:off x="4505399" y="1887204"/>
            <a:ext cx="1147800" cy="315900"/>
          </a:xfrm>
          <a:prstGeom prst="roundRect">
            <a:avLst>
              <a:gd fmla="val 16667" name="adj"/>
            </a:avLst>
          </a:prstGeom>
          <a:solidFill>
            <a:srgbClr val="1CADE4"/>
          </a:solidFill>
          <a:ln cap="flat" cmpd="sng" w="15875">
            <a:solidFill>
              <a:srgbClr val="147E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8"/>
          <p:cNvSpPr/>
          <p:nvPr/>
        </p:nvSpPr>
        <p:spPr>
          <a:xfrm>
            <a:off x="5938798" y="2378758"/>
            <a:ext cx="1147800" cy="315900"/>
          </a:xfrm>
          <a:prstGeom prst="roundRect">
            <a:avLst>
              <a:gd fmla="val 16667" name="adj"/>
            </a:avLst>
          </a:prstGeom>
          <a:solidFill>
            <a:srgbClr val="1CADE4"/>
          </a:solidFill>
          <a:ln cap="flat" cmpd="sng" w="15875">
            <a:solidFill>
              <a:srgbClr val="147E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8"/>
          <p:cNvSpPr/>
          <p:nvPr/>
        </p:nvSpPr>
        <p:spPr>
          <a:xfrm>
            <a:off x="5909842" y="1887204"/>
            <a:ext cx="1147800" cy="315900"/>
          </a:xfrm>
          <a:prstGeom prst="roundRect">
            <a:avLst>
              <a:gd fmla="val 16667" name="adj"/>
            </a:avLst>
          </a:prstGeom>
          <a:solidFill>
            <a:srgbClr val="1CADE4"/>
          </a:solidFill>
          <a:ln cap="flat" cmpd="sng" w="15875">
            <a:solidFill>
              <a:srgbClr val="147E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8"/>
          <p:cNvSpPr txBox="1"/>
          <p:nvPr/>
        </p:nvSpPr>
        <p:spPr>
          <a:xfrm>
            <a:off x="449507" y="4706475"/>
            <a:ext cx="526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El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8"/>
          <p:cNvSpPr txBox="1"/>
          <p:nvPr/>
        </p:nvSpPr>
        <p:spPr>
          <a:xfrm>
            <a:off x="1703200" y="4706475"/>
            <a:ext cx="1051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hotel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8"/>
          <p:cNvSpPr txBox="1"/>
          <p:nvPr/>
        </p:nvSpPr>
        <p:spPr>
          <a:xfrm>
            <a:off x="3384951" y="4706475"/>
            <a:ext cx="707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18"/>
          <p:cNvSpPr txBox="1"/>
          <p:nvPr/>
        </p:nvSpPr>
        <p:spPr>
          <a:xfrm>
            <a:off x="4440550" y="4706475"/>
            <a:ext cx="1241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buenisimo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18"/>
          <p:cNvSpPr txBox="1"/>
          <p:nvPr/>
        </p:nvSpPr>
        <p:spPr>
          <a:xfrm>
            <a:off x="6237687" y="4706475"/>
            <a:ext cx="265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18"/>
          <p:cNvSpPr/>
          <p:nvPr/>
        </p:nvSpPr>
        <p:spPr>
          <a:xfrm>
            <a:off x="3006592" y="1295832"/>
            <a:ext cx="1147800" cy="3159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 cap="flat" cmpd="sng" w="15875">
            <a:solidFill>
              <a:srgbClr val="147E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8"/>
          <p:cNvSpPr/>
          <p:nvPr/>
        </p:nvSpPr>
        <p:spPr>
          <a:xfrm>
            <a:off x="7304900" y="1167325"/>
            <a:ext cx="97200" cy="6444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8"/>
          <p:cNvSpPr/>
          <p:nvPr/>
        </p:nvSpPr>
        <p:spPr>
          <a:xfrm>
            <a:off x="7307900" y="1892150"/>
            <a:ext cx="97200" cy="28755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8"/>
          <p:cNvSpPr txBox="1"/>
          <p:nvPr>
            <p:ph type="title"/>
          </p:nvPr>
        </p:nvSpPr>
        <p:spPr>
          <a:xfrm>
            <a:off x="7598350" y="1203175"/>
            <a:ext cx="1338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520"/>
              <a:t>Inicialización</a:t>
            </a:r>
            <a:endParaRPr sz="152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520"/>
              <a:t>random</a:t>
            </a:r>
            <a:endParaRPr sz="1520"/>
          </a:p>
        </p:txBody>
      </p:sp>
      <p:sp>
        <p:nvSpPr>
          <p:cNvPr id="180" name="Google Shape;180;p18"/>
          <p:cNvSpPr txBox="1"/>
          <p:nvPr>
            <p:ph type="title"/>
          </p:nvPr>
        </p:nvSpPr>
        <p:spPr>
          <a:xfrm>
            <a:off x="7494400" y="3145250"/>
            <a:ext cx="15459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520"/>
              <a:t>Preentrenados</a:t>
            </a:r>
            <a:endParaRPr sz="152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Algunos Tipos de Preentrenamiento</a:t>
            </a:r>
            <a:endParaRPr/>
          </a:p>
        </p:txBody>
      </p:sp>
      <p:sp>
        <p:nvSpPr>
          <p:cNvPr id="186" name="Google Shape;186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108">
                <a:solidFill>
                  <a:srgbClr val="374151"/>
                </a:solidFill>
              </a:rPr>
              <a:t>Modelo de Lenguaje Enmascarado (MLM):</a:t>
            </a:r>
            <a:endParaRPr sz="5108">
              <a:solidFill>
                <a:srgbClr val="374151"/>
              </a:solidFill>
            </a:endParaRPr>
          </a:p>
          <a:p>
            <a:pPr indent="-309685" lvl="0" marL="457200" rtl="0" algn="l">
              <a:spcBef>
                <a:spcPts val="1500"/>
              </a:spcBef>
              <a:spcAft>
                <a:spcPts val="0"/>
              </a:spcAft>
              <a:buClr>
                <a:srgbClr val="374151"/>
              </a:buClr>
              <a:buSzPct val="100000"/>
              <a:buChar char="●"/>
            </a:pPr>
            <a:r>
              <a:rPr lang="en" sz="5108">
                <a:solidFill>
                  <a:srgbClr val="374151"/>
                </a:solidFill>
              </a:rPr>
              <a:t>Predice palabras enmascaradas en una oración.</a:t>
            </a:r>
            <a:endParaRPr sz="5108">
              <a:solidFill>
                <a:srgbClr val="374151"/>
              </a:solidFill>
            </a:endParaRPr>
          </a:p>
          <a:p>
            <a:pPr indent="-309685" lvl="0" marL="45720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ct val="100000"/>
              <a:buChar char="●"/>
            </a:pPr>
            <a:r>
              <a:rPr lang="en" sz="5108">
                <a:solidFill>
                  <a:srgbClr val="374151"/>
                </a:solidFill>
              </a:rPr>
              <a:t>Ejemplo: BERT</a:t>
            </a:r>
            <a:endParaRPr sz="5108">
              <a:solidFill>
                <a:srgbClr val="374151"/>
              </a:solidFill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lang="en" sz="5108">
                <a:solidFill>
                  <a:srgbClr val="374151"/>
                </a:solidFill>
              </a:rPr>
              <a:t>Predicción de la Siguiente Palabra (NWP):</a:t>
            </a:r>
            <a:endParaRPr sz="5108">
              <a:solidFill>
                <a:srgbClr val="374151"/>
              </a:solidFill>
            </a:endParaRPr>
          </a:p>
          <a:p>
            <a:pPr indent="-309685" lvl="0" marL="457200" rtl="0" algn="l">
              <a:spcBef>
                <a:spcPts val="1500"/>
              </a:spcBef>
              <a:spcAft>
                <a:spcPts val="0"/>
              </a:spcAft>
              <a:buClr>
                <a:srgbClr val="374151"/>
              </a:buClr>
              <a:buSzPct val="100000"/>
              <a:buFont typeface="Arial"/>
              <a:buChar char="●"/>
            </a:pPr>
            <a:r>
              <a:rPr lang="en" sz="5108">
                <a:solidFill>
                  <a:srgbClr val="374151"/>
                </a:solidFill>
              </a:rPr>
              <a:t>Predice la siguiente palabra en una secuencia.</a:t>
            </a:r>
            <a:endParaRPr sz="5108">
              <a:solidFill>
                <a:srgbClr val="374151"/>
              </a:solidFill>
            </a:endParaRPr>
          </a:p>
          <a:p>
            <a:pPr indent="-309685" lvl="0" marL="45720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ct val="100000"/>
              <a:buFont typeface="Arial"/>
              <a:buChar char="●"/>
            </a:pPr>
            <a:r>
              <a:rPr lang="en" sz="5108">
                <a:solidFill>
                  <a:srgbClr val="374151"/>
                </a:solidFill>
              </a:rPr>
              <a:t>Ejemplo: GPT</a:t>
            </a:r>
            <a:endParaRPr sz="5108">
              <a:solidFill>
                <a:srgbClr val="374151"/>
              </a:solidFill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lang="en" sz="5108">
                <a:solidFill>
                  <a:schemeClr val="dk1"/>
                </a:solidFill>
              </a:rPr>
              <a:t>Predicción de la Siguiente Oración (NSP)</a:t>
            </a:r>
            <a:r>
              <a:rPr lang="en" sz="5108">
                <a:solidFill>
                  <a:srgbClr val="374151"/>
                </a:solidFill>
              </a:rPr>
              <a:t>:</a:t>
            </a:r>
            <a:endParaRPr sz="5108">
              <a:solidFill>
                <a:srgbClr val="374151"/>
              </a:solidFill>
            </a:endParaRPr>
          </a:p>
          <a:p>
            <a:pPr indent="-309685" lvl="0" marL="457200" rtl="0" algn="l">
              <a:spcBef>
                <a:spcPts val="1500"/>
              </a:spcBef>
              <a:spcAft>
                <a:spcPts val="0"/>
              </a:spcAft>
              <a:buClr>
                <a:srgbClr val="374151"/>
              </a:buClr>
              <a:buSzPct val="100000"/>
              <a:buFont typeface="Arial"/>
              <a:buChar char="●"/>
            </a:pPr>
            <a:r>
              <a:rPr lang="en" sz="5108">
                <a:solidFill>
                  <a:srgbClr val="374151"/>
                </a:solidFill>
              </a:rPr>
              <a:t>Predice si una oración sigue a otra en un texto.</a:t>
            </a:r>
            <a:endParaRPr sz="5108">
              <a:solidFill>
                <a:srgbClr val="374151"/>
              </a:solidFill>
            </a:endParaRPr>
          </a:p>
          <a:p>
            <a:pPr indent="-309685" lvl="0" marL="45720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ct val="100000"/>
              <a:buFont typeface="Arial"/>
              <a:buChar char="●"/>
            </a:pPr>
            <a:r>
              <a:rPr lang="en" sz="5108">
                <a:solidFill>
                  <a:srgbClr val="374151"/>
                </a:solidFill>
              </a:rPr>
              <a:t>Ejemplo: BERT</a:t>
            </a:r>
            <a:endParaRPr sz="5108">
              <a:solidFill>
                <a:srgbClr val="37415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108">
              <a:solidFill>
                <a:srgbClr val="37415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5108">
                <a:solidFill>
                  <a:schemeClr val="dk1"/>
                </a:solidFill>
              </a:rPr>
              <a:t>Discriminativo:</a:t>
            </a:r>
            <a:endParaRPr sz="5108">
              <a:solidFill>
                <a:schemeClr val="dk1"/>
              </a:solidFill>
            </a:endParaRPr>
          </a:p>
          <a:p>
            <a:pPr indent="-309685" lvl="0" marL="45720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5108">
                <a:solidFill>
                  <a:schemeClr val="dk1"/>
                </a:solidFill>
              </a:rPr>
              <a:t>Aprender de los errores de un MLM</a:t>
            </a:r>
            <a:endParaRPr sz="5108">
              <a:solidFill>
                <a:schemeClr val="dk1"/>
              </a:solidFill>
            </a:endParaRPr>
          </a:p>
          <a:p>
            <a:pPr indent="-30968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5108">
                <a:solidFill>
                  <a:schemeClr val="dk1"/>
                </a:solidFill>
              </a:rPr>
              <a:t>Ejemplo: ELECTRA</a:t>
            </a:r>
            <a:endParaRPr sz="5108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ct val="91667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highlight>
                <a:srgbClr val="F7F7F8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ct val="91667"/>
              <a:buFont typeface="Arial"/>
              <a:buNone/>
            </a:pPr>
            <a:r>
              <a:rPr lang="en" sz="1200">
                <a:solidFill>
                  <a:schemeClr val="dk1"/>
                </a:solidFill>
                <a:highlight>
                  <a:srgbClr val="F7F7F8"/>
                </a:highlight>
                <a:latin typeface="Roboto"/>
                <a:ea typeface="Roboto"/>
                <a:cs typeface="Roboto"/>
                <a:sym typeface="Roboto"/>
              </a:rPr>
              <a:t>…..</a:t>
            </a:r>
            <a:endParaRPr sz="1200">
              <a:solidFill>
                <a:schemeClr val="dk1"/>
              </a:solidFill>
              <a:highlight>
                <a:srgbClr val="F7F7F8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74151"/>
              </a:solidFill>
              <a:highlight>
                <a:srgbClr val="F7F7F8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5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222222"/>
                </a:solidFill>
                <a:highlight>
                  <a:srgbClr val="FFFFFF"/>
                </a:highlight>
              </a:rPr>
              <a:t>"Vivo en Buenos _, Argentina."</a:t>
            </a:r>
            <a:endParaRPr sz="170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700">
              <a:solidFill>
                <a:srgbClr val="222222"/>
              </a:solidFill>
              <a:highlight>
                <a:srgbClr val="FFFFFF"/>
              </a:highlight>
            </a:endParaRPr>
          </a:p>
        </p:txBody>
      </p:sp>
      <p:sp>
        <p:nvSpPr>
          <p:cNvPr id="192" name="Google Shape;192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Qué</a:t>
            </a:r>
            <a:r>
              <a:rPr lang="en"/>
              <a:t> aprenden los modelos durante el pre entrenamiento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rgbClr val="222222"/>
                </a:solidFill>
                <a:highlight>
                  <a:srgbClr val="FFFFFF"/>
                </a:highlight>
              </a:rPr>
              <a:t>El 14 de julio de 1789 los habitantes de París _ la Bastilla</a:t>
            </a:r>
            <a:endParaRPr sz="170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74151"/>
              </a:solidFill>
              <a:highlight>
                <a:srgbClr val="F7F7F8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Qué</a:t>
            </a:r>
            <a:r>
              <a:rPr lang="en"/>
              <a:t> aprenden los modelos durante el pre entrenamiento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700">
                <a:solidFill>
                  <a:srgbClr val="222222"/>
                </a:solidFill>
                <a:highlight>
                  <a:srgbClr val="FFFFFF"/>
                </a:highlight>
              </a:rPr>
              <a:t>Más vale pájaro en mano que cien _.</a:t>
            </a:r>
            <a:endParaRPr/>
          </a:p>
        </p:txBody>
      </p:sp>
      <p:sp>
        <p:nvSpPr>
          <p:cNvPr id="204" name="Google Shape;204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Qué</a:t>
            </a:r>
            <a:r>
              <a:rPr lang="en"/>
              <a:t> aprenden los modelos durante el pre entrenamiento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700">
                <a:solidFill>
                  <a:srgbClr val="222222"/>
                </a:solidFill>
                <a:highlight>
                  <a:srgbClr val="FFFFFF"/>
                </a:highlight>
              </a:rPr>
              <a:t>El agua hierve a _ grados Celcius en condiciones atmosféricas normales</a:t>
            </a:r>
            <a:r>
              <a:rPr lang="en" sz="1200">
                <a:solidFill>
                  <a:srgbClr val="374151"/>
                </a:solidFill>
                <a:highlight>
                  <a:srgbClr val="F7F7F8"/>
                </a:highlight>
                <a:latin typeface="Roboto"/>
                <a:ea typeface="Roboto"/>
                <a:cs typeface="Roboto"/>
                <a:sym typeface="Roboto"/>
              </a:rPr>
              <a:t>.</a:t>
            </a:r>
            <a:endParaRPr/>
          </a:p>
        </p:txBody>
      </p:sp>
      <p:sp>
        <p:nvSpPr>
          <p:cNvPr id="210" name="Google Shape;210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Qué</a:t>
            </a:r>
            <a:r>
              <a:rPr lang="en"/>
              <a:t> aprenden los modelos durante el pre entrenamiento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700">
                <a:solidFill>
                  <a:srgbClr val="222222"/>
                </a:solidFill>
                <a:highlight>
                  <a:srgbClr val="FFFFFF"/>
                </a:highlight>
              </a:rPr>
              <a:t>El _ a la tienda para comprar algunos víveres.</a:t>
            </a:r>
            <a:endParaRPr/>
          </a:p>
        </p:txBody>
      </p:sp>
      <p:sp>
        <p:nvSpPr>
          <p:cNvPr id="216" name="Google Shape;216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Qué</a:t>
            </a:r>
            <a:r>
              <a:rPr lang="en"/>
              <a:t> aprenden los modelos durante el pre entrenamiento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700">
                <a:solidFill>
                  <a:srgbClr val="222222"/>
                </a:solidFill>
                <a:highlight>
                  <a:srgbClr val="FFFFFF"/>
                </a:highlight>
              </a:rPr>
              <a:t>Un león es a una manada, como un lobo es a una _.</a:t>
            </a:r>
            <a:endParaRPr/>
          </a:p>
        </p:txBody>
      </p:sp>
      <p:sp>
        <p:nvSpPr>
          <p:cNvPr id="222" name="Google Shape;222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Qué</a:t>
            </a:r>
            <a:r>
              <a:rPr lang="en"/>
              <a:t> aprenden los modelos durante el pre entrenamiento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700">
                <a:solidFill>
                  <a:srgbClr val="222222"/>
                </a:solidFill>
                <a:highlight>
                  <a:srgbClr val="FFFFFF"/>
                </a:highlight>
              </a:rPr>
              <a:t>4 + _ = 9</a:t>
            </a:r>
            <a:endParaRPr/>
          </a:p>
        </p:txBody>
      </p:sp>
      <p:sp>
        <p:nvSpPr>
          <p:cNvPr id="228" name="Google Shape;228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Qué</a:t>
            </a:r>
            <a:r>
              <a:rPr lang="en"/>
              <a:t> aprenden los modelos durante el pre entrenamiento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700">
                <a:solidFill>
                  <a:srgbClr val="222222"/>
                </a:solidFill>
                <a:highlight>
                  <a:srgbClr val="FFFFFF"/>
                </a:highlight>
              </a:rPr>
              <a:t>Un hexágono tiene _ lados.</a:t>
            </a:r>
            <a:endParaRPr/>
          </a:p>
        </p:txBody>
      </p:sp>
      <p:sp>
        <p:nvSpPr>
          <p:cNvPr id="234" name="Google Shape;234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Qué</a:t>
            </a:r>
            <a:r>
              <a:rPr lang="en"/>
              <a:t> aprenden los modelos durante el pre entrenamiento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700">
                <a:solidFill>
                  <a:srgbClr val="222222"/>
                </a:solidFill>
                <a:highlight>
                  <a:srgbClr val="FFFFFF"/>
                </a:highlight>
              </a:rPr>
              <a:t>‘Ser o no ser’ es una línea famosa de _ </a:t>
            </a:r>
            <a:r>
              <a:rPr lang="en" sz="1200">
                <a:solidFill>
                  <a:srgbClr val="374151"/>
                </a:solidFill>
                <a:highlight>
                  <a:srgbClr val="F7F7F8"/>
                </a:highlight>
                <a:latin typeface="Roboto"/>
                <a:ea typeface="Roboto"/>
                <a:cs typeface="Roboto"/>
                <a:sym typeface="Roboto"/>
              </a:rPr>
              <a:t>.</a:t>
            </a:r>
            <a:endParaRPr/>
          </a:p>
        </p:txBody>
      </p:sp>
      <p:sp>
        <p:nvSpPr>
          <p:cNvPr id="240" name="Google Shape;240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Qué</a:t>
            </a:r>
            <a:r>
              <a:rPr lang="en"/>
              <a:t> aprenden los modelos durante el pre entrenamiento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700">
                <a:solidFill>
                  <a:srgbClr val="222222"/>
                </a:solidFill>
                <a:highlight>
                  <a:srgbClr val="FFFFFF"/>
                </a:highlight>
              </a:rPr>
              <a:t>_ Smith es conocido como el padre de la _ moderna.</a:t>
            </a:r>
            <a:endParaRPr/>
          </a:p>
        </p:txBody>
      </p:sp>
      <p:sp>
        <p:nvSpPr>
          <p:cNvPr id="246" name="Google Shape;246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Qué</a:t>
            </a:r>
            <a:r>
              <a:rPr lang="en"/>
              <a:t> aprenden los modelos durante el pre entrenamiento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222222"/>
                </a:solidFill>
                <a:highlight>
                  <a:srgbClr val="FFFFFF"/>
                </a:highlight>
              </a:rPr>
              <a:t>Un partido de fútbol dura _ minutos</a:t>
            </a:r>
            <a:r>
              <a:rPr lang="en" sz="1700">
                <a:solidFill>
                  <a:srgbClr val="222222"/>
                </a:solidFill>
                <a:highlight>
                  <a:srgbClr val="FFFFFF"/>
                </a:highlight>
              </a:rPr>
              <a:t>.</a:t>
            </a:r>
            <a:endParaRPr sz="170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222222"/>
                </a:solidFill>
                <a:highlight>
                  <a:srgbClr val="FFFFFF"/>
                </a:highlight>
              </a:rPr>
              <a:t>Un partido de rugby dura _ minutos.</a:t>
            </a:r>
            <a:endParaRPr sz="170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rgbClr val="222222"/>
                </a:solidFill>
                <a:highlight>
                  <a:srgbClr val="FFFFFF"/>
                </a:highlight>
              </a:rPr>
              <a:t>A soccer _ lasts 90 minutes.</a:t>
            </a:r>
            <a:endParaRPr sz="1200">
              <a:solidFill>
                <a:srgbClr val="374151"/>
              </a:solidFill>
              <a:highlight>
                <a:srgbClr val="F7F7F8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2" name="Google Shape;252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Qué</a:t>
            </a:r>
            <a:r>
              <a:rPr lang="en"/>
              <a:t> aprenden los modelos durante el pre entrenamiento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700">
                <a:solidFill>
                  <a:srgbClr val="222222"/>
                </a:solidFill>
                <a:highlight>
                  <a:srgbClr val="FFFFFF"/>
                </a:highlight>
              </a:rPr>
              <a:t>El hotel estaba sucio,</a:t>
            </a:r>
            <a:r>
              <a:rPr lang="en" sz="1700">
                <a:solidFill>
                  <a:srgbClr val="222222"/>
                </a:solidFill>
                <a:highlight>
                  <a:srgbClr val="FFFFFF"/>
                </a:highlight>
              </a:rPr>
              <a:t> la experiencia fue _.</a:t>
            </a:r>
            <a:endParaRPr sz="1200">
              <a:solidFill>
                <a:srgbClr val="374151"/>
              </a:solidFill>
              <a:highlight>
                <a:srgbClr val="F7F7F8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8" name="Google Shape;258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Qué</a:t>
            </a:r>
            <a:r>
              <a:rPr lang="en"/>
              <a:t> aprenden los modelos durante el pre entrenamiento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Transfer Learning</a:t>
            </a:r>
            <a:endParaRPr/>
          </a:p>
        </p:txBody>
      </p:sp>
      <p:sp>
        <p:nvSpPr>
          <p:cNvPr id="264" name="Google Shape;264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-313928" lvl="0" marL="45720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ct val="100000"/>
              <a:buFont typeface="Arial"/>
              <a:buChar char="●"/>
            </a:pPr>
            <a:r>
              <a:rPr lang="en" sz="1734">
                <a:solidFill>
                  <a:srgbClr val="374151"/>
                </a:solidFill>
              </a:rPr>
              <a:t>Hay </a:t>
            </a:r>
            <a:r>
              <a:rPr b="1" lang="en" sz="1734">
                <a:solidFill>
                  <a:srgbClr val="374151"/>
                </a:solidFill>
              </a:rPr>
              <a:t>mucho dato textual</a:t>
            </a:r>
            <a:r>
              <a:rPr lang="en" sz="1734">
                <a:solidFill>
                  <a:srgbClr val="374151"/>
                </a:solidFill>
              </a:rPr>
              <a:t> “gratuito”</a:t>
            </a:r>
            <a:endParaRPr sz="1734">
              <a:solidFill>
                <a:srgbClr val="374151"/>
              </a:solidFill>
            </a:endParaRPr>
          </a:p>
          <a:p>
            <a:pPr indent="-313928" lvl="0" marL="45720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ct val="100000"/>
              <a:buFont typeface="Arial"/>
              <a:buChar char="●"/>
            </a:pPr>
            <a:r>
              <a:rPr b="1" lang="en" sz="1734">
                <a:solidFill>
                  <a:srgbClr val="374151"/>
                </a:solidFill>
              </a:rPr>
              <a:t>Eficiencia </a:t>
            </a:r>
            <a:r>
              <a:rPr lang="en" sz="1734">
                <a:solidFill>
                  <a:srgbClr val="374151"/>
                </a:solidFill>
              </a:rPr>
              <a:t>en el Aprendizaje</a:t>
            </a:r>
            <a:endParaRPr sz="1734">
              <a:solidFill>
                <a:srgbClr val="374151"/>
              </a:solidFill>
            </a:endParaRPr>
          </a:p>
          <a:p>
            <a:pPr indent="-313928" lvl="1" marL="91440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ct val="100000"/>
              <a:buFont typeface="Arial"/>
              <a:buChar char="●"/>
            </a:pPr>
            <a:r>
              <a:rPr lang="en" sz="1734">
                <a:solidFill>
                  <a:srgbClr val="374151"/>
                </a:solidFill>
              </a:rPr>
              <a:t>Inicio con red que ya conoce patrones.</a:t>
            </a:r>
            <a:endParaRPr sz="1734">
              <a:solidFill>
                <a:srgbClr val="374151"/>
              </a:solidFill>
            </a:endParaRPr>
          </a:p>
          <a:p>
            <a:pPr indent="-313928" lvl="1" marL="91440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ct val="100000"/>
              <a:buFont typeface="Arial"/>
              <a:buChar char="●"/>
            </a:pPr>
            <a:r>
              <a:rPr lang="en" sz="1734">
                <a:solidFill>
                  <a:srgbClr val="374151"/>
                </a:solidFill>
              </a:rPr>
              <a:t>Menos exploración aleatoria necesaria.</a:t>
            </a:r>
            <a:endParaRPr sz="1734">
              <a:solidFill>
                <a:srgbClr val="374151"/>
              </a:solidFill>
            </a:endParaRPr>
          </a:p>
          <a:p>
            <a:pPr indent="-313928" lvl="0" marL="45720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ct val="100000"/>
              <a:buFont typeface="Arial"/>
              <a:buChar char="●"/>
            </a:pPr>
            <a:r>
              <a:rPr b="1" lang="en" sz="1734">
                <a:solidFill>
                  <a:srgbClr val="374151"/>
                </a:solidFill>
              </a:rPr>
              <a:t>Generalización </a:t>
            </a:r>
            <a:r>
              <a:rPr lang="en" sz="1734">
                <a:solidFill>
                  <a:srgbClr val="374151"/>
                </a:solidFill>
              </a:rPr>
              <a:t>para Tareas Específicas</a:t>
            </a:r>
            <a:endParaRPr sz="1734">
              <a:solidFill>
                <a:srgbClr val="374151"/>
              </a:solidFill>
            </a:endParaRPr>
          </a:p>
          <a:p>
            <a:pPr indent="-313928" lvl="1" marL="91440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ct val="100000"/>
              <a:buFont typeface="Arial"/>
              <a:buChar char="●"/>
            </a:pPr>
            <a:r>
              <a:rPr lang="en" sz="1734">
                <a:solidFill>
                  <a:srgbClr val="374151"/>
                </a:solidFill>
              </a:rPr>
              <a:t>Modelo adapta su conocimiento previo.</a:t>
            </a:r>
            <a:endParaRPr sz="1734">
              <a:solidFill>
                <a:srgbClr val="374151"/>
              </a:solidFill>
            </a:endParaRPr>
          </a:p>
          <a:p>
            <a:pPr indent="-313928" lvl="1" marL="91440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ct val="100000"/>
              <a:buFont typeface="Arial"/>
              <a:buChar char="●"/>
            </a:pPr>
            <a:r>
              <a:rPr b="1" lang="en" sz="1734">
                <a:solidFill>
                  <a:srgbClr val="374151"/>
                </a:solidFill>
              </a:rPr>
              <a:t>Ajustes menores</a:t>
            </a:r>
            <a:r>
              <a:rPr lang="en" sz="1734">
                <a:solidFill>
                  <a:srgbClr val="374151"/>
                </a:solidFill>
              </a:rPr>
              <a:t> para tareas nuevas.</a:t>
            </a:r>
            <a:endParaRPr sz="1734">
              <a:solidFill>
                <a:srgbClr val="374151"/>
              </a:solidFill>
            </a:endParaRPr>
          </a:p>
          <a:p>
            <a:pPr indent="-313928" lvl="1" marL="91440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ct val="100000"/>
              <a:buFont typeface="Arial"/>
              <a:buChar char="●"/>
            </a:pPr>
            <a:r>
              <a:rPr lang="en" sz="1734">
                <a:solidFill>
                  <a:srgbClr val="374151"/>
                </a:solidFill>
              </a:rPr>
              <a:t>Reduce tiempo y datos necesarios.</a:t>
            </a:r>
            <a:endParaRPr sz="1734">
              <a:solidFill>
                <a:srgbClr val="374151"/>
              </a:solidFill>
            </a:endParaRPr>
          </a:p>
          <a:p>
            <a:pPr indent="-313928" lvl="0" marL="45720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ct val="100000"/>
              <a:buFont typeface="Arial"/>
              <a:buChar char="●"/>
            </a:pPr>
            <a:r>
              <a:rPr lang="en" sz="1734">
                <a:solidFill>
                  <a:srgbClr val="374151"/>
                </a:solidFill>
              </a:rPr>
              <a:t>Stochastic Gradient Descent</a:t>
            </a:r>
            <a:endParaRPr sz="1734">
              <a:solidFill>
                <a:srgbClr val="374151"/>
              </a:solidFill>
            </a:endParaRPr>
          </a:p>
          <a:p>
            <a:pPr indent="-313928" lvl="1" marL="91440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ct val="100000"/>
              <a:buFont typeface="Arial"/>
              <a:buChar char="●"/>
            </a:pPr>
            <a:r>
              <a:rPr lang="en" sz="1734">
                <a:solidFill>
                  <a:srgbClr val="374151"/>
                </a:solidFill>
              </a:rPr>
              <a:t>Inicio en un punto avanzado, no aleatorio.</a:t>
            </a:r>
            <a:endParaRPr sz="1734">
              <a:solidFill>
                <a:srgbClr val="374151"/>
              </a:solidFill>
            </a:endParaRPr>
          </a:p>
          <a:p>
            <a:pPr indent="-313928" lvl="1" marL="91440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ct val="100000"/>
              <a:buFont typeface="Arial"/>
              <a:buChar char="●"/>
            </a:pPr>
            <a:r>
              <a:rPr lang="en" sz="1734">
                <a:solidFill>
                  <a:srgbClr val="374151"/>
                </a:solidFill>
              </a:rPr>
              <a:t>La inicialización de parámetros está “cerca” del óptimo de fine tuning</a:t>
            </a:r>
            <a:endParaRPr sz="1734">
              <a:solidFill>
                <a:srgbClr val="374151"/>
              </a:solidFill>
            </a:endParaRPr>
          </a:p>
          <a:p>
            <a:pPr indent="-313928" lvl="1" marL="91440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ct val="100000"/>
              <a:buFont typeface="Arial"/>
              <a:buChar char="●"/>
            </a:pPr>
            <a:r>
              <a:rPr lang="en" sz="1734">
                <a:solidFill>
                  <a:srgbClr val="374151"/>
                </a:solidFill>
              </a:rPr>
              <a:t>Búsqueda de solución óptima en un valle ya explorado.</a:t>
            </a:r>
            <a:endParaRPr sz="1734">
              <a:solidFill>
                <a:srgbClr val="374151"/>
              </a:solidFill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74151"/>
              </a:solidFill>
              <a:highlight>
                <a:srgbClr val="F7F7F8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5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60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lang="en"/>
              <a:t>Modelo de Lenguaje Enmascarado (MLM)</a:t>
            </a:r>
            <a:endParaRPr/>
          </a:p>
        </p:txBody>
      </p:sp>
      <p:sp>
        <p:nvSpPr>
          <p:cNvPr id="270" name="Google Shape;270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321">
                <a:solidFill>
                  <a:srgbClr val="374151"/>
                </a:solidFill>
              </a:rPr>
              <a:t>Son </a:t>
            </a:r>
            <a:r>
              <a:rPr b="1" lang="en" sz="5321">
                <a:solidFill>
                  <a:srgbClr val="374151"/>
                </a:solidFill>
              </a:rPr>
              <a:t>bidireccionales</a:t>
            </a:r>
            <a:r>
              <a:rPr lang="en" sz="5321">
                <a:solidFill>
                  <a:srgbClr val="374151"/>
                </a:solidFill>
              </a:rPr>
              <a:t>, entrenados para predecir palabras ocultas en una oración al enmascarar algunas palabras durante el pre entrenamiento.</a:t>
            </a:r>
            <a:endParaRPr sz="5321">
              <a:solidFill>
                <a:srgbClr val="374151"/>
              </a:solidFill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lang="en" sz="5321">
                <a:solidFill>
                  <a:srgbClr val="374151"/>
                </a:solidFill>
              </a:rPr>
              <a:t>BERT, ROBERTA, DEBERTA, etc.</a:t>
            </a:r>
            <a:endParaRPr sz="5321">
              <a:solidFill>
                <a:srgbClr val="374151"/>
              </a:solidFill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lang="en" sz="5321">
                <a:solidFill>
                  <a:srgbClr val="374151"/>
                </a:solidFill>
              </a:rPr>
              <a:t>Captura </a:t>
            </a:r>
            <a:r>
              <a:rPr b="1" lang="en" sz="5321">
                <a:solidFill>
                  <a:srgbClr val="374151"/>
                </a:solidFill>
              </a:rPr>
              <a:t>contexto bidireccional</a:t>
            </a:r>
            <a:endParaRPr b="1" sz="5321">
              <a:solidFill>
                <a:srgbClr val="374151"/>
              </a:solidFill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lang="en" sz="5321">
                <a:solidFill>
                  <a:srgbClr val="374151"/>
                </a:solidFill>
              </a:rPr>
              <a:t>Puede manejar múltiples tareas sin modificaciones arquitectónicas.</a:t>
            </a:r>
            <a:endParaRPr sz="5321">
              <a:solidFill>
                <a:srgbClr val="374151"/>
              </a:solidFill>
            </a:endParaRPr>
          </a:p>
          <a:p>
            <a:pPr indent="-313078" lvl="0" marL="457200" rtl="0" algn="l">
              <a:spcBef>
                <a:spcPts val="1500"/>
              </a:spcBef>
              <a:spcAft>
                <a:spcPts val="0"/>
              </a:spcAft>
              <a:buClr>
                <a:srgbClr val="374151"/>
              </a:buClr>
              <a:buSzPct val="100000"/>
              <a:buFont typeface="Arial"/>
              <a:buChar char="●"/>
            </a:pPr>
            <a:r>
              <a:rPr lang="en" sz="5321">
                <a:solidFill>
                  <a:srgbClr val="374151"/>
                </a:solidFill>
              </a:rPr>
              <a:t>Aplicaciones:</a:t>
            </a:r>
            <a:endParaRPr sz="5321">
              <a:solidFill>
                <a:srgbClr val="374151"/>
              </a:solidFill>
            </a:endParaRPr>
          </a:p>
          <a:p>
            <a:pPr indent="-313078" lvl="1" marL="91440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ct val="100000"/>
              <a:buFont typeface="Arial"/>
              <a:buChar char="●"/>
            </a:pPr>
            <a:r>
              <a:rPr lang="en" sz="5321">
                <a:solidFill>
                  <a:srgbClr val="374151"/>
                </a:solidFill>
              </a:rPr>
              <a:t>Análisis de Sentimientos, Reconocimiento de Entidades Nombradas, Tareas de clasificación.</a:t>
            </a:r>
            <a:endParaRPr sz="5321">
              <a:solidFill>
                <a:srgbClr val="374151"/>
              </a:solidFill>
            </a:endParaRPr>
          </a:p>
          <a:p>
            <a:pPr indent="-313078" lvl="1" marL="91440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ct val="100000"/>
              <a:buFont typeface="Arial"/>
              <a:buChar char="●"/>
            </a:pPr>
            <a:r>
              <a:rPr lang="en" sz="5321">
                <a:solidFill>
                  <a:srgbClr val="374151"/>
                </a:solidFill>
              </a:rPr>
              <a:t>No se usa para generar texto. </a:t>
            </a:r>
            <a:endParaRPr sz="5321">
              <a:solidFill>
                <a:srgbClr val="374151"/>
              </a:solidFill>
            </a:endParaRPr>
          </a:p>
          <a:p>
            <a:pPr indent="-313078" lvl="0" marL="45720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ct val="100000"/>
              <a:buFont typeface="Arial"/>
              <a:buChar char="●"/>
            </a:pPr>
            <a:r>
              <a:rPr lang="en" sz="5321">
                <a:solidFill>
                  <a:srgbClr val="374151"/>
                </a:solidFill>
              </a:rPr>
              <a:t>Proceso</a:t>
            </a:r>
            <a:r>
              <a:rPr lang="en" sz="5321">
                <a:solidFill>
                  <a:srgbClr val="374151"/>
                </a:solidFill>
              </a:rPr>
              <a:t>:</a:t>
            </a:r>
            <a:endParaRPr sz="5321">
              <a:solidFill>
                <a:srgbClr val="374151"/>
              </a:solidFill>
            </a:endParaRPr>
          </a:p>
          <a:p>
            <a:pPr indent="-313078" lvl="1" marL="91440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ct val="100000"/>
              <a:buFont typeface="Arial"/>
              <a:buChar char="●"/>
            </a:pPr>
            <a:r>
              <a:rPr lang="en" sz="5321">
                <a:solidFill>
                  <a:srgbClr val="374151"/>
                </a:solidFill>
              </a:rPr>
              <a:t>Se </a:t>
            </a:r>
            <a:r>
              <a:rPr b="1" lang="en" sz="5321">
                <a:solidFill>
                  <a:srgbClr val="374151"/>
                </a:solidFill>
              </a:rPr>
              <a:t>enmascaran </a:t>
            </a:r>
            <a:r>
              <a:rPr lang="en" sz="5321">
                <a:solidFill>
                  <a:srgbClr val="374151"/>
                </a:solidFill>
              </a:rPr>
              <a:t>aleatoriamente palabras o grupos de palabras en las oraciones.</a:t>
            </a:r>
            <a:endParaRPr sz="5321">
              <a:solidFill>
                <a:srgbClr val="374151"/>
              </a:solidFill>
            </a:endParaRPr>
          </a:p>
          <a:p>
            <a:pPr indent="-313078" lvl="1" marL="91440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ct val="100000"/>
              <a:buFont typeface="Arial"/>
              <a:buChar char="●"/>
            </a:pPr>
            <a:r>
              <a:rPr lang="en" sz="5321">
                <a:solidFill>
                  <a:srgbClr val="374151"/>
                </a:solidFill>
              </a:rPr>
              <a:t>El modelo intenta </a:t>
            </a:r>
            <a:r>
              <a:rPr b="1" lang="en" sz="5321">
                <a:solidFill>
                  <a:srgbClr val="374151"/>
                </a:solidFill>
              </a:rPr>
              <a:t>predecir las palabras enmascaradas</a:t>
            </a:r>
            <a:r>
              <a:rPr lang="en" sz="5321">
                <a:solidFill>
                  <a:srgbClr val="374151"/>
                </a:solidFill>
              </a:rPr>
              <a:t> basándose en el contexto proporcionado por las palabras no enmascaradas.</a:t>
            </a:r>
            <a:endParaRPr sz="5321">
              <a:solidFill>
                <a:srgbClr val="374151"/>
              </a:solidFill>
            </a:endParaRPr>
          </a:p>
          <a:p>
            <a:pPr indent="-313078" lvl="1" marL="91440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ct val="100000"/>
              <a:buFont typeface="Arial"/>
              <a:buChar char="●"/>
            </a:pPr>
            <a:r>
              <a:rPr lang="en" sz="5321">
                <a:solidFill>
                  <a:srgbClr val="374151"/>
                </a:solidFill>
              </a:rPr>
              <a:t>Solamente computamos la </a:t>
            </a:r>
            <a:r>
              <a:rPr b="1" lang="en" sz="5321">
                <a:solidFill>
                  <a:srgbClr val="374151"/>
                </a:solidFill>
              </a:rPr>
              <a:t>pérdida </a:t>
            </a:r>
            <a:r>
              <a:rPr lang="en" sz="5321">
                <a:solidFill>
                  <a:srgbClr val="374151"/>
                </a:solidFill>
              </a:rPr>
              <a:t>sobre la palabra enmascarada.</a:t>
            </a:r>
            <a:endParaRPr sz="5321">
              <a:solidFill>
                <a:srgbClr val="37415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74151"/>
              </a:solidFill>
              <a:highlight>
                <a:srgbClr val="F7F7F8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74151"/>
              </a:solidFill>
              <a:highlight>
                <a:srgbClr val="F7F7F8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5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60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lang="en"/>
              <a:t>Modelo de Lenguaje Enmascarado (MLM)</a:t>
            </a:r>
            <a:endParaRPr/>
          </a:p>
        </p:txBody>
      </p:sp>
      <p:pic>
        <p:nvPicPr>
          <p:cNvPr id="276" name="Google Shape;276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3175" y="1175925"/>
            <a:ext cx="5718007" cy="3820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5"/>
          <p:cNvSpPr txBox="1"/>
          <p:nvPr>
            <p:ph type="title"/>
          </p:nvPr>
        </p:nvSpPr>
        <p:spPr>
          <a:xfrm>
            <a:off x="146100" y="408375"/>
            <a:ext cx="8997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60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lang="en"/>
              <a:t>BERT detalles preparación de datos para pre entrenamiento</a:t>
            </a:r>
            <a:endParaRPr/>
          </a:p>
        </p:txBody>
      </p:sp>
      <p:sp>
        <p:nvSpPr>
          <p:cNvPr id="282" name="Google Shape;282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32500"/>
          </a:bodyPr>
          <a:lstStyle/>
          <a:p>
            <a:pPr indent="-338421" lvl="0" marL="45720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ct val="100000"/>
              <a:buChar char="●"/>
            </a:pPr>
            <a:r>
              <a:rPr lang="en" sz="5321">
                <a:solidFill>
                  <a:srgbClr val="374151"/>
                </a:solidFill>
              </a:rPr>
              <a:t>Predecir un 15% aleatorio de tokens (sub)palabras.</a:t>
            </a:r>
            <a:endParaRPr sz="5321">
              <a:solidFill>
                <a:srgbClr val="374151"/>
              </a:solidFill>
            </a:endParaRPr>
          </a:p>
          <a:p>
            <a:pPr indent="-338421" lvl="0" marL="45720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ct val="100000"/>
              <a:buChar char="●"/>
            </a:pPr>
            <a:r>
              <a:rPr lang="en" sz="5321">
                <a:solidFill>
                  <a:srgbClr val="374151"/>
                </a:solidFill>
              </a:rPr>
              <a:t>Reemplazar la palabra de entrada con [MASK] el 80% de las veces.</a:t>
            </a:r>
            <a:endParaRPr sz="5321">
              <a:solidFill>
                <a:srgbClr val="374151"/>
              </a:solidFill>
            </a:endParaRPr>
          </a:p>
          <a:p>
            <a:pPr indent="-338421" lvl="0" marL="45720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ct val="100000"/>
              <a:buChar char="●"/>
            </a:pPr>
            <a:r>
              <a:rPr lang="en" sz="5321">
                <a:solidFill>
                  <a:srgbClr val="374151"/>
                </a:solidFill>
              </a:rPr>
              <a:t>Reemplazar la palabra de entrada con un token aleatorio el 10% de las veces.</a:t>
            </a:r>
            <a:endParaRPr sz="5321">
              <a:solidFill>
                <a:srgbClr val="374151"/>
              </a:solidFill>
            </a:endParaRPr>
          </a:p>
          <a:p>
            <a:pPr indent="-338421" lvl="0" marL="45720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ct val="100000"/>
              <a:buChar char="●"/>
            </a:pPr>
            <a:r>
              <a:rPr lang="en" sz="5321">
                <a:solidFill>
                  <a:srgbClr val="374151"/>
                </a:solidFill>
              </a:rPr>
              <a:t>Dejar la palabra de entrada sin cambios el 10% de las veces y predecirla.</a:t>
            </a:r>
            <a:endParaRPr sz="5321">
              <a:solidFill>
                <a:srgbClr val="374151"/>
              </a:solidFill>
            </a:endParaRPr>
          </a:p>
          <a:p>
            <a:pPr indent="-338421" lvl="0" marL="45720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ct val="100000"/>
              <a:buChar char="●"/>
            </a:pPr>
            <a:r>
              <a:rPr lang="en" sz="5321">
                <a:solidFill>
                  <a:srgbClr val="374151"/>
                </a:solidFill>
              </a:rPr>
              <a:t>BooksCorpus (800 millones palabras) </a:t>
            </a:r>
            <a:endParaRPr sz="5321">
              <a:solidFill>
                <a:srgbClr val="374151"/>
              </a:solidFill>
            </a:endParaRPr>
          </a:p>
          <a:p>
            <a:pPr indent="-338421" lvl="0" marL="45720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ct val="100000"/>
              <a:buChar char="●"/>
            </a:pPr>
            <a:r>
              <a:rPr lang="en" sz="5321">
                <a:solidFill>
                  <a:srgbClr val="374151"/>
                </a:solidFill>
              </a:rPr>
              <a:t>English Wikipedia (2,500 millones palabras)</a:t>
            </a:r>
            <a:endParaRPr sz="5321">
              <a:solidFill>
                <a:srgbClr val="374151"/>
              </a:solidFill>
            </a:endParaRPr>
          </a:p>
          <a:p>
            <a:pPr indent="-338421" lvl="0" marL="45720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ct val="100000"/>
              <a:buChar char="●"/>
            </a:pPr>
            <a:r>
              <a:rPr lang="en" sz="5321">
                <a:solidFill>
                  <a:srgbClr val="374151"/>
                </a:solidFill>
              </a:rPr>
              <a:t>Variaciones:</a:t>
            </a:r>
            <a:endParaRPr sz="5321">
              <a:solidFill>
                <a:srgbClr val="374151"/>
              </a:solidFill>
            </a:endParaRPr>
          </a:p>
          <a:p>
            <a:pPr indent="-253365" lvl="1" marL="91440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390"/>
              <a:buFont typeface="Roboto"/>
              <a:buChar char="○"/>
            </a:pPr>
            <a:r>
              <a:rPr lang="en" sz="5321">
                <a:solidFill>
                  <a:srgbClr val="374151"/>
                </a:solidFill>
              </a:rPr>
              <a:t>No predecir la siguiente oración y entrenar más tiempo</a:t>
            </a:r>
            <a:endParaRPr sz="5321">
              <a:solidFill>
                <a:srgbClr val="374151"/>
              </a:solidFill>
            </a:endParaRPr>
          </a:p>
          <a:p>
            <a:pPr indent="-253365" lvl="1" marL="91440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390"/>
              <a:buFont typeface="Roboto"/>
              <a:buChar char="○"/>
            </a:pPr>
            <a:r>
              <a:rPr lang="en" sz="5321">
                <a:solidFill>
                  <a:srgbClr val="374151"/>
                </a:solidFill>
              </a:rPr>
              <a:t>Enmascarar tokens contiguos</a:t>
            </a:r>
            <a:endParaRPr sz="1200">
              <a:solidFill>
                <a:srgbClr val="37415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5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6"/>
          <p:cNvSpPr txBox="1"/>
          <p:nvPr>
            <p:ph type="title"/>
          </p:nvPr>
        </p:nvSpPr>
        <p:spPr>
          <a:xfrm>
            <a:off x="146100" y="408375"/>
            <a:ext cx="8997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60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lang="en"/>
              <a:t>Pretraining ELECTRA</a:t>
            </a:r>
            <a:endParaRPr/>
          </a:p>
        </p:txBody>
      </p:sp>
      <p:pic>
        <p:nvPicPr>
          <p:cNvPr id="288" name="Google Shape;288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5475" y="1176338"/>
            <a:ext cx="7962900" cy="2333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01775" y="3705238"/>
            <a:ext cx="6686550" cy="122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7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ELECTRA</a:t>
            </a:r>
            <a:endParaRPr/>
          </a:p>
        </p:txBody>
      </p:sp>
      <p:sp>
        <p:nvSpPr>
          <p:cNvPr id="295" name="Google Shape;295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96" name="Google Shape;296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3675" y="712926"/>
            <a:ext cx="8056649" cy="2398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09776" y="3065124"/>
            <a:ext cx="5924426" cy="2078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Alternativas a MLMs pretraining</a:t>
            </a:r>
            <a:endParaRPr/>
          </a:p>
        </p:txBody>
      </p:sp>
      <p:pic>
        <p:nvPicPr>
          <p:cNvPr id="303" name="Google Shape;303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0825" y="1206775"/>
            <a:ext cx="7882342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Adapters</a:t>
            </a:r>
            <a:endParaRPr/>
          </a:p>
        </p:txBody>
      </p:sp>
      <p:sp>
        <p:nvSpPr>
          <p:cNvPr id="309" name="Google Shape;309;p39"/>
          <p:cNvSpPr txBox="1"/>
          <p:nvPr>
            <p:ph idx="1" type="body"/>
          </p:nvPr>
        </p:nvSpPr>
        <p:spPr>
          <a:xfrm>
            <a:off x="311700" y="1152475"/>
            <a:ext cx="8520600" cy="379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0000" lnSpcReduction="10000"/>
          </a:bodyPr>
          <a:lstStyle/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ct val="100000"/>
              <a:buFont typeface="Arial"/>
              <a:buChar char="●"/>
            </a:pPr>
            <a:r>
              <a:rPr lang="en" sz="3150">
                <a:solidFill>
                  <a:srgbClr val="374151"/>
                </a:solidFill>
              </a:rPr>
              <a:t>Limitaciones del fine tuning:</a:t>
            </a:r>
            <a:endParaRPr sz="3150">
              <a:solidFill>
                <a:srgbClr val="374151"/>
              </a:solidFill>
            </a:endParaRPr>
          </a:p>
          <a:p>
            <a:pPr indent="-308610" lvl="1" marL="91440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ct val="100000"/>
              <a:buFont typeface="Arial"/>
              <a:buChar char="●"/>
            </a:pPr>
            <a:r>
              <a:rPr b="1" lang="en" sz="3150">
                <a:solidFill>
                  <a:srgbClr val="374151"/>
                </a:solidFill>
              </a:rPr>
              <a:t>Recursos Intensivos</a:t>
            </a:r>
            <a:r>
              <a:rPr lang="en" sz="3150">
                <a:solidFill>
                  <a:srgbClr val="374151"/>
                </a:solidFill>
              </a:rPr>
              <a:t>: Requiere recursos computacionales y memoria significativos.</a:t>
            </a:r>
            <a:endParaRPr sz="3150">
              <a:solidFill>
                <a:srgbClr val="374151"/>
              </a:solidFill>
            </a:endParaRPr>
          </a:p>
          <a:p>
            <a:pPr indent="-308610" lvl="1" marL="91440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ct val="100000"/>
              <a:buFont typeface="Arial"/>
              <a:buChar char="●"/>
            </a:pPr>
            <a:r>
              <a:rPr b="1" lang="en" sz="3150">
                <a:solidFill>
                  <a:srgbClr val="374151"/>
                </a:solidFill>
              </a:rPr>
              <a:t>Riesgo de Overfitting</a:t>
            </a:r>
            <a:r>
              <a:rPr lang="en" sz="3150">
                <a:solidFill>
                  <a:srgbClr val="374151"/>
                </a:solidFill>
              </a:rPr>
              <a:t>: Mayor riesgo de sobreajuste en conjuntos de datos específicos de tareas más pequeñas.</a:t>
            </a:r>
            <a:endParaRPr sz="3150">
              <a:solidFill>
                <a:srgbClr val="374151"/>
              </a:solidFill>
            </a:endParaRPr>
          </a:p>
          <a:p>
            <a:pPr indent="-308610" lvl="1" marL="91440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ct val="100000"/>
              <a:buFont typeface="Arial"/>
              <a:buChar char="●"/>
            </a:pPr>
            <a:r>
              <a:rPr lang="en" sz="3150">
                <a:solidFill>
                  <a:srgbClr val="374151"/>
                </a:solidFill>
              </a:rPr>
              <a:t>Tiempo de Entrenamiento: Puede ser muy largo, especialmente con modelos grandes.</a:t>
            </a:r>
            <a:endParaRPr sz="3150">
              <a:solidFill>
                <a:srgbClr val="374151"/>
              </a:solidFill>
            </a:endParaRPr>
          </a:p>
          <a:p>
            <a:pPr indent="-308610" lvl="1" marL="91440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ct val="100000"/>
              <a:buFont typeface="Arial"/>
              <a:buChar char="●"/>
            </a:pPr>
            <a:r>
              <a:rPr b="1" lang="en" sz="3150">
                <a:solidFill>
                  <a:srgbClr val="374151"/>
                </a:solidFill>
              </a:rPr>
              <a:t>Aprendizaje Multi-tarea</a:t>
            </a:r>
            <a:r>
              <a:rPr lang="en" sz="3150">
                <a:solidFill>
                  <a:srgbClr val="374151"/>
                </a:solidFill>
              </a:rPr>
              <a:t>: Típicamente requiere modelos separados para cada tarea.</a:t>
            </a:r>
            <a:endParaRPr sz="3150">
              <a:solidFill>
                <a:srgbClr val="374151"/>
              </a:solidFill>
            </a:endParaRPr>
          </a:p>
          <a:p>
            <a:pPr indent="0" lvl="0" marL="91440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3150">
              <a:solidFill>
                <a:srgbClr val="374151"/>
              </a:solidFill>
            </a:endParaRPr>
          </a:p>
          <a:p>
            <a:pPr indent="-308610" lvl="0" marL="457200" rtl="0" algn="l">
              <a:spcBef>
                <a:spcPts val="1500"/>
              </a:spcBef>
              <a:spcAft>
                <a:spcPts val="0"/>
              </a:spcAft>
              <a:buClr>
                <a:srgbClr val="374151"/>
              </a:buClr>
              <a:buSzPct val="100000"/>
              <a:buFont typeface="Arial"/>
              <a:buChar char="●"/>
            </a:pPr>
            <a:r>
              <a:rPr lang="en" sz="3150">
                <a:solidFill>
                  <a:srgbClr val="374151"/>
                </a:solidFill>
              </a:rPr>
              <a:t>Adaptadores:</a:t>
            </a:r>
            <a:endParaRPr sz="3150">
              <a:solidFill>
                <a:srgbClr val="374151"/>
              </a:solidFill>
            </a:endParaRPr>
          </a:p>
          <a:p>
            <a:pPr indent="-308610" lvl="1" marL="91440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ct val="100000"/>
              <a:buFont typeface="Arial"/>
              <a:buChar char="●"/>
            </a:pPr>
            <a:r>
              <a:rPr lang="en" sz="3150">
                <a:solidFill>
                  <a:srgbClr val="374151"/>
                </a:solidFill>
              </a:rPr>
              <a:t>Definición: </a:t>
            </a:r>
            <a:r>
              <a:rPr b="1" lang="en" sz="3150">
                <a:solidFill>
                  <a:srgbClr val="374151"/>
                </a:solidFill>
              </a:rPr>
              <a:t>Módulos entrenables pequeños</a:t>
            </a:r>
            <a:r>
              <a:rPr lang="en" sz="3150">
                <a:solidFill>
                  <a:srgbClr val="374151"/>
                </a:solidFill>
              </a:rPr>
              <a:t> insertados dentro de modelos pre-entrenados, permitiendo ajuste fino específico de tarea con menos parámetros.</a:t>
            </a:r>
            <a:endParaRPr sz="3150">
              <a:solidFill>
                <a:srgbClr val="374151"/>
              </a:solidFill>
            </a:endParaRPr>
          </a:p>
          <a:p>
            <a:pPr indent="-308610" lvl="1" marL="91440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ct val="100000"/>
              <a:buFont typeface="Arial"/>
              <a:buChar char="●"/>
            </a:pPr>
            <a:r>
              <a:rPr lang="en" sz="3150">
                <a:solidFill>
                  <a:srgbClr val="374151"/>
                </a:solidFill>
              </a:rPr>
              <a:t>Ventajas:</a:t>
            </a:r>
            <a:endParaRPr sz="3150">
              <a:solidFill>
                <a:srgbClr val="374151"/>
              </a:solidFill>
            </a:endParaRPr>
          </a:p>
          <a:p>
            <a:pPr indent="-308610" lvl="2" marL="137160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ct val="100000"/>
              <a:buFont typeface="Arial"/>
              <a:buChar char="●"/>
            </a:pPr>
            <a:r>
              <a:rPr lang="en" sz="3150">
                <a:solidFill>
                  <a:srgbClr val="374151"/>
                </a:solidFill>
              </a:rPr>
              <a:t>Menos recursos computacionales requeridos.</a:t>
            </a:r>
            <a:endParaRPr sz="3150">
              <a:solidFill>
                <a:srgbClr val="374151"/>
              </a:solidFill>
            </a:endParaRPr>
          </a:p>
          <a:p>
            <a:pPr indent="-308610" lvl="2" marL="137160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ct val="100000"/>
              <a:buFont typeface="Arial"/>
              <a:buChar char="●"/>
            </a:pPr>
            <a:r>
              <a:rPr lang="en" sz="3150">
                <a:solidFill>
                  <a:srgbClr val="374151"/>
                </a:solidFill>
              </a:rPr>
              <a:t>Preserva el conocimiento del modelo pre-entrenado.</a:t>
            </a:r>
            <a:endParaRPr sz="3150">
              <a:solidFill>
                <a:srgbClr val="374151"/>
              </a:solidFill>
            </a:endParaRPr>
          </a:p>
          <a:p>
            <a:pPr indent="-308610" lvl="2" marL="137160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ct val="100000"/>
              <a:buFont typeface="Arial"/>
              <a:buChar char="●"/>
            </a:pPr>
            <a:r>
              <a:rPr lang="en" sz="3150">
                <a:solidFill>
                  <a:srgbClr val="374151"/>
                </a:solidFill>
              </a:rPr>
              <a:t>Permite el aprendizaje multi-tarea con un solo modelo pre-entrenado.</a:t>
            </a:r>
            <a:endParaRPr sz="3150">
              <a:solidFill>
                <a:srgbClr val="374151"/>
              </a:solidFill>
            </a:endParaRPr>
          </a:p>
          <a:p>
            <a:pPr indent="0" lvl="0" marL="0" rtl="0" algn="l">
              <a:spcBef>
                <a:spcPts val="15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Varios tipos de adapters</a:t>
            </a:r>
            <a:endParaRPr/>
          </a:p>
        </p:txBody>
      </p:sp>
      <p:pic>
        <p:nvPicPr>
          <p:cNvPr id="315" name="Google Shape;315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0" y="1658825"/>
            <a:ext cx="6096000" cy="2486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60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lang="en"/>
              <a:t>Adaptación de Low Rank (LoRA)</a:t>
            </a:r>
            <a:endParaRPr/>
          </a:p>
        </p:txBody>
      </p:sp>
      <p:sp>
        <p:nvSpPr>
          <p:cNvPr id="321" name="Google Shape;321;p41"/>
          <p:cNvSpPr txBox="1"/>
          <p:nvPr>
            <p:ph idx="1" type="body"/>
          </p:nvPr>
        </p:nvSpPr>
        <p:spPr>
          <a:xfrm>
            <a:off x="311700" y="1152475"/>
            <a:ext cx="8612400" cy="386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7415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6510" lvl="0" marL="457200" rtl="0" algn="l">
              <a:spcBef>
                <a:spcPts val="1500"/>
              </a:spcBef>
              <a:spcAft>
                <a:spcPts val="0"/>
              </a:spcAft>
              <a:buClr>
                <a:srgbClr val="374151"/>
              </a:buClr>
              <a:buSzPct val="100000"/>
              <a:buFont typeface="Roboto"/>
              <a:buChar char="●"/>
            </a:pPr>
            <a:r>
              <a:rPr lang="en" sz="2517">
                <a:solidFill>
                  <a:srgbClr val="374151"/>
                </a:solidFill>
              </a:rPr>
              <a:t>Diseñado para </a:t>
            </a:r>
            <a:r>
              <a:rPr b="1" lang="en" sz="2517">
                <a:solidFill>
                  <a:srgbClr val="374151"/>
                </a:solidFill>
              </a:rPr>
              <a:t>fine</a:t>
            </a:r>
            <a:r>
              <a:rPr b="1" lang="en" sz="2517">
                <a:solidFill>
                  <a:srgbClr val="374151"/>
                </a:solidFill>
              </a:rPr>
              <a:t> tuning</a:t>
            </a:r>
            <a:r>
              <a:rPr lang="en" sz="2517">
                <a:solidFill>
                  <a:srgbClr val="374151"/>
                </a:solidFill>
              </a:rPr>
              <a:t>  de grandes modelos de lenguaje.</a:t>
            </a:r>
            <a:endParaRPr sz="2517">
              <a:solidFill>
                <a:srgbClr val="374151"/>
              </a:solidFill>
            </a:endParaRPr>
          </a:p>
          <a:p>
            <a:pPr indent="-316510" lvl="0" marL="45720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ct val="100000"/>
              <a:buFont typeface="Roboto"/>
              <a:buChar char="●"/>
            </a:pPr>
            <a:r>
              <a:rPr lang="en" sz="2517">
                <a:solidFill>
                  <a:srgbClr val="374151"/>
                </a:solidFill>
              </a:rPr>
              <a:t>Mantiene </a:t>
            </a:r>
            <a:r>
              <a:rPr b="1" lang="en" sz="2517">
                <a:solidFill>
                  <a:srgbClr val="374151"/>
                </a:solidFill>
              </a:rPr>
              <a:t>intactos los pesos del modelo pre-entrenado</a:t>
            </a:r>
            <a:r>
              <a:rPr lang="en" sz="2517">
                <a:solidFill>
                  <a:srgbClr val="374151"/>
                </a:solidFill>
              </a:rPr>
              <a:t>.</a:t>
            </a:r>
            <a:endParaRPr sz="2517">
              <a:solidFill>
                <a:srgbClr val="374151"/>
              </a:solidFill>
            </a:endParaRPr>
          </a:p>
          <a:p>
            <a:pPr indent="-316510" lvl="0" marL="45720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ct val="100000"/>
              <a:buFont typeface="Roboto"/>
              <a:buChar char="●"/>
            </a:pPr>
            <a:r>
              <a:rPr b="1" lang="en" sz="2517">
                <a:solidFill>
                  <a:srgbClr val="374151"/>
                </a:solidFill>
              </a:rPr>
              <a:t>Introduce matrices via descomposición de rango</a:t>
            </a:r>
            <a:r>
              <a:rPr lang="en" sz="2517">
                <a:solidFill>
                  <a:srgbClr val="374151"/>
                </a:solidFill>
              </a:rPr>
              <a:t> entrenable en cada capa del Transformador.</a:t>
            </a:r>
            <a:endParaRPr sz="2517">
              <a:solidFill>
                <a:srgbClr val="374151"/>
              </a:solidFill>
            </a:endParaRPr>
          </a:p>
          <a:p>
            <a:pPr indent="-316510" lvl="0" marL="45720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ct val="100000"/>
              <a:buFont typeface="Roboto"/>
              <a:buChar char="●"/>
            </a:pPr>
            <a:r>
              <a:rPr b="1" lang="en" sz="2517">
                <a:solidFill>
                  <a:srgbClr val="374151"/>
                </a:solidFill>
              </a:rPr>
              <a:t>Reduce significativamente el número de parámetros entrenables</a:t>
            </a:r>
            <a:r>
              <a:rPr lang="en" sz="2517">
                <a:solidFill>
                  <a:srgbClr val="374151"/>
                </a:solidFill>
              </a:rPr>
              <a:t> para tareas posteriores.</a:t>
            </a:r>
            <a:endParaRPr sz="2517">
              <a:solidFill>
                <a:srgbClr val="374151"/>
              </a:solidFill>
            </a:endParaRPr>
          </a:p>
          <a:p>
            <a:pPr indent="-316510" lvl="0" marL="45720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ct val="100000"/>
              <a:buFont typeface="Arial"/>
              <a:buChar char="●"/>
            </a:pPr>
            <a:r>
              <a:rPr lang="en" sz="2517">
                <a:solidFill>
                  <a:srgbClr val="374151"/>
                </a:solidFill>
              </a:rPr>
              <a:t>Funcionamiento:</a:t>
            </a:r>
            <a:endParaRPr sz="2517">
              <a:solidFill>
                <a:srgbClr val="374151"/>
              </a:solidFill>
            </a:endParaRPr>
          </a:p>
          <a:p>
            <a:pPr indent="-316510" lvl="1" marL="91440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ct val="100000"/>
              <a:buFont typeface="Arial"/>
              <a:buChar char="●"/>
            </a:pPr>
            <a:r>
              <a:rPr lang="en" sz="2517">
                <a:solidFill>
                  <a:srgbClr val="374151"/>
                </a:solidFill>
              </a:rPr>
              <a:t>Utiliza dos matrices más pequeñas para aproximar la matriz de pesos más grande del modelo pre-entrenado.</a:t>
            </a:r>
            <a:endParaRPr sz="2517">
              <a:solidFill>
                <a:srgbClr val="374151"/>
              </a:solidFill>
            </a:endParaRPr>
          </a:p>
          <a:p>
            <a:pPr indent="-316510" lvl="1" marL="91440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ct val="100000"/>
              <a:buFont typeface="Arial"/>
              <a:buChar char="●"/>
            </a:pPr>
            <a:r>
              <a:rPr lang="en" sz="2517">
                <a:solidFill>
                  <a:srgbClr val="374151"/>
                </a:solidFill>
              </a:rPr>
              <a:t>Estas matrices más pequeñas se ajustan finamente en lugar de toda la matriz de pesos, formando el adaptador LoRA.</a:t>
            </a:r>
            <a:endParaRPr sz="2517">
              <a:solidFill>
                <a:srgbClr val="374151"/>
              </a:solidFill>
            </a:endParaRPr>
          </a:p>
          <a:p>
            <a:pPr indent="-316510" lvl="0" marL="45720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ct val="100000"/>
              <a:buFont typeface="Arial"/>
              <a:buChar char="●"/>
            </a:pPr>
            <a:r>
              <a:rPr lang="en" sz="2517">
                <a:solidFill>
                  <a:srgbClr val="374151"/>
                </a:solidFill>
              </a:rPr>
              <a:t>Ventajas:</a:t>
            </a:r>
            <a:endParaRPr sz="2517">
              <a:solidFill>
                <a:srgbClr val="374151"/>
              </a:solidFill>
            </a:endParaRPr>
          </a:p>
          <a:p>
            <a:pPr indent="-316510" lvl="1" marL="91440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ct val="100000"/>
              <a:buFont typeface="Roboto"/>
              <a:buChar char="●"/>
            </a:pPr>
            <a:r>
              <a:rPr b="1" lang="en" sz="2517">
                <a:solidFill>
                  <a:srgbClr val="374151"/>
                </a:solidFill>
              </a:rPr>
              <a:t>Reduce los parámetros entrenables</a:t>
            </a:r>
            <a:r>
              <a:rPr lang="en" sz="2517">
                <a:solidFill>
                  <a:srgbClr val="374151"/>
                </a:solidFill>
              </a:rPr>
              <a:t>, minimizando el riesgo de </a:t>
            </a:r>
            <a:r>
              <a:rPr lang="en" sz="2517">
                <a:solidFill>
                  <a:srgbClr val="374151"/>
                </a:solidFill>
              </a:rPr>
              <a:t>overfitting</a:t>
            </a:r>
            <a:r>
              <a:rPr lang="en" sz="2517">
                <a:solidFill>
                  <a:srgbClr val="374151"/>
                </a:solidFill>
              </a:rPr>
              <a:t> especialmente con conjuntos de datos específicos de tareas más pequeñas.</a:t>
            </a:r>
            <a:endParaRPr sz="2517">
              <a:solidFill>
                <a:srgbClr val="374151"/>
              </a:solidFill>
            </a:endParaRPr>
          </a:p>
          <a:p>
            <a:pPr indent="-316510" lvl="1" marL="91440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ct val="100000"/>
              <a:buFont typeface="Roboto"/>
              <a:buChar char="●"/>
            </a:pPr>
            <a:r>
              <a:rPr lang="en" sz="2517">
                <a:solidFill>
                  <a:srgbClr val="374151"/>
                </a:solidFill>
              </a:rPr>
              <a:t>Reduce </a:t>
            </a:r>
            <a:r>
              <a:rPr b="1" lang="en" sz="2517">
                <a:solidFill>
                  <a:srgbClr val="374151"/>
                </a:solidFill>
              </a:rPr>
              <a:t>tiempos de entrenamiento</a:t>
            </a:r>
            <a:r>
              <a:rPr lang="en" sz="2517">
                <a:solidFill>
                  <a:srgbClr val="374151"/>
                </a:solidFill>
              </a:rPr>
              <a:t>.</a:t>
            </a:r>
            <a:endParaRPr sz="2517">
              <a:solidFill>
                <a:srgbClr val="374151"/>
              </a:solidFill>
            </a:endParaRPr>
          </a:p>
          <a:p>
            <a:pPr indent="-316510" lvl="1" marL="91440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ct val="100000"/>
              <a:buFont typeface="Roboto"/>
              <a:buChar char="●"/>
            </a:pPr>
            <a:r>
              <a:rPr lang="en" sz="2517">
                <a:solidFill>
                  <a:srgbClr val="374151"/>
                </a:solidFill>
              </a:rPr>
              <a:t>Facilita la conmutación eficiente de tareas, ventajoso en escenarios de aprendizaje </a:t>
            </a:r>
            <a:r>
              <a:rPr b="1" lang="en" sz="2517">
                <a:solidFill>
                  <a:srgbClr val="374151"/>
                </a:solidFill>
              </a:rPr>
              <a:t>multi-tarea</a:t>
            </a:r>
            <a:r>
              <a:rPr lang="en" sz="2517">
                <a:solidFill>
                  <a:srgbClr val="374151"/>
                </a:solidFill>
              </a:rPr>
              <a:t>.</a:t>
            </a:r>
            <a:endParaRPr sz="2517">
              <a:solidFill>
                <a:srgbClr val="374151"/>
              </a:solidFill>
            </a:endParaRPr>
          </a:p>
          <a:p>
            <a:pPr indent="0" lvl="0" marL="0" rtl="0" algn="l">
              <a:spcBef>
                <a:spcPts val="15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22" name="Google Shape;322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33188" y="63700"/>
            <a:ext cx="2790825" cy="1638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Proceso de LoRA</a:t>
            </a:r>
            <a:endParaRPr/>
          </a:p>
        </p:txBody>
      </p:sp>
      <p:sp>
        <p:nvSpPr>
          <p:cNvPr id="328" name="Google Shape;328;p4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7500" lnSpcReduction="20000"/>
          </a:bodyPr>
          <a:lstStyle/>
          <a:p>
            <a:pPr indent="-364978" lvl="0" marL="45720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ct val="100000"/>
              <a:buFont typeface="Arial"/>
              <a:buAutoNum type="arabicPeriod"/>
            </a:pPr>
            <a:r>
              <a:rPr lang="en" sz="4521">
                <a:solidFill>
                  <a:srgbClr val="374151"/>
                </a:solidFill>
              </a:rPr>
              <a:t>Congelamiento de Parámetros preentrenados</a:t>
            </a:r>
            <a:endParaRPr sz="4521">
              <a:solidFill>
                <a:srgbClr val="374151"/>
              </a:solidFill>
            </a:endParaRPr>
          </a:p>
          <a:p>
            <a:pPr indent="-364978" lvl="0" marL="45720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ct val="100000"/>
              <a:buFont typeface="Arial"/>
              <a:buAutoNum type="arabicPeriod"/>
            </a:pPr>
            <a:r>
              <a:rPr lang="en" sz="4521">
                <a:solidFill>
                  <a:srgbClr val="374151"/>
                </a:solidFill>
              </a:rPr>
              <a:t>Introducción de Matrices de Bajo Rango:</a:t>
            </a:r>
            <a:endParaRPr sz="4521">
              <a:solidFill>
                <a:srgbClr val="374151"/>
              </a:solidFill>
            </a:endParaRPr>
          </a:p>
          <a:p>
            <a:pPr indent="-364978" lvl="0" marL="45720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ct val="100000"/>
              <a:buFont typeface="Arial"/>
              <a:buAutoNum type="arabicPeriod"/>
            </a:pPr>
            <a:r>
              <a:rPr lang="en" sz="4521">
                <a:solidFill>
                  <a:srgbClr val="374151"/>
                </a:solidFill>
              </a:rPr>
              <a:t>Proces</a:t>
            </a:r>
            <a:r>
              <a:rPr lang="en" sz="4521">
                <a:solidFill>
                  <a:srgbClr val="374151"/>
                </a:solidFill>
              </a:rPr>
              <a:t>o de Ajuste Fino:</a:t>
            </a:r>
            <a:endParaRPr sz="4521">
              <a:solidFill>
                <a:srgbClr val="374151"/>
              </a:solidFill>
            </a:endParaRPr>
          </a:p>
          <a:p>
            <a:pPr indent="-364978" lvl="1" marL="91440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ct val="100000"/>
              <a:buFont typeface="Arial"/>
              <a:buAutoNum type="alphaLcPeriod"/>
            </a:pPr>
            <a:r>
              <a:rPr lang="en" sz="4521">
                <a:solidFill>
                  <a:srgbClr val="374151"/>
                </a:solidFill>
              </a:rPr>
              <a:t>Forward: En cada capa, combinar los pesos originales y los nuevos pesos de las matrices de bajo rango para calcular las salidas de la capa.</a:t>
            </a:r>
            <a:endParaRPr sz="4521">
              <a:solidFill>
                <a:srgbClr val="374151"/>
              </a:solidFill>
            </a:endParaRPr>
          </a:p>
          <a:p>
            <a:pPr indent="-364978" lvl="1" marL="91440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ct val="100000"/>
              <a:buFont typeface="Arial"/>
              <a:buAutoNum type="alphaLcPeriod"/>
            </a:pPr>
            <a:r>
              <a:rPr lang="en" sz="4521">
                <a:solidFill>
                  <a:srgbClr val="374151"/>
                </a:solidFill>
              </a:rPr>
              <a:t>Backward Pass: Calcular los gradientes para los nuevos parámetros en las matrices de bajo rango y actualizarlos</a:t>
            </a:r>
            <a:endParaRPr sz="4521">
              <a:solidFill>
                <a:srgbClr val="374151"/>
              </a:solidFill>
            </a:endParaRPr>
          </a:p>
          <a:p>
            <a:pPr indent="0" lvl="0" marL="45720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74151"/>
              </a:solidFill>
              <a:highlight>
                <a:srgbClr val="F7F7F8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5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Proceso de LoRA</a:t>
            </a:r>
            <a:endParaRPr/>
          </a:p>
        </p:txBody>
      </p:sp>
      <p:pic>
        <p:nvPicPr>
          <p:cNvPr id="334" name="Google Shape;334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99537" y="1182350"/>
            <a:ext cx="3744925" cy="356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44"/>
          <p:cNvSpPr txBox="1"/>
          <p:nvPr>
            <p:ph type="title"/>
          </p:nvPr>
        </p:nvSpPr>
        <p:spPr>
          <a:xfrm>
            <a:off x="311700" y="2260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6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66667"/>
              <a:buFont typeface="Arial"/>
              <a:buNone/>
            </a:pPr>
            <a:r>
              <a:rPr lang="en"/>
              <a:t>Limitaciones de los Encoders en la Generación de Texto</a:t>
            </a:r>
            <a:endParaRPr b="1" sz="1650">
              <a:highlight>
                <a:srgbClr val="F7F7F8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44"/>
          <p:cNvSpPr txBox="1"/>
          <p:nvPr>
            <p:ph idx="1" type="body"/>
          </p:nvPr>
        </p:nvSpPr>
        <p:spPr>
          <a:xfrm>
            <a:off x="311700" y="6965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28600" lvl="0" marL="45720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Arial"/>
              <a:buNone/>
            </a:pPr>
            <a:r>
              <a:rPr lang="en" sz="1200">
                <a:solidFill>
                  <a:srgbClr val="374151"/>
                </a:solidFill>
              </a:rPr>
              <a:t>Naturaleza Bidireccional:</a:t>
            </a:r>
            <a:endParaRPr sz="1200">
              <a:solidFill>
                <a:srgbClr val="374151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Arial"/>
              <a:buChar char="●"/>
            </a:pPr>
            <a:r>
              <a:rPr lang="en" sz="1200">
                <a:solidFill>
                  <a:srgbClr val="374151"/>
                </a:solidFill>
              </a:rPr>
              <a:t>Procesamiento simultáneo de tokens en ambas direcciones.</a:t>
            </a:r>
            <a:endParaRPr sz="1200">
              <a:solidFill>
                <a:srgbClr val="374151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Arial"/>
              <a:buChar char="●"/>
            </a:pPr>
            <a:r>
              <a:rPr lang="en" sz="1200">
                <a:solidFill>
                  <a:srgbClr val="374151"/>
                </a:solidFill>
              </a:rPr>
              <a:t>Falta de capacidad para generar texto de manera secuencial.</a:t>
            </a:r>
            <a:endParaRPr sz="1200">
              <a:solidFill>
                <a:srgbClr val="374151"/>
              </a:solidFill>
            </a:endParaRPr>
          </a:p>
          <a:p>
            <a:pPr indent="-228600" lvl="0" marL="45720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Arial"/>
              <a:buNone/>
            </a:pPr>
            <a:r>
              <a:rPr lang="en" sz="1200">
                <a:solidFill>
                  <a:srgbClr val="374151"/>
                </a:solidFill>
              </a:rPr>
              <a:t>Falta de Naturaleza Autorregresiva:</a:t>
            </a:r>
            <a:endParaRPr sz="1200">
              <a:solidFill>
                <a:srgbClr val="374151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Arial"/>
              <a:buChar char="●"/>
            </a:pPr>
            <a:r>
              <a:rPr lang="en" sz="1200">
                <a:solidFill>
                  <a:srgbClr val="374151"/>
                </a:solidFill>
              </a:rPr>
              <a:t>Generación de texto requiere consideración del contexto previo.</a:t>
            </a:r>
            <a:endParaRPr sz="1200">
              <a:solidFill>
                <a:srgbClr val="374151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Arial"/>
              <a:buChar char="●"/>
            </a:pPr>
            <a:r>
              <a:rPr lang="en" sz="1200">
                <a:solidFill>
                  <a:srgbClr val="374151"/>
                </a:solidFill>
              </a:rPr>
              <a:t>Los decodificadores procesan datos de manera autorregresiva, paso a paso.</a:t>
            </a:r>
            <a:endParaRPr sz="1200">
              <a:solidFill>
                <a:srgbClr val="374151"/>
              </a:solidFill>
            </a:endParaRPr>
          </a:p>
          <a:p>
            <a:pPr indent="0" lvl="0" marL="0" rtl="0" algn="l">
              <a:spcBef>
                <a:spcPts val="15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41" name="Google Shape;341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33550" y="2276050"/>
            <a:ext cx="3222825" cy="2726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45"/>
          <p:cNvSpPr txBox="1"/>
          <p:nvPr>
            <p:ph type="title"/>
          </p:nvPr>
        </p:nvSpPr>
        <p:spPr>
          <a:xfrm>
            <a:off x="311700" y="310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Encoders Decoders</a:t>
            </a:r>
            <a:endParaRPr/>
          </a:p>
        </p:txBody>
      </p:sp>
      <p:sp>
        <p:nvSpPr>
          <p:cNvPr id="347" name="Google Shape;347;p4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El input pasa por un bidirectional encoder y el output es autorregresivo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El input bidireccional “aprovecha mejor” el contexto</a:t>
            </a:r>
            <a:endParaRPr/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Arial"/>
              <a:buChar char="●"/>
            </a:pPr>
            <a:r>
              <a:rPr lang="en" sz="1200">
                <a:solidFill>
                  <a:srgbClr val="374151"/>
                </a:solidFill>
              </a:rPr>
              <a:t>Encoder procesa el texto de entrada</a:t>
            </a:r>
            <a:endParaRPr sz="1200">
              <a:solidFill>
                <a:srgbClr val="37415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Arial"/>
              <a:buChar char="●"/>
            </a:pPr>
            <a:r>
              <a:rPr lang="en" sz="1200">
                <a:solidFill>
                  <a:srgbClr val="374151"/>
                </a:solidFill>
              </a:rPr>
              <a:t>Decoder genera el texto de salida</a:t>
            </a:r>
            <a:endParaRPr sz="1200">
              <a:solidFill>
                <a:srgbClr val="37415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Arial"/>
              <a:buChar char="●"/>
            </a:pPr>
            <a:r>
              <a:rPr lang="en" sz="1200">
                <a:solidFill>
                  <a:srgbClr val="374151"/>
                </a:solidFill>
              </a:rPr>
              <a:t>Uso de la atención para conectar codificador y decodificador</a:t>
            </a:r>
            <a:endParaRPr sz="1200">
              <a:solidFill>
                <a:srgbClr val="37415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48" name="Google Shape;348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66355" y="1576650"/>
            <a:ext cx="2899750" cy="3566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BART</a:t>
            </a:r>
            <a:endParaRPr/>
          </a:p>
        </p:txBody>
      </p:sp>
      <p:sp>
        <p:nvSpPr>
          <p:cNvPr id="354" name="Google Shape;354;p46"/>
          <p:cNvSpPr txBox="1"/>
          <p:nvPr>
            <p:ph idx="1" type="body"/>
          </p:nvPr>
        </p:nvSpPr>
        <p:spPr>
          <a:xfrm>
            <a:off x="311700" y="1152475"/>
            <a:ext cx="3720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 ofusca el texto en el encoder:</a:t>
            </a:r>
            <a:endParaRPr/>
          </a:p>
          <a:p>
            <a:pPr indent="-342900" lvl="0" marL="9144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Token Masking</a:t>
            </a:r>
            <a:endParaRPr/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Sentence Permutation</a:t>
            </a:r>
            <a:endParaRPr/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Document Rotation</a:t>
            </a:r>
            <a:endParaRPr/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Token Deletion</a:t>
            </a:r>
            <a:endParaRPr/>
          </a:p>
        </p:txBody>
      </p:sp>
      <p:pic>
        <p:nvPicPr>
          <p:cNvPr id="355" name="Google Shape;355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41650" y="1017725"/>
            <a:ext cx="4683025" cy="2079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" name="Google Shape;356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06834" y="3270018"/>
            <a:ext cx="4352665" cy="1298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BART Pretraining</a:t>
            </a:r>
            <a:endParaRPr/>
          </a:p>
        </p:txBody>
      </p:sp>
      <p:pic>
        <p:nvPicPr>
          <p:cNvPr id="362" name="Google Shape;362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3537" y="1152475"/>
            <a:ext cx="7396925" cy="3582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Encoders Decoders - T5</a:t>
            </a:r>
            <a:endParaRPr/>
          </a:p>
        </p:txBody>
      </p:sp>
      <p:sp>
        <p:nvSpPr>
          <p:cNvPr id="368" name="Google Shape;368;p4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T5: Preentrnamiento via “span corruption”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El objetivo es detectar el input original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Es una tarea de </a:t>
            </a:r>
            <a:r>
              <a:rPr lang="en"/>
              <a:t>generación</a:t>
            </a:r>
            <a:r>
              <a:rPr lang="en"/>
              <a:t> de texto</a:t>
            </a:r>
            <a:endParaRPr/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Preentrenamiento en C4 (Colossal Clean Crawled Corpus)</a:t>
            </a:r>
            <a:endParaRPr sz="1200">
              <a:solidFill>
                <a:srgbClr val="37415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69" name="Google Shape;369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21425" y="1661079"/>
            <a:ext cx="4157150" cy="1754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0" name="Google Shape;370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85851" y="182575"/>
            <a:ext cx="2790109" cy="147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1" name="Google Shape;371;p4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9850" y="3416025"/>
            <a:ext cx="6686550" cy="137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Denoising vs. LM</a:t>
            </a:r>
            <a:endParaRPr/>
          </a:p>
        </p:txBody>
      </p:sp>
      <p:sp>
        <p:nvSpPr>
          <p:cNvPr id="377" name="Google Shape;377;p4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78" name="Google Shape;378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900" y="1636725"/>
            <a:ext cx="8880199" cy="2932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Encoders Decoders - T5</a:t>
            </a:r>
            <a:endParaRPr/>
          </a:p>
        </p:txBody>
      </p:sp>
      <p:sp>
        <p:nvSpPr>
          <p:cNvPr id="384" name="Google Shape;384;p5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Puede ser fine-tuneado para varias tareas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El objetivo es detectar el input original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Es una tarea de generación de texto</a:t>
            </a:r>
            <a:endParaRPr/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Entrenamiento supervisado en tareas específicas de NLP</a:t>
            </a:r>
            <a:endParaRPr sz="1200">
              <a:solidFill>
                <a:srgbClr val="37415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Adaptabilidad a través del ajuste fino para tareas concretas</a:t>
            </a:r>
            <a:endParaRPr sz="1200">
              <a:solidFill>
                <a:srgbClr val="37415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  </a:t>
            </a:r>
            <a:endParaRPr/>
          </a:p>
        </p:txBody>
      </p:sp>
      <p:pic>
        <p:nvPicPr>
          <p:cNvPr id="385" name="Google Shape;385;p50"/>
          <p:cNvPicPr preferRelativeResize="0"/>
          <p:nvPr/>
        </p:nvPicPr>
        <p:blipFill rotWithShape="1">
          <a:blip r:embed="rId3">
            <a:alphaModFix/>
          </a:blip>
          <a:srcRect b="0" l="429" r="4233" t="0"/>
          <a:stretch/>
        </p:blipFill>
        <p:spPr>
          <a:xfrm>
            <a:off x="131400" y="3066175"/>
            <a:ext cx="5018974" cy="205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50"/>
          <p:cNvPicPr preferRelativeResize="0"/>
          <p:nvPr/>
        </p:nvPicPr>
        <p:blipFill rotWithShape="1">
          <a:blip r:embed="rId4">
            <a:alphaModFix/>
          </a:blip>
          <a:srcRect b="0" l="5472" r="3627" t="0"/>
          <a:stretch/>
        </p:blipFill>
        <p:spPr>
          <a:xfrm>
            <a:off x="5401400" y="249825"/>
            <a:ext cx="3678800" cy="464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Decoder Only Models</a:t>
            </a:r>
            <a:endParaRPr/>
          </a:p>
        </p:txBody>
      </p:sp>
      <p:sp>
        <p:nvSpPr>
          <p:cNvPr id="392" name="Google Shape;392;p51"/>
          <p:cNvSpPr txBox="1"/>
          <p:nvPr>
            <p:ph idx="1" type="body"/>
          </p:nvPr>
        </p:nvSpPr>
        <p:spPr>
          <a:xfrm>
            <a:off x="311700" y="1152475"/>
            <a:ext cx="3282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Los modelos solo decodificadores son una clase de modelos de lenguaje </a:t>
            </a:r>
            <a:r>
              <a:rPr b="1" lang="en" sz="1200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enfocados en generar texto</a:t>
            </a:r>
            <a:r>
              <a:rPr lang="en" sz="1200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 basado en el contexto previo.</a:t>
            </a:r>
            <a:endParaRPr sz="1200">
              <a:solidFill>
                <a:srgbClr val="37415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Ideales cuando el output es una secuencia</a:t>
            </a:r>
            <a:endParaRPr sz="1200">
              <a:solidFill>
                <a:srgbClr val="37415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Objetivo del Prentrenamiento:</a:t>
            </a:r>
            <a:endParaRPr sz="1200">
              <a:solidFill>
                <a:srgbClr val="37415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El modelo</a:t>
            </a:r>
            <a:r>
              <a:rPr b="1" lang="en" sz="1200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 predice la próxima palabra</a:t>
            </a:r>
            <a:endParaRPr b="1" sz="1200">
              <a:solidFill>
                <a:srgbClr val="37415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Emula la predicción de la siguiente palabra dada la historia</a:t>
            </a:r>
            <a:endParaRPr sz="1200">
              <a:solidFill>
                <a:srgbClr val="37415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rgbClr val="374151"/>
              </a:solidFill>
              <a:highlight>
                <a:srgbClr val="F7F7F8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93" name="Google Shape;393;p51"/>
          <p:cNvPicPr preferRelativeResize="0"/>
          <p:nvPr/>
        </p:nvPicPr>
        <p:blipFill rotWithShape="1">
          <a:blip r:embed="rId3">
            <a:alphaModFix/>
          </a:blip>
          <a:srcRect b="28166" l="0" r="75511" t="0"/>
          <a:stretch/>
        </p:blipFill>
        <p:spPr>
          <a:xfrm>
            <a:off x="6723200" y="1352896"/>
            <a:ext cx="2109200" cy="243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4" name="Google Shape;394;p51"/>
          <p:cNvPicPr preferRelativeResize="0"/>
          <p:nvPr/>
        </p:nvPicPr>
        <p:blipFill rotWithShape="1">
          <a:blip r:embed="rId4">
            <a:alphaModFix/>
          </a:blip>
          <a:srcRect b="43310" l="27336" r="49597" t="4427"/>
          <a:stretch/>
        </p:blipFill>
        <p:spPr>
          <a:xfrm>
            <a:off x="3665400" y="1163976"/>
            <a:ext cx="2987000" cy="269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GPT</a:t>
            </a:r>
            <a:endParaRPr/>
          </a:p>
        </p:txBody>
      </p:sp>
      <p:sp>
        <p:nvSpPr>
          <p:cNvPr id="400" name="Google Shape;400;p52"/>
          <p:cNvSpPr txBox="1"/>
          <p:nvPr>
            <p:ph idx="1" type="body"/>
          </p:nvPr>
        </p:nvSpPr>
        <p:spPr>
          <a:xfrm>
            <a:off x="122175" y="1152475"/>
            <a:ext cx="8931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1500"/>
              </a:spcBef>
              <a:spcAft>
                <a:spcPts val="0"/>
              </a:spcAft>
              <a:buClr>
                <a:srgbClr val="374151"/>
              </a:buClr>
              <a:buSzPts val="1500"/>
              <a:buFont typeface="Arial"/>
              <a:buChar char="●"/>
            </a:pPr>
            <a:r>
              <a:rPr lang="en" sz="1500">
                <a:solidFill>
                  <a:srgbClr val="374151"/>
                </a:solidFill>
              </a:rPr>
              <a:t>Un modelo de lenguaje basado en la arquitectura </a:t>
            </a:r>
            <a:r>
              <a:rPr b="1" lang="en" sz="1500">
                <a:solidFill>
                  <a:srgbClr val="374151"/>
                </a:solidFill>
              </a:rPr>
              <a:t>Transformer</a:t>
            </a:r>
            <a:r>
              <a:rPr lang="en" sz="1500">
                <a:solidFill>
                  <a:srgbClr val="374151"/>
                </a:solidFill>
              </a:rPr>
              <a:t>, especializado en generar texto.</a:t>
            </a:r>
            <a:endParaRPr sz="1500">
              <a:solidFill>
                <a:srgbClr val="37415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500"/>
              <a:buFont typeface="Arial"/>
              <a:buChar char="●"/>
            </a:pPr>
            <a:r>
              <a:rPr lang="en" sz="1500">
                <a:solidFill>
                  <a:srgbClr val="374151"/>
                </a:solidFill>
              </a:rPr>
              <a:t>Modelo </a:t>
            </a:r>
            <a:r>
              <a:rPr b="1" lang="en" sz="1500">
                <a:solidFill>
                  <a:srgbClr val="374151"/>
                </a:solidFill>
              </a:rPr>
              <a:t>unidireccional </a:t>
            </a:r>
            <a:r>
              <a:rPr lang="en" sz="1500">
                <a:solidFill>
                  <a:srgbClr val="374151"/>
                </a:solidFill>
              </a:rPr>
              <a:t>(solo mira el pasado)</a:t>
            </a:r>
            <a:endParaRPr sz="1500">
              <a:solidFill>
                <a:srgbClr val="37415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500"/>
              <a:buFont typeface="Arial"/>
              <a:buChar char="●"/>
            </a:pPr>
            <a:r>
              <a:rPr lang="en" sz="1500">
                <a:solidFill>
                  <a:srgbClr val="374151"/>
                </a:solidFill>
              </a:rPr>
              <a:t>Foco en la Arquitectura de </a:t>
            </a:r>
            <a:r>
              <a:rPr b="1" lang="en" sz="1500">
                <a:solidFill>
                  <a:srgbClr val="374151"/>
                </a:solidFill>
              </a:rPr>
              <a:t>Decodificador</a:t>
            </a:r>
            <a:r>
              <a:rPr lang="en" sz="1500">
                <a:solidFill>
                  <a:srgbClr val="374151"/>
                </a:solidFill>
              </a:rPr>
              <a:t>:</a:t>
            </a:r>
            <a:endParaRPr sz="1500">
              <a:solidFill>
                <a:srgbClr val="37415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500"/>
              <a:buFont typeface="Arial"/>
              <a:buChar char="●"/>
            </a:pPr>
            <a:r>
              <a:rPr lang="en" sz="1500">
                <a:solidFill>
                  <a:srgbClr val="374151"/>
                </a:solidFill>
              </a:rPr>
              <a:t>En contraste con las arquitecturas encoder-decoder que primero codifican la entrada y luego generan una salida, </a:t>
            </a:r>
            <a:r>
              <a:rPr b="1" lang="en" sz="1500">
                <a:solidFill>
                  <a:srgbClr val="374151"/>
                </a:solidFill>
              </a:rPr>
              <a:t>GPT utiliza solo la fase de decodificación</a:t>
            </a:r>
            <a:r>
              <a:rPr lang="en" sz="1500">
                <a:solidFill>
                  <a:srgbClr val="374151"/>
                </a:solidFill>
              </a:rPr>
              <a:t>.</a:t>
            </a:r>
            <a:endParaRPr sz="1500">
              <a:solidFill>
                <a:srgbClr val="37415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500"/>
              <a:buFont typeface="Arial"/>
              <a:buChar char="●"/>
            </a:pPr>
            <a:r>
              <a:rPr lang="en" sz="1500">
                <a:solidFill>
                  <a:srgbClr val="374151"/>
                </a:solidFill>
              </a:rPr>
              <a:t>Generación Directa de Texto: </a:t>
            </a:r>
            <a:r>
              <a:rPr b="1" lang="en" sz="1500">
                <a:solidFill>
                  <a:srgbClr val="374151"/>
                </a:solidFill>
              </a:rPr>
              <a:t>GPT trata la entrada como un prefijo condicional</a:t>
            </a:r>
            <a:r>
              <a:rPr lang="en" sz="1500">
                <a:solidFill>
                  <a:srgbClr val="374151"/>
                </a:solidFill>
              </a:rPr>
              <a:t> para el modelo de lenguaje, permitiendo la generación directa de texto sin la etapa intermedia de codificación.</a:t>
            </a:r>
            <a:endParaRPr sz="1500">
              <a:solidFill>
                <a:srgbClr val="37415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500"/>
              <a:buFont typeface="Arial"/>
              <a:buChar char="●"/>
            </a:pPr>
            <a:r>
              <a:rPr b="1" lang="en" sz="1500">
                <a:solidFill>
                  <a:srgbClr val="374151"/>
                </a:solidFill>
              </a:rPr>
              <a:t>No requiere tratamiento específico del prompt</a:t>
            </a:r>
            <a:r>
              <a:rPr lang="en" sz="1500">
                <a:solidFill>
                  <a:srgbClr val="374151"/>
                </a:solidFill>
              </a:rPr>
              <a:t>.</a:t>
            </a:r>
            <a:endParaRPr sz="1500">
              <a:solidFill>
                <a:srgbClr val="374151"/>
              </a:solidFill>
            </a:endParaRPr>
          </a:p>
          <a:p>
            <a:pPr indent="0" lvl="0" marL="0" rtl="0" algn="l">
              <a:spcBef>
                <a:spcPts val="15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GPT Preentrenamiento: predecir la siguiente palabra</a:t>
            </a:r>
            <a:endParaRPr/>
          </a:p>
        </p:txBody>
      </p:sp>
      <p:sp>
        <p:nvSpPr>
          <p:cNvPr id="406" name="Google Shape;406;p53"/>
          <p:cNvSpPr/>
          <p:nvPr/>
        </p:nvSpPr>
        <p:spPr>
          <a:xfrm>
            <a:off x="2358391" y="1600230"/>
            <a:ext cx="955500" cy="2796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5875">
            <a:solidFill>
              <a:srgbClr val="147E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53"/>
          <p:cNvSpPr/>
          <p:nvPr/>
        </p:nvSpPr>
        <p:spPr>
          <a:xfrm>
            <a:off x="2358391" y="2038381"/>
            <a:ext cx="955500" cy="2796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5875">
            <a:solidFill>
              <a:srgbClr val="147E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53"/>
          <p:cNvSpPr/>
          <p:nvPr/>
        </p:nvSpPr>
        <p:spPr>
          <a:xfrm>
            <a:off x="2386966" y="2476532"/>
            <a:ext cx="955500" cy="2796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5875">
            <a:solidFill>
              <a:srgbClr val="147E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53"/>
          <p:cNvSpPr/>
          <p:nvPr/>
        </p:nvSpPr>
        <p:spPr>
          <a:xfrm>
            <a:off x="2386966" y="2914682"/>
            <a:ext cx="955500" cy="2796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5875">
            <a:solidFill>
              <a:srgbClr val="147E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53"/>
          <p:cNvSpPr/>
          <p:nvPr/>
        </p:nvSpPr>
        <p:spPr>
          <a:xfrm>
            <a:off x="2386965" y="3352833"/>
            <a:ext cx="955500" cy="2796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5875">
            <a:solidFill>
              <a:srgbClr val="147E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53"/>
          <p:cNvSpPr/>
          <p:nvPr/>
        </p:nvSpPr>
        <p:spPr>
          <a:xfrm>
            <a:off x="2358391" y="3794162"/>
            <a:ext cx="955500" cy="2796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5875">
            <a:solidFill>
              <a:srgbClr val="147E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53"/>
          <p:cNvSpPr/>
          <p:nvPr/>
        </p:nvSpPr>
        <p:spPr>
          <a:xfrm>
            <a:off x="3580765" y="3352833"/>
            <a:ext cx="955500" cy="2796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5875">
            <a:solidFill>
              <a:srgbClr val="147E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53"/>
          <p:cNvSpPr/>
          <p:nvPr/>
        </p:nvSpPr>
        <p:spPr>
          <a:xfrm>
            <a:off x="3552191" y="3794162"/>
            <a:ext cx="955500" cy="2796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5875">
            <a:solidFill>
              <a:srgbClr val="147E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53"/>
          <p:cNvSpPr/>
          <p:nvPr/>
        </p:nvSpPr>
        <p:spPr>
          <a:xfrm>
            <a:off x="4774565" y="2914682"/>
            <a:ext cx="955500" cy="2796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5875">
            <a:solidFill>
              <a:srgbClr val="147E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53"/>
          <p:cNvSpPr/>
          <p:nvPr/>
        </p:nvSpPr>
        <p:spPr>
          <a:xfrm>
            <a:off x="4774565" y="3352833"/>
            <a:ext cx="955500" cy="2796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5875">
            <a:solidFill>
              <a:srgbClr val="147E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53"/>
          <p:cNvSpPr/>
          <p:nvPr/>
        </p:nvSpPr>
        <p:spPr>
          <a:xfrm>
            <a:off x="4745990" y="3794162"/>
            <a:ext cx="955500" cy="2796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5875">
            <a:solidFill>
              <a:srgbClr val="147E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53"/>
          <p:cNvSpPr/>
          <p:nvPr/>
        </p:nvSpPr>
        <p:spPr>
          <a:xfrm>
            <a:off x="5968364" y="3352833"/>
            <a:ext cx="955500" cy="2796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5875">
            <a:solidFill>
              <a:srgbClr val="147E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53"/>
          <p:cNvSpPr/>
          <p:nvPr/>
        </p:nvSpPr>
        <p:spPr>
          <a:xfrm>
            <a:off x="5939790" y="3794162"/>
            <a:ext cx="955500" cy="2796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5875">
            <a:solidFill>
              <a:srgbClr val="147E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53"/>
          <p:cNvSpPr/>
          <p:nvPr/>
        </p:nvSpPr>
        <p:spPr>
          <a:xfrm>
            <a:off x="7162165" y="2476532"/>
            <a:ext cx="955500" cy="2796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5875">
            <a:solidFill>
              <a:srgbClr val="147E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53"/>
          <p:cNvSpPr/>
          <p:nvPr/>
        </p:nvSpPr>
        <p:spPr>
          <a:xfrm>
            <a:off x="7162165" y="2914682"/>
            <a:ext cx="955500" cy="2796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5875">
            <a:solidFill>
              <a:srgbClr val="147E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53"/>
          <p:cNvSpPr/>
          <p:nvPr/>
        </p:nvSpPr>
        <p:spPr>
          <a:xfrm>
            <a:off x="7162164" y="3352833"/>
            <a:ext cx="955500" cy="2796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5875">
            <a:solidFill>
              <a:srgbClr val="147E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53"/>
          <p:cNvSpPr/>
          <p:nvPr/>
        </p:nvSpPr>
        <p:spPr>
          <a:xfrm>
            <a:off x="7133590" y="3794162"/>
            <a:ext cx="955500" cy="2796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5875">
            <a:solidFill>
              <a:srgbClr val="147E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53"/>
          <p:cNvSpPr txBox="1"/>
          <p:nvPr/>
        </p:nvSpPr>
        <p:spPr>
          <a:xfrm>
            <a:off x="2446235" y="1317305"/>
            <a:ext cx="8373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elefante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53"/>
          <p:cNvSpPr txBox="1"/>
          <p:nvPr/>
        </p:nvSpPr>
        <p:spPr>
          <a:xfrm>
            <a:off x="3855930" y="1317305"/>
            <a:ext cx="3480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53"/>
          <p:cNvSpPr txBox="1"/>
          <p:nvPr/>
        </p:nvSpPr>
        <p:spPr>
          <a:xfrm>
            <a:off x="4957919" y="1332968"/>
            <a:ext cx="5889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rosa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53"/>
          <p:cNvSpPr txBox="1"/>
          <p:nvPr/>
        </p:nvSpPr>
        <p:spPr>
          <a:xfrm>
            <a:off x="6343025" y="1313263"/>
            <a:ext cx="2571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53"/>
          <p:cNvSpPr txBox="1"/>
          <p:nvPr/>
        </p:nvSpPr>
        <p:spPr>
          <a:xfrm>
            <a:off x="7310612" y="1317305"/>
            <a:ext cx="5889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&lt;end&gt;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53"/>
          <p:cNvSpPr/>
          <p:nvPr/>
        </p:nvSpPr>
        <p:spPr>
          <a:xfrm>
            <a:off x="3552191" y="2476531"/>
            <a:ext cx="955500" cy="2796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5875">
            <a:solidFill>
              <a:srgbClr val="147E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53"/>
          <p:cNvSpPr/>
          <p:nvPr/>
        </p:nvSpPr>
        <p:spPr>
          <a:xfrm>
            <a:off x="3552191" y="2911505"/>
            <a:ext cx="955500" cy="2796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5875">
            <a:solidFill>
              <a:srgbClr val="147E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53"/>
          <p:cNvSpPr/>
          <p:nvPr/>
        </p:nvSpPr>
        <p:spPr>
          <a:xfrm>
            <a:off x="3553568" y="2034432"/>
            <a:ext cx="955500" cy="2796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5875">
            <a:solidFill>
              <a:srgbClr val="147E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53"/>
          <p:cNvSpPr/>
          <p:nvPr/>
        </p:nvSpPr>
        <p:spPr>
          <a:xfrm>
            <a:off x="3529462" y="1599454"/>
            <a:ext cx="955500" cy="2796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5875">
            <a:solidFill>
              <a:srgbClr val="147E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53"/>
          <p:cNvSpPr/>
          <p:nvPr/>
        </p:nvSpPr>
        <p:spPr>
          <a:xfrm>
            <a:off x="4768653" y="2465810"/>
            <a:ext cx="955500" cy="2796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5875">
            <a:solidFill>
              <a:srgbClr val="147E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53"/>
          <p:cNvSpPr/>
          <p:nvPr/>
        </p:nvSpPr>
        <p:spPr>
          <a:xfrm>
            <a:off x="4770367" y="2039507"/>
            <a:ext cx="955500" cy="2796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5875">
            <a:solidFill>
              <a:srgbClr val="147E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53"/>
          <p:cNvSpPr/>
          <p:nvPr/>
        </p:nvSpPr>
        <p:spPr>
          <a:xfrm>
            <a:off x="4745990" y="1598178"/>
            <a:ext cx="955500" cy="2796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5875">
            <a:solidFill>
              <a:srgbClr val="147E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53"/>
          <p:cNvSpPr/>
          <p:nvPr/>
        </p:nvSpPr>
        <p:spPr>
          <a:xfrm>
            <a:off x="6016513" y="2472158"/>
            <a:ext cx="955500" cy="2796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5875">
            <a:solidFill>
              <a:srgbClr val="147E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53"/>
          <p:cNvSpPr/>
          <p:nvPr/>
        </p:nvSpPr>
        <p:spPr>
          <a:xfrm>
            <a:off x="6016513" y="2907902"/>
            <a:ext cx="955500" cy="2796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5875">
            <a:solidFill>
              <a:srgbClr val="147E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53"/>
          <p:cNvSpPr/>
          <p:nvPr/>
        </p:nvSpPr>
        <p:spPr>
          <a:xfrm>
            <a:off x="6017891" y="2030830"/>
            <a:ext cx="955500" cy="2796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5875">
            <a:solidFill>
              <a:srgbClr val="147E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53"/>
          <p:cNvSpPr/>
          <p:nvPr/>
        </p:nvSpPr>
        <p:spPr>
          <a:xfrm>
            <a:off x="5993785" y="1595852"/>
            <a:ext cx="955500" cy="2796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5875">
            <a:solidFill>
              <a:srgbClr val="147E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53"/>
          <p:cNvSpPr/>
          <p:nvPr/>
        </p:nvSpPr>
        <p:spPr>
          <a:xfrm>
            <a:off x="7187125" y="2030830"/>
            <a:ext cx="955500" cy="2796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5875">
            <a:solidFill>
              <a:srgbClr val="147E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53"/>
          <p:cNvSpPr/>
          <p:nvPr/>
        </p:nvSpPr>
        <p:spPr>
          <a:xfrm>
            <a:off x="7163018" y="1595852"/>
            <a:ext cx="955500" cy="2796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5875">
            <a:solidFill>
              <a:srgbClr val="147E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53"/>
          <p:cNvSpPr txBox="1"/>
          <p:nvPr/>
        </p:nvSpPr>
        <p:spPr>
          <a:xfrm>
            <a:off x="2617153" y="4090635"/>
            <a:ext cx="4380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53"/>
          <p:cNvSpPr txBox="1"/>
          <p:nvPr/>
        </p:nvSpPr>
        <p:spPr>
          <a:xfrm>
            <a:off x="3660884" y="4090635"/>
            <a:ext cx="7383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elefante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53"/>
          <p:cNvSpPr txBox="1"/>
          <p:nvPr/>
        </p:nvSpPr>
        <p:spPr>
          <a:xfrm>
            <a:off x="5060988" y="4090635"/>
            <a:ext cx="3711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53"/>
          <p:cNvSpPr txBox="1"/>
          <p:nvPr/>
        </p:nvSpPr>
        <p:spPr>
          <a:xfrm>
            <a:off x="6213276" y="4090635"/>
            <a:ext cx="4467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rosa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53"/>
          <p:cNvSpPr txBox="1"/>
          <p:nvPr/>
        </p:nvSpPr>
        <p:spPr>
          <a:xfrm>
            <a:off x="7435958" y="4090635"/>
            <a:ext cx="2211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53"/>
          <p:cNvSpPr txBox="1"/>
          <p:nvPr/>
        </p:nvSpPr>
        <p:spPr>
          <a:xfrm>
            <a:off x="1001300" y="3977793"/>
            <a:ext cx="10890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Input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53"/>
          <p:cNvSpPr txBox="1"/>
          <p:nvPr/>
        </p:nvSpPr>
        <p:spPr>
          <a:xfrm>
            <a:off x="1060855" y="1231026"/>
            <a:ext cx="10890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Target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53"/>
          <p:cNvSpPr txBox="1"/>
          <p:nvPr>
            <p:ph idx="1" type="body"/>
          </p:nvPr>
        </p:nvSpPr>
        <p:spPr>
          <a:xfrm>
            <a:off x="553900" y="4637600"/>
            <a:ext cx="8079300" cy="3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rmAutofit fontScale="250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"/>
              <a:buNone/>
            </a:pPr>
            <a:r>
              <a:rPr lang="en" sz="8400"/>
              <a:t>El </a:t>
            </a:r>
            <a:r>
              <a:rPr b="1" lang="en" sz="8400"/>
              <a:t>modelo</a:t>
            </a:r>
            <a:r>
              <a:rPr lang="en" sz="8400"/>
              <a:t> aprende a predecir la siguiente palabra dado el pasado</a:t>
            </a:r>
            <a:endParaRPr sz="84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"/>
              <a:buNone/>
            </a:pPr>
            <a:r>
              <a:t/>
            </a:r>
            <a:endParaRPr sz="84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75"/>
              <a:buNone/>
            </a:pPr>
            <a:r>
              <a:t/>
            </a:r>
            <a:endParaRPr sz="8400"/>
          </a:p>
          <a:p>
            <a:pPr indent="0" lvl="0" marL="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ct val="83333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ct val="83333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GPT - Pretraining</a:t>
            </a:r>
            <a:endParaRPr/>
          </a:p>
        </p:txBody>
      </p:sp>
      <p:pic>
        <p:nvPicPr>
          <p:cNvPr id="454" name="Google Shape;454;p54"/>
          <p:cNvPicPr preferRelativeResize="0"/>
          <p:nvPr/>
        </p:nvPicPr>
        <p:blipFill rotWithShape="1">
          <a:blip r:embed="rId3">
            <a:alphaModFix/>
          </a:blip>
          <a:srcRect b="0" l="0" r="0" t="10482"/>
          <a:stretch/>
        </p:blipFill>
        <p:spPr>
          <a:xfrm>
            <a:off x="1361875" y="2406313"/>
            <a:ext cx="6420250" cy="90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5" name="Google Shape;455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28175" y="3397550"/>
            <a:ext cx="6153951" cy="1515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6" name="Google Shape;456;p5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17087" y="1179475"/>
            <a:ext cx="3909826" cy="1144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GPT 1</a:t>
            </a:r>
            <a:endParaRPr/>
          </a:p>
        </p:txBody>
      </p:sp>
      <p:pic>
        <p:nvPicPr>
          <p:cNvPr id="462" name="Google Shape;462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7822" y="1093600"/>
            <a:ext cx="6763501" cy="3931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GPT1 pretraining</a:t>
            </a:r>
            <a:endParaRPr/>
          </a:p>
        </p:txBody>
      </p:sp>
      <p:pic>
        <p:nvPicPr>
          <p:cNvPr id="468" name="Google Shape;468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7575" y="1926775"/>
            <a:ext cx="8150400" cy="18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5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GPT - Fine Tuning</a:t>
            </a:r>
            <a:endParaRPr/>
          </a:p>
        </p:txBody>
      </p:sp>
      <p:pic>
        <p:nvPicPr>
          <p:cNvPr id="474" name="Google Shape;474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00175" y="1349638"/>
            <a:ext cx="6143625" cy="828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5" name="Google Shape;475;p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14500" y="2409175"/>
            <a:ext cx="5715000" cy="1200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6" name="Google Shape;476;p57"/>
          <p:cNvPicPr preferRelativeResize="0"/>
          <p:nvPr/>
        </p:nvPicPr>
        <p:blipFill rotWithShape="1">
          <a:blip r:embed="rId5">
            <a:alphaModFix/>
          </a:blip>
          <a:srcRect b="0" l="0" r="0" t="20153"/>
          <a:stretch/>
        </p:blipFill>
        <p:spPr>
          <a:xfrm>
            <a:off x="2750050" y="3878300"/>
            <a:ext cx="4514850" cy="593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5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483" name="Google Shape;483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4170"/>
            <a:ext cx="9144001" cy="49751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5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GPT 1 Fine Tuning</a:t>
            </a:r>
            <a:endParaRPr/>
          </a:p>
        </p:txBody>
      </p:sp>
      <p:pic>
        <p:nvPicPr>
          <p:cNvPr id="489" name="Google Shape;489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290695"/>
            <a:ext cx="8520598" cy="31399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0"/>
          <p:cNvSpPr txBox="1"/>
          <p:nvPr>
            <p:ph type="title"/>
          </p:nvPr>
        </p:nvSpPr>
        <p:spPr>
          <a:xfrm>
            <a:off x="311688" y="138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GPT: </a:t>
            </a:r>
            <a:r>
              <a:rPr lang="en"/>
              <a:t>Generación de Texto</a:t>
            </a:r>
            <a:endParaRPr/>
          </a:p>
        </p:txBody>
      </p:sp>
      <p:sp>
        <p:nvSpPr>
          <p:cNvPr id="495" name="Google Shape;495;p60"/>
          <p:cNvSpPr txBox="1"/>
          <p:nvPr>
            <p:ph idx="1" type="body"/>
          </p:nvPr>
        </p:nvSpPr>
        <p:spPr>
          <a:xfrm>
            <a:off x="340475" y="863550"/>
            <a:ext cx="6476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150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rgbClr val="374151"/>
                </a:solidFill>
              </a:rPr>
              <a:t>Mecánica de Generación de Texto:</a:t>
            </a:r>
            <a:endParaRPr sz="1400">
              <a:solidFill>
                <a:srgbClr val="37415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Arial"/>
              <a:buChar char="●"/>
            </a:pPr>
            <a:r>
              <a:rPr lang="en">
                <a:solidFill>
                  <a:srgbClr val="374151"/>
                </a:solidFill>
              </a:rPr>
              <a:t>GPT genera texto palabra por palabra, utilizando su conocimiento previo y el contexto proporcionado.</a:t>
            </a:r>
            <a:endParaRPr>
              <a:solidFill>
                <a:srgbClr val="37415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Arial"/>
              <a:buChar char="●"/>
            </a:pPr>
            <a:r>
              <a:rPr lang="en">
                <a:solidFill>
                  <a:srgbClr val="374151"/>
                </a:solidFill>
              </a:rPr>
              <a:t>La generación se basa en probabilidades, seleccionando cada nueva palabra en función de qué tan bien encaja en el contexto actual.</a:t>
            </a:r>
            <a:endParaRPr>
              <a:solidFill>
                <a:srgbClr val="37415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Arial"/>
              <a:buChar char="●"/>
            </a:pPr>
            <a:r>
              <a:rPr lang="en">
                <a:solidFill>
                  <a:srgbClr val="374151"/>
                </a:solidFill>
              </a:rPr>
              <a:t>El entrenamiento se hace con secuencias “perfectas” mientras que durante generación los errores se propagan.</a:t>
            </a:r>
            <a:endParaRPr>
              <a:solidFill>
                <a:srgbClr val="374151"/>
              </a:solidFill>
            </a:endParaRPr>
          </a:p>
          <a:p>
            <a:pPr indent="0" lvl="0" marL="0" rtl="0" algn="l">
              <a:spcBef>
                <a:spcPts val="15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496" name="Google Shape;496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5263" y="3052638"/>
            <a:ext cx="8753475" cy="1933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7" name="Google Shape;497;p6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17063" y="556038"/>
            <a:ext cx="2085975" cy="1895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61"/>
          <p:cNvSpPr txBox="1"/>
          <p:nvPr>
            <p:ph idx="1" type="body"/>
          </p:nvPr>
        </p:nvSpPr>
        <p:spPr>
          <a:xfrm>
            <a:off x="414821" y="1949813"/>
            <a:ext cx="6668700" cy="3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</a:pPr>
            <a:r>
              <a:rPr i="1" lang="en" sz="2300"/>
              <a:t>Voy a guardar el queso en el refrigerador</a:t>
            </a:r>
            <a:endParaRPr/>
          </a:p>
        </p:txBody>
      </p:sp>
      <p:cxnSp>
        <p:nvCxnSpPr>
          <p:cNvPr id="503" name="Google Shape;503;p61"/>
          <p:cNvCxnSpPr/>
          <p:nvPr/>
        </p:nvCxnSpPr>
        <p:spPr>
          <a:xfrm flipH="1" rot="10800000">
            <a:off x="390671" y="1946213"/>
            <a:ext cx="3750900" cy="36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4" name="Google Shape;504;p61"/>
          <p:cNvSpPr/>
          <p:nvPr/>
        </p:nvSpPr>
        <p:spPr>
          <a:xfrm>
            <a:off x="2038350" y="1704975"/>
            <a:ext cx="2257500" cy="406500"/>
          </a:xfrm>
          <a:prstGeom prst="arc">
            <a:avLst>
              <a:gd fmla="val 10673901" name="adj1"/>
              <a:gd fmla="val 0" name="adj2"/>
            </a:avLst>
          </a:prstGeom>
          <a:noFill/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61"/>
          <p:cNvSpPr txBox="1"/>
          <p:nvPr>
            <p:ph type="title"/>
          </p:nvPr>
        </p:nvSpPr>
        <p:spPr>
          <a:xfrm>
            <a:off x="729450" y="549406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Modelos de Lenguaje Generativos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62"/>
          <p:cNvSpPr txBox="1"/>
          <p:nvPr>
            <p:ph idx="1" type="body"/>
          </p:nvPr>
        </p:nvSpPr>
        <p:spPr>
          <a:xfrm>
            <a:off x="414821" y="1949813"/>
            <a:ext cx="6668700" cy="3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</a:pPr>
            <a:r>
              <a:rPr i="1" lang="en" sz="2300"/>
              <a:t>Voy a guardar el queso en el refrigerador para</a:t>
            </a:r>
            <a:endParaRPr/>
          </a:p>
        </p:txBody>
      </p:sp>
      <p:cxnSp>
        <p:nvCxnSpPr>
          <p:cNvPr id="511" name="Google Shape;511;p62"/>
          <p:cNvCxnSpPr/>
          <p:nvPr/>
        </p:nvCxnSpPr>
        <p:spPr>
          <a:xfrm>
            <a:off x="390524" y="1949813"/>
            <a:ext cx="5328300" cy="60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2" name="Google Shape;512;p62"/>
          <p:cNvSpPr/>
          <p:nvPr/>
        </p:nvSpPr>
        <p:spPr>
          <a:xfrm>
            <a:off x="3199286" y="1699303"/>
            <a:ext cx="2810700" cy="381000"/>
          </a:xfrm>
          <a:prstGeom prst="arc">
            <a:avLst>
              <a:gd fmla="val 10673901" name="adj1"/>
              <a:gd fmla="val 21582084" name="adj2"/>
            </a:avLst>
          </a:prstGeom>
          <a:noFill/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62"/>
          <p:cNvSpPr txBox="1"/>
          <p:nvPr>
            <p:ph type="title"/>
          </p:nvPr>
        </p:nvSpPr>
        <p:spPr>
          <a:xfrm>
            <a:off x="729450" y="549406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Modelos de Lenguaje Generativos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63"/>
          <p:cNvSpPr txBox="1"/>
          <p:nvPr>
            <p:ph idx="1" type="body"/>
          </p:nvPr>
        </p:nvSpPr>
        <p:spPr>
          <a:xfrm>
            <a:off x="414826" y="1949825"/>
            <a:ext cx="8271000" cy="3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</a:pPr>
            <a:r>
              <a:rPr i="1" lang="en" sz="2300"/>
              <a:t>Voy a guardar el queso en el refrigerador para conservarlo</a:t>
            </a:r>
            <a:endParaRPr/>
          </a:p>
        </p:txBody>
      </p:sp>
      <p:cxnSp>
        <p:nvCxnSpPr>
          <p:cNvPr id="519" name="Google Shape;519;p63"/>
          <p:cNvCxnSpPr/>
          <p:nvPr/>
        </p:nvCxnSpPr>
        <p:spPr>
          <a:xfrm flipH="1" rot="10800000">
            <a:off x="390524" y="1946213"/>
            <a:ext cx="5999400" cy="36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20" name="Google Shape;520;p63"/>
          <p:cNvSpPr/>
          <p:nvPr/>
        </p:nvSpPr>
        <p:spPr>
          <a:xfrm>
            <a:off x="3628429" y="1712354"/>
            <a:ext cx="3217200" cy="343800"/>
          </a:xfrm>
          <a:prstGeom prst="arc">
            <a:avLst>
              <a:gd fmla="val 10673901" name="adj1"/>
              <a:gd fmla="val 37045" name="adj2"/>
            </a:avLst>
          </a:prstGeom>
          <a:noFill/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63"/>
          <p:cNvSpPr txBox="1"/>
          <p:nvPr>
            <p:ph type="title"/>
          </p:nvPr>
        </p:nvSpPr>
        <p:spPr>
          <a:xfrm>
            <a:off x="729450" y="549406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Modelos de Lenguaje Generativos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64"/>
          <p:cNvSpPr txBox="1"/>
          <p:nvPr>
            <p:ph idx="1" type="body"/>
          </p:nvPr>
        </p:nvSpPr>
        <p:spPr>
          <a:xfrm>
            <a:off x="414825" y="1949825"/>
            <a:ext cx="8635500" cy="3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</a:pPr>
            <a:r>
              <a:rPr i="1" lang="en" sz="2300"/>
              <a:t>Voy a guardar el queso en el refrigerador para conservarlo fresco</a:t>
            </a:r>
            <a:endParaRPr/>
          </a:p>
        </p:txBody>
      </p:sp>
      <p:cxnSp>
        <p:nvCxnSpPr>
          <p:cNvPr id="527" name="Google Shape;527;p64"/>
          <p:cNvCxnSpPr/>
          <p:nvPr/>
        </p:nvCxnSpPr>
        <p:spPr>
          <a:xfrm flipH="1" rot="10800000">
            <a:off x="390524" y="1946213"/>
            <a:ext cx="7494900" cy="36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28" name="Google Shape;528;p64"/>
          <p:cNvSpPr/>
          <p:nvPr/>
        </p:nvSpPr>
        <p:spPr>
          <a:xfrm>
            <a:off x="4361132" y="1701740"/>
            <a:ext cx="3906600" cy="347700"/>
          </a:xfrm>
          <a:prstGeom prst="arc">
            <a:avLst>
              <a:gd fmla="val 10673901" name="adj1"/>
              <a:gd fmla="val 21589455" name="adj2"/>
            </a:avLst>
          </a:prstGeom>
          <a:noFill/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64"/>
          <p:cNvSpPr txBox="1"/>
          <p:nvPr>
            <p:ph type="title"/>
          </p:nvPr>
        </p:nvSpPr>
        <p:spPr>
          <a:xfrm>
            <a:off x="729450" y="549406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Modelos de Lenguaje Generativos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65"/>
          <p:cNvSpPr txBox="1"/>
          <p:nvPr>
            <p:ph type="title"/>
          </p:nvPr>
        </p:nvSpPr>
        <p:spPr>
          <a:xfrm>
            <a:off x="0" y="440225"/>
            <a:ext cx="927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GPT 2: Language Models are Unsupervised Multitask Learners </a:t>
            </a:r>
            <a:endParaRPr/>
          </a:p>
        </p:txBody>
      </p:sp>
      <p:sp>
        <p:nvSpPr>
          <p:cNvPr id="535" name="Google Shape;535;p6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536" name="Google Shape;536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426" y="1120675"/>
            <a:ext cx="6938400" cy="2091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37" name="Google Shape;537;p6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36813" y="1152475"/>
            <a:ext cx="1857375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8" name="Google Shape;538;p6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22875" y="3267475"/>
            <a:ext cx="5884249" cy="172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6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GPT2</a:t>
            </a:r>
            <a:endParaRPr/>
          </a:p>
        </p:txBody>
      </p:sp>
      <p:sp>
        <p:nvSpPr>
          <p:cNvPr id="544" name="Google Shape;544;p6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Modelo más grande que GPT1 1.5b &gt; 117M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Secuencias más grandes (512 vs 1024)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Entrenado en más datos mejor curados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Preentrenado con la predicción de la siguiente palabra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Focalizado en zero shot</a:t>
            </a:r>
            <a:endParaRPr/>
          </a:p>
        </p:txBody>
      </p:sp>
      <p:pic>
        <p:nvPicPr>
          <p:cNvPr id="545" name="Google Shape;545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5763" y="3025613"/>
            <a:ext cx="8372475" cy="1800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6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Escala es todo lo que necesitas</a:t>
            </a:r>
            <a:endParaRPr/>
          </a:p>
        </p:txBody>
      </p:sp>
      <p:pic>
        <p:nvPicPr>
          <p:cNvPr id="551" name="Google Shape;551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1748" y="1207550"/>
            <a:ext cx="2744208" cy="2760449"/>
          </a:xfrm>
          <a:prstGeom prst="rect">
            <a:avLst/>
          </a:prstGeom>
          <a:noFill/>
          <a:ln>
            <a:noFill/>
          </a:ln>
        </p:spPr>
      </p:pic>
      <p:pic>
        <p:nvPicPr>
          <p:cNvPr id="552" name="Google Shape;552;p67"/>
          <p:cNvPicPr preferRelativeResize="0"/>
          <p:nvPr/>
        </p:nvPicPr>
        <p:blipFill rotWithShape="1">
          <a:blip r:embed="rId4">
            <a:alphaModFix/>
          </a:blip>
          <a:srcRect b="0" l="0" r="0" t="8173"/>
          <a:stretch/>
        </p:blipFill>
        <p:spPr>
          <a:xfrm>
            <a:off x="2975950" y="1304364"/>
            <a:ext cx="2891099" cy="2534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553" name="Google Shape;553;p6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67049" y="217925"/>
            <a:ext cx="3225600" cy="2460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554" name="Google Shape;554;p6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67050" y="2925953"/>
            <a:ext cx="3225599" cy="18741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9" name="Google Shape;559;p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1716" y="2585923"/>
            <a:ext cx="1212880" cy="670696"/>
          </a:xfrm>
          <a:prstGeom prst="rect">
            <a:avLst/>
          </a:prstGeom>
          <a:noFill/>
          <a:ln>
            <a:noFill/>
          </a:ln>
        </p:spPr>
      </p:pic>
      <p:sp>
        <p:nvSpPr>
          <p:cNvPr id="560" name="Google Shape;560;p68"/>
          <p:cNvSpPr/>
          <p:nvPr/>
        </p:nvSpPr>
        <p:spPr>
          <a:xfrm>
            <a:off x="3273751" y="2100094"/>
            <a:ext cx="1292400" cy="8001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5875">
            <a:solidFill>
              <a:srgbClr val="0B49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LLM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Preentrenado</a:t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61" name="Google Shape;561;p68"/>
          <p:cNvCxnSpPr>
            <a:endCxn id="560" idx="1"/>
          </p:cNvCxnSpPr>
          <p:nvPr/>
        </p:nvCxnSpPr>
        <p:spPr>
          <a:xfrm flipH="1" rot="10800000">
            <a:off x="2190751" y="2500144"/>
            <a:ext cx="1083000" cy="13800"/>
          </a:xfrm>
          <a:prstGeom prst="straightConnector1">
            <a:avLst/>
          </a:prstGeom>
          <a:noFill/>
          <a:ln cap="flat" cmpd="sng" w="31750">
            <a:solidFill>
              <a:srgbClr val="00206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62" name="Google Shape;562;p68"/>
          <p:cNvSpPr txBox="1"/>
          <p:nvPr/>
        </p:nvSpPr>
        <p:spPr>
          <a:xfrm>
            <a:off x="528320" y="1441913"/>
            <a:ext cx="14847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Texto general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BERT — Pre-training + Fine-tuning | by Dhaval Taunk | Analytics Vidhya |  Medium" id="563" name="Google Shape;563;p68"/>
          <p:cNvPicPr preferRelativeResize="0"/>
          <p:nvPr/>
        </p:nvPicPr>
        <p:blipFill rotWithShape="1">
          <a:blip r:embed="rId4">
            <a:alphaModFix/>
          </a:blip>
          <a:srcRect b="40544" l="0" r="90046" t="25251"/>
          <a:stretch/>
        </p:blipFill>
        <p:spPr>
          <a:xfrm>
            <a:off x="5921563" y="930716"/>
            <a:ext cx="641417" cy="73982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he Best Higher Education Books Of 2020" id="564" name="Google Shape;564;p6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72199" y="1808871"/>
            <a:ext cx="987016" cy="7050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omputer program - Wikipedia" id="565" name="Google Shape;565;p6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3436" y="2747381"/>
            <a:ext cx="584848" cy="4380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rXiv.org (@arxiv) / X" id="566" name="Google Shape;566;p6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28319" y="2272524"/>
            <a:ext cx="538157" cy="5381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dobe Acrobat Reader: Edit PDF - Aplicaciones en Google Play" id="567" name="Google Shape;567;p6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13436" y="1906708"/>
            <a:ext cx="488281" cy="488279"/>
          </a:xfrm>
          <a:prstGeom prst="rect">
            <a:avLst/>
          </a:prstGeom>
          <a:noFill/>
          <a:ln>
            <a:noFill/>
          </a:ln>
        </p:spPr>
      </p:pic>
      <p:sp>
        <p:nvSpPr>
          <p:cNvPr id="568" name="Google Shape;568;p68"/>
          <p:cNvSpPr txBox="1"/>
          <p:nvPr/>
        </p:nvSpPr>
        <p:spPr>
          <a:xfrm>
            <a:off x="7076605" y="2074639"/>
            <a:ext cx="16527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Texto Especializado</a:t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68"/>
          <p:cNvSpPr/>
          <p:nvPr/>
        </p:nvSpPr>
        <p:spPr>
          <a:xfrm>
            <a:off x="5696138" y="2100094"/>
            <a:ext cx="1212900" cy="8001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5875">
            <a:solidFill>
              <a:srgbClr val="0B49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Modelo Especializado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BERT — Pre-training + Fine-tuning | by Dhaval Taunk | Analytics Vidhya |  Medium" id="570" name="Google Shape;570;p68"/>
          <p:cNvPicPr preferRelativeResize="0"/>
          <p:nvPr/>
        </p:nvPicPr>
        <p:blipFill rotWithShape="1">
          <a:blip r:embed="rId4">
            <a:alphaModFix/>
          </a:blip>
          <a:srcRect b="40544" l="0" r="90046" t="25251"/>
          <a:stretch/>
        </p:blipFill>
        <p:spPr>
          <a:xfrm>
            <a:off x="5941892" y="3561563"/>
            <a:ext cx="641417" cy="73982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71" name="Google Shape;571;p68"/>
          <p:cNvCxnSpPr>
            <a:stCxn id="560" idx="3"/>
            <a:endCxn id="569" idx="1"/>
          </p:cNvCxnSpPr>
          <p:nvPr/>
        </p:nvCxnSpPr>
        <p:spPr>
          <a:xfrm>
            <a:off x="4566151" y="2500144"/>
            <a:ext cx="1130100" cy="0"/>
          </a:xfrm>
          <a:prstGeom prst="straightConnector1">
            <a:avLst/>
          </a:prstGeom>
          <a:noFill/>
          <a:ln cap="flat" cmpd="sng" w="31750">
            <a:solidFill>
              <a:srgbClr val="002060"/>
            </a:solidFill>
            <a:prstDash val="dash"/>
            <a:round/>
            <a:headEnd len="sm" w="sm" type="none"/>
            <a:tailEnd len="med" w="med" type="triangle"/>
          </a:ln>
        </p:spPr>
      </p:cxnSp>
      <p:sp>
        <p:nvSpPr>
          <p:cNvPr id="572" name="Google Shape;572;p68"/>
          <p:cNvSpPr txBox="1"/>
          <p:nvPr/>
        </p:nvSpPr>
        <p:spPr>
          <a:xfrm>
            <a:off x="5754267" y="4298485"/>
            <a:ext cx="17070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Texto en español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p68"/>
          <p:cNvSpPr txBox="1"/>
          <p:nvPr/>
        </p:nvSpPr>
        <p:spPr>
          <a:xfrm>
            <a:off x="5754254" y="754304"/>
            <a:ext cx="11487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Texto en Inglés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74" name="Google Shape;574;p68"/>
          <p:cNvCxnSpPr/>
          <p:nvPr/>
        </p:nvCxnSpPr>
        <p:spPr>
          <a:xfrm rot="10800000">
            <a:off x="6563005" y="1281705"/>
            <a:ext cx="513600" cy="1081200"/>
          </a:xfrm>
          <a:prstGeom prst="straightConnector1">
            <a:avLst/>
          </a:prstGeom>
          <a:noFill/>
          <a:ln cap="flat" cmpd="sng" w="9525">
            <a:solidFill>
              <a:srgbClr val="00206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75" name="Google Shape;575;p68"/>
          <p:cNvCxnSpPr>
            <a:endCxn id="570" idx="3"/>
          </p:cNvCxnSpPr>
          <p:nvPr/>
        </p:nvCxnSpPr>
        <p:spPr>
          <a:xfrm flipH="1">
            <a:off x="6583309" y="2363077"/>
            <a:ext cx="493500" cy="1568400"/>
          </a:xfrm>
          <a:prstGeom prst="straightConnector1">
            <a:avLst/>
          </a:prstGeom>
          <a:noFill/>
          <a:ln cap="flat" cmpd="sng" w="9525">
            <a:solidFill>
              <a:srgbClr val="00206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76" name="Google Shape;576;p68"/>
          <p:cNvCxnSpPr>
            <a:stCxn id="570" idx="0"/>
            <a:endCxn id="569" idx="2"/>
          </p:cNvCxnSpPr>
          <p:nvPr/>
        </p:nvCxnSpPr>
        <p:spPr>
          <a:xfrm flipH="1" rot="10800000">
            <a:off x="6262601" y="2900063"/>
            <a:ext cx="39900" cy="661500"/>
          </a:xfrm>
          <a:prstGeom prst="straightConnector1">
            <a:avLst/>
          </a:prstGeom>
          <a:noFill/>
          <a:ln cap="flat" cmpd="sng" w="31750">
            <a:solidFill>
              <a:srgbClr val="00206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77" name="Google Shape;577;p68"/>
          <p:cNvCxnSpPr>
            <a:stCxn id="569" idx="0"/>
            <a:endCxn id="563" idx="2"/>
          </p:cNvCxnSpPr>
          <p:nvPr/>
        </p:nvCxnSpPr>
        <p:spPr>
          <a:xfrm rot="10800000">
            <a:off x="6242288" y="1670494"/>
            <a:ext cx="60300" cy="429600"/>
          </a:xfrm>
          <a:prstGeom prst="straightConnector1">
            <a:avLst/>
          </a:prstGeom>
          <a:noFill/>
          <a:ln cap="flat" cmpd="sng" w="31750">
            <a:solidFill>
              <a:srgbClr val="002060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2" name="Google Shape;582;p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1716" y="2585923"/>
            <a:ext cx="1212880" cy="670696"/>
          </a:xfrm>
          <a:prstGeom prst="rect">
            <a:avLst/>
          </a:prstGeom>
          <a:noFill/>
          <a:ln>
            <a:noFill/>
          </a:ln>
        </p:spPr>
      </p:pic>
      <p:sp>
        <p:nvSpPr>
          <p:cNvPr id="583" name="Google Shape;583;p69"/>
          <p:cNvSpPr/>
          <p:nvPr/>
        </p:nvSpPr>
        <p:spPr>
          <a:xfrm>
            <a:off x="3273750" y="2100100"/>
            <a:ext cx="1298400" cy="8001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5875">
            <a:solidFill>
              <a:srgbClr val="0B49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LLM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Preentrenado</a:t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84" name="Google Shape;584;p69"/>
          <p:cNvCxnSpPr>
            <a:endCxn id="583" idx="1"/>
          </p:cNvCxnSpPr>
          <p:nvPr/>
        </p:nvCxnSpPr>
        <p:spPr>
          <a:xfrm flipH="1" rot="10800000">
            <a:off x="2190750" y="2500150"/>
            <a:ext cx="1083000" cy="13800"/>
          </a:xfrm>
          <a:prstGeom prst="straightConnector1">
            <a:avLst/>
          </a:prstGeom>
          <a:noFill/>
          <a:ln cap="flat" cmpd="sng" w="31750">
            <a:solidFill>
              <a:srgbClr val="00206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85" name="Google Shape;585;p69"/>
          <p:cNvSpPr txBox="1"/>
          <p:nvPr/>
        </p:nvSpPr>
        <p:spPr>
          <a:xfrm>
            <a:off x="528320" y="1441913"/>
            <a:ext cx="14847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Texto general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BERT — Pre-training + Fine-tuning | by Dhaval Taunk | Analytics Vidhya |  Medium" id="586" name="Google Shape;586;p69"/>
          <p:cNvPicPr preferRelativeResize="0"/>
          <p:nvPr/>
        </p:nvPicPr>
        <p:blipFill rotWithShape="1">
          <a:blip r:embed="rId4">
            <a:alphaModFix/>
          </a:blip>
          <a:srcRect b="40542" l="0" r="90045" t="25251"/>
          <a:stretch/>
        </p:blipFill>
        <p:spPr>
          <a:xfrm>
            <a:off x="5921563" y="930716"/>
            <a:ext cx="641417" cy="73982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he Best Higher Education Books Of 2020" id="587" name="Google Shape;587;p6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72199" y="1808871"/>
            <a:ext cx="987016" cy="7050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omputer program - Wikipedia" id="588" name="Google Shape;588;p6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3436" y="2747381"/>
            <a:ext cx="584848" cy="4380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rXiv.org (@arxiv) / X" id="589" name="Google Shape;589;p6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28319" y="2272524"/>
            <a:ext cx="538157" cy="5381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dobe Acrobat Reader: Edit PDF - Aplicaciones en Google Play" id="590" name="Google Shape;590;p6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13436" y="1906708"/>
            <a:ext cx="488281" cy="488279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69"/>
          <p:cNvSpPr txBox="1"/>
          <p:nvPr/>
        </p:nvSpPr>
        <p:spPr>
          <a:xfrm>
            <a:off x="7076605" y="2074639"/>
            <a:ext cx="16527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Texto Especializado</a:t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69"/>
          <p:cNvSpPr/>
          <p:nvPr/>
        </p:nvSpPr>
        <p:spPr>
          <a:xfrm>
            <a:off x="5696150" y="2100100"/>
            <a:ext cx="1206900" cy="8001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5875">
            <a:solidFill>
              <a:srgbClr val="0B49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Modelo Especializado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BERT — Pre-training + Fine-tuning | by Dhaval Taunk | Analytics Vidhya |  Medium" id="593" name="Google Shape;593;p69"/>
          <p:cNvPicPr preferRelativeResize="0"/>
          <p:nvPr/>
        </p:nvPicPr>
        <p:blipFill rotWithShape="1">
          <a:blip r:embed="rId4">
            <a:alphaModFix/>
          </a:blip>
          <a:srcRect b="40542" l="0" r="90045" t="25251"/>
          <a:stretch/>
        </p:blipFill>
        <p:spPr>
          <a:xfrm>
            <a:off x="5941892" y="3561563"/>
            <a:ext cx="641417" cy="73982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94" name="Google Shape;594;p69"/>
          <p:cNvCxnSpPr>
            <a:stCxn id="583" idx="3"/>
            <a:endCxn id="592" idx="1"/>
          </p:cNvCxnSpPr>
          <p:nvPr/>
        </p:nvCxnSpPr>
        <p:spPr>
          <a:xfrm>
            <a:off x="4572150" y="2500150"/>
            <a:ext cx="1124100" cy="0"/>
          </a:xfrm>
          <a:prstGeom prst="straightConnector1">
            <a:avLst/>
          </a:prstGeom>
          <a:noFill/>
          <a:ln cap="flat" cmpd="sng" w="31750">
            <a:solidFill>
              <a:srgbClr val="002060"/>
            </a:solidFill>
            <a:prstDash val="dash"/>
            <a:round/>
            <a:headEnd len="sm" w="sm" type="none"/>
            <a:tailEnd len="med" w="med" type="triangle"/>
          </a:ln>
        </p:spPr>
      </p:cxnSp>
      <p:sp>
        <p:nvSpPr>
          <p:cNvPr id="595" name="Google Shape;595;p69"/>
          <p:cNvSpPr txBox="1"/>
          <p:nvPr/>
        </p:nvSpPr>
        <p:spPr>
          <a:xfrm>
            <a:off x="5754267" y="4298485"/>
            <a:ext cx="17070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Texto en español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p69"/>
          <p:cNvSpPr txBox="1"/>
          <p:nvPr/>
        </p:nvSpPr>
        <p:spPr>
          <a:xfrm>
            <a:off x="5754254" y="754304"/>
            <a:ext cx="11487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Texto en Inglés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97" name="Google Shape;597;p69"/>
          <p:cNvCxnSpPr/>
          <p:nvPr/>
        </p:nvCxnSpPr>
        <p:spPr>
          <a:xfrm rot="10800000">
            <a:off x="6563005" y="1281705"/>
            <a:ext cx="513600" cy="1081200"/>
          </a:xfrm>
          <a:prstGeom prst="straightConnector1">
            <a:avLst/>
          </a:prstGeom>
          <a:noFill/>
          <a:ln cap="flat" cmpd="sng" w="9525">
            <a:solidFill>
              <a:srgbClr val="00206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98" name="Google Shape;598;p69"/>
          <p:cNvCxnSpPr>
            <a:endCxn id="593" idx="3"/>
          </p:cNvCxnSpPr>
          <p:nvPr/>
        </p:nvCxnSpPr>
        <p:spPr>
          <a:xfrm flipH="1">
            <a:off x="6583309" y="2363077"/>
            <a:ext cx="493500" cy="1568400"/>
          </a:xfrm>
          <a:prstGeom prst="straightConnector1">
            <a:avLst/>
          </a:prstGeom>
          <a:noFill/>
          <a:ln cap="flat" cmpd="sng" w="9525">
            <a:solidFill>
              <a:srgbClr val="00206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99" name="Google Shape;599;p69"/>
          <p:cNvCxnSpPr>
            <a:stCxn id="593" idx="0"/>
            <a:endCxn id="592" idx="2"/>
          </p:cNvCxnSpPr>
          <p:nvPr/>
        </p:nvCxnSpPr>
        <p:spPr>
          <a:xfrm flipH="1" rot="10800000">
            <a:off x="6262601" y="2900063"/>
            <a:ext cx="36900" cy="661500"/>
          </a:xfrm>
          <a:prstGeom prst="straightConnector1">
            <a:avLst/>
          </a:prstGeom>
          <a:noFill/>
          <a:ln cap="flat" cmpd="sng" w="31750">
            <a:solidFill>
              <a:srgbClr val="00206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00" name="Google Shape;600;p69"/>
          <p:cNvCxnSpPr>
            <a:stCxn id="592" idx="0"/>
            <a:endCxn id="586" idx="2"/>
          </p:cNvCxnSpPr>
          <p:nvPr/>
        </p:nvCxnSpPr>
        <p:spPr>
          <a:xfrm rot="10800000">
            <a:off x="6242300" y="1670500"/>
            <a:ext cx="57300" cy="429600"/>
          </a:xfrm>
          <a:prstGeom prst="straightConnector1">
            <a:avLst/>
          </a:prstGeom>
          <a:noFill/>
          <a:ln cap="flat" cmpd="sng" w="31750">
            <a:solidFill>
              <a:srgbClr val="00206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01" name="Google Shape;601;p69"/>
          <p:cNvCxnSpPr/>
          <p:nvPr/>
        </p:nvCxnSpPr>
        <p:spPr>
          <a:xfrm>
            <a:off x="4742588" y="993775"/>
            <a:ext cx="3708600" cy="3311700"/>
          </a:xfrm>
          <a:prstGeom prst="straightConnector1">
            <a:avLst/>
          </a:prstGeom>
          <a:noFill/>
          <a:ln cap="flat" cmpd="sng" w="1270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2" name="Google Shape;602;p69"/>
          <p:cNvCxnSpPr/>
          <p:nvPr/>
        </p:nvCxnSpPr>
        <p:spPr>
          <a:xfrm flipH="1" rot="10800000">
            <a:off x="4912454" y="951694"/>
            <a:ext cx="3206100" cy="3283200"/>
          </a:xfrm>
          <a:prstGeom prst="straightConnector1">
            <a:avLst/>
          </a:prstGeom>
          <a:noFill/>
          <a:ln cap="flat" cmpd="sng" w="1270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70"/>
          <p:cNvSpPr txBox="1"/>
          <p:nvPr>
            <p:ph type="title"/>
          </p:nvPr>
        </p:nvSpPr>
        <p:spPr>
          <a:xfrm>
            <a:off x="822960" y="7313"/>
            <a:ext cx="7543800" cy="5883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Context Learning</a:t>
            </a:r>
            <a:endParaRPr/>
          </a:p>
        </p:txBody>
      </p:sp>
      <p:pic>
        <p:nvPicPr>
          <p:cNvPr id="608" name="Google Shape;608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32205" y="1498580"/>
            <a:ext cx="6279599" cy="2336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3" name="Google Shape;613;p71"/>
          <p:cNvPicPr preferRelativeResize="0"/>
          <p:nvPr/>
        </p:nvPicPr>
        <p:blipFill rotWithShape="1">
          <a:blip r:embed="rId3">
            <a:alphaModFix/>
          </a:blip>
          <a:srcRect b="0" l="0" r="0" t="8759"/>
          <a:stretch/>
        </p:blipFill>
        <p:spPr>
          <a:xfrm>
            <a:off x="25406" y="447625"/>
            <a:ext cx="3905007" cy="3820464"/>
          </a:xfrm>
          <a:prstGeom prst="rect">
            <a:avLst/>
          </a:prstGeom>
          <a:noFill/>
          <a:ln>
            <a:noFill/>
          </a:ln>
        </p:spPr>
      </p:pic>
      <p:pic>
        <p:nvPicPr>
          <p:cNvPr id="614" name="Google Shape;614;p7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48269" y="427738"/>
            <a:ext cx="3562183" cy="3860250"/>
          </a:xfrm>
          <a:prstGeom prst="rect">
            <a:avLst/>
          </a:prstGeom>
          <a:noFill/>
          <a:ln>
            <a:noFill/>
          </a:ln>
        </p:spPr>
      </p:pic>
      <p:sp>
        <p:nvSpPr>
          <p:cNvPr id="615" name="Google Shape;615;p71"/>
          <p:cNvSpPr/>
          <p:nvPr/>
        </p:nvSpPr>
        <p:spPr>
          <a:xfrm>
            <a:off x="3930430" y="1920157"/>
            <a:ext cx="1404300" cy="8754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71"/>
          <p:cNvSpPr/>
          <p:nvPr/>
        </p:nvSpPr>
        <p:spPr>
          <a:xfrm>
            <a:off x="0" y="4268100"/>
            <a:ext cx="9144000" cy="8754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71"/>
          <p:cNvSpPr txBox="1"/>
          <p:nvPr>
            <p:ph idx="1" type="body"/>
          </p:nvPr>
        </p:nvSpPr>
        <p:spPr>
          <a:xfrm>
            <a:off x="704771" y="4383525"/>
            <a:ext cx="7481400" cy="6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rmAutofit fontScale="250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85714"/>
              <a:buNone/>
            </a:pPr>
            <a:r>
              <a:rPr lang="en" sz="6300"/>
              <a:t>Adaptar la tarea al modelo y no el modelo a la tarea</a:t>
            </a:r>
            <a:endParaRPr sz="63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85714"/>
              <a:buNone/>
            </a:pPr>
            <a:r>
              <a:rPr lang="en" sz="6300"/>
              <a:t>Se usa el modelo out-of-the-box con input mínimo</a:t>
            </a:r>
            <a:endParaRPr sz="63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85714"/>
              <a:buNone/>
            </a:pPr>
            <a:r>
              <a:rPr lang="en" sz="6300"/>
              <a:t>Interacción con el modelo intuitiva, en lenguaje natural</a:t>
            </a:r>
            <a:endParaRPr sz="63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"/>
              <a:buNone/>
            </a:pPr>
            <a:r>
              <a:t/>
            </a:r>
            <a:endParaRPr sz="84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75"/>
              <a:buNone/>
            </a:pPr>
            <a:r>
              <a:t/>
            </a:r>
            <a:endParaRPr sz="8400"/>
          </a:p>
          <a:p>
            <a:pPr indent="0" lvl="0" marL="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ct val="83333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ct val="83333"/>
              <a:buNone/>
            </a:pPr>
            <a:r>
              <a:t/>
            </a:r>
            <a:endParaRPr/>
          </a:p>
        </p:txBody>
      </p:sp>
      <p:sp>
        <p:nvSpPr>
          <p:cNvPr id="618" name="Google Shape;618;p71"/>
          <p:cNvSpPr txBox="1"/>
          <p:nvPr>
            <p:ph idx="1" type="body"/>
          </p:nvPr>
        </p:nvSpPr>
        <p:spPr>
          <a:xfrm>
            <a:off x="445744" y="4331663"/>
            <a:ext cx="222300" cy="3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400"/>
              <a:buNone/>
            </a:pPr>
            <a:r>
              <a:rPr lang="en" sz="2400">
                <a:solidFill>
                  <a:srgbClr val="4A86E8"/>
                </a:solidFill>
              </a:rPr>
              <a:t>&gt;</a:t>
            </a:r>
            <a:endParaRPr sz="2400">
              <a:solidFill>
                <a:srgbClr val="4A86E8"/>
              </a:solidFill>
            </a:endParaRPr>
          </a:p>
          <a:p>
            <a:pPr indent="0" lvl="0" marL="0" rtl="0" algn="l">
              <a:lnSpc>
                <a:spcPct val="70000"/>
              </a:lnSpc>
              <a:spcBef>
                <a:spcPts val="1100"/>
              </a:spcBef>
              <a:spcAft>
                <a:spcPts val="0"/>
              </a:spcAft>
              <a:buSzPts val="400"/>
              <a:buNone/>
            </a:pPr>
            <a:r>
              <a:t/>
            </a:r>
            <a:endParaRPr sz="100">
              <a:solidFill>
                <a:srgbClr val="4A86E8"/>
              </a:solidFill>
            </a:endParaRPr>
          </a:p>
          <a:p>
            <a:pPr indent="0" lvl="0" marL="0" rtl="0" algn="l">
              <a:lnSpc>
                <a:spcPct val="70000"/>
              </a:lnSpc>
              <a:spcBef>
                <a:spcPts val="1100"/>
              </a:spcBef>
              <a:spcAft>
                <a:spcPts val="0"/>
              </a:spcAft>
              <a:buSzPts val="400"/>
              <a:buNone/>
            </a:pPr>
            <a:r>
              <a:t/>
            </a:r>
            <a:endParaRPr sz="100">
              <a:solidFill>
                <a:srgbClr val="4A86E8"/>
              </a:solidFill>
            </a:endParaRPr>
          </a:p>
        </p:txBody>
      </p:sp>
      <p:sp>
        <p:nvSpPr>
          <p:cNvPr id="619" name="Google Shape;619;p71"/>
          <p:cNvSpPr txBox="1"/>
          <p:nvPr>
            <p:ph idx="1" type="body"/>
          </p:nvPr>
        </p:nvSpPr>
        <p:spPr>
          <a:xfrm>
            <a:off x="445744" y="4510463"/>
            <a:ext cx="222300" cy="3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400"/>
              <a:buNone/>
            </a:pPr>
            <a:r>
              <a:rPr lang="en" sz="2400">
                <a:solidFill>
                  <a:srgbClr val="4A86E8"/>
                </a:solidFill>
              </a:rPr>
              <a:t>&gt;</a:t>
            </a:r>
            <a:endParaRPr sz="2400">
              <a:solidFill>
                <a:srgbClr val="4A86E8"/>
              </a:solidFill>
            </a:endParaRPr>
          </a:p>
          <a:p>
            <a:pPr indent="0" lvl="0" marL="0" rtl="0" algn="l">
              <a:lnSpc>
                <a:spcPct val="70000"/>
              </a:lnSpc>
              <a:spcBef>
                <a:spcPts val="1100"/>
              </a:spcBef>
              <a:spcAft>
                <a:spcPts val="0"/>
              </a:spcAft>
              <a:buSzPts val="400"/>
              <a:buNone/>
            </a:pPr>
            <a:r>
              <a:t/>
            </a:r>
            <a:endParaRPr sz="100">
              <a:solidFill>
                <a:srgbClr val="4A86E8"/>
              </a:solidFill>
            </a:endParaRPr>
          </a:p>
          <a:p>
            <a:pPr indent="0" lvl="0" marL="0" rtl="0" algn="l">
              <a:lnSpc>
                <a:spcPct val="70000"/>
              </a:lnSpc>
              <a:spcBef>
                <a:spcPts val="1100"/>
              </a:spcBef>
              <a:spcAft>
                <a:spcPts val="0"/>
              </a:spcAft>
              <a:buSzPts val="400"/>
              <a:buNone/>
            </a:pPr>
            <a:r>
              <a:t/>
            </a:r>
            <a:endParaRPr sz="100">
              <a:solidFill>
                <a:srgbClr val="4A86E8"/>
              </a:solidFill>
            </a:endParaRPr>
          </a:p>
        </p:txBody>
      </p:sp>
      <p:sp>
        <p:nvSpPr>
          <p:cNvPr id="620" name="Google Shape;620;p71"/>
          <p:cNvSpPr txBox="1"/>
          <p:nvPr>
            <p:ph idx="1" type="body"/>
          </p:nvPr>
        </p:nvSpPr>
        <p:spPr>
          <a:xfrm>
            <a:off x="445744" y="4689263"/>
            <a:ext cx="222300" cy="3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400"/>
              <a:buNone/>
            </a:pPr>
            <a:r>
              <a:rPr lang="en" sz="2400">
                <a:solidFill>
                  <a:srgbClr val="4A86E8"/>
                </a:solidFill>
              </a:rPr>
              <a:t>&gt;</a:t>
            </a:r>
            <a:endParaRPr sz="2400">
              <a:solidFill>
                <a:srgbClr val="4A86E8"/>
              </a:solidFill>
            </a:endParaRPr>
          </a:p>
          <a:p>
            <a:pPr indent="0" lvl="0" marL="0" rtl="0" algn="l">
              <a:lnSpc>
                <a:spcPct val="70000"/>
              </a:lnSpc>
              <a:spcBef>
                <a:spcPts val="1100"/>
              </a:spcBef>
              <a:spcAft>
                <a:spcPts val="0"/>
              </a:spcAft>
              <a:buSzPts val="400"/>
              <a:buNone/>
            </a:pPr>
            <a:r>
              <a:t/>
            </a:r>
            <a:endParaRPr sz="100">
              <a:solidFill>
                <a:srgbClr val="4A86E8"/>
              </a:solidFill>
            </a:endParaRPr>
          </a:p>
          <a:p>
            <a:pPr indent="0" lvl="0" marL="0" rtl="0" algn="l">
              <a:lnSpc>
                <a:spcPct val="70000"/>
              </a:lnSpc>
              <a:spcBef>
                <a:spcPts val="1100"/>
              </a:spcBef>
              <a:spcAft>
                <a:spcPts val="0"/>
              </a:spcAft>
              <a:buSzPts val="400"/>
              <a:buNone/>
            </a:pPr>
            <a:r>
              <a:t/>
            </a:r>
            <a:endParaRPr sz="100">
              <a:solidFill>
                <a:srgbClr val="4A86E8"/>
              </a:solidFill>
            </a:endParaRPr>
          </a:p>
        </p:txBody>
      </p:sp>
      <p:sp>
        <p:nvSpPr>
          <p:cNvPr id="621" name="Google Shape;621;p71"/>
          <p:cNvSpPr txBox="1"/>
          <p:nvPr>
            <p:ph type="title"/>
          </p:nvPr>
        </p:nvSpPr>
        <p:spPr>
          <a:xfrm>
            <a:off x="311700" y="27975"/>
            <a:ext cx="8520600" cy="4197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Context Learning</a:t>
            </a:r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7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GPT-3: Language Models are Few-Shot Learners </a:t>
            </a:r>
            <a:endParaRPr/>
          </a:p>
        </p:txBody>
      </p:sp>
      <p:pic>
        <p:nvPicPr>
          <p:cNvPr id="627" name="Google Shape;627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1" y="1152476"/>
            <a:ext cx="5757750" cy="178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8" name="Google Shape;628;p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07863" y="3430088"/>
            <a:ext cx="4657725" cy="1362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7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Más grandes y costosos</a:t>
            </a:r>
            <a:endParaRPr/>
          </a:p>
        </p:txBody>
      </p:sp>
      <p:pic>
        <p:nvPicPr>
          <p:cNvPr id="634" name="Google Shape;634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52713" y="1377988"/>
            <a:ext cx="5876925" cy="3190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7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 del fine-tuning</a:t>
            </a:r>
            <a:endParaRPr/>
          </a:p>
        </p:txBody>
      </p:sp>
      <p:pic>
        <p:nvPicPr>
          <p:cNvPr id="640" name="Google Shape;640;p74"/>
          <p:cNvPicPr preferRelativeResize="0"/>
          <p:nvPr/>
        </p:nvPicPr>
        <p:blipFill rotWithShape="1">
          <a:blip r:embed="rId3">
            <a:alphaModFix/>
          </a:blip>
          <a:srcRect b="0" l="7986" r="7860" t="13734"/>
          <a:stretch/>
        </p:blipFill>
        <p:spPr>
          <a:xfrm>
            <a:off x="1563825" y="1225804"/>
            <a:ext cx="5742150" cy="3663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7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Más grandes, más humanos</a:t>
            </a:r>
            <a:endParaRPr/>
          </a:p>
        </p:txBody>
      </p:sp>
      <p:pic>
        <p:nvPicPr>
          <p:cNvPr id="646" name="Google Shape;646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67825" y="1764113"/>
            <a:ext cx="4869175" cy="161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7" name="Google Shape;647;p7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000" y="1256663"/>
            <a:ext cx="3836662" cy="2630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7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Más ejemplos, mejor resultado</a:t>
            </a:r>
            <a:endParaRPr/>
          </a:p>
        </p:txBody>
      </p:sp>
      <p:pic>
        <p:nvPicPr>
          <p:cNvPr id="653" name="Google Shape;653;p76"/>
          <p:cNvPicPr preferRelativeResize="0"/>
          <p:nvPr/>
        </p:nvPicPr>
        <p:blipFill rotWithShape="1">
          <a:blip r:embed="rId3">
            <a:alphaModFix/>
          </a:blip>
          <a:srcRect b="0" l="6751" r="0" t="9674"/>
          <a:stretch/>
        </p:blipFill>
        <p:spPr>
          <a:xfrm>
            <a:off x="1074863" y="1157100"/>
            <a:ext cx="6994275" cy="381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7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Modelos más grandes aprenden más rápido</a:t>
            </a:r>
            <a:endParaRPr/>
          </a:p>
        </p:txBody>
      </p:sp>
      <p:pic>
        <p:nvPicPr>
          <p:cNvPr id="659" name="Google Shape;659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5875" y="1066800"/>
            <a:ext cx="6392250" cy="3832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7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Todavía no satura</a:t>
            </a:r>
            <a:endParaRPr/>
          </a:p>
        </p:txBody>
      </p:sp>
      <p:pic>
        <p:nvPicPr>
          <p:cNvPr id="665" name="Google Shape;665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6463" y="1017729"/>
            <a:ext cx="5731074" cy="382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7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Capacidades Emergentes</a:t>
            </a:r>
            <a:endParaRPr/>
          </a:p>
        </p:txBody>
      </p:sp>
      <p:pic>
        <p:nvPicPr>
          <p:cNvPr id="671" name="Google Shape;671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6250" y="1579325"/>
            <a:ext cx="4676775" cy="289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2" name="Google Shape;672;p7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21575" y="1416088"/>
            <a:ext cx="4972050" cy="315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80"/>
          <p:cNvSpPr/>
          <p:nvPr/>
        </p:nvSpPr>
        <p:spPr>
          <a:xfrm>
            <a:off x="774544" y="484088"/>
            <a:ext cx="7915200" cy="230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80"/>
          <p:cNvSpPr/>
          <p:nvPr/>
        </p:nvSpPr>
        <p:spPr>
          <a:xfrm>
            <a:off x="0" y="0"/>
            <a:ext cx="4448400" cy="51435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80"/>
          <p:cNvSpPr txBox="1"/>
          <p:nvPr>
            <p:ph idx="1" type="body"/>
          </p:nvPr>
        </p:nvSpPr>
        <p:spPr>
          <a:xfrm>
            <a:off x="783600" y="544088"/>
            <a:ext cx="3340200" cy="38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 sz="1700"/>
              <a:t>Las </a:t>
            </a:r>
            <a:r>
              <a:rPr b="1" lang="en" sz="1700"/>
              <a:t>capacidades emergentes </a:t>
            </a:r>
            <a:r>
              <a:rPr lang="en" sz="1700"/>
              <a:t>son habilidades no programadas explícitamente.</a:t>
            </a:r>
            <a:endParaRPr sz="17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t/>
            </a:r>
            <a:endParaRPr sz="17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 sz="1700"/>
              <a:t>El modelo generaliza automáticamente para cualquier tarea</a:t>
            </a:r>
            <a:endParaRPr sz="1700"/>
          </a:p>
          <a:p>
            <a:pPr indent="0" lvl="0" marL="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sp>
        <p:nvSpPr>
          <p:cNvPr id="680" name="Google Shape;680;p80"/>
          <p:cNvSpPr txBox="1"/>
          <p:nvPr>
            <p:ph idx="1" type="body"/>
          </p:nvPr>
        </p:nvSpPr>
        <p:spPr>
          <a:xfrm>
            <a:off x="324309" y="410099"/>
            <a:ext cx="531900" cy="7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rmAutofit fontScale="250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75"/>
              <a:buNone/>
            </a:pPr>
            <a:r>
              <a:rPr lang="en" sz="20700">
                <a:solidFill>
                  <a:srgbClr val="4A86E8"/>
                </a:solidFill>
              </a:rPr>
              <a:t>&gt;</a:t>
            </a:r>
            <a:endParaRPr sz="20700">
              <a:solidFill>
                <a:srgbClr val="4A86E8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ct val="83333"/>
              <a:buNone/>
            </a:pPr>
            <a:r>
              <a:t/>
            </a:r>
            <a:endParaRPr>
              <a:solidFill>
                <a:srgbClr val="4A86E8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ct val="83333"/>
              <a:buNone/>
            </a:pPr>
            <a:r>
              <a:t/>
            </a:r>
            <a:endParaRPr>
              <a:solidFill>
                <a:srgbClr val="4A86E8"/>
              </a:solidFill>
            </a:endParaRPr>
          </a:p>
        </p:txBody>
      </p:sp>
      <p:pic>
        <p:nvPicPr>
          <p:cNvPr id="681" name="Google Shape;681;p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48250" y="0"/>
            <a:ext cx="469574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82" name="Google Shape;682;p80"/>
          <p:cNvSpPr txBox="1"/>
          <p:nvPr>
            <p:ph idx="1" type="body"/>
          </p:nvPr>
        </p:nvSpPr>
        <p:spPr>
          <a:xfrm>
            <a:off x="482818" y="2073731"/>
            <a:ext cx="2148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rmAutofit fontScale="250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75"/>
              <a:buNone/>
            </a:pPr>
            <a:r>
              <a:t/>
            </a:r>
            <a:endParaRPr sz="11100">
              <a:solidFill>
                <a:srgbClr val="3C78D8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ct val="83333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ct val="83333"/>
              <a:buNone/>
            </a:pPr>
            <a:r>
              <a:t/>
            </a:r>
            <a:endParaRPr/>
          </a:p>
        </p:txBody>
      </p:sp>
      <p:sp>
        <p:nvSpPr>
          <p:cNvPr id="683" name="Google Shape;683;p80"/>
          <p:cNvSpPr txBox="1"/>
          <p:nvPr>
            <p:ph idx="1" type="body"/>
          </p:nvPr>
        </p:nvSpPr>
        <p:spPr>
          <a:xfrm>
            <a:off x="482818" y="2481919"/>
            <a:ext cx="2148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rmAutofit fontScale="250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75"/>
              <a:buNone/>
            </a:pPr>
            <a:r>
              <a:t/>
            </a:r>
            <a:endParaRPr sz="11100">
              <a:solidFill>
                <a:srgbClr val="3C78D8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ct val="83333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ct val="83333"/>
              <a:buNone/>
            </a:pPr>
            <a:r>
              <a:t/>
            </a:r>
            <a:endParaRPr/>
          </a:p>
        </p:txBody>
      </p:sp>
      <p:sp>
        <p:nvSpPr>
          <p:cNvPr id="684" name="Google Shape;684;p80"/>
          <p:cNvSpPr txBox="1"/>
          <p:nvPr>
            <p:ph idx="1" type="body"/>
          </p:nvPr>
        </p:nvSpPr>
        <p:spPr>
          <a:xfrm>
            <a:off x="482818" y="2691188"/>
            <a:ext cx="2148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rmAutofit fontScale="250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75"/>
              <a:buNone/>
            </a:pPr>
            <a:r>
              <a:t/>
            </a:r>
            <a:endParaRPr sz="11100">
              <a:solidFill>
                <a:srgbClr val="3C78D8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ct val="83333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ct val="83333"/>
              <a:buNone/>
            </a:pPr>
            <a:r>
              <a:t/>
            </a:r>
            <a:endParaRPr/>
          </a:p>
        </p:txBody>
      </p:sp>
      <p:sp>
        <p:nvSpPr>
          <p:cNvPr id="685" name="Google Shape;685;p80"/>
          <p:cNvSpPr txBox="1"/>
          <p:nvPr>
            <p:ph idx="1" type="body"/>
          </p:nvPr>
        </p:nvSpPr>
        <p:spPr>
          <a:xfrm>
            <a:off x="774542" y="2308781"/>
            <a:ext cx="2972400" cy="18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rmAutofit fontScale="25000" lnSpcReduction="20000"/>
          </a:bodyPr>
          <a:lstStyle/>
          <a:p>
            <a:pPr indent="-265113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6300"/>
              <a:t>Programar</a:t>
            </a:r>
            <a:endParaRPr sz="6300"/>
          </a:p>
          <a:p>
            <a:pPr indent="-265113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6300"/>
              <a:t>Traducir</a:t>
            </a:r>
            <a:endParaRPr sz="6300"/>
          </a:p>
          <a:p>
            <a:pPr indent="-265113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6300"/>
              <a:t>Generar Contenido</a:t>
            </a:r>
            <a:endParaRPr sz="6300"/>
          </a:p>
          <a:p>
            <a:pPr indent="-265113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6300"/>
              <a:t>Entender datos estructurados</a:t>
            </a:r>
            <a:endParaRPr sz="6300"/>
          </a:p>
          <a:p>
            <a:pPr indent="-265113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6300"/>
              <a:t>Resumir</a:t>
            </a:r>
            <a:endParaRPr sz="6300"/>
          </a:p>
          <a:p>
            <a:pPr indent="-265113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6300"/>
              <a:t>Responder Preguntas</a:t>
            </a:r>
            <a:endParaRPr sz="6300"/>
          </a:p>
          <a:p>
            <a:pPr indent="-265113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6300"/>
              <a:t>Extracción de Información</a:t>
            </a:r>
            <a:endParaRPr sz="6300"/>
          </a:p>
          <a:p>
            <a:pPr indent="-265113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6300"/>
              <a:t>Diseño de experimentos</a:t>
            </a:r>
            <a:endParaRPr sz="6300"/>
          </a:p>
          <a:p>
            <a:pPr indent="-265113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6300"/>
              <a:t>Seguir Instrucciones</a:t>
            </a:r>
            <a:endParaRPr sz="6300"/>
          </a:p>
          <a:p>
            <a:pPr indent="-265113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6300"/>
              <a:t>…</a:t>
            </a:r>
            <a:endParaRPr sz="630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81"/>
          <p:cNvSpPr txBox="1"/>
          <p:nvPr>
            <p:ph type="title"/>
          </p:nvPr>
        </p:nvSpPr>
        <p:spPr>
          <a:xfrm>
            <a:off x="822960" y="7313"/>
            <a:ext cx="7543800" cy="5883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Capacidades Emergentes</a:t>
            </a:r>
            <a:endParaRPr/>
          </a:p>
        </p:txBody>
      </p:sp>
      <p:pic>
        <p:nvPicPr>
          <p:cNvPr id="691" name="Google Shape;691;p8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9024" y="658800"/>
            <a:ext cx="7425949" cy="4315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82"/>
          <p:cNvSpPr txBox="1"/>
          <p:nvPr>
            <p:ph type="title"/>
          </p:nvPr>
        </p:nvSpPr>
        <p:spPr>
          <a:xfrm>
            <a:off x="0" y="447150"/>
            <a:ext cx="9053100" cy="5883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 fontScale="90000"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Explorando la Emergencia de Capacidades en Modelos de Lenguaje de Gran Escala</a:t>
            </a:r>
            <a:endParaRPr/>
          </a:p>
        </p:txBody>
      </p:sp>
      <p:sp>
        <p:nvSpPr>
          <p:cNvPr id="697" name="Google Shape;697;p82"/>
          <p:cNvSpPr txBox="1"/>
          <p:nvPr>
            <p:ph idx="1" type="body"/>
          </p:nvPr>
        </p:nvSpPr>
        <p:spPr>
          <a:xfrm>
            <a:off x="122175" y="1101175"/>
            <a:ext cx="8857500" cy="3752700"/>
          </a:xfrm>
          <a:prstGeom prst="rect">
            <a:avLst/>
          </a:prstGeom>
        </p:spPr>
        <p:txBody>
          <a:bodyPr anchorCtr="0" anchor="t" bIns="34275" lIns="0" spcFirstLastPara="1" rIns="0" wrap="square" tIns="34275">
            <a:norm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Char char="●"/>
            </a:pPr>
            <a:r>
              <a:rPr lang="en" sz="1200">
                <a:solidFill>
                  <a:srgbClr val="374151"/>
                </a:solidFill>
              </a:rPr>
              <a:t>Las habilidades en los Modelos de Lenguaje de Gran Escala (LLMs) </a:t>
            </a:r>
            <a:r>
              <a:rPr b="1" lang="en" sz="1200">
                <a:solidFill>
                  <a:srgbClr val="374151"/>
                </a:solidFill>
              </a:rPr>
              <a:t>emergen de manera impredecible y no se pueden extrapolar linealmente de modelos más pequeños.</a:t>
            </a:r>
            <a:endParaRPr b="1" sz="1200">
              <a:solidFill>
                <a:srgbClr val="37415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7415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Char char="●"/>
            </a:pPr>
            <a:r>
              <a:rPr lang="en" sz="1200">
                <a:solidFill>
                  <a:srgbClr val="374151"/>
                </a:solidFill>
              </a:rPr>
              <a:t>GPT-3 con </a:t>
            </a:r>
            <a:r>
              <a:rPr b="1" lang="en" sz="1200">
                <a:solidFill>
                  <a:srgbClr val="374151"/>
                </a:solidFill>
              </a:rPr>
              <a:t>175 mil millones</a:t>
            </a:r>
            <a:r>
              <a:rPr lang="en" sz="1200">
                <a:solidFill>
                  <a:srgbClr val="374151"/>
                </a:solidFill>
              </a:rPr>
              <a:t> de parámetros mostró habilidades limitadas en el benchmark WiC con una sola muestra.</a:t>
            </a:r>
            <a:endParaRPr sz="1200">
              <a:solidFill>
                <a:srgbClr val="37415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Char char="●"/>
            </a:pPr>
            <a:r>
              <a:rPr lang="en" sz="1200">
                <a:solidFill>
                  <a:srgbClr val="374151"/>
                </a:solidFill>
              </a:rPr>
              <a:t>Escalando a PaLM (</a:t>
            </a:r>
            <a:r>
              <a:rPr b="1" lang="en" sz="1200">
                <a:solidFill>
                  <a:srgbClr val="374151"/>
                </a:solidFill>
              </a:rPr>
              <a:t>540 mil millones de parámetros</a:t>
            </a:r>
            <a:r>
              <a:rPr lang="en" sz="1200">
                <a:solidFill>
                  <a:srgbClr val="374151"/>
                </a:solidFill>
              </a:rPr>
              <a:t>) mejoró significativamente el rendimiento, sin cambios arquitectónicos importantes.</a:t>
            </a:r>
            <a:endParaRPr sz="1200">
              <a:solidFill>
                <a:srgbClr val="37415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7415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Char char="●"/>
            </a:pPr>
            <a:r>
              <a:rPr lang="en" sz="1200">
                <a:solidFill>
                  <a:srgbClr val="374151"/>
                </a:solidFill>
              </a:rPr>
              <a:t>La emergencia en los LLMs sigue siendo en gran parte </a:t>
            </a:r>
            <a:r>
              <a:rPr b="1" lang="en" sz="1200">
                <a:solidFill>
                  <a:srgbClr val="374151"/>
                </a:solidFill>
              </a:rPr>
              <a:t>inexplicada.</a:t>
            </a:r>
            <a:endParaRPr b="1" sz="1200">
              <a:solidFill>
                <a:srgbClr val="37415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Char char="●"/>
            </a:pPr>
            <a:r>
              <a:rPr b="1" lang="en" sz="1200">
                <a:solidFill>
                  <a:srgbClr val="374151"/>
                </a:solidFill>
              </a:rPr>
              <a:t>Hipótesis:</a:t>
            </a:r>
            <a:r>
              <a:rPr lang="en" sz="1200">
                <a:solidFill>
                  <a:srgbClr val="374151"/>
                </a:solidFill>
              </a:rPr>
              <a:t> Escalas mayores pueden permitir una mejor memorización y manejo de tareas complejas.</a:t>
            </a:r>
            <a:endParaRPr sz="1200">
              <a:solidFill>
                <a:srgbClr val="37415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7415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Char char="●"/>
            </a:pPr>
            <a:r>
              <a:rPr lang="en" sz="1200">
                <a:solidFill>
                  <a:srgbClr val="374151"/>
                </a:solidFill>
              </a:rPr>
              <a:t>Teorías:</a:t>
            </a:r>
            <a:endParaRPr sz="1200">
              <a:solidFill>
                <a:srgbClr val="374151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Char char="○"/>
            </a:pPr>
            <a:r>
              <a:rPr lang="en" sz="1200">
                <a:solidFill>
                  <a:srgbClr val="374151"/>
                </a:solidFill>
              </a:rPr>
              <a:t>El razonamiento de múltiples pasos puede requerir una cierta profundidad (número de capas) en el modelo.</a:t>
            </a:r>
            <a:endParaRPr sz="1200">
              <a:solidFill>
                <a:srgbClr val="374151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Char char="○"/>
            </a:pPr>
            <a:r>
              <a:rPr lang="en" sz="1200">
                <a:solidFill>
                  <a:srgbClr val="374151"/>
                </a:solidFill>
              </a:rPr>
              <a:t>Modelos con más parámetros podrían almacenar conocimiento del mundo de manera comprimida y eficaz.</a:t>
            </a:r>
            <a:endParaRPr sz="1200">
              <a:solidFill>
                <a:srgbClr val="374151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Char char="○"/>
            </a:pPr>
            <a:r>
              <a:rPr lang="en" sz="1200">
                <a:solidFill>
                  <a:srgbClr val="374151"/>
                </a:solidFill>
              </a:rPr>
              <a:t>…</a:t>
            </a:r>
            <a:endParaRPr sz="1200">
              <a:solidFill>
                <a:srgbClr val="37415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74151"/>
              </a:solidFill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3"/>
          <p:cNvSpPr/>
          <p:nvPr/>
        </p:nvSpPr>
        <p:spPr>
          <a:xfrm>
            <a:off x="38350" y="4147200"/>
            <a:ext cx="9144000" cy="9963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83"/>
          <p:cNvSpPr txBox="1"/>
          <p:nvPr>
            <p:ph idx="1" type="body"/>
          </p:nvPr>
        </p:nvSpPr>
        <p:spPr>
          <a:xfrm>
            <a:off x="786363" y="4291781"/>
            <a:ext cx="7481400" cy="7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rmAutofit fontScale="250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85714"/>
              <a:buNone/>
            </a:pPr>
            <a:r>
              <a:rPr lang="en" sz="6300"/>
              <a:t>La alucinación en </a:t>
            </a:r>
            <a:r>
              <a:rPr b="1" lang="en" sz="6300"/>
              <a:t>LLMs</a:t>
            </a:r>
            <a:r>
              <a:rPr lang="en" sz="6300"/>
              <a:t> se refiere a la generación de texto que es semántica o sintácticamente plausible pero factualmente incorrecta.</a:t>
            </a:r>
            <a:endParaRPr sz="63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85714"/>
              <a:buNone/>
            </a:pPr>
            <a:r>
              <a:t/>
            </a:r>
            <a:endParaRPr sz="63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85714"/>
              <a:buNone/>
            </a:pPr>
            <a:r>
              <a:rPr lang="en" sz="6300"/>
              <a:t>Es difícil a simple vista darse cuenta que la información es incorrecta.</a:t>
            </a:r>
            <a:endParaRPr sz="63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75"/>
              <a:buNone/>
            </a:pPr>
            <a:r>
              <a:t/>
            </a:r>
            <a:endParaRPr sz="8400"/>
          </a:p>
          <a:p>
            <a:pPr indent="0" lvl="0" marL="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ct val="83333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ct val="83333"/>
              <a:buNone/>
            </a:pPr>
            <a:r>
              <a:t/>
            </a:r>
            <a:endParaRPr/>
          </a:p>
        </p:txBody>
      </p:sp>
      <p:sp>
        <p:nvSpPr>
          <p:cNvPr id="704" name="Google Shape;704;p83"/>
          <p:cNvSpPr txBox="1"/>
          <p:nvPr>
            <p:ph idx="1" type="body"/>
          </p:nvPr>
        </p:nvSpPr>
        <p:spPr>
          <a:xfrm>
            <a:off x="484095" y="4210763"/>
            <a:ext cx="244500" cy="4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rmAutofit fontScale="250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75"/>
              <a:buNone/>
            </a:pPr>
            <a:r>
              <a:rPr lang="en" sz="15000">
                <a:solidFill>
                  <a:srgbClr val="4A86E8"/>
                </a:solidFill>
              </a:rPr>
              <a:t>&gt;</a:t>
            </a:r>
            <a:endParaRPr sz="15000">
              <a:solidFill>
                <a:srgbClr val="4A86E8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ct val="83333"/>
              <a:buNone/>
            </a:pPr>
            <a:r>
              <a:t/>
            </a:r>
            <a:endParaRPr>
              <a:solidFill>
                <a:srgbClr val="4A86E8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ct val="83333"/>
              <a:buNone/>
            </a:pPr>
            <a:r>
              <a:t/>
            </a:r>
            <a:endParaRPr>
              <a:solidFill>
                <a:srgbClr val="4A86E8"/>
              </a:solidFill>
            </a:endParaRPr>
          </a:p>
        </p:txBody>
      </p:sp>
      <p:pic>
        <p:nvPicPr>
          <p:cNvPr id="705" name="Google Shape;705;p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64600" y="749850"/>
            <a:ext cx="5291494" cy="3160013"/>
          </a:xfrm>
          <a:prstGeom prst="rect">
            <a:avLst/>
          </a:prstGeom>
          <a:noFill/>
          <a:ln>
            <a:noFill/>
          </a:ln>
        </p:spPr>
      </p:pic>
      <p:sp>
        <p:nvSpPr>
          <p:cNvPr id="706" name="Google Shape;706;p83"/>
          <p:cNvSpPr txBox="1"/>
          <p:nvPr>
            <p:ph idx="1" type="body"/>
          </p:nvPr>
        </p:nvSpPr>
        <p:spPr>
          <a:xfrm>
            <a:off x="484095" y="4677762"/>
            <a:ext cx="244500" cy="4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rmAutofit fontScale="250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75"/>
              <a:buNone/>
            </a:pPr>
            <a:r>
              <a:rPr lang="en" sz="15000">
                <a:solidFill>
                  <a:srgbClr val="4A86E8"/>
                </a:solidFill>
              </a:rPr>
              <a:t>&gt;</a:t>
            </a:r>
            <a:endParaRPr sz="15000">
              <a:solidFill>
                <a:srgbClr val="4A86E8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ct val="83333"/>
              <a:buNone/>
            </a:pPr>
            <a:r>
              <a:t/>
            </a:r>
            <a:endParaRPr>
              <a:solidFill>
                <a:srgbClr val="4A86E8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ct val="83333"/>
              <a:buNone/>
            </a:pPr>
            <a:r>
              <a:t/>
            </a:r>
            <a:endParaRPr>
              <a:solidFill>
                <a:srgbClr val="4A86E8"/>
              </a:solidFill>
            </a:endParaRPr>
          </a:p>
        </p:txBody>
      </p:sp>
      <p:sp>
        <p:nvSpPr>
          <p:cNvPr id="707" name="Google Shape;707;p83"/>
          <p:cNvSpPr txBox="1"/>
          <p:nvPr>
            <p:ph type="title"/>
          </p:nvPr>
        </p:nvSpPr>
        <p:spPr>
          <a:xfrm>
            <a:off x="822960" y="7313"/>
            <a:ext cx="7543800" cy="5883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Alucinaciones de los LLMs</a:t>
            </a:r>
            <a:endParaRPr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2" name="Google Shape;712;p8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67501" y="654950"/>
            <a:ext cx="4163350" cy="4260600"/>
          </a:xfrm>
          <a:prstGeom prst="rect">
            <a:avLst/>
          </a:prstGeom>
          <a:noFill/>
          <a:ln>
            <a:noFill/>
          </a:ln>
        </p:spPr>
      </p:pic>
      <p:sp>
        <p:nvSpPr>
          <p:cNvPr id="713" name="Google Shape;713;p84"/>
          <p:cNvSpPr txBox="1"/>
          <p:nvPr>
            <p:ph type="title"/>
          </p:nvPr>
        </p:nvSpPr>
        <p:spPr>
          <a:xfrm>
            <a:off x="822960" y="7313"/>
            <a:ext cx="7543800" cy="5883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Alucinaciones de los LLMs</a:t>
            </a:r>
            <a:endParaRPr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85"/>
          <p:cNvSpPr txBox="1"/>
          <p:nvPr>
            <p:ph type="title"/>
          </p:nvPr>
        </p:nvSpPr>
        <p:spPr>
          <a:xfrm>
            <a:off x="366525" y="7325"/>
            <a:ext cx="8393400" cy="5883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 fontScale="90000"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Alucinaciones en la Generación de Lenguaje Natural</a:t>
            </a:r>
            <a:endParaRPr/>
          </a:p>
        </p:txBody>
      </p:sp>
      <p:sp>
        <p:nvSpPr>
          <p:cNvPr id="719" name="Google Shape;719;p85"/>
          <p:cNvSpPr txBox="1"/>
          <p:nvPr>
            <p:ph idx="1" type="body"/>
          </p:nvPr>
        </p:nvSpPr>
        <p:spPr>
          <a:xfrm>
            <a:off x="183250" y="649125"/>
            <a:ext cx="8723100" cy="4286700"/>
          </a:xfrm>
          <a:prstGeom prst="rect">
            <a:avLst/>
          </a:prstGeom>
        </p:spPr>
        <p:txBody>
          <a:bodyPr anchorCtr="0" anchor="t" bIns="34275" lIns="0" spcFirstLastPara="1" rIns="0" wrap="square" tIns="34275">
            <a:normAutofit fontScale="25000" lnSpcReduction="10000"/>
          </a:bodyPr>
          <a:lstStyle/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en" sz="4300">
                <a:solidFill>
                  <a:srgbClr val="374151"/>
                </a:solidFill>
              </a:rPr>
              <a:t>Situaciones donde un modelo genera texto carece de sentido o tiene información factual </a:t>
            </a:r>
            <a:r>
              <a:rPr lang="en" sz="4300">
                <a:solidFill>
                  <a:srgbClr val="374151"/>
                </a:solidFill>
              </a:rPr>
              <a:t>errónea</a:t>
            </a:r>
            <a:r>
              <a:rPr lang="en" sz="4300">
                <a:solidFill>
                  <a:srgbClr val="374151"/>
                </a:solidFill>
              </a:rPr>
              <a:t>, aunque parezca fluido y arraigado en el contexto.</a:t>
            </a:r>
            <a:endParaRPr sz="4300">
              <a:solidFill>
                <a:srgbClr val="37415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ct val="25581"/>
              <a:buFont typeface="Arial"/>
              <a:buNone/>
            </a:pPr>
            <a:r>
              <a:rPr lang="en" sz="4300">
                <a:solidFill>
                  <a:srgbClr val="374151"/>
                </a:solidFill>
              </a:rPr>
              <a:t>Tipos de Alucinaciones:</a:t>
            </a:r>
            <a:endParaRPr sz="4300">
              <a:solidFill>
                <a:srgbClr val="374151"/>
              </a:solidFill>
            </a:endParaRPr>
          </a:p>
          <a:p>
            <a:pPr indent="-296865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374151"/>
              </a:buClr>
              <a:buSzPct val="100000"/>
              <a:buFont typeface="Arial"/>
              <a:buChar char="●"/>
            </a:pPr>
            <a:r>
              <a:rPr b="1" lang="en" sz="4300">
                <a:solidFill>
                  <a:srgbClr val="374151"/>
                </a:solidFill>
              </a:rPr>
              <a:t>Alucinación Intrínseca:</a:t>
            </a:r>
            <a:r>
              <a:rPr lang="en" sz="4300">
                <a:solidFill>
                  <a:srgbClr val="374151"/>
                </a:solidFill>
              </a:rPr>
              <a:t> El contenido generado contradice directamente el contenido fuente. Por ejemplo, representando erróneamente fechas o eventos factuales.</a:t>
            </a:r>
            <a:endParaRPr sz="4300">
              <a:solidFill>
                <a:srgbClr val="374151"/>
              </a:solidFill>
            </a:endParaRPr>
          </a:p>
          <a:p>
            <a:pPr indent="-29686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ct val="100000"/>
              <a:buFont typeface="Arial"/>
              <a:buChar char="●"/>
            </a:pPr>
            <a:r>
              <a:rPr b="1" lang="en" sz="4300">
                <a:solidFill>
                  <a:srgbClr val="374151"/>
                </a:solidFill>
              </a:rPr>
              <a:t>Alucinación Extrínseca:</a:t>
            </a:r>
            <a:r>
              <a:rPr lang="en" sz="4300">
                <a:solidFill>
                  <a:srgbClr val="374151"/>
                </a:solidFill>
              </a:rPr>
              <a:t> El contenido generado no puede ser verificado ni contradicho por la fuente. Esto podría involucrar agregar detalles no verificables o información no presente en la entrada.</a:t>
            </a:r>
            <a:endParaRPr sz="4300">
              <a:solidFill>
                <a:srgbClr val="374151"/>
              </a:solidFill>
            </a:endParaRPr>
          </a:p>
          <a:p>
            <a:pPr indent="-29686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ct val="100000"/>
              <a:buFont typeface="Arial"/>
              <a:buChar char="●"/>
            </a:pPr>
            <a:r>
              <a:rPr b="1" lang="en" sz="4300">
                <a:solidFill>
                  <a:srgbClr val="374151"/>
                </a:solidFill>
              </a:rPr>
              <a:t>Fidelidad:</a:t>
            </a:r>
            <a:r>
              <a:rPr lang="en" sz="4300">
                <a:solidFill>
                  <a:srgbClr val="374151"/>
                </a:solidFill>
              </a:rPr>
              <a:t> Adherencia al contenido fuente. Los trabajos que se enfocan en maximizar la fidelidad buscan minimizar la alucinación.</a:t>
            </a:r>
            <a:endParaRPr sz="4300">
              <a:solidFill>
                <a:srgbClr val="374151"/>
              </a:solidFill>
            </a:endParaRPr>
          </a:p>
          <a:p>
            <a:pPr indent="-29686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ct val="100000"/>
              <a:buFont typeface="Arial"/>
              <a:buChar char="●"/>
            </a:pPr>
            <a:r>
              <a:rPr b="1" lang="en" sz="4300">
                <a:solidFill>
                  <a:srgbClr val="374151"/>
                </a:solidFill>
              </a:rPr>
              <a:t>Facticidad:</a:t>
            </a:r>
            <a:r>
              <a:rPr lang="en" sz="4300">
                <a:solidFill>
                  <a:srgbClr val="374151"/>
                </a:solidFill>
              </a:rPr>
              <a:t> Se refiere a la alineación con contenido actual o factual. Esto puede ser diferente de la fidelidad dependiendo del 'hecho' definido (conocimiento del mundo vs. entrada de la fuente).</a:t>
            </a:r>
            <a:endParaRPr sz="4300">
              <a:solidFill>
                <a:srgbClr val="37415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n" sz="4300">
                <a:solidFill>
                  <a:srgbClr val="374151"/>
                </a:solidFill>
              </a:rPr>
              <a:t>Causas Impulsadas por Datos:</a:t>
            </a:r>
            <a:endParaRPr sz="4300">
              <a:solidFill>
                <a:srgbClr val="374151"/>
              </a:solidFill>
            </a:endParaRPr>
          </a:p>
          <a:p>
            <a:pPr indent="-296865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374151"/>
              </a:buClr>
              <a:buSzPct val="100000"/>
              <a:buChar char="●"/>
            </a:pPr>
            <a:r>
              <a:rPr lang="en" sz="4300">
                <a:solidFill>
                  <a:srgbClr val="374151"/>
                </a:solidFill>
              </a:rPr>
              <a:t>Las alucinaciones pueden surgir debido a</a:t>
            </a:r>
            <a:r>
              <a:rPr b="1" lang="en" sz="4300">
                <a:solidFill>
                  <a:srgbClr val="374151"/>
                </a:solidFill>
              </a:rPr>
              <a:t> errores en datos de entrenamiento.</a:t>
            </a:r>
            <a:r>
              <a:rPr lang="en" sz="4300">
                <a:solidFill>
                  <a:srgbClr val="374151"/>
                </a:solidFill>
              </a:rPr>
              <a:t> </a:t>
            </a:r>
            <a:endParaRPr sz="4300">
              <a:solidFill>
                <a:srgbClr val="374151"/>
              </a:solidFill>
            </a:endParaRPr>
          </a:p>
          <a:p>
            <a:pPr indent="-29686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ct val="100000"/>
              <a:buChar char="●"/>
            </a:pPr>
            <a:r>
              <a:rPr lang="en" sz="4300">
                <a:solidFill>
                  <a:srgbClr val="374151"/>
                </a:solidFill>
              </a:rPr>
              <a:t>Debido a la naturaleza inherente de algunas tareas de NLG que </a:t>
            </a:r>
            <a:r>
              <a:rPr b="1" lang="en" sz="4300">
                <a:solidFill>
                  <a:srgbClr val="374151"/>
                </a:solidFill>
              </a:rPr>
              <a:t>fomentan la divergencia por ejemplo creatividad</a:t>
            </a:r>
            <a:r>
              <a:rPr lang="en" sz="4300">
                <a:solidFill>
                  <a:srgbClr val="374151"/>
                </a:solidFill>
              </a:rPr>
              <a:t>.</a:t>
            </a:r>
            <a:endParaRPr sz="4300">
              <a:solidFill>
                <a:srgbClr val="37415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ct val="25581"/>
              <a:buFont typeface="Arial"/>
              <a:buNone/>
            </a:pPr>
            <a:r>
              <a:rPr lang="en" sz="4300">
                <a:solidFill>
                  <a:srgbClr val="374151"/>
                </a:solidFill>
              </a:rPr>
              <a:t>Influencias en el Entrenamiento y Modelado:</a:t>
            </a:r>
            <a:endParaRPr sz="4300">
              <a:solidFill>
                <a:srgbClr val="374151"/>
              </a:solidFill>
            </a:endParaRPr>
          </a:p>
          <a:p>
            <a:pPr indent="-296865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374151"/>
              </a:buClr>
              <a:buSzPct val="100000"/>
              <a:buChar char="●"/>
            </a:pPr>
            <a:r>
              <a:rPr lang="en" sz="4300">
                <a:solidFill>
                  <a:srgbClr val="374151"/>
                </a:solidFill>
              </a:rPr>
              <a:t>El aprendizaje de representación imperfecto, errores en la decodificación, sesgo de exposición durante el entrenamiento y el conocimiento fijo inherente del modelo pueden contribuir a las alucinaciones.</a:t>
            </a:r>
            <a:endParaRPr sz="4300">
              <a:solidFill>
                <a:srgbClr val="374151"/>
              </a:solidFill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74151"/>
              </a:solidFill>
              <a:highlight>
                <a:srgbClr val="F7F7F8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86"/>
          <p:cNvSpPr txBox="1"/>
          <p:nvPr>
            <p:ph type="title"/>
          </p:nvPr>
        </p:nvSpPr>
        <p:spPr>
          <a:xfrm>
            <a:off x="822960" y="7313"/>
            <a:ext cx="7543800" cy="5883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Cómo mitigar las alucinaciones</a:t>
            </a:r>
            <a:endParaRPr/>
          </a:p>
        </p:txBody>
      </p:sp>
      <p:sp>
        <p:nvSpPr>
          <p:cNvPr id="725" name="Google Shape;725;p86"/>
          <p:cNvSpPr txBox="1"/>
          <p:nvPr>
            <p:ph idx="1" type="body"/>
          </p:nvPr>
        </p:nvSpPr>
        <p:spPr>
          <a:xfrm>
            <a:off x="822960" y="649137"/>
            <a:ext cx="7543800" cy="3752700"/>
          </a:xfrm>
          <a:prstGeom prst="rect">
            <a:avLst/>
          </a:prstGeom>
        </p:spPr>
        <p:txBody>
          <a:bodyPr anchorCtr="0" anchor="t" bIns="34275" lIns="0" spcFirstLastPara="1" rIns="0" wrap="square" tIns="34275">
            <a:normAutofit/>
          </a:bodyPr>
          <a:lstStyle/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9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Mejorar calidad de datos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Mejorar modelos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Reinforcement</a:t>
            </a:r>
            <a:r>
              <a:rPr lang="en"/>
              <a:t> Learning via Reward models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Atención, sesgo condicionado por la fuente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Fuentes externas (e.g., RAG)</a:t>
            </a:r>
            <a:endParaRPr/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p87"/>
          <p:cNvSpPr txBox="1"/>
          <p:nvPr>
            <p:ph type="title"/>
          </p:nvPr>
        </p:nvSpPr>
        <p:spPr>
          <a:xfrm>
            <a:off x="822960" y="7313"/>
            <a:ext cx="7543800" cy="5883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Mejores modelos </a:t>
            </a:r>
            <a:endParaRPr/>
          </a:p>
        </p:txBody>
      </p:sp>
      <p:pic>
        <p:nvPicPr>
          <p:cNvPr id="731" name="Google Shape;731;p8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5263" y="649124"/>
            <a:ext cx="5132025" cy="4030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32" name="Google Shape;732;p8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13275" y="1422300"/>
            <a:ext cx="3362225" cy="1452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88"/>
          <p:cNvSpPr/>
          <p:nvPr/>
        </p:nvSpPr>
        <p:spPr>
          <a:xfrm>
            <a:off x="1822988" y="3640139"/>
            <a:ext cx="1584300" cy="9969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5875">
            <a:solidFill>
              <a:srgbClr val="0B49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Big LLM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ser Generic Flat icon" id="738" name="Google Shape;738;p8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35565" y="2635516"/>
            <a:ext cx="359172" cy="35917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39" name="Google Shape;739;p88"/>
          <p:cNvCxnSpPr>
            <a:stCxn id="738" idx="2"/>
            <a:endCxn id="737" idx="0"/>
          </p:cNvCxnSpPr>
          <p:nvPr/>
        </p:nvCxnSpPr>
        <p:spPr>
          <a:xfrm>
            <a:off x="2615151" y="2994688"/>
            <a:ext cx="0" cy="645600"/>
          </a:xfrm>
          <a:prstGeom prst="straightConnector1">
            <a:avLst/>
          </a:prstGeom>
          <a:noFill/>
          <a:ln cap="flat" cmpd="sng" w="31750">
            <a:solidFill>
              <a:srgbClr val="00206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40" name="Google Shape;740;p88"/>
          <p:cNvSpPr txBox="1"/>
          <p:nvPr/>
        </p:nvSpPr>
        <p:spPr>
          <a:xfrm>
            <a:off x="2681443" y="3147852"/>
            <a:ext cx="5811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1" lang="en" sz="1400" u="none" cap="none" strike="noStrike">
                <a:solidFill>
                  <a:srgbClr val="76CEEF"/>
                </a:solidFill>
                <a:latin typeface="Calibri"/>
                <a:ea typeface="Calibri"/>
                <a:cs typeface="Calibri"/>
                <a:sym typeface="Calibri"/>
              </a:rPr>
              <a:t>Input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1" name="Google Shape;741;p88"/>
          <p:cNvSpPr/>
          <p:nvPr/>
        </p:nvSpPr>
        <p:spPr>
          <a:xfrm>
            <a:off x="4686192" y="3779856"/>
            <a:ext cx="1451100" cy="739800"/>
          </a:xfrm>
          <a:prstGeom prst="rect">
            <a:avLst/>
          </a:prstGeom>
          <a:solidFill>
            <a:schemeClr val="accent1"/>
          </a:solidFill>
          <a:ln cap="flat" cmpd="sng" w="15875">
            <a:solidFill>
              <a:srgbClr val="0B49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Motor de Búsqueda Interno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42" name="Google Shape;742;p88"/>
          <p:cNvCxnSpPr/>
          <p:nvPr/>
        </p:nvCxnSpPr>
        <p:spPr>
          <a:xfrm>
            <a:off x="3390496" y="3941673"/>
            <a:ext cx="1278900" cy="111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dash"/>
            <a:round/>
            <a:headEnd len="sm" w="sm" type="none"/>
            <a:tailEnd len="med" w="med" type="triangle"/>
          </a:ln>
        </p:spPr>
      </p:cxnSp>
      <p:cxnSp>
        <p:nvCxnSpPr>
          <p:cNvPr id="743" name="Google Shape;743;p88"/>
          <p:cNvCxnSpPr/>
          <p:nvPr/>
        </p:nvCxnSpPr>
        <p:spPr>
          <a:xfrm>
            <a:off x="3407314" y="4353902"/>
            <a:ext cx="1278900" cy="111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dash"/>
            <a:round/>
            <a:headEnd len="med" w="med" type="triangle"/>
            <a:tailEnd len="sm" w="sm" type="none"/>
          </a:ln>
        </p:spPr>
      </p:cxnSp>
      <p:cxnSp>
        <p:nvCxnSpPr>
          <p:cNvPr id="744" name="Google Shape;744;p88"/>
          <p:cNvCxnSpPr>
            <a:stCxn id="737" idx="2"/>
            <a:endCxn id="738" idx="3"/>
          </p:cNvCxnSpPr>
          <p:nvPr/>
        </p:nvCxnSpPr>
        <p:spPr>
          <a:xfrm rot="-5400000">
            <a:off x="1794038" y="3636239"/>
            <a:ext cx="1821900" cy="179700"/>
          </a:xfrm>
          <a:prstGeom prst="bentConnector4">
            <a:avLst>
              <a:gd fmla="val -9410" name="adj1"/>
              <a:gd fmla="val 2253712" name="adj2"/>
            </a:avLst>
          </a:prstGeom>
          <a:noFill/>
          <a:ln cap="flat" cmpd="sng" w="31750">
            <a:solidFill>
              <a:srgbClr val="00206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45" name="Google Shape;745;p88"/>
          <p:cNvSpPr txBox="1"/>
          <p:nvPr/>
        </p:nvSpPr>
        <p:spPr>
          <a:xfrm>
            <a:off x="2681442" y="4852377"/>
            <a:ext cx="10905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1" lang="en" sz="1400" u="none" cap="none" strike="noStrike">
                <a:solidFill>
                  <a:srgbClr val="76CEEF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6" name="Google Shape;746;p88"/>
          <p:cNvSpPr txBox="1"/>
          <p:nvPr>
            <p:ph idx="1" type="body"/>
          </p:nvPr>
        </p:nvSpPr>
        <p:spPr>
          <a:xfrm>
            <a:off x="336350" y="968575"/>
            <a:ext cx="7730700" cy="16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rmAutofit fontScale="250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94737"/>
              <a:buNone/>
            </a:pPr>
            <a:r>
              <a:rPr lang="en" sz="5700"/>
              <a:t>Ampliar el contexto con información externa mejora la factualidad de las respuestas</a:t>
            </a:r>
            <a:br>
              <a:rPr lang="en" sz="5700"/>
            </a:br>
            <a:endParaRPr sz="57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94737"/>
              <a:buNone/>
            </a:pPr>
            <a:r>
              <a:rPr lang="en" sz="5700"/>
              <a:t>Se customiza el uso para usuarios o empresas: El modelo accede a documentos personales o internos de una empresa.</a:t>
            </a:r>
            <a:br>
              <a:rPr lang="en" sz="5700"/>
            </a:br>
            <a:endParaRPr sz="57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94737"/>
              <a:buNone/>
            </a:pPr>
            <a:r>
              <a:rPr lang="en" sz="5700"/>
              <a:t>RAG combina el poder de generación del modelo con la búsqueda en colección específica de documentos:</a:t>
            </a:r>
            <a:endParaRPr sz="57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94737"/>
              <a:buNone/>
            </a:pPr>
            <a:r>
              <a:t/>
            </a:r>
            <a:endParaRPr sz="5700"/>
          </a:p>
          <a:p>
            <a:pPr indent="-319088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 sz="5700"/>
              <a:t>Búsqueda de documentos relevantes</a:t>
            </a:r>
            <a:endParaRPr sz="5700"/>
          </a:p>
          <a:p>
            <a:pPr indent="-319088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 sz="5700"/>
              <a:t>Generar Respuesta</a:t>
            </a:r>
            <a:endParaRPr/>
          </a:p>
        </p:txBody>
      </p:sp>
      <p:sp>
        <p:nvSpPr>
          <p:cNvPr id="747" name="Google Shape;747;p88"/>
          <p:cNvSpPr txBox="1"/>
          <p:nvPr>
            <p:ph type="title"/>
          </p:nvPr>
        </p:nvSpPr>
        <p:spPr>
          <a:xfrm>
            <a:off x="822960" y="7313"/>
            <a:ext cx="7543800" cy="5883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Información Externa RAGs</a:t>
            </a:r>
            <a:endParaRPr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89"/>
          <p:cNvSpPr txBox="1"/>
          <p:nvPr>
            <p:ph type="title"/>
          </p:nvPr>
        </p:nvSpPr>
        <p:spPr>
          <a:xfrm>
            <a:off x="822960" y="7313"/>
            <a:ext cx="7543800" cy="5883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Información Externa RAGs</a:t>
            </a:r>
            <a:endParaRPr/>
          </a:p>
        </p:txBody>
      </p:sp>
      <p:pic>
        <p:nvPicPr>
          <p:cNvPr id="753" name="Google Shape;753;p8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80600" y="745250"/>
            <a:ext cx="5477975" cy="3827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p90"/>
          <p:cNvSpPr txBox="1"/>
          <p:nvPr>
            <p:ph type="title"/>
          </p:nvPr>
        </p:nvSpPr>
        <p:spPr>
          <a:xfrm>
            <a:off x="822960" y="7313"/>
            <a:ext cx="7543800" cy="5883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Costo</a:t>
            </a:r>
            <a:endParaRPr/>
          </a:p>
        </p:txBody>
      </p:sp>
      <p:sp>
        <p:nvSpPr>
          <p:cNvPr id="759" name="Google Shape;759;p90"/>
          <p:cNvSpPr txBox="1"/>
          <p:nvPr>
            <p:ph idx="1" type="body"/>
          </p:nvPr>
        </p:nvSpPr>
        <p:spPr>
          <a:xfrm>
            <a:off x="822960" y="649137"/>
            <a:ext cx="7543800" cy="3752700"/>
          </a:xfrm>
          <a:prstGeom prst="rect">
            <a:avLst/>
          </a:prstGeom>
        </p:spPr>
        <p:txBody>
          <a:bodyPr anchorCtr="0" anchor="t" bIns="34275" lIns="0" spcFirstLastPara="1" rIns="0" wrap="square" tIns="34275">
            <a:normAutofit/>
          </a:bodyPr>
          <a:lstStyle/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Large Language Models: A New Moore's Law?" id="760" name="Google Shape;760;p9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50" y="649125"/>
            <a:ext cx="6912900" cy="410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91"/>
          <p:cNvSpPr txBox="1"/>
          <p:nvPr>
            <p:ph idx="1" type="body"/>
          </p:nvPr>
        </p:nvSpPr>
        <p:spPr>
          <a:xfrm>
            <a:off x="430511" y="718502"/>
            <a:ext cx="8563500" cy="37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"/>
              <a:t> </a:t>
            </a:r>
            <a:endParaRPr/>
          </a:p>
          <a:p>
            <a:pPr indent="0" lvl="0" marL="6350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ts val="15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766" name="Google Shape;766;p91"/>
          <p:cNvSpPr/>
          <p:nvPr/>
        </p:nvSpPr>
        <p:spPr>
          <a:xfrm>
            <a:off x="774544" y="484088"/>
            <a:ext cx="7915200" cy="230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" name="Google Shape;767;p91"/>
          <p:cNvSpPr txBox="1"/>
          <p:nvPr>
            <p:ph idx="1" type="body"/>
          </p:nvPr>
        </p:nvSpPr>
        <p:spPr>
          <a:xfrm>
            <a:off x="859245" y="987072"/>
            <a:ext cx="3015600" cy="33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rmAutofit fontScale="250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"/>
              <a:buNone/>
            </a:pPr>
            <a:r>
              <a:rPr lang="en" sz="7800"/>
              <a:t>Significativos costos de entrenamiento, hosting e inferencia.</a:t>
            </a:r>
            <a:endParaRPr sz="78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"/>
              <a:buNone/>
            </a:pPr>
            <a:r>
              <a:t/>
            </a:r>
            <a:endParaRPr sz="78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"/>
              <a:buNone/>
            </a:pPr>
            <a:r>
              <a:rPr lang="en" sz="7800"/>
              <a:t>Requerimientos sustanciales de infraestructura.</a:t>
            </a:r>
            <a:endParaRPr sz="78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"/>
              <a:buNone/>
            </a:pPr>
            <a:r>
              <a:t/>
            </a:r>
            <a:endParaRPr sz="78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"/>
              <a:buNone/>
            </a:pPr>
            <a:r>
              <a:rPr lang="en" sz="7800"/>
              <a:t>Creciente demanda de chips GPU.</a:t>
            </a:r>
            <a:endParaRPr sz="78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"/>
              <a:buNone/>
            </a:pPr>
            <a:r>
              <a:t/>
            </a:r>
            <a:endParaRPr sz="78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"/>
              <a:buNone/>
            </a:pPr>
            <a:r>
              <a:rPr lang="en" sz="7800"/>
              <a:t>Impacto Ambiental: Mayor consumo de energía y emisiones de carbono.</a:t>
            </a:r>
            <a:endParaRPr sz="78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"/>
              <a:buNone/>
            </a:pPr>
            <a:r>
              <a:t/>
            </a:r>
            <a:endParaRPr sz="78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"/>
              <a:buNone/>
            </a:pPr>
            <a:r>
              <a:t/>
            </a:r>
            <a:endParaRPr sz="78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"/>
              <a:buNone/>
            </a:pPr>
            <a:r>
              <a:t/>
            </a:r>
            <a:endParaRPr sz="84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75"/>
              <a:buNone/>
            </a:pPr>
            <a:r>
              <a:t/>
            </a:r>
            <a:endParaRPr sz="8400"/>
          </a:p>
          <a:p>
            <a:pPr indent="0" lvl="0" marL="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ct val="83333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ct val="83333"/>
              <a:buNone/>
            </a:pPr>
            <a:r>
              <a:t/>
            </a:r>
            <a:endParaRPr/>
          </a:p>
        </p:txBody>
      </p:sp>
      <p:sp>
        <p:nvSpPr>
          <p:cNvPr id="768" name="Google Shape;768;p91"/>
          <p:cNvSpPr txBox="1"/>
          <p:nvPr>
            <p:ph idx="1" type="body"/>
          </p:nvPr>
        </p:nvSpPr>
        <p:spPr>
          <a:xfrm>
            <a:off x="327340" y="837653"/>
            <a:ext cx="531900" cy="7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rmAutofit fontScale="250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75"/>
              <a:buNone/>
            </a:pPr>
            <a:r>
              <a:rPr lang="en" sz="20700">
                <a:solidFill>
                  <a:srgbClr val="4A86E8"/>
                </a:solidFill>
              </a:rPr>
              <a:t>&gt;</a:t>
            </a:r>
            <a:endParaRPr sz="20700">
              <a:solidFill>
                <a:srgbClr val="4A86E8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ct val="83333"/>
              <a:buNone/>
            </a:pPr>
            <a:r>
              <a:t/>
            </a:r>
            <a:endParaRPr>
              <a:solidFill>
                <a:srgbClr val="4A86E8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ct val="83333"/>
              <a:buNone/>
            </a:pPr>
            <a:r>
              <a:t/>
            </a:r>
            <a:endParaRPr>
              <a:solidFill>
                <a:srgbClr val="4A86E8"/>
              </a:solidFill>
            </a:endParaRPr>
          </a:p>
        </p:txBody>
      </p:sp>
      <p:pic>
        <p:nvPicPr>
          <p:cNvPr descr="Cost comparison of different LLMs compared to GPT 3.5, bar graph, with GPT 4 highest, Claude and GPT 3.5 smaller" id="769" name="Google Shape;769;p9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14750" y="932373"/>
            <a:ext cx="3690025" cy="2280775"/>
          </a:xfrm>
          <a:prstGeom prst="rect">
            <a:avLst/>
          </a:prstGeom>
          <a:noFill/>
          <a:ln>
            <a:noFill/>
          </a:ln>
        </p:spPr>
      </p:pic>
      <p:sp>
        <p:nvSpPr>
          <p:cNvPr id="770" name="Google Shape;770;p91"/>
          <p:cNvSpPr txBox="1"/>
          <p:nvPr>
            <p:ph idx="1" type="body"/>
          </p:nvPr>
        </p:nvSpPr>
        <p:spPr>
          <a:xfrm>
            <a:off x="327340" y="1678343"/>
            <a:ext cx="531900" cy="7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rmAutofit fontScale="250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75"/>
              <a:buNone/>
            </a:pPr>
            <a:r>
              <a:rPr lang="en" sz="20700">
                <a:solidFill>
                  <a:srgbClr val="4A86E8"/>
                </a:solidFill>
              </a:rPr>
              <a:t>&gt;</a:t>
            </a:r>
            <a:endParaRPr sz="20700">
              <a:solidFill>
                <a:srgbClr val="4A86E8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ct val="83333"/>
              <a:buNone/>
            </a:pPr>
            <a:r>
              <a:t/>
            </a:r>
            <a:endParaRPr>
              <a:solidFill>
                <a:srgbClr val="4A86E8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ct val="83333"/>
              <a:buNone/>
            </a:pPr>
            <a:r>
              <a:t/>
            </a:r>
            <a:endParaRPr>
              <a:solidFill>
                <a:srgbClr val="4A86E8"/>
              </a:solidFill>
            </a:endParaRPr>
          </a:p>
        </p:txBody>
      </p:sp>
      <p:sp>
        <p:nvSpPr>
          <p:cNvPr id="771" name="Google Shape;771;p91"/>
          <p:cNvSpPr txBox="1"/>
          <p:nvPr>
            <p:ph idx="1" type="body"/>
          </p:nvPr>
        </p:nvSpPr>
        <p:spPr>
          <a:xfrm>
            <a:off x="327340" y="2289087"/>
            <a:ext cx="531900" cy="7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rmAutofit fontScale="250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75"/>
              <a:buNone/>
            </a:pPr>
            <a:r>
              <a:rPr lang="en" sz="20700">
                <a:solidFill>
                  <a:srgbClr val="4A86E8"/>
                </a:solidFill>
              </a:rPr>
              <a:t>&gt;</a:t>
            </a:r>
            <a:endParaRPr sz="20700">
              <a:solidFill>
                <a:srgbClr val="4A86E8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ct val="83333"/>
              <a:buNone/>
            </a:pPr>
            <a:r>
              <a:t/>
            </a:r>
            <a:endParaRPr>
              <a:solidFill>
                <a:srgbClr val="4A86E8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ct val="83333"/>
              <a:buNone/>
            </a:pPr>
            <a:r>
              <a:t/>
            </a:r>
            <a:endParaRPr>
              <a:solidFill>
                <a:srgbClr val="4A86E8"/>
              </a:solidFill>
            </a:endParaRPr>
          </a:p>
        </p:txBody>
      </p:sp>
      <p:sp>
        <p:nvSpPr>
          <p:cNvPr id="772" name="Google Shape;772;p91"/>
          <p:cNvSpPr txBox="1"/>
          <p:nvPr>
            <p:ph idx="1" type="body"/>
          </p:nvPr>
        </p:nvSpPr>
        <p:spPr>
          <a:xfrm>
            <a:off x="327340" y="2960356"/>
            <a:ext cx="531900" cy="7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rmAutofit fontScale="250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75"/>
              <a:buNone/>
            </a:pPr>
            <a:r>
              <a:rPr lang="en" sz="20700">
                <a:solidFill>
                  <a:srgbClr val="4A86E8"/>
                </a:solidFill>
              </a:rPr>
              <a:t>&gt;</a:t>
            </a:r>
            <a:endParaRPr sz="20700">
              <a:solidFill>
                <a:srgbClr val="4A86E8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ct val="83333"/>
              <a:buNone/>
            </a:pPr>
            <a:r>
              <a:t/>
            </a:r>
            <a:endParaRPr>
              <a:solidFill>
                <a:srgbClr val="4A86E8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ct val="83333"/>
              <a:buNone/>
            </a:pPr>
            <a:r>
              <a:t/>
            </a:r>
            <a:endParaRPr>
              <a:solidFill>
                <a:srgbClr val="4A86E8"/>
              </a:solidFill>
            </a:endParaRPr>
          </a:p>
        </p:txBody>
      </p:sp>
      <p:sp>
        <p:nvSpPr>
          <p:cNvPr id="773" name="Google Shape;773;p91"/>
          <p:cNvSpPr txBox="1"/>
          <p:nvPr>
            <p:ph type="title"/>
          </p:nvPr>
        </p:nvSpPr>
        <p:spPr>
          <a:xfrm>
            <a:off x="822960" y="7313"/>
            <a:ext cx="7543800" cy="5883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Los LLMs son muy costosos</a:t>
            </a:r>
            <a:endParaRPr/>
          </a:p>
        </p:txBody>
      </p:sp>
      <p:pic>
        <p:nvPicPr>
          <p:cNvPr id="774" name="Google Shape;774;p9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43740" y="3431329"/>
            <a:ext cx="5032033" cy="1588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p92"/>
          <p:cNvSpPr/>
          <p:nvPr/>
        </p:nvSpPr>
        <p:spPr>
          <a:xfrm>
            <a:off x="811238" y="1267816"/>
            <a:ext cx="7637400" cy="224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0" name="Google Shape;780;p92"/>
          <p:cNvSpPr txBox="1"/>
          <p:nvPr>
            <p:ph idx="1" type="body"/>
          </p:nvPr>
        </p:nvSpPr>
        <p:spPr>
          <a:xfrm>
            <a:off x="348320" y="935828"/>
            <a:ext cx="267900" cy="4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rmAutofit fontScale="250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75"/>
              <a:buNone/>
            </a:pPr>
            <a:r>
              <a:rPr lang="en" sz="13200">
                <a:solidFill>
                  <a:srgbClr val="4A86E8"/>
                </a:solidFill>
              </a:rPr>
              <a:t>&gt;</a:t>
            </a:r>
            <a:endParaRPr sz="13200">
              <a:solidFill>
                <a:srgbClr val="4A86E8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ct val="83333"/>
              <a:buNone/>
            </a:pPr>
            <a:r>
              <a:t/>
            </a:r>
            <a:endParaRPr>
              <a:solidFill>
                <a:srgbClr val="4A86E8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ct val="83333"/>
              <a:buNone/>
            </a:pPr>
            <a:r>
              <a:t/>
            </a:r>
            <a:endParaRPr>
              <a:solidFill>
                <a:srgbClr val="4A86E8"/>
              </a:solidFill>
            </a:endParaRPr>
          </a:p>
        </p:txBody>
      </p:sp>
      <p:sp>
        <p:nvSpPr>
          <p:cNvPr id="781" name="Google Shape;781;p92"/>
          <p:cNvSpPr txBox="1"/>
          <p:nvPr>
            <p:ph idx="1" type="body"/>
          </p:nvPr>
        </p:nvSpPr>
        <p:spPr>
          <a:xfrm>
            <a:off x="689888" y="1035147"/>
            <a:ext cx="8088600" cy="2145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" sz="12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Objetivo: </a:t>
            </a:r>
            <a:r>
              <a:rPr b="0" i="0" lang="en" sz="12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reducir el tamaño y la complejidad del modelo, facilitando y acelerando su despliegue</a:t>
            </a:r>
            <a:endParaRPr sz="1200"/>
          </a:p>
          <a:p>
            <a:pPr indent="0" lvl="0" marL="0" rtl="0" algn="l">
              <a:lnSpc>
                <a:spcPct val="80000"/>
              </a:lnSpc>
              <a:spcBef>
                <a:spcPts val="1100"/>
              </a:spcBef>
              <a:spcAft>
                <a:spcPts val="0"/>
              </a:spcAft>
              <a:buSzPts val="1400"/>
              <a:buNone/>
            </a:pPr>
            <a:r>
              <a:rPr b="0" i="0" lang="en" sz="12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Una técnica para transferir conocimiento de un modelo grande (maestro) a un modelo más pequeño (estudiante)</a:t>
            </a:r>
            <a:endParaRPr sz="1200"/>
          </a:p>
          <a:p>
            <a:pPr indent="0" lvl="0" marL="0" rtl="0" algn="l">
              <a:lnSpc>
                <a:spcPct val="80000"/>
              </a:lnSpc>
              <a:spcBef>
                <a:spcPts val="1100"/>
              </a:spcBef>
              <a:spcAft>
                <a:spcPts val="0"/>
              </a:spcAft>
              <a:buSzPts val="1400"/>
              <a:buNone/>
            </a:pPr>
            <a:r>
              <a:rPr b="0" i="0" lang="en" sz="12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El estudiante aprende a imitar las predicciones del maestro </a:t>
            </a:r>
            <a:endParaRPr b="0" i="0" sz="1200">
              <a:solidFill>
                <a:srgbClr val="11111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0000"/>
              </a:lnSpc>
              <a:spcBef>
                <a:spcPts val="1100"/>
              </a:spcBef>
              <a:spcAft>
                <a:spcPts val="0"/>
              </a:spcAft>
              <a:buSzPts val="1400"/>
              <a:buNone/>
            </a:pPr>
            <a:r>
              <a:rPr b="0" i="0" lang="en" sz="12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Puede imitar los “comportamientos” o ser directamente en datos generados por el maestro </a:t>
            </a:r>
            <a:endParaRPr sz="1200">
              <a:solidFill>
                <a:srgbClr val="11111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0000"/>
              </a:lnSpc>
              <a:spcBef>
                <a:spcPts val="1100"/>
              </a:spcBef>
              <a:spcAft>
                <a:spcPts val="0"/>
              </a:spcAft>
              <a:buSzPts val="1500"/>
              <a:buNone/>
            </a:pPr>
            <a:r>
              <a:rPr b="0" i="0" lang="en" sz="12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Una simple destilación basada en datos</a:t>
            </a:r>
            <a:endParaRPr b="0" i="0" sz="1200">
              <a:solidFill>
                <a:srgbClr val="11111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342900" rtl="0" algn="l">
              <a:lnSpc>
                <a:spcPct val="80000"/>
              </a:lnSpc>
              <a:spcBef>
                <a:spcPts val="1100"/>
              </a:spcBef>
              <a:spcAft>
                <a:spcPts val="0"/>
              </a:spcAft>
              <a:buSzPts val="1200"/>
              <a:buFont typeface="Calibri"/>
              <a:buAutoNum type="arabicPeriod"/>
            </a:pPr>
            <a:r>
              <a:rPr b="0" i="0" lang="en" sz="12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Generar un conjunto de datos utilizando las predicciones del modelo maestro</a:t>
            </a:r>
            <a:endParaRPr sz="1200"/>
          </a:p>
          <a:p>
            <a:pPr indent="-317500" lvl="0" marL="342900" rtl="0" algn="l">
              <a:lnSpc>
                <a:spcPct val="80000"/>
              </a:lnSpc>
              <a:spcBef>
                <a:spcPts val="1100"/>
              </a:spcBef>
              <a:spcAft>
                <a:spcPts val="0"/>
              </a:spcAft>
              <a:buSzPts val="1200"/>
              <a:buFont typeface="Calibri"/>
              <a:buAutoNum type="arabicPeriod"/>
            </a:pPr>
            <a:r>
              <a:rPr b="0" i="0" lang="en" sz="12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Afinar el modelo estudiante pre-entrenado en el conjunto de datos mediante instrucciones específicas</a:t>
            </a:r>
            <a:endParaRPr b="0" i="0" sz="1200">
              <a:solidFill>
                <a:srgbClr val="11111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2" name="Google Shape;782;p92"/>
          <p:cNvSpPr/>
          <p:nvPr/>
        </p:nvSpPr>
        <p:spPr>
          <a:xfrm>
            <a:off x="1069561" y="3623556"/>
            <a:ext cx="1584300" cy="13536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5875">
            <a:solidFill>
              <a:srgbClr val="0B49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LLM Grande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3" name="Google Shape;783;p92"/>
          <p:cNvSpPr/>
          <p:nvPr/>
        </p:nvSpPr>
        <p:spPr>
          <a:xfrm>
            <a:off x="6774869" y="4014582"/>
            <a:ext cx="1327200" cy="5715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5875">
            <a:solidFill>
              <a:srgbClr val="0B49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LLM Chico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4" name="Google Shape;784;p92"/>
          <p:cNvSpPr/>
          <p:nvPr/>
        </p:nvSpPr>
        <p:spPr>
          <a:xfrm>
            <a:off x="3932777" y="4066469"/>
            <a:ext cx="1327200" cy="467700"/>
          </a:xfrm>
          <a:prstGeom prst="ellipse">
            <a:avLst/>
          </a:prstGeom>
          <a:solidFill>
            <a:schemeClr val="accent1"/>
          </a:solidFill>
          <a:ln cap="flat" cmpd="sng" w="15875">
            <a:solidFill>
              <a:srgbClr val="0B49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Datos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85" name="Google Shape;785;p92"/>
          <p:cNvCxnSpPr>
            <a:stCxn id="782" idx="3"/>
            <a:endCxn id="784" idx="2"/>
          </p:cNvCxnSpPr>
          <p:nvPr/>
        </p:nvCxnSpPr>
        <p:spPr>
          <a:xfrm>
            <a:off x="2653862" y="4300356"/>
            <a:ext cx="1278900" cy="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86" name="Google Shape;786;p92"/>
          <p:cNvCxnSpPr>
            <a:stCxn id="784" idx="6"/>
            <a:endCxn id="783" idx="1"/>
          </p:cNvCxnSpPr>
          <p:nvPr/>
        </p:nvCxnSpPr>
        <p:spPr>
          <a:xfrm>
            <a:off x="5259977" y="4300319"/>
            <a:ext cx="1515000" cy="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87" name="Google Shape;787;p92"/>
          <p:cNvSpPr txBox="1"/>
          <p:nvPr/>
        </p:nvSpPr>
        <p:spPr>
          <a:xfrm>
            <a:off x="2822864" y="3996582"/>
            <a:ext cx="8286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1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Generar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8" name="Google Shape;788;p92"/>
          <p:cNvSpPr txBox="1"/>
          <p:nvPr/>
        </p:nvSpPr>
        <p:spPr>
          <a:xfrm>
            <a:off x="5255965" y="3969831"/>
            <a:ext cx="14508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1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Instruction Tuning</a:t>
            </a:r>
            <a:endParaRPr b="1" i="1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9" name="Google Shape;789;p92"/>
          <p:cNvSpPr txBox="1"/>
          <p:nvPr>
            <p:ph idx="1" type="body"/>
          </p:nvPr>
        </p:nvSpPr>
        <p:spPr>
          <a:xfrm>
            <a:off x="348320" y="1230690"/>
            <a:ext cx="267900" cy="4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rmAutofit fontScale="250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75"/>
              <a:buNone/>
            </a:pPr>
            <a:r>
              <a:rPr lang="en" sz="13200">
                <a:solidFill>
                  <a:srgbClr val="4A86E8"/>
                </a:solidFill>
              </a:rPr>
              <a:t>&gt;</a:t>
            </a:r>
            <a:endParaRPr sz="13200">
              <a:solidFill>
                <a:srgbClr val="4A86E8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ct val="83333"/>
              <a:buNone/>
            </a:pPr>
            <a:r>
              <a:t/>
            </a:r>
            <a:endParaRPr>
              <a:solidFill>
                <a:srgbClr val="4A86E8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ct val="83333"/>
              <a:buNone/>
            </a:pPr>
            <a:r>
              <a:t/>
            </a:r>
            <a:endParaRPr>
              <a:solidFill>
                <a:srgbClr val="4A86E8"/>
              </a:solidFill>
            </a:endParaRPr>
          </a:p>
        </p:txBody>
      </p:sp>
      <p:sp>
        <p:nvSpPr>
          <p:cNvPr id="790" name="Google Shape;790;p92"/>
          <p:cNvSpPr txBox="1"/>
          <p:nvPr>
            <p:ph idx="1" type="body"/>
          </p:nvPr>
        </p:nvSpPr>
        <p:spPr>
          <a:xfrm>
            <a:off x="348320" y="1520153"/>
            <a:ext cx="267900" cy="4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rmAutofit fontScale="250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75"/>
              <a:buNone/>
            </a:pPr>
            <a:r>
              <a:rPr lang="en" sz="13200">
                <a:solidFill>
                  <a:srgbClr val="4A86E8"/>
                </a:solidFill>
              </a:rPr>
              <a:t>&gt;</a:t>
            </a:r>
            <a:endParaRPr sz="13200">
              <a:solidFill>
                <a:srgbClr val="4A86E8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ct val="83333"/>
              <a:buNone/>
            </a:pPr>
            <a:r>
              <a:t/>
            </a:r>
            <a:endParaRPr>
              <a:solidFill>
                <a:srgbClr val="4A86E8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ct val="83333"/>
              <a:buNone/>
            </a:pPr>
            <a:r>
              <a:t/>
            </a:r>
            <a:endParaRPr>
              <a:solidFill>
                <a:srgbClr val="4A86E8"/>
              </a:solidFill>
            </a:endParaRPr>
          </a:p>
        </p:txBody>
      </p:sp>
      <p:sp>
        <p:nvSpPr>
          <p:cNvPr id="791" name="Google Shape;791;p92"/>
          <p:cNvSpPr txBox="1"/>
          <p:nvPr>
            <p:ph idx="1" type="body"/>
          </p:nvPr>
        </p:nvSpPr>
        <p:spPr>
          <a:xfrm>
            <a:off x="348320" y="1757865"/>
            <a:ext cx="267900" cy="4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rmAutofit fontScale="250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75"/>
              <a:buNone/>
            </a:pPr>
            <a:r>
              <a:rPr lang="en" sz="13200">
                <a:solidFill>
                  <a:srgbClr val="4A86E8"/>
                </a:solidFill>
              </a:rPr>
              <a:t>&gt;</a:t>
            </a:r>
            <a:endParaRPr sz="13200">
              <a:solidFill>
                <a:srgbClr val="4A86E8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ct val="83333"/>
              <a:buNone/>
            </a:pPr>
            <a:r>
              <a:t/>
            </a:r>
            <a:endParaRPr>
              <a:solidFill>
                <a:srgbClr val="4A86E8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ct val="83333"/>
              <a:buNone/>
            </a:pPr>
            <a:r>
              <a:t/>
            </a:r>
            <a:endParaRPr>
              <a:solidFill>
                <a:srgbClr val="4A86E8"/>
              </a:solidFill>
            </a:endParaRPr>
          </a:p>
        </p:txBody>
      </p:sp>
      <p:sp>
        <p:nvSpPr>
          <p:cNvPr id="792" name="Google Shape;792;p92"/>
          <p:cNvSpPr txBox="1"/>
          <p:nvPr>
            <p:ph type="title"/>
          </p:nvPr>
        </p:nvSpPr>
        <p:spPr>
          <a:xfrm>
            <a:off x="822960" y="7313"/>
            <a:ext cx="7543800" cy="5883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Destilando LLMs</a:t>
            </a:r>
            <a:endParaRPr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6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p93"/>
          <p:cNvSpPr txBox="1"/>
          <p:nvPr>
            <p:ph type="title"/>
          </p:nvPr>
        </p:nvSpPr>
        <p:spPr>
          <a:xfrm>
            <a:off x="1742995" y="152084"/>
            <a:ext cx="5658000" cy="441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Calibri"/>
              <a:buNone/>
            </a:pPr>
            <a:r>
              <a:rPr lang="en"/>
              <a:t>Early Exit: Avoiding overthinking</a:t>
            </a:r>
            <a:endParaRPr/>
          </a:p>
        </p:txBody>
      </p:sp>
      <p:sp>
        <p:nvSpPr>
          <p:cNvPr id="798" name="Google Shape;798;p93"/>
          <p:cNvSpPr/>
          <p:nvPr/>
        </p:nvSpPr>
        <p:spPr>
          <a:xfrm>
            <a:off x="1646822" y="2457449"/>
            <a:ext cx="3039600" cy="303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9" name="Google Shape;799;p93"/>
          <p:cNvSpPr txBox="1"/>
          <p:nvPr>
            <p:ph idx="1" type="body"/>
          </p:nvPr>
        </p:nvSpPr>
        <p:spPr>
          <a:xfrm>
            <a:off x="800110" y="1197612"/>
            <a:ext cx="7543800" cy="27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rmAutofit fontScale="77500" lnSpcReduction="20000"/>
          </a:bodyPr>
          <a:lstStyle/>
          <a:p>
            <a:pPr indent="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11111"/>
              </a:solidFill>
            </a:endParaRPr>
          </a:p>
          <a:p>
            <a:pPr indent="-73819" lvl="0" marL="635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83333"/>
              <a:buFont typeface="Arial"/>
              <a:buChar char="•"/>
            </a:pPr>
            <a:r>
              <a:rPr b="0" i="0" lang="en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Hidden states during generation tend to saturate </a:t>
            </a:r>
            <a:endParaRPr/>
          </a:p>
          <a:p>
            <a:pPr indent="0" lvl="0" marL="6350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ct val="83333"/>
              <a:buFont typeface="Arial"/>
              <a:buNone/>
            </a:pPr>
            <a:r>
              <a:t/>
            </a:r>
            <a:endParaRPr>
              <a:solidFill>
                <a:srgbClr val="11111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6350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ct val="83333"/>
              <a:buFont typeface="Arial"/>
              <a:buNone/>
            </a:pPr>
            <a:r>
              <a:t/>
            </a:r>
            <a:endParaRPr b="0" i="0">
              <a:solidFill>
                <a:srgbClr val="11111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6350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ct val="83333"/>
              <a:buFont typeface="Arial"/>
              <a:buNone/>
            </a:pPr>
            <a:r>
              <a:t/>
            </a:r>
            <a:endParaRPr>
              <a:solidFill>
                <a:srgbClr val="11111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6350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ct val="83333"/>
              <a:buFont typeface="Arial"/>
              <a:buNone/>
            </a:pPr>
            <a:r>
              <a:t/>
            </a:r>
            <a:endParaRPr b="0" i="0">
              <a:solidFill>
                <a:srgbClr val="11111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ct val="83333"/>
              <a:buNone/>
            </a:pPr>
            <a:r>
              <a:rPr lang="en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34290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11111"/>
              </a:solidFill>
            </a:endParaRPr>
          </a:p>
          <a:p>
            <a:pPr indent="0" lvl="0" marL="6350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ct val="83333"/>
              <a:buFont typeface="Arial"/>
              <a:buNone/>
            </a:pPr>
            <a:r>
              <a:t/>
            </a:r>
            <a:endParaRPr>
              <a:solidFill>
                <a:srgbClr val="11111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6350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ct val="83333"/>
              <a:buFont typeface="Arial"/>
              <a:buNone/>
            </a:pPr>
            <a:r>
              <a:t/>
            </a:r>
            <a:endParaRPr b="0" i="0">
              <a:solidFill>
                <a:srgbClr val="11111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00" name="Google Shape;800;p9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4315" y="2279905"/>
            <a:ext cx="8061075" cy="250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94"/>
          <p:cNvSpPr txBox="1"/>
          <p:nvPr>
            <p:ph type="title"/>
          </p:nvPr>
        </p:nvSpPr>
        <p:spPr>
          <a:xfrm>
            <a:off x="622020" y="342009"/>
            <a:ext cx="5658000" cy="441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Calibri"/>
              <a:buNone/>
            </a:pPr>
            <a:r>
              <a:rPr lang="en"/>
              <a:t>Early Exit</a:t>
            </a:r>
            <a:endParaRPr/>
          </a:p>
        </p:txBody>
      </p:sp>
      <p:sp>
        <p:nvSpPr>
          <p:cNvPr id="806" name="Google Shape;806;p94"/>
          <p:cNvSpPr/>
          <p:nvPr/>
        </p:nvSpPr>
        <p:spPr>
          <a:xfrm>
            <a:off x="1646822" y="2457449"/>
            <a:ext cx="3039600" cy="303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7" name="Google Shape;807;p94"/>
          <p:cNvSpPr/>
          <p:nvPr/>
        </p:nvSpPr>
        <p:spPr>
          <a:xfrm>
            <a:off x="909722" y="1972932"/>
            <a:ext cx="955500" cy="2796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5875">
            <a:solidFill>
              <a:srgbClr val="147E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Layer n</a:t>
            </a:r>
            <a:endParaRPr sz="1100"/>
          </a:p>
        </p:txBody>
      </p:sp>
      <p:sp>
        <p:nvSpPr>
          <p:cNvPr id="808" name="Google Shape;808;p94"/>
          <p:cNvSpPr/>
          <p:nvPr/>
        </p:nvSpPr>
        <p:spPr>
          <a:xfrm>
            <a:off x="909722" y="2411083"/>
            <a:ext cx="955500" cy="2796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5875">
            <a:solidFill>
              <a:srgbClr val="147E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 sz="1100"/>
          </a:p>
        </p:txBody>
      </p:sp>
      <p:sp>
        <p:nvSpPr>
          <p:cNvPr id="809" name="Google Shape;809;p94"/>
          <p:cNvSpPr/>
          <p:nvPr/>
        </p:nvSpPr>
        <p:spPr>
          <a:xfrm>
            <a:off x="938297" y="2849234"/>
            <a:ext cx="955500" cy="2796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5875">
            <a:solidFill>
              <a:srgbClr val="147E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Layer 4</a:t>
            </a:r>
            <a:endParaRPr sz="1100"/>
          </a:p>
        </p:txBody>
      </p:sp>
      <p:sp>
        <p:nvSpPr>
          <p:cNvPr id="810" name="Google Shape;810;p94"/>
          <p:cNvSpPr/>
          <p:nvPr/>
        </p:nvSpPr>
        <p:spPr>
          <a:xfrm>
            <a:off x="938297" y="3287384"/>
            <a:ext cx="955500" cy="2796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5875">
            <a:solidFill>
              <a:srgbClr val="147E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Layer 3</a:t>
            </a:r>
            <a:endParaRPr sz="1100"/>
          </a:p>
        </p:txBody>
      </p:sp>
      <p:sp>
        <p:nvSpPr>
          <p:cNvPr id="811" name="Google Shape;811;p94"/>
          <p:cNvSpPr/>
          <p:nvPr/>
        </p:nvSpPr>
        <p:spPr>
          <a:xfrm>
            <a:off x="938297" y="3725535"/>
            <a:ext cx="955500" cy="2796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5875">
            <a:solidFill>
              <a:srgbClr val="147E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Layer 2</a:t>
            </a:r>
            <a:endParaRPr sz="1100"/>
          </a:p>
        </p:txBody>
      </p:sp>
      <p:sp>
        <p:nvSpPr>
          <p:cNvPr id="812" name="Google Shape;812;p94"/>
          <p:cNvSpPr/>
          <p:nvPr/>
        </p:nvSpPr>
        <p:spPr>
          <a:xfrm>
            <a:off x="909722" y="4166864"/>
            <a:ext cx="955500" cy="2796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5875">
            <a:solidFill>
              <a:srgbClr val="147E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Layer 1</a:t>
            </a:r>
            <a:endParaRPr sz="1100"/>
          </a:p>
        </p:txBody>
      </p:sp>
      <p:sp>
        <p:nvSpPr>
          <p:cNvPr id="813" name="Google Shape;813;p94"/>
          <p:cNvSpPr/>
          <p:nvPr/>
        </p:nvSpPr>
        <p:spPr>
          <a:xfrm>
            <a:off x="2132096" y="3725535"/>
            <a:ext cx="955500" cy="2796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5875">
            <a:solidFill>
              <a:srgbClr val="147E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4" name="Google Shape;814;p94"/>
          <p:cNvSpPr/>
          <p:nvPr/>
        </p:nvSpPr>
        <p:spPr>
          <a:xfrm>
            <a:off x="2103522" y="4166864"/>
            <a:ext cx="955500" cy="2796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5875">
            <a:solidFill>
              <a:srgbClr val="147E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5" name="Google Shape;815;p94"/>
          <p:cNvSpPr/>
          <p:nvPr/>
        </p:nvSpPr>
        <p:spPr>
          <a:xfrm>
            <a:off x="3325897" y="3287384"/>
            <a:ext cx="955500" cy="2796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5875">
            <a:solidFill>
              <a:srgbClr val="147E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6" name="Google Shape;816;p94"/>
          <p:cNvSpPr/>
          <p:nvPr/>
        </p:nvSpPr>
        <p:spPr>
          <a:xfrm>
            <a:off x="3325896" y="3725535"/>
            <a:ext cx="955500" cy="2796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5875">
            <a:solidFill>
              <a:srgbClr val="147E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7" name="Google Shape;817;p94"/>
          <p:cNvSpPr/>
          <p:nvPr/>
        </p:nvSpPr>
        <p:spPr>
          <a:xfrm>
            <a:off x="3297322" y="4166864"/>
            <a:ext cx="955500" cy="2796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5875">
            <a:solidFill>
              <a:srgbClr val="147E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8" name="Google Shape;818;p94"/>
          <p:cNvSpPr/>
          <p:nvPr/>
        </p:nvSpPr>
        <p:spPr>
          <a:xfrm>
            <a:off x="4519696" y="3725535"/>
            <a:ext cx="955500" cy="2796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5875">
            <a:solidFill>
              <a:srgbClr val="147E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9" name="Google Shape;819;p94"/>
          <p:cNvSpPr/>
          <p:nvPr/>
        </p:nvSpPr>
        <p:spPr>
          <a:xfrm>
            <a:off x="4491122" y="4166864"/>
            <a:ext cx="955500" cy="2796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5875">
            <a:solidFill>
              <a:srgbClr val="147E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0" name="Google Shape;820;p94"/>
          <p:cNvSpPr/>
          <p:nvPr/>
        </p:nvSpPr>
        <p:spPr>
          <a:xfrm>
            <a:off x="5713496" y="2849234"/>
            <a:ext cx="955500" cy="2796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5875">
            <a:solidFill>
              <a:srgbClr val="147E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1" name="Google Shape;821;p94"/>
          <p:cNvSpPr/>
          <p:nvPr/>
        </p:nvSpPr>
        <p:spPr>
          <a:xfrm>
            <a:off x="5713496" y="3287384"/>
            <a:ext cx="955500" cy="2796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5875">
            <a:solidFill>
              <a:srgbClr val="147E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2" name="Google Shape;822;p94"/>
          <p:cNvSpPr/>
          <p:nvPr/>
        </p:nvSpPr>
        <p:spPr>
          <a:xfrm>
            <a:off x="5713496" y="3725535"/>
            <a:ext cx="955500" cy="2796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5875">
            <a:solidFill>
              <a:srgbClr val="147E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3" name="Google Shape;823;p94"/>
          <p:cNvSpPr/>
          <p:nvPr/>
        </p:nvSpPr>
        <p:spPr>
          <a:xfrm>
            <a:off x="5684921" y="4166864"/>
            <a:ext cx="955500" cy="2796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5875">
            <a:solidFill>
              <a:srgbClr val="147E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4" name="Google Shape;824;p94"/>
          <p:cNvSpPr/>
          <p:nvPr/>
        </p:nvSpPr>
        <p:spPr>
          <a:xfrm>
            <a:off x="6878721" y="4166864"/>
            <a:ext cx="955500" cy="2796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5875">
            <a:solidFill>
              <a:srgbClr val="147E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5" name="Google Shape;825;p94"/>
          <p:cNvSpPr txBox="1"/>
          <p:nvPr/>
        </p:nvSpPr>
        <p:spPr>
          <a:xfrm>
            <a:off x="1071647" y="4469693"/>
            <a:ext cx="4380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6" name="Google Shape;826;p94"/>
          <p:cNvSpPr txBox="1"/>
          <p:nvPr/>
        </p:nvSpPr>
        <p:spPr>
          <a:xfrm>
            <a:off x="2362284" y="4469693"/>
            <a:ext cx="4380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Cat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7" name="Google Shape;827;p94"/>
          <p:cNvSpPr txBox="1"/>
          <p:nvPr/>
        </p:nvSpPr>
        <p:spPr>
          <a:xfrm>
            <a:off x="3556084" y="4469693"/>
            <a:ext cx="4380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8" name="Google Shape;828;p94"/>
          <p:cNvSpPr txBox="1"/>
          <p:nvPr/>
        </p:nvSpPr>
        <p:spPr>
          <a:xfrm>
            <a:off x="4674476" y="4469693"/>
            <a:ext cx="5889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under</a:t>
            </a:r>
            <a:endParaRPr sz="1100"/>
          </a:p>
        </p:txBody>
      </p:sp>
      <p:sp>
        <p:nvSpPr>
          <p:cNvPr id="829" name="Google Shape;829;p94"/>
          <p:cNvSpPr txBox="1"/>
          <p:nvPr/>
        </p:nvSpPr>
        <p:spPr>
          <a:xfrm>
            <a:off x="5974252" y="4471675"/>
            <a:ext cx="4380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</a:t>
            </a:r>
            <a:endParaRPr sz="1100"/>
          </a:p>
        </p:txBody>
      </p:sp>
      <p:sp>
        <p:nvSpPr>
          <p:cNvPr id="830" name="Google Shape;830;p94"/>
          <p:cNvSpPr txBox="1"/>
          <p:nvPr/>
        </p:nvSpPr>
        <p:spPr>
          <a:xfrm>
            <a:off x="7090651" y="4474847"/>
            <a:ext cx="5889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Table</a:t>
            </a:r>
            <a:endParaRPr sz="1100"/>
          </a:p>
        </p:txBody>
      </p:sp>
      <p:sp>
        <p:nvSpPr>
          <p:cNvPr id="831" name="Google Shape;831;p94"/>
          <p:cNvSpPr txBox="1"/>
          <p:nvPr/>
        </p:nvSpPr>
        <p:spPr>
          <a:xfrm>
            <a:off x="1178009" y="1672504"/>
            <a:ext cx="4380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Cat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2" name="Google Shape;832;p94"/>
          <p:cNvSpPr txBox="1"/>
          <p:nvPr/>
        </p:nvSpPr>
        <p:spPr>
          <a:xfrm>
            <a:off x="2385698" y="1691555"/>
            <a:ext cx="4380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3" name="Google Shape;833;p94"/>
          <p:cNvSpPr txBox="1"/>
          <p:nvPr/>
        </p:nvSpPr>
        <p:spPr>
          <a:xfrm>
            <a:off x="3511235" y="1668557"/>
            <a:ext cx="5889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under</a:t>
            </a:r>
            <a:endParaRPr sz="1100"/>
          </a:p>
        </p:txBody>
      </p:sp>
      <p:sp>
        <p:nvSpPr>
          <p:cNvPr id="834" name="Google Shape;834;p94"/>
          <p:cNvSpPr txBox="1"/>
          <p:nvPr/>
        </p:nvSpPr>
        <p:spPr>
          <a:xfrm>
            <a:off x="4809028" y="1674500"/>
            <a:ext cx="5238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</a:t>
            </a:r>
            <a:endParaRPr sz="1100"/>
          </a:p>
        </p:txBody>
      </p:sp>
      <p:sp>
        <p:nvSpPr>
          <p:cNvPr id="835" name="Google Shape;835;p94"/>
          <p:cNvSpPr txBox="1"/>
          <p:nvPr/>
        </p:nvSpPr>
        <p:spPr>
          <a:xfrm>
            <a:off x="5882564" y="1677659"/>
            <a:ext cx="5889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Table</a:t>
            </a:r>
            <a:endParaRPr sz="1100"/>
          </a:p>
        </p:txBody>
      </p:sp>
      <p:sp>
        <p:nvSpPr>
          <p:cNvPr id="836" name="Google Shape;836;p94"/>
          <p:cNvSpPr txBox="1"/>
          <p:nvPr/>
        </p:nvSpPr>
        <p:spPr>
          <a:xfrm>
            <a:off x="7062077" y="1670692"/>
            <a:ext cx="5889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&lt;end&gt;</a:t>
            </a:r>
            <a:endParaRPr sz="1100"/>
          </a:p>
        </p:txBody>
      </p:sp>
      <p:sp>
        <p:nvSpPr>
          <p:cNvPr id="837" name="Google Shape;837;p94"/>
          <p:cNvSpPr/>
          <p:nvPr/>
        </p:nvSpPr>
        <p:spPr>
          <a:xfrm>
            <a:off x="2103522" y="2849233"/>
            <a:ext cx="955500" cy="2796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587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8" name="Google Shape;838;p94"/>
          <p:cNvSpPr/>
          <p:nvPr/>
        </p:nvSpPr>
        <p:spPr>
          <a:xfrm>
            <a:off x="2103522" y="3284207"/>
            <a:ext cx="955500" cy="2796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587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9" name="Google Shape;839;p94"/>
          <p:cNvSpPr/>
          <p:nvPr/>
        </p:nvSpPr>
        <p:spPr>
          <a:xfrm>
            <a:off x="2104900" y="2407134"/>
            <a:ext cx="955500" cy="2796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587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0" name="Google Shape;840;p94"/>
          <p:cNvSpPr/>
          <p:nvPr/>
        </p:nvSpPr>
        <p:spPr>
          <a:xfrm>
            <a:off x="2080793" y="1972157"/>
            <a:ext cx="955500" cy="2796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587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41" name="Google Shape;841;p94"/>
          <p:cNvCxnSpPr>
            <a:stCxn id="813" idx="0"/>
          </p:cNvCxnSpPr>
          <p:nvPr/>
        </p:nvCxnSpPr>
        <p:spPr>
          <a:xfrm rot="10800000">
            <a:off x="2599046" y="1949535"/>
            <a:ext cx="10800" cy="177600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42" name="Google Shape;842;p94"/>
          <p:cNvSpPr/>
          <p:nvPr/>
        </p:nvSpPr>
        <p:spPr>
          <a:xfrm>
            <a:off x="3319985" y="2838512"/>
            <a:ext cx="955500" cy="2796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587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3" name="Google Shape;843;p94"/>
          <p:cNvSpPr/>
          <p:nvPr/>
        </p:nvSpPr>
        <p:spPr>
          <a:xfrm>
            <a:off x="3321698" y="2412209"/>
            <a:ext cx="955500" cy="2796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587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4" name="Google Shape;844;p94"/>
          <p:cNvSpPr/>
          <p:nvPr/>
        </p:nvSpPr>
        <p:spPr>
          <a:xfrm>
            <a:off x="3297322" y="1970880"/>
            <a:ext cx="955500" cy="2796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587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45" name="Google Shape;845;p94"/>
          <p:cNvCxnSpPr>
            <a:stCxn id="815" idx="0"/>
            <a:endCxn id="833" idx="2"/>
          </p:cNvCxnSpPr>
          <p:nvPr/>
        </p:nvCxnSpPr>
        <p:spPr>
          <a:xfrm flipH="1" rot="10800000">
            <a:off x="3803647" y="1953284"/>
            <a:ext cx="2100" cy="133410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46" name="Google Shape;846;p94"/>
          <p:cNvSpPr/>
          <p:nvPr/>
        </p:nvSpPr>
        <p:spPr>
          <a:xfrm>
            <a:off x="4567845" y="2845631"/>
            <a:ext cx="955500" cy="2796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587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7" name="Google Shape;847;p94"/>
          <p:cNvSpPr/>
          <p:nvPr/>
        </p:nvSpPr>
        <p:spPr>
          <a:xfrm>
            <a:off x="4567845" y="3280604"/>
            <a:ext cx="955500" cy="2796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587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8" name="Google Shape;848;p94"/>
          <p:cNvSpPr/>
          <p:nvPr/>
        </p:nvSpPr>
        <p:spPr>
          <a:xfrm>
            <a:off x="4569223" y="2403532"/>
            <a:ext cx="955500" cy="2796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587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9" name="Google Shape;849;p94"/>
          <p:cNvSpPr/>
          <p:nvPr/>
        </p:nvSpPr>
        <p:spPr>
          <a:xfrm>
            <a:off x="4545116" y="1968554"/>
            <a:ext cx="955500" cy="2796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587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50" name="Google Shape;850;p94"/>
          <p:cNvCxnSpPr>
            <a:stCxn id="818" idx="0"/>
            <a:endCxn id="849" idx="0"/>
          </p:cNvCxnSpPr>
          <p:nvPr/>
        </p:nvCxnSpPr>
        <p:spPr>
          <a:xfrm flipH="1" rot="10800000">
            <a:off x="4997446" y="1968435"/>
            <a:ext cx="25500" cy="175710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51" name="Google Shape;851;p94"/>
          <p:cNvSpPr/>
          <p:nvPr/>
        </p:nvSpPr>
        <p:spPr>
          <a:xfrm>
            <a:off x="5738456" y="2403532"/>
            <a:ext cx="955500" cy="2796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587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2" name="Google Shape;852;p94"/>
          <p:cNvSpPr/>
          <p:nvPr/>
        </p:nvSpPr>
        <p:spPr>
          <a:xfrm>
            <a:off x="5714350" y="1968554"/>
            <a:ext cx="955500" cy="2796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587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53" name="Google Shape;853;p94"/>
          <p:cNvCxnSpPr>
            <a:stCxn id="820" idx="0"/>
            <a:endCxn id="835" idx="2"/>
          </p:cNvCxnSpPr>
          <p:nvPr/>
        </p:nvCxnSpPr>
        <p:spPr>
          <a:xfrm rot="10800000">
            <a:off x="6177146" y="1962434"/>
            <a:ext cx="14100" cy="88680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54" name="Google Shape;854;p94"/>
          <p:cNvSpPr/>
          <p:nvPr/>
        </p:nvSpPr>
        <p:spPr>
          <a:xfrm>
            <a:off x="6843481" y="3290561"/>
            <a:ext cx="955500" cy="2796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587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5" name="Google Shape;855;p94"/>
          <p:cNvSpPr/>
          <p:nvPr/>
        </p:nvSpPr>
        <p:spPr>
          <a:xfrm>
            <a:off x="6843481" y="3725535"/>
            <a:ext cx="955500" cy="2796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587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6" name="Google Shape;856;p94"/>
          <p:cNvSpPr/>
          <p:nvPr/>
        </p:nvSpPr>
        <p:spPr>
          <a:xfrm>
            <a:off x="6844859" y="2848463"/>
            <a:ext cx="955500" cy="2796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587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7" name="Google Shape;857;p94"/>
          <p:cNvSpPr/>
          <p:nvPr/>
        </p:nvSpPr>
        <p:spPr>
          <a:xfrm>
            <a:off x="6820752" y="2413485"/>
            <a:ext cx="955500" cy="2796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587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8" name="Google Shape;858;p94"/>
          <p:cNvSpPr/>
          <p:nvPr/>
        </p:nvSpPr>
        <p:spPr>
          <a:xfrm>
            <a:off x="6820751" y="1968554"/>
            <a:ext cx="955500" cy="2796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587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59" name="Google Shape;859;p94"/>
          <p:cNvCxnSpPr>
            <a:stCxn id="824" idx="0"/>
            <a:endCxn id="836" idx="2"/>
          </p:cNvCxnSpPr>
          <p:nvPr/>
        </p:nvCxnSpPr>
        <p:spPr>
          <a:xfrm rot="10800000">
            <a:off x="7356471" y="2170664"/>
            <a:ext cx="0" cy="199620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3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p95"/>
          <p:cNvSpPr txBox="1"/>
          <p:nvPr>
            <p:ph type="title"/>
          </p:nvPr>
        </p:nvSpPr>
        <p:spPr>
          <a:xfrm>
            <a:off x="622020" y="342009"/>
            <a:ext cx="5658000" cy="441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Calibri"/>
              <a:buNone/>
            </a:pPr>
            <a:r>
              <a:rPr lang="en"/>
              <a:t>Early Exit Implementación</a:t>
            </a:r>
            <a:endParaRPr/>
          </a:p>
        </p:txBody>
      </p:sp>
      <p:sp>
        <p:nvSpPr>
          <p:cNvPr id="865" name="Google Shape;865;p95"/>
          <p:cNvSpPr txBox="1"/>
          <p:nvPr/>
        </p:nvSpPr>
        <p:spPr>
          <a:xfrm>
            <a:off x="622025" y="1124000"/>
            <a:ext cx="70371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Métricas de Saturación de los Hidden States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en" sz="1800">
                <a:solidFill>
                  <a:schemeClr val="dk2"/>
                </a:solidFill>
              </a:rPr>
              <a:t>Cuán lejos está un hidden state del siguiente?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Clasificación: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en" sz="1800">
                <a:solidFill>
                  <a:schemeClr val="dk2"/>
                </a:solidFill>
              </a:rPr>
              <a:t>Aprender un clasificador que me diga </a:t>
            </a:r>
            <a:r>
              <a:rPr lang="en" sz="1800">
                <a:solidFill>
                  <a:schemeClr val="dk2"/>
                </a:solidFill>
              </a:rPr>
              <a:t>cuándo</a:t>
            </a:r>
            <a:r>
              <a:rPr lang="en" sz="1800">
                <a:solidFill>
                  <a:schemeClr val="dk2"/>
                </a:solidFill>
              </a:rPr>
              <a:t> salir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Softmax Response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en" sz="1800">
                <a:solidFill>
                  <a:schemeClr val="dk2"/>
                </a:solidFill>
              </a:rPr>
              <a:t>Si la red está muy segura de que token elegir paraar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866" name="Google Shape;866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36125" y="3025750"/>
            <a:ext cx="4283141" cy="186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p96"/>
          <p:cNvSpPr txBox="1"/>
          <p:nvPr>
            <p:ph type="title"/>
          </p:nvPr>
        </p:nvSpPr>
        <p:spPr>
          <a:xfrm>
            <a:off x="822960" y="7313"/>
            <a:ext cx="7543800" cy="5883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Los Problemas de Early Exit</a:t>
            </a:r>
            <a:endParaRPr/>
          </a:p>
        </p:txBody>
      </p:sp>
      <p:sp>
        <p:nvSpPr>
          <p:cNvPr id="872" name="Google Shape;872;p96"/>
          <p:cNvSpPr txBox="1"/>
          <p:nvPr>
            <p:ph idx="1" type="body"/>
          </p:nvPr>
        </p:nvSpPr>
        <p:spPr>
          <a:xfrm>
            <a:off x="822960" y="649137"/>
            <a:ext cx="7543800" cy="3752700"/>
          </a:xfrm>
          <a:prstGeom prst="rect">
            <a:avLst/>
          </a:prstGeom>
        </p:spPr>
        <p:txBody>
          <a:bodyPr anchorCtr="0" anchor="t" bIns="34275" lIns="0" spcFirstLastPara="1" rIns="0" wrap="square" tIns="34275">
            <a:normAutofit/>
          </a:bodyPr>
          <a:lstStyle/>
          <a:p>
            <a:pPr indent="-317500" lvl="0" marL="457200" rtl="0" algn="l">
              <a:spcBef>
                <a:spcPts val="9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Batching: Hay que esperar a que salga el último token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KV Caching: Si un token sale después hay que recalcular el cache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Eficiencia: Si el token sale antes no atiende al último layer del previo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Incertidumbre de Costo: El peor caso es el costo de toda la red</a:t>
            </a:r>
            <a:endParaRPr/>
          </a:p>
        </p:txBody>
      </p:sp>
      <p:pic>
        <p:nvPicPr>
          <p:cNvPr id="873" name="Google Shape;873;p96"/>
          <p:cNvPicPr preferRelativeResize="0"/>
          <p:nvPr/>
        </p:nvPicPr>
        <p:blipFill rotWithShape="1">
          <a:blip r:embed="rId3">
            <a:alphaModFix/>
          </a:blip>
          <a:srcRect b="0" l="0" r="0" t="1691"/>
          <a:stretch/>
        </p:blipFill>
        <p:spPr>
          <a:xfrm>
            <a:off x="1189473" y="1840975"/>
            <a:ext cx="6511150" cy="294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7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p97"/>
          <p:cNvSpPr txBox="1"/>
          <p:nvPr>
            <p:ph type="title"/>
          </p:nvPr>
        </p:nvSpPr>
        <p:spPr>
          <a:xfrm>
            <a:off x="822960" y="7313"/>
            <a:ext cx="7543800" cy="5883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Skipping vs. Early Exit</a:t>
            </a:r>
            <a:endParaRPr/>
          </a:p>
        </p:txBody>
      </p:sp>
      <p:pic>
        <p:nvPicPr>
          <p:cNvPr id="879" name="Google Shape;879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14575" y="1759300"/>
            <a:ext cx="6360550" cy="3323126"/>
          </a:xfrm>
          <a:prstGeom prst="rect">
            <a:avLst/>
          </a:prstGeom>
          <a:noFill/>
          <a:ln>
            <a:noFill/>
          </a:ln>
        </p:spPr>
      </p:pic>
      <p:sp>
        <p:nvSpPr>
          <p:cNvPr id="880" name="Google Shape;880;p97"/>
          <p:cNvSpPr txBox="1"/>
          <p:nvPr>
            <p:ph idx="1" type="body"/>
          </p:nvPr>
        </p:nvSpPr>
        <p:spPr>
          <a:xfrm>
            <a:off x="822960" y="649137"/>
            <a:ext cx="7543800" cy="3752700"/>
          </a:xfrm>
          <a:prstGeom prst="rect">
            <a:avLst/>
          </a:prstGeom>
        </p:spPr>
        <p:txBody>
          <a:bodyPr anchorCtr="0" anchor="t" bIns="34275" lIns="0" spcFirstLastPara="1" rIns="0" wrap="square" tIns="34275">
            <a:normAutofit/>
          </a:bodyPr>
          <a:lstStyle/>
          <a:p>
            <a:pPr indent="-317500" lvl="0" marL="457200" rtl="0" algn="l">
              <a:spcBef>
                <a:spcPts val="9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Batching: Cada posición sale en el mismo lugar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KV Caching: Los tokens posteriores usan menos layers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Eficiencia: Se priorizan los layers superiores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Incertidumbre de Costo: Política de salida estática</a:t>
            </a:r>
            <a:endParaRPr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98"/>
          <p:cNvSpPr/>
          <p:nvPr/>
        </p:nvSpPr>
        <p:spPr>
          <a:xfrm>
            <a:off x="1646822" y="2457449"/>
            <a:ext cx="3039600" cy="303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6" name="Google Shape;886;p98"/>
          <p:cNvSpPr txBox="1"/>
          <p:nvPr/>
        </p:nvSpPr>
        <p:spPr>
          <a:xfrm>
            <a:off x="831984" y="56943"/>
            <a:ext cx="7543800" cy="588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 fontScale="85000" lnSpcReduction="20000"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Calibri"/>
              <a:buNone/>
            </a:pPr>
            <a:r>
              <a:rPr lang="en" sz="60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Costo predecible</a:t>
            </a:r>
            <a:endParaRPr sz="1100"/>
          </a:p>
        </p:txBody>
      </p:sp>
      <p:pic>
        <p:nvPicPr>
          <p:cNvPr id="887" name="Google Shape;887;p98"/>
          <p:cNvPicPr preferRelativeResize="0"/>
          <p:nvPr/>
        </p:nvPicPr>
        <p:blipFill rotWithShape="1">
          <a:blip r:embed="rId3">
            <a:alphaModFix/>
          </a:blip>
          <a:srcRect b="0" l="25070" r="25802" t="34521"/>
          <a:stretch/>
        </p:blipFill>
        <p:spPr>
          <a:xfrm>
            <a:off x="2015289" y="1370902"/>
            <a:ext cx="4626144" cy="31413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p99"/>
          <p:cNvSpPr txBox="1"/>
          <p:nvPr>
            <p:ph type="title"/>
          </p:nvPr>
        </p:nvSpPr>
        <p:spPr>
          <a:xfrm>
            <a:off x="800110" y="-12"/>
            <a:ext cx="7543800" cy="5883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Toxicidad y Sesgo en LLMs</a:t>
            </a:r>
            <a:endParaRPr/>
          </a:p>
        </p:txBody>
      </p:sp>
      <p:sp>
        <p:nvSpPr>
          <p:cNvPr id="893" name="Google Shape;893;p99"/>
          <p:cNvSpPr txBox="1"/>
          <p:nvPr>
            <p:ph idx="1" type="body"/>
          </p:nvPr>
        </p:nvSpPr>
        <p:spPr>
          <a:xfrm>
            <a:off x="305425" y="649125"/>
            <a:ext cx="8576700" cy="3752700"/>
          </a:xfrm>
          <a:prstGeom prst="rect">
            <a:avLst/>
          </a:prstGeom>
        </p:spPr>
        <p:txBody>
          <a:bodyPr anchorCtr="0" anchor="t" bIns="34275" lIns="0" spcFirstLastPara="1" rIns="0" wrap="square" tIns="34275">
            <a:norm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/>
              <a:t>La </a:t>
            </a:r>
            <a:r>
              <a:rPr b="1" lang="en"/>
              <a:t>toxicidad </a:t>
            </a:r>
            <a:r>
              <a:rPr lang="en"/>
              <a:t>incluye lenguaje que es grosero, irrespetuoso o irrazonable, u ofensivo, incluyendo las sutilezas del lenguaje dañino​​.</a:t>
            </a:r>
            <a:endParaRPr/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b="1" lang="en"/>
              <a:t>Sesgo</a:t>
            </a:r>
            <a:r>
              <a:rPr lang="en"/>
              <a:t>: Más allá de la discriminación explícita, el sesgo incluye preferencias distribucionales sutiles que pueden no ser inmediatamente evidentes, pero que impactan significativamente en la equidad​​.</a:t>
            </a:r>
            <a:endParaRPr/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/>
              <a:t>Complejidad en las Salidas de los LLMs: Los LLMs pueden generar salidas tóxicas inadvertidamente debido a sus </a:t>
            </a:r>
            <a:r>
              <a:rPr b="1" lang="en"/>
              <a:t>datos de entrenamiento</a:t>
            </a:r>
            <a:r>
              <a:rPr lang="en"/>
              <a:t>. La evaluación de estas salidas debe considerar tanto métricas de toxicidad automáticas como el juicio humano.</a:t>
            </a:r>
            <a:endParaRPr/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/>
              <a:t>Doble naturaleza del sesgo, el sesgo de clasificación que conduce a falsos positivos y el </a:t>
            </a:r>
            <a:r>
              <a:rPr b="1" lang="en"/>
              <a:t>impacto dispar a través de idiomas</a:t>
            </a:r>
            <a:r>
              <a:rPr lang="en"/>
              <a:t>, que puede perpetuar sesgos sociales​.</a:t>
            </a:r>
            <a:endParaRPr sz="1200">
              <a:solidFill>
                <a:srgbClr val="374151"/>
              </a:solidFill>
              <a:highlight>
                <a:srgbClr val="F7F7F8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7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p100"/>
          <p:cNvSpPr txBox="1"/>
          <p:nvPr>
            <p:ph type="title"/>
          </p:nvPr>
        </p:nvSpPr>
        <p:spPr>
          <a:xfrm>
            <a:off x="822960" y="7313"/>
            <a:ext cx="7543800" cy="5883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Toxicidad y sesgo en LLMs</a:t>
            </a:r>
            <a:endParaRPr/>
          </a:p>
        </p:txBody>
      </p:sp>
      <p:pic>
        <p:nvPicPr>
          <p:cNvPr id="899" name="Google Shape;899;p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0826" y="850425"/>
            <a:ext cx="6704373" cy="3914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3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4" name="Google Shape;904;p101"/>
          <p:cNvPicPr preferRelativeResize="0"/>
          <p:nvPr/>
        </p:nvPicPr>
        <p:blipFill rotWithShape="1">
          <a:blip r:embed="rId3">
            <a:alphaModFix/>
          </a:blip>
          <a:srcRect b="7641" l="0" r="0" t="54608"/>
          <a:stretch/>
        </p:blipFill>
        <p:spPr>
          <a:xfrm>
            <a:off x="249375" y="1888650"/>
            <a:ext cx="5154251" cy="1682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05" name="Google Shape;905;p101"/>
          <p:cNvPicPr preferRelativeResize="0"/>
          <p:nvPr/>
        </p:nvPicPr>
        <p:blipFill rotWithShape="1">
          <a:blip r:embed="rId3">
            <a:alphaModFix/>
          </a:blip>
          <a:srcRect b="46487" l="24570" r="24412" t="0"/>
          <a:stretch/>
        </p:blipFill>
        <p:spPr>
          <a:xfrm>
            <a:off x="5955750" y="1537450"/>
            <a:ext cx="2629550" cy="2384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9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p102"/>
          <p:cNvSpPr txBox="1"/>
          <p:nvPr>
            <p:ph type="title"/>
          </p:nvPr>
        </p:nvSpPr>
        <p:spPr>
          <a:xfrm>
            <a:off x="822949" y="7325"/>
            <a:ext cx="7924800" cy="5883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 fontScale="90000"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Fuentes y causas de la toxicidad y el sesgo en LLMs</a:t>
            </a:r>
            <a:endParaRPr/>
          </a:p>
        </p:txBody>
      </p:sp>
      <p:sp>
        <p:nvSpPr>
          <p:cNvPr id="911" name="Google Shape;911;p102"/>
          <p:cNvSpPr txBox="1"/>
          <p:nvPr>
            <p:ph idx="1" type="body"/>
          </p:nvPr>
        </p:nvSpPr>
        <p:spPr>
          <a:xfrm>
            <a:off x="822960" y="649137"/>
            <a:ext cx="7543800" cy="3752700"/>
          </a:xfrm>
          <a:prstGeom prst="rect">
            <a:avLst/>
          </a:prstGeom>
        </p:spPr>
        <p:txBody>
          <a:bodyPr anchorCtr="0" anchor="t" bIns="34275" lIns="0" spcFirstLastPara="1" rIns="0" wrap="square" tIns="34275">
            <a:norm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b="1" lang="en"/>
              <a:t>Datos de Entrenamiento:</a:t>
            </a:r>
            <a:r>
              <a:rPr lang="en"/>
              <a:t> Los corpus web a gran escala utilizados frecuentemente para entrenar LLMs contienen altos niveles de toxicidad, reflejando los sesgos presentes en el entorno de internet más amplio​.</a:t>
            </a:r>
            <a:endParaRPr/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/>
              <a:t>Consideraciones </a:t>
            </a:r>
            <a:r>
              <a:rPr b="1" lang="en"/>
              <a:t>Arquitectónicas</a:t>
            </a:r>
            <a:r>
              <a:rPr lang="en"/>
              <a:t>: Las complejas redes neuronales que forman los LLMs, aunque versátiles, pueden aprender y amplificar sesgos sociales inadvertidamente.</a:t>
            </a:r>
            <a:endParaRPr/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/>
              <a:t>Influencia de la </a:t>
            </a:r>
            <a:r>
              <a:rPr b="1" lang="en"/>
              <a:t>Entrada del Usuario</a:t>
            </a:r>
            <a:r>
              <a:rPr lang="en"/>
              <a:t>: Las interacciones de los usuarios con los LLMs pueden provocar respuestas sesgadas o tóxicas, subrayando la importancia de diseñar modelos que sean robustos contra tales manipulaciones​.</a:t>
            </a:r>
            <a:endParaRPr sz="1200">
              <a:solidFill>
                <a:srgbClr val="374151"/>
              </a:solidFill>
              <a:highlight>
                <a:srgbClr val="F7F7F8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5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p103"/>
          <p:cNvSpPr txBox="1"/>
          <p:nvPr>
            <p:ph type="title"/>
          </p:nvPr>
        </p:nvSpPr>
        <p:spPr>
          <a:xfrm>
            <a:off x="822960" y="7313"/>
            <a:ext cx="7543800" cy="5883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Soluciones para la toxicidad y el sesgo en LLMs</a:t>
            </a:r>
            <a:endParaRPr/>
          </a:p>
        </p:txBody>
      </p:sp>
      <p:sp>
        <p:nvSpPr>
          <p:cNvPr id="917" name="Google Shape;917;p103"/>
          <p:cNvSpPr txBox="1"/>
          <p:nvPr>
            <p:ph idx="1" type="body"/>
          </p:nvPr>
        </p:nvSpPr>
        <p:spPr>
          <a:xfrm>
            <a:off x="822960" y="649137"/>
            <a:ext cx="7543800" cy="3752700"/>
          </a:xfrm>
          <a:prstGeom prst="rect">
            <a:avLst/>
          </a:prstGeom>
        </p:spPr>
        <p:txBody>
          <a:bodyPr anchorCtr="0" anchor="t" bIns="34275" lIns="0" spcFirstLastPara="1" rIns="0" wrap="square" tIns="34275">
            <a:normAutofit lnSpcReduction="20000"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b="1" lang="en"/>
              <a:t>Prácticas de Datos</a:t>
            </a:r>
            <a:r>
              <a:rPr lang="en"/>
              <a:t>: Enfatizar la necesidad de evaluación y refinamiento robustos de los métodos de limpieza de datos. Estrategias para mitigar la toxicidad sin marginar a grupos a través de la sobrefiltración o la pérdida de cobertura​.</a:t>
            </a:r>
            <a:endParaRPr/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b="1" lang="en"/>
              <a:t>Métodos de Evaluación</a:t>
            </a:r>
            <a:r>
              <a:rPr lang="en"/>
              <a:t>: Técnicas de evaluación que puedan discernir sesgos abiertos y encubiertos, equilibrando la necesidad de seguridad con la representación de voces diversas​</a:t>
            </a:r>
            <a:r>
              <a:rPr lang="en">
                <a:uFill>
                  <a:noFill/>
                </a:uFill>
                <a:hlinkClick r:id="rId3"/>
              </a:rPr>
              <a:t>1</a:t>
            </a:r>
            <a:r>
              <a:rPr lang="en"/>
              <a:t>​.</a:t>
            </a:r>
            <a:endParaRPr/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b="1" lang="en"/>
              <a:t>Técnicas de Entrenamiento Adaptativo</a:t>
            </a:r>
            <a:r>
              <a:rPr lang="en"/>
              <a:t>: Explorar el entrenamiento adaptativo al dominio como una solución potencial para reducir la toxicidad, teniendo en cuenta el equilibrio delicado entre la calidad del modelo y el sesgo social​​. Por ejemplo a través de RLHF.</a:t>
            </a:r>
            <a:endParaRPr/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b="1" lang="en"/>
              <a:t>Compromiso Crítico del Usuario:</a:t>
            </a:r>
            <a:r>
              <a:rPr lang="en"/>
              <a:t> Subrayar la importancia de educar a los usuarios sobre las capacidades y riesgos de los LLMs, promoviendo un compromiso crítico y responsable con la tecnología​.</a:t>
            </a:r>
            <a:endParaRPr sz="1200">
              <a:solidFill>
                <a:srgbClr val="374151"/>
              </a:solidFill>
              <a:highlight>
                <a:srgbClr val="F7F7F8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p104"/>
          <p:cNvSpPr txBox="1"/>
          <p:nvPr>
            <p:ph type="title"/>
          </p:nvPr>
        </p:nvSpPr>
        <p:spPr>
          <a:xfrm>
            <a:off x="822960" y="7313"/>
            <a:ext cx="7543800" cy="5883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Asignando roles</a:t>
            </a:r>
            <a:endParaRPr/>
          </a:p>
        </p:txBody>
      </p:sp>
      <p:pic>
        <p:nvPicPr>
          <p:cNvPr id="923" name="Google Shape;923;p10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0752" y="867425"/>
            <a:ext cx="3177450" cy="3946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24" name="Google Shape;924;p10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4047" y="846213"/>
            <a:ext cx="4382326" cy="3451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8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Google Shape;929;p105"/>
          <p:cNvSpPr txBox="1"/>
          <p:nvPr>
            <p:ph type="title"/>
          </p:nvPr>
        </p:nvSpPr>
        <p:spPr>
          <a:xfrm>
            <a:off x="822960" y="7313"/>
            <a:ext cx="7543800" cy="5883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0" name="Google Shape;930;p105"/>
          <p:cNvSpPr txBox="1"/>
          <p:nvPr>
            <p:ph idx="1" type="body"/>
          </p:nvPr>
        </p:nvSpPr>
        <p:spPr>
          <a:xfrm>
            <a:off x="822960" y="649137"/>
            <a:ext cx="7543800" cy="3752700"/>
          </a:xfrm>
          <a:prstGeom prst="rect">
            <a:avLst/>
          </a:prstGeom>
        </p:spPr>
        <p:txBody>
          <a:bodyPr anchorCtr="0" anchor="t" bIns="34275" lIns="0" spcFirstLastPara="1" rIns="0" wrap="square" tIns="34275">
            <a:normAutofit/>
          </a:bodyPr>
          <a:lstStyle/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31" name="Google Shape;931;p10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0326" y="176423"/>
            <a:ext cx="6602598" cy="1530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2" name="Google Shape;932;p10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0324" y="1282800"/>
            <a:ext cx="6218599" cy="1530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3" name="Google Shape;933;p10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0324" y="2456648"/>
            <a:ext cx="5911573" cy="1662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7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p10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Reading List</a:t>
            </a:r>
            <a:endParaRPr/>
          </a:p>
        </p:txBody>
      </p:sp>
      <p:sp>
        <p:nvSpPr>
          <p:cNvPr id="939" name="Google Shape;939;p10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ELECTRA: Pre-training Text Encoders as Discriminators Rather Than Generators, Clark et. al. 2020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Parameter-Efficient Transfer Learning for NLP, Housby et al., 2019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LoRA: Low-Rank Adaptation of Large Language Models, Hu et. al., 2021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Exploring the Limits of Transfer Learning with a Unified Text-to-Text Transformer, Raffel et al., 2020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PaLM: Scaling Language Modeling with Pathways, Chowdhery et. al., 2022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PaLM 2 Technical Report , 2023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Language Models are Unsupervised Multitask Learners, Radford et. al.,2019  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Language Models are Few-Shot Learners, Brown wt. Al., 2020</a:t>
            </a:r>
            <a:endParaRPr b="1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 b="1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