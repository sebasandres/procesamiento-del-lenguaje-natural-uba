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</p:sldIdLst>
  <p:sldSz cy="5143500" cx="9144000"/>
  <p:notesSz cx="6858000" cy="9144000"/>
  <p:embeddedFontLst>
    <p:embeddedFont>
      <p:font typeface="Raleway"/>
      <p:regular r:id="rId111"/>
      <p:bold r:id="rId112"/>
      <p:italic r:id="rId113"/>
      <p:boldItalic r:id="rId114"/>
    </p:embeddedFont>
    <p:embeddedFont>
      <p:font typeface="Roboto"/>
      <p:regular r:id="rId115"/>
      <p:bold r:id="rId116"/>
      <p:italic r:id="rId117"/>
      <p:boldItalic r:id="rId118"/>
    </p:embeddedFont>
    <p:embeddedFont>
      <p:font typeface="Lato"/>
      <p:regular r:id="rId119"/>
      <p:bold r:id="rId120"/>
      <p:italic r:id="rId121"/>
      <p:boldItalic r:id="rId1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32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32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121" Type="http://schemas.openxmlformats.org/officeDocument/2006/relationships/font" Target="fonts/Lato-italic.fntdata"/><Relationship Id="rId25" Type="http://schemas.openxmlformats.org/officeDocument/2006/relationships/slide" Target="slides/slide19.xml"/><Relationship Id="rId120" Type="http://schemas.openxmlformats.org/officeDocument/2006/relationships/font" Target="fonts/Lato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22" Type="http://schemas.openxmlformats.org/officeDocument/2006/relationships/font" Target="fonts/Lato-boldItalic.fntdata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font" Target="fonts/Roboto-boldItalic.fntdata"/><Relationship Id="rId117" Type="http://schemas.openxmlformats.org/officeDocument/2006/relationships/font" Target="fonts/Roboto-italic.fntdata"/><Relationship Id="rId116" Type="http://schemas.openxmlformats.org/officeDocument/2006/relationships/font" Target="fonts/Roboto-bold.fntdata"/><Relationship Id="rId115" Type="http://schemas.openxmlformats.org/officeDocument/2006/relationships/font" Target="fonts/Roboto-regular.fntdata"/><Relationship Id="rId119" Type="http://schemas.openxmlformats.org/officeDocument/2006/relationships/font" Target="fonts/Lato-regular.fntdata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font" Target="fonts/Raleway-boldItalic.fntdata"/><Relationship Id="rId18" Type="http://schemas.openxmlformats.org/officeDocument/2006/relationships/slide" Target="slides/slide12.xml"/><Relationship Id="rId113" Type="http://schemas.openxmlformats.org/officeDocument/2006/relationships/font" Target="fonts/Raleway-italic.fntdata"/><Relationship Id="rId112" Type="http://schemas.openxmlformats.org/officeDocument/2006/relationships/font" Target="fonts/Raleway-bold.fntdata"/><Relationship Id="rId111" Type="http://schemas.openxmlformats.org/officeDocument/2006/relationships/font" Target="fonts/Raleway-regular.fntdata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cb458528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cb458528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cb4585284b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cb4585284b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cb4585284b_0_1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cb4585284b_0_1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cb4585284b_0_1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cb4585284b_0_1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cb4585284b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cb4585284b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cb4585284b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cb4585284b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cb4585284b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cb4585284b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7f97177c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7f97177c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cb4585284b_0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cb4585284b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7f97177cf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7f97177cf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75706f3ac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75706f3ac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5b7bbee4b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5b7bbee4b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e96aaec2f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e96aaec2f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e96aaec2f0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e96aaec2f0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e96aaec2f0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e96aaec2f0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e96aaec2f0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e96aaec2f0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e96aaec2f0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e96aaec2f0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e96aaec2f0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e96aaec2f0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e96aaec2f0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1e96aaec2f0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e96aaec2f0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1e96aaec2f0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e96aaec2f0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1e96aaec2f0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1e96aaec2f0_0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1e96aaec2f0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1e96aaec2f0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1e96aaec2f0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1e96aaec2f0_0_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1e96aaec2f0_0_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1e96aaec2f0_0_1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1e96aaec2f0_0_1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1e96aaec2f0_0_1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1e96aaec2f0_0_1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1e96aaec2f0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1e96aaec2f0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1e96aaec2f0_0_10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1e96aaec2f0_0_1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1e96aaec2f0_0_1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1e96aaec2f0_0_1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1e96aaec2f0_0_1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1e96aaec2f0_0_1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1e96aaec2f0_0_1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1e96aaec2f0_0_1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1e96aaec2f0_0_1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1e96aaec2f0_0_1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1e96aaec2f0_0_1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1e96aaec2f0_0_1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cb4585284b_0_1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cb4585284b_0_1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1e96aaec2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" name="Google Shape;1296;g1e96aaec2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27f97177cf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27f97177cf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75706f3ac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75706f3ac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cb4585284b_0_1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cb4585284b_0_1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cb4585284b_0_1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cb4585284b_0_1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75706f3ac9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75706f3ac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gcb4585284b_0_1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5" name="Google Shape;1425;gcb4585284b_0_1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gcb4585284b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8" name="Google Shape;1468;gcb4585284b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cb4585284b_0_1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cb4585284b_0_1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cb4585284b_0_2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cb4585284b_0_2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gcb4585284b_0_2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5" name="Google Shape;1655;gcb4585284b_0_2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cb4585284b_0_2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8" name="Google Shape;1728;gcb4585284b_0_2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gcb4585284b_0_2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9" name="Google Shape;1809;gcb4585284b_0_2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gcb4585284b_0_2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8" name="Google Shape;1938;gcb4585284b_0_2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gcb4585284b_0_30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3" name="Google Shape;2053;gcb4585284b_0_3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8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gcb4585284b_0_3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0" name="Google Shape;2170;gcb4585284b_0_3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2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gcb4585284b_0_3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4" name="Google Shape;2284;gcb4585284b_0_3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gcb4585284b_0_3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7" name="Google Shape;2357;gcb4585284b_0_3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9" name="Shape 2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0" name="Google Shape;2430;gcb4585284b_0_3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1" name="Google Shape;2431;gcb4585284b_0_3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2" name="Shape 2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3" name="Google Shape;2503;gcb4585284b_0_3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4" name="Google Shape;2504;gcb4585284b_0_3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4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gcb4585284b_0_40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6" name="Google Shape;2626;gcb4585284b_0_4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9" name="Shape 2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0" name="Google Shape;2630;gcb4585284b_0_40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1" name="Google Shape;2631;gcb4585284b_0_4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4" name="Shape 2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5" name="Google Shape;2645;gcb4585284b_0_4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6" name="Google Shape;2646;gcb4585284b_0_4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7" name="Shape 2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8" name="Google Shape;2718;gcb4585284b_0_4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9" name="Google Shape;2719;gcb4585284b_0_4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5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Google Shape;2726;gcb4585284b_0_4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7" name="Google Shape;2727;gcb4585284b_0_4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8" name="Shape 2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9" name="Google Shape;2739;gcb4585284b_0_4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0" name="Google Shape;2740;gcb4585284b_0_4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0" name="Shape 2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1" name="Google Shape;2761;g7908b07728_2_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2" name="Google Shape;2762;g7908b07728_2_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0" name="Shape 2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1" name="Google Shape;2771;gcb4585284b_0_4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2" name="Google Shape;2772;gcb4585284b_0_4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1" name="Shape 2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2" name="Google Shape;2782;gcb4585284b_0_4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3" name="Google Shape;2783;gcb4585284b_0_4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3" name="Shape 2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4" name="Google Shape;2794;gcb4585284b_0_4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5" name="Google Shape;2795;gcb4585284b_0_4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6" name="Shape 2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7" name="Google Shape;2807;gcb4585284b_0_4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8" name="Google Shape;2808;gcb4585284b_0_4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2" name="Shape 2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3" name="Google Shape;2823;gcb4585284b_0_4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4" name="Google Shape;2824;gcb4585284b_0_4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9" name="Shape 2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Google Shape;2840;gcb4585284b_0_4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1" name="Google Shape;2841;gcb4585284b_0_4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4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7908b07728_2_1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7908b07728_2_1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4" name="Shape 2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5" name="Google Shape;2855;gf8dbd65ff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6" name="Google Shape;2856;gf8dbd65ff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2" name="Shape 2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3" name="Google Shape;2863;g7908b07728_2_1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4" name="Google Shape;2864;g7908b07728_2_1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9" name="Shape 2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0" name="Google Shape;2880;g7908b07728_2_1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1" name="Google Shape;2881;g7908b07728_2_1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8" name="Shape 2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9" name="Google Shape;2899;g7908b07728_2_1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0" name="Google Shape;2900;g7908b07728_2_1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3" name="Shape 2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4" name="Google Shape;2914;g280457e939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5" name="Google Shape;2915;g280457e939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0" name="Shape 2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1" name="Google Shape;2921;g1e96aaec2f0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2" name="Google Shape;2922;g1e96aaec2f0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7" name="Shape 3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8" name="Google Shape;3028;g1e96aaec2f0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9" name="Google Shape;3029;g1e96aaec2f0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6" name="Shape 3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7" name="Google Shape;3037;g280457e939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8" name="Google Shape;3038;g280457e939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4" name="Shape 3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5" name="Google Shape;3045;gf8dbd65ff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6" name="Google Shape;3046;gf8dbd65ff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9" name="Shape 3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0" name="Google Shape;3050;g1ea520360d4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1" name="Google Shape;3051;g1ea520360d4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5" name="Shape 3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6" name="Google Shape;3056;g280457e939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7" name="Google Shape;3057;g280457e939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2" name="Shape 3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3" name="Google Shape;3063;g280457e939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4" name="Google Shape;3064;g280457e939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9" name="Shape 3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0" name="Google Shape;3070;g280457e939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1" name="Google Shape;3071;g280457e939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8" name="Shape 3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Google Shape;3079;g280457e939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0" name="Google Shape;3080;g280457e939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5" name="Shape 3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Google Shape;3086;g280457e939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7" name="Google Shape;3087;g280457e939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5" name="Shape 3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6" name="Google Shape;3096;g1e96aaec2f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7" name="Google Shape;3097;g1e96aaec2f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2" name="Shape 3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3" name="Google Shape;3103;g1e96aaec2f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4" name="Google Shape;3104;g1e96aaec2f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9" name="Shape 3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0" name="Google Shape;3110;g1e96aaec2f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1" name="Google Shape;3111;g1e96aaec2f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6" name="Shape 3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7" name="Google Shape;3117;g1e96aaec2f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8" name="Google Shape;3118;g1e96aaec2f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3" name="Shape 3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4" name="Google Shape;3124;g1e96aaec2f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5" name="Google Shape;3125;g1e96aaec2f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1" name="Shape 3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2" name="Google Shape;3132;g1e96aaec2f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3" name="Google Shape;3133;g1e96aaec2f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7" name="Shape 3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8" name="Google Shape;3138;g1e96aaec2f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9" name="Google Shape;3139;g1e96aaec2f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3" name="Shape 3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4" name="Google Shape;3144;g7908b07728_3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5" name="Google Shape;3145;g7908b07728_3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8" name="Shape 3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9" name="Google Shape;3149;g1ea520360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0" name="Google Shape;3150;g1ea520360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4" name="Shape 3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5" name="Google Shape;3155;g1e96aaec2f0_0_1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6" name="Google Shape;3156;g1e96aaec2f0_0_1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3" name="Shape 3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" name="Google Shape;3164;g1e96aaec2f0_0_1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5" name="Google Shape;3165;g1e96aaec2f0_0_1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3" name="Shape 3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" name="Google Shape;3174;g1e96aaec2f0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5" name="Google Shape;3175;g1e96aaec2f0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4" name="Shape 3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5" name="Google Shape;3185;g1e96aaec2f0_0_1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6" name="Google Shape;3186;g1e96aaec2f0_0_1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7" name="Shape 3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8" name="Google Shape;3198;g1e96aaec2f0_0_1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9" name="Google Shape;3199;g1e96aaec2f0_0_1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4" name="Shape 3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" name="Google Shape;3215;g1e96aaec2f0_0_1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6" name="Google Shape;3216;g1e96aaec2f0_0_1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2" name="Shape 3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3" name="Google Shape;3233;g1e96aaec2f0_0_1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4" name="Google Shape;3234;g1e96aaec2f0_0_1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9" name="Shape 3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0" name="Google Shape;3240;gf8dbd65ff9_0_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1" name="Google Shape;3241;gf8dbd65ff9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5" name="Shape 3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" name="Google Shape;3246;gf8dbd65ff9_0_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7" name="Google Shape;3247;gf8dbd65ff9_0_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2" name="Shape 3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3" name="Google Shape;3313;gf8dbd65ff9_0_1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4" name="Google Shape;3314;gf8dbd65ff9_0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9" name="Shape 3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0" name="Google Shape;3390;gf8dbd65ff9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1" name="Google Shape;3391;gf8dbd65ff9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7" name="Shape 3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8" name="Google Shape;3478;g6b9a4daa7a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9" name="Google Shape;3479;g6b9a4daa7a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822960" y="7313"/>
            <a:ext cx="75438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822960" y="649137"/>
            <a:ext cx="7543800" cy="3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◦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822960" y="4844839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2764639" y="4844839"/>
            <a:ext cx="361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7425344" y="4844839"/>
            <a:ext cx="9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5" name="Google Shape;95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2" name="Google Shape;102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9" name="Google Shape;109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" name="Google Shape;116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7" name="Google Shape;117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6" name="Google Shape;126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" name="Google Shape;128;p1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2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33" name="Google Shape;133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" name="Google Shape;135;p20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2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40" name="Google Shape;140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" name="Google Shape;142;p2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" name="Google Shape;146;p2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7" name="Google Shape;147;p2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" name="Google Shape;149;p2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1" name="Google Shape;151;p2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2" name="Google Shape;152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2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8" name="Google Shape;158;p2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" name="Google Shape;160;p24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Blank Slide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0" type="dt"/>
          </p:nvPr>
        </p:nvSpPr>
        <p:spPr>
          <a:xfrm>
            <a:off x="457200" y="625030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7" name="Google Shape;167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oter">
  <p:cSld name="Title and Footer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447793" y="130722"/>
            <a:ext cx="60960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b="1" i="0" sz="14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9pPr>
          </a:lstStyle>
          <a:p/>
        </p:txBody>
      </p:sp>
      <p:sp>
        <p:nvSpPr>
          <p:cNvPr id="170" name="Google Shape;170;p27"/>
          <p:cNvSpPr txBox="1"/>
          <p:nvPr>
            <p:ph idx="10" type="dt"/>
          </p:nvPr>
        </p:nvSpPr>
        <p:spPr>
          <a:xfrm>
            <a:off x="457200" y="625030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1" name="Google Shape;171;p27"/>
          <p:cNvSpPr txBox="1"/>
          <p:nvPr>
            <p:ph idx="12" type="sldNum"/>
          </p:nvPr>
        </p:nvSpPr>
        <p:spPr>
          <a:xfrm>
            <a:off x="6553200" y="472382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.png"/><Relationship Id="rId4" Type="http://schemas.openxmlformats.org/officeDocument/2006/relationships/image" Target="../media/image12.gif"/><Relationship Id="rId5" Type="http://schemas.openxmlformats.org/officeDocument/2006/relationships/image" Target="../media/image1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3.gif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1.gif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1.gif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5.gif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4.gif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9.gif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9.gif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9.gif"/><Relationship Id="rId4" Type="http://schemas.openxmlformats.org/officeDocument/2006/relationships/image" Target="../media/image2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9.gif"/><Relationship Id="rId4" Type="http://schemas.openxmlformats.org/officeDocument/2006/relationships/image" Target="../media/image21.png"/><Relationship Id="rId5" Type="http://schemas.openxmlformats.org/officeDocument/2006/relationships/image" Target="../media/image17.gif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7.gif"/><Relationship Id="rId4" Type="http://schemas.openxmlformats.org/officeDocument/2006/relationships/image" Target="../media/image4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7.gif"/><Relationship Id="rId4" Type="http://schemas.openxmlformats.org/officeDocument/2006/relationships/image" Target="../media/image19.gif"/><Relationship Id="rId5" Type="http://schemas.openxmlformats.org/officeDocument/2006/relationships/image" Target="../media/image4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7.gif"/><Relationship Id="rId4" Type="http://schemas.openxmlformats.org/officeDocument/2006/relationships/image" Target="../media/image19.gif"/><Relationship Id="rId5" Type="http://schemas.openxmlformats.org/officeDocument/2006/relationships/image" Target="../media/image48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9.gif"/><Relationship Id="rId4" Type="http://schemas.openxmlformats.org/officeDocument/2006/relationships/image" Target="../media/image2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9.gif"/><Relationship Id="rId4" Type="http://schemas.openxmlformats.org/officeDocument/2006/relationships/image" Target="../media/image21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9.gif"/><Relationship Id="rId4" Type="http://schemas.openxmlformats.org/officeDocument/2006/relationships/image" Target="../media/image2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5.png"/><Relationship Id="rId4" Type="http://schemas.openxmlformats.org/officeDocument/2006/relationships/image" Target="../media/image23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png"/><Relationship Id="rId4" Type="http://schemas.openxmlformats.org/officeDocument/2006/relationships/image" Target="../media/image45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5.png"/><Relationship Id="rId4" Type="http://schemas.openxmlformats.org/officeDocument/2006/relationships/image" Target="../media/image1.png"/><Relationship Id="rId5" Type="http://schemas.openxmlformats.org/officeDocument/2006/relationships/image" Target="../media/image20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5.png"/><Relationship Id="rId4" Type="http://schemas.openxmlformats.org/officeDocument/2006/relationships/image" Target="../media/image1.png"/><Relationship Id="rId5" Type="http://schemas.openxmlformats.org/officeDocument/2006/relationships/image" Target="../media/image45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7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7.png"/><Relationship Id="rId4" Type="http://schemas.openxmlformats.org/officeDocument/2006/relationships/image" Target="../media/image35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4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6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34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Relationship Id="rId5" Type="http://schemas.openxmlformats.org/officeDocument/2006/relationships/image" Target="../media/image29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9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3.png"/><Relationship Id="rId4" Type="http://schemas.openxmlformats.org/officeDocument/2006/relationships/image" Target="../media/image38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42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42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42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42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44.png"/><Relationship Id="rId4" Type="http://schemas.openxmlformats.org/officeDocument/2006/relationships/image" Target="../media/image41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47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43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hyperlink" Target="https://aclanthology.org/2015.iwslt-evaluation.11.pdf" TargetMode="External"/><Relationship Id="rId4" Type="http://schemas.openxmlformats.org/officeDocument/2006/relationships/hyperlink" Target="https://www.bing.com/ck/a?!&amp;&amp;p=ddfe6a6c2b8b9b1eJmltdHM9MTY5ODYyNDAwMCZpZ3VpZD0yYTg1NjRhZi0wYzE0LTZmYjctMThmNC03NjgzMGRjOTZlN2YmaW5zaWQ9NTIyMQ&amp;ptn=3&amp;ver=2&amp;hsh=3&amp;fclid=2a8564af-0c14-6fb7-18f4-76830dc96e7f&amp;psq=goldberg+a+prime+on&amp;u=a1aHR0cHM6Ly9hcnhpdi5vcmcvYWJzLzE1MTAuMDA3MjY&amp;ntb=1" TargetMode="Externa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.png"/><Relationship Id="rId4" Type="http://schemas.openxmlformats.org/officeDocument/2006/relationships/image" Target="../media/image46.png"/><Relationship Id="rId5" Type="http://schemas.openxmlformats.org/officeDocument/2006/relationships/image" Target="../media/image18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.png"/><Relationship Id="rId4" Type="http://schemas.openxmlformats.org/officeDocument/2006/relationships/image" Target="../media/image46.png"/><Relationship Id="rId5" Type="http://schemas.openxmlformats.org/officeDocument/2006/relationships/image" Target="../media/image40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.png"/><Relationship Id="rId4" Type="http://schemas.openxmlformats.org/officeDocument/2006/relationships/image" Target="../media/image46.png"/><Relationship Id="rId5" Type="http://schemas.openxmlformats.org/officeDocument/2006/relationships/image" Target="../media/image40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.png"/><Relationship Id="rId4" Type="http://schemas.openxmlformats.org/officeDocument/2006/relationships/image" Target="../media/image46.png"/><Relationship Id="rId5" Type="http://schemas.openxmlformats.org/officeDocument/2006/relationships/image" Target="../media/image40.png"/><Relationship Id="rId6" Type="http://schemas.openxmlformats.org/officeDocument/2006/relationships/image" Target="../media/image49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177" name="Google Shape;177;p28"/>
          <p:cNvSpPr txBox="1"/>
          <p:nvPr>
            <p:ph idx="4294967295" type="title"/>
          </p:nvPr>
        </p:nvSpPr>
        <p:spPr>
          <a:xfrm>
            <a:off x="172800" y="508650"/>
            <a:ext cx="8823600" cy="6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5900">
                <a:solidFill>
                  <a:srgbClr val="1C4587"/>
                </a:solidFill>
              </a:rPr>
              <a:t>Modelos de Lenguaje</a:t>
            </a:r>
            <a:endParaRPr b="1" sz="3500">
              <a:solidFill>
                <a:srgbClr val="1C458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trike="sngStrike">
                <a:solidFill>
                  <a:srgbClr val="3C78D8"/>
                </a:solidFill>
              </a:rPr>
              <a:t>Luciano Del Corro</a:t>
            </a:r>
            <a:endParaRPr strike="sngStrike">
              <a:solidFill>
                <a:srgbClr val="3C78D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C78D8"/>
                </a:solidFill>
              </a:rPr>
              <a:t>Leandro Lombardi</a:t>
            </a:r>
            <a:endParaRPr>
              <a:solidFill>
                <a:srgbClr val="3C78D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sz="2000">
              <a:solidFill>
                <a:srgbClr val="3C78D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t/>
            </a:r>
            <a:endParaRPr sz="1700">
              <a:solidFill>
                <a:srgbClr val="3C78D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 sz="1800">
              <a:solidFill>
                <a:srgbClr val="3C78D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5800" y="2419300"/>
            <a:ext cx="3657600" cy="27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Recapitulemos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160050" y="1393075"/>
            <a:ext cx="8948400" cy="31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500" u="sng"/>
              <a:t>Otra forma de ver los LM:</a:t>
            </a:r>
            <a:r>
              <a:rPr i="1" lang="es-419" sz="1500"/>
              <a:t> calcular la probabilidad de un texto</a:t>
            </a:r>
            <a:endParaRPr i="1" sz="1500"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>
                <a:latin typeface="Consolas"/>
                <a:ea typeface="Consolas"/>
                <a:cs typeface="Consolas"/>
                <a:sym typeface="Consolas"/>
              </a:rPr>
              <a:t>p(w</a:t>
            </a:r>
            <a:r>
              <a:rPr baseline="-25000" lang="es-419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419"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baseline="-25000" lang="es-419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-419"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baseline="-25000" lang="es-419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s-419">
                <a:latin typeface="Consolas"/>
                <a:ea typeface="Consolas"/>
                <a:cs typeface="Consolas"/>
                <a:sym typeface="Consolas"/>
              </a:rPr>
              <a:t>...w</a:t>
            </a:r>
            <a:r>
              <a:rPr baseline="-25000" lang="es-419"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s-419">
                <a:latin typeface="Consolas"/>
                <a:ea typeface="Consolas"/>
                <a:cs typeface="Consolas"/>
                <a:sym typeface="Consolas"/>
              </a:rPr>
              <a:t>) = p(w</a:t>
            </a:r>
            <a:r>
              <a:rPr baseline="-25000" lang="es-419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419">
                <a:latin typeface="Consolas"/>
                <a:ea typeface="Consolas"/>
                <a:cs typeface="Consolas"/>
                <a:sym typeface="Consolas"/>
              </a:rPr>
              <a:t>) * p(w</a:t>
            </a:r>
            <a:r>
              <a:rPr baseline="-25000" lang="es-419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-419">
                <a:latin typeface="Consolas"/>
                <a:ea typeface="Consolas"/>
                <a:cs typeface="Consolas"/>
                <a:sym typeface="Consolas"/>
              </a:rPr>
              <a:t>|w</a:t>
            </a:r>
            <a:r>
              <a:rPr baseline="-25000" lang="es-419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419">
                <a:latin typeface="Consolas"/>
                <a:ea typeface="Consolas"/>
                <a:cs typeface="Consolas"/>
                <a:sym typeface="Consolas"/>
              </a:rPr>
              <a:t>) * p(w</a:t>
            </a:r>
            <a:r>
              <a:rPr baseline="-25000" lang="es-419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s-419">
                <a:latin typeface="Consolas"/>
                <a:ea typeface="Consolas"/>
                <a:cs typeface="Consolas"/>
                <a:sym typeface="Consolas"/>
              </a:rPr>
              <a:t>|w</a:t>
            </a:r>
            <a:r>
              <a:rPr baseline="-25000" lang="es-419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419"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baseline="-25000" lang="es-419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-419">
                <a:latin typeface="Consolas"/>
                <a:ea typeface="Consolas"/>
                <a:cs typeface="Consolas"/>
                <a:sym typeface="Consolas"/>
              </a:rPr>
              <a:t>) * p(w</a:t>
            </a:r>
            <a:r>
              <a:rPr baseline="-25000" lang="es-419"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s-419">
                <a:latin typeface="Consolas"/>
                <a:ea typeface="Consolas"/>
                <a:cs typeface="Consolas"/>
                <a:sym typeface="Consolas"/>
              </a:rPr>
              <a:t>|w</a:t>
            </a:r>
            <a:r>
              <a:rPr baseline="-25000" lang="es-419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419"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baseline="-25000" lang="es-419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-419"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baseline="-25000" lang="es-419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s-419">
                <a:latin typeface="Consolas"/>
                <a:ea typeface="Consolas"/>
                <a:cs typeface="Consolas"/>
                <a:sym typeface="Consolas"/>
              </a:rPr>
              <a:t>) * … * p(w</a:t>
            </a:r>
            <a:r>
              <a:rPr baseline="-25000" lang="es-419"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s-419">
                <a:latin typeface="Consolas"/>
                <a:ea typeface="Consolas"/>
                <a:cs typeface="Consolas"/>
                <a:sym typeface="Consolas"/>
              </a:rPr>
              <a:t>|w</a:t>
            </a:r>
            <a:r>
              <a:rPr baseline="-25000" lang="es-419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419"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baseline="-25000" lang="es-419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-419"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baseline="-25000" lang="es-419">
                <a:latin typeface="Consolas"/>
                <a:ea typeface="Consolas"/>
                <a:cs typeface="Consolas"/>
                <a:sym typeface="Consolas"/>
              </a:rPr>
              <a:t>3 </a:t>
            </a:r>
            <a:r>
              <a:rPr lang="es-419">
                <a:latin typeface="Consolas"/>
                <a:ea typeface="Consolas"/>
                <a:cs typeface="Consolas"/>
                <a:sym typeface="Consolas"/>
              </a:rPr>
              <a:t>… w</a:t>
            </a:r>
            <a:r>
              <a:rPr baseline="-25000" lang="es-419">
                <a:latin typeface="Consolas"/>
                <a:ea typeface="Consolas"/>
                <a:cs typeface="Consolas"/>
                <a:sym typeface="Consolas"/>
              </a:rPr>
              <a:t>n-1</a:t>
            </a:r>
            <a:r>
              <a:rPr lang="es-419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Consolas"/>
                <a:ea typeface="Consolas"/>
                <a:cs typeface="Consolas"/>
                <a:sym typeface="Consolas"/>
              </a:rPr>
              <a:t>p("Cuando llegue a casa me tengo que acordar de darle de comer al gato") =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Consolas"/>
                <a:ea typeface="Consolas"/>
                <a:cs typeface="Consolas"/>
                <a:sym typeface="Consolas"/>
              </a:rPr>
              <a:t>	p(cuando) * p(llegue | Cuando) * p(a | Cuando llegue) * … * p(gato | Cuando llegue ... al)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351C75"/>
                </a:solidFill>
              </a:rPr>
              <a:t>Problema: </a:t>
            </a:r>
            <a:r>
              <a:rPr lang="es-419" sz="1800">
                <a:solidFill>
                  <a:srgbClr val="351C75"/>
                </a:solidFill>
              </a:rPr>
              <a:t>¿Cómo contamos cuántas veces aparece una frase en el lenguaje?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0"/>
          <p:cNvSpPr txBox="1"/>
          <p:nvPr>
            <p:ph type="title"/>
          </p:nvPr>
        </p:nvSpPr>
        <p:spPr>
          <a:xfrm>
            <a:off x="729450" y="549406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Modelos de Lenguaje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(x_1^n) = \prod_{k=1}^{N}  p(w | w_1^{n-1})" id="190" name="Google Shape;1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8585" y="2409577"/>
            <a:ext cx="2210425" cy="72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160050" y="1393075"/>
            <a:ext cx="8948400" cy="31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351C75"/>
                </a:solidFill>
              </a:rPr>
              <a:t>Problema: </a:t>
            </a:r>
            <a:r>
              <a:rPr lang="es-419" sz="1800">
                <a:solidFill>
                  <a:srgbClr val="351C75"/>
                </a:solidFill>
              </a:rPr>
              <a:t>¿Cómo contamos cuántas veces aparece una frase en el lenguaje?</a:t>
            </a:r>
            <a:endParaRPr sz="18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Char char="-"/>
            </a:pPr>
            <a:r>
              <a:rPr lang="es-419" sz="1800">
                <a:solidFill>
                  <a:srgbClr val="351C75"/>
                </a:solidFill>
              </a:rPr>
              <a:t>Solución: </a:t>
            </a:r>
            <a:endParaRPr sz="1800">
              <a:solidFill>
                <a:srgbClr val="351C75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Char char="-"/>
            </a:pPr>
            <a:r>
              <a:rPr lang="es-419" sz="1800">
                <a:solidFill>
                  <a:srgbClr val="351C75"/>
                </a:solidFill>
              </a:rPr>
              <a:t>Tomamos un corpus de texto grande, y contamos</a:t>
            </a:r>
            <a:endParaRPr sz="1800">
              <a:solidFill>
                <a:srgbClr val="351C75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Char char="-"/>
            </a:pPr>
            <a:r>
              <a:rPr lang="es-419" sz="1800">
                <a:solidFill>
                  <a:srgbClr val="351C75"/>
                </a:solidFill>
              </a:rPr>
              <a:t>Suponemos que ese corpus es representativo de “el lenguaje”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-"/>
            </a:pPr>
            <a:r>
              <a:rPr lang="es-419" sz="1800">
                <a:solidFill>
                  <a:srgbClr val="CC0000"/>
                </a:solidFill>
              </a:rPr>
              <a:t>Nuevos Problemas:</a:t>
            </a:r>
            <a:endParaRPr sz="1800">
              <a:solidFill>
                <a:srgbClr val="CC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-"/>
            </a:pPr>
            <a:r>
              <a:rPr lang="es-419" sz="1800">
                <a:solidFill>
                  <a:srgbClr val="CC0000"/>
                </a:solidFill>
              </a:rPr>
              <a:t>Tenemos que almacenar todas las subcadenas existentes y su frecuencia de aparición</a:t>
            </a:r>
            <a:endParaRPr sz="1800">
              <a:solidFill>
                <a:srgbClr val="CC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-"/>
            </a:pPr>
            <a:r>
              <a:rPr lang="es-419" sz="1800">
                <a:solidFill>
                  <a:srgbClr val="CC0000"/>
                </a:solidFill>
              </a:rPr>
              <a:t>El lenguaje es creativo. Es probable que (h,w) no exista en todo mi corpus</a:t>
            </a:r>
            <a:endParaRPr sz="1800">
              <a:solidFill>
                <a:srgbClr val="CC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-"/>
            </a:pPr>
            <a:r>
              <a:rPr b="1" lang="es-419" sz="1800">
                <a:solidFill>
                  <a:srgbClr val="CC0000"/>
                </a:solidFill>
              </a:rPr>
              <a:t>Solución: N-Grams</a:t>
            </a:r>
            <a:endParaRPr b="1" sz="1800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51C75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1"/>
          <p:cNvSpPr txBox="1"/>
          <p:nvPr>
            <p:ph type="title"/>
          </p:nvPr>
        </p:nvSpPr>
        <p:spPr>
          <a:xfrm>
            <a:off x="729450" y="549406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Modelos de Lenguaje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idx="1" type="body"/>
          </p:nvPr>
        </p:nvSpPr>
        <p:spPr>
          <a:xfrm>
            <a:off x="384900" y="1469275"/>
            <a:ext cx="8377800" cy="31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</a:rPr>
              <a:t>Problema:</a:t>
            </a:r>
            <a:r>
              <a:rPr lang="es-419" sz="1800">
                <a:solidFill>
                  <a:srgbClr val="CC0000"/>
                </a:solidFill>
              </a:rPr>
              <a:t> El lenguaje es creativo. Es probable que (h,w) no exista </a:t>
            </a:r>
            <a:endParaRPr sz="1800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C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-"/>
            </a:pPr>
            <a:r>
              <a:rPr lang="es-419" sz="1800">
                <a:solidFill>
                  <a:srgbClr val="CC0000"/>
                </a:solidFill>
              </a:rPr>
              <a:t>Solución: </a:t>
            </a:r>
            <a:endParaRPr sz="1800">
              <a:solidFill>
                <a:srgbClr val="CC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-"/>
            </a:pPr>
            <a:r>
              <a:rPr lang="es-419" sz="1800">
                <a:solidFill>
                  <a:srgbClr val="CC0000"/>
                </a:solidFill>
              </a:rPr>
              <a:t>Mirar solo las últimas N palabras (n-gram)</a:t>
            </a:r>
            <a:endParaRPr sz="1800">
              <a:solidFill>
                <a:srgbClr val="CC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-"/>
            </a:pPr>
            <a:r>
              <a:rPr lang="es-419" sz="1800">
                <a:solidFill>
                  <a:srgbClr val="CC0000"/>
                </a:solidFill>
              </a:rPr>
              <a:t>Esto también nos simplifica el </a:t>
            </a:r>
            <a:r>
              <a:rPr lang="es-419" sz="1800">
                <a:solidFill>
                  <a:srgbClr val="CC0000"/>
                </a:solidFill>
              </a:rPr>
              <a:t>almacenamiento</a:t>
            </a:r>
            <a:r>
              <a:rPr lang="es-419" sz="1800">
                <a:solidFill>
                  <a:srgbClr val="CC0000"/>
                </a:solidFill>
              </a:rPr>
              <a:t> del conteo</a:t>
            </a:r>
            <a:endParaRPr sz="1800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latin typeface="Consolas"/>
                <a:ea typeface="Consolas"/>
                <a:cs typeface="Consolas"/>
                <a:sym typeface="Consolas"/>
              </a:rPr>
              <a:t>p(gato | Cuando llegue a casa me tengo que acordar de darle de comer al) ~ p(gato | darle de comer al)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2"/>
          <p:cNvSpPr txBox="1"/>
          <p:nvPr>
            <p:ph type="title"/>
          </p:nvPr>
        </p:nvSpPr>
        <p:spPr>
          <a:xfrm>
            <a:off x="729450" y="549406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N-grams</a:t>
            </a:r>
            <a:endParaRPr/>
          </a:p>
        </p:txBody>
      </p:sp>
      <p:sp>
        <p:nvSpPr>
          <p:cNvPr id="203" name="Google Shape;203;p32"/>
          <p:cNvSpPr/>
          <p:nvPr/>
        </p:nvSpPr>
        <p:spPr>
          <a:xfrm>
            <a:off x="6136250" y="3050163"/>
            <a:ext cx="1969800" cy="2580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2"/>
          <p:cNvSpPr txBox="1"/>
          <p:nvPr/>
        </p:nvSpPr>
        <p:spPr>
          <a:xfrm>
            <a:off x="6798700" y="3269021"/>
            <a:ext cx="914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1C232"/>
                </a:solidFill>
                <a:latin typeface="Lato"/>
                <a:ea typeface="Lato"/>
                <a:cs typeface="Lato"/>
                <a:sym typeface="Lato"/>
              </a:rPr>
              <a:t>5-gram</a:t>
            </a:r>
            <a:endParaRPr b="1">
              <a:solidFill>
                <a:srgbClr val="F1C23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(w_1^n) = \prod_{k=1}^N p(w|w_{1}^{n-1}) \sim \prod_{k=1}^N p(w|w_{n-N-1}^{k-1})" id="205" name="Google Shape;20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6503" y="3689726"/>
            <a:ext cx="6092894" cy="102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generalizamos en N-gram?</a:t>
            </a:r>
            <a:endParaRPr/>
          </a:p>
        </p:txBody>
      </p:sp>
      <p:sp>
        <p:nvSpPr>
          <p:cNvPr id="211" name="Google Shape;211;p33"/>
          <p:cNvSpPr txBox="1"/>
          <p:nvPr>
            <p:ph idx="1" type="body"/>
          </p:nvPr>
        </p:nvSpPr>
        <p:spPr>
          <a:xfrm>
            <a:off x="729450" y="1459525"/>
            <a:ext cx="7688700" cy="28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/>
              <a:t>Entrenamiento:</a:t>
            </a:r>
            <a:r>
              <a:rPr lang="es-419" sz="1500"/>
              <a:t> "Cuando llegue a casa me tengo que acordar de darle de comer al gato"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500"/>
              <a:t>¿Cuál es la probabilidad 5-gram de "perro" dada la siguiente frase?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500"/>
              <a:t>Testeo:</a:t>
            </a:r>
            <a:r>
              <a:rPr lang="es-419" sz="1500"/>
              <a:t> "Me estaba yendo a dormir y justo me acordé de darle la comida al ___"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CC0000"/>
                </a:solidFill>
              </a:rPr>
              <a:t>N-gram no puede generalizar a palabras similares.</a:t>
            </a:r>
            <a:endParaRPr sz="1600">
              <a:solidFill>
                <a:srgbClr val="CC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CC0000"/>
                </a:solidFill>
              </a:rPr>
              <a:t>Los embeddings y las redes neuronales (feed forward) nos pueden ayudar</a:t>
            </a:r>
            <a:endParaRPr sz="1600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Neural LM</a:t>
            </a:r>
            <a:endParaRPr/>
          </a:p>
        </p:txBody>
      </p:sp>
      <p:pic>
        <p:nvPicPr>
          <p:cNvPr id="217" name="Google Shape;21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75" y="1845450"/>
            <a:ext cx="5410551" cy="245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necesidad de memoria</a:t>
            </a:r>
            <a:endParaRPr/>
          </a:p>
        </p:txBody>
      </p:sp>
      <p:sp>
        <p:nvSpPr>
          <p:cNvPr id="223" name="Google Shape;223;p35"/>
          <p:cNvSpPr txBox="1"/>
          <p:nvPr>
            <p:ph idx="1" type="body"/>
          </p:nvPr>
        </p:nvSpPr>
        <p:spPr>
          <a:xfrm>
            <a:off x="729450" y="1459525"/>
            <a:ext cx="7688700" cy="28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s-419" sz="4921"/>
              <a:t>Para comprender y procesar eficazmente el lenguaje natural y otras formas de datos secuenciales, es esencial considerar el contexto y la relación entre diferentes elementos de la secuencia:</a:t>
            </a:r>
            <a:endParaRPr sz="4921"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4921"/>
          </a:p>
          <a:p>
            <a:pPr indent="-306723" lvl="0" marL="457200" rtl="0" algn="l">
              <a:spcBef>
                <a:spcPts val="1500"/>
              </a:spcBef>
              <a:spcAft>
                <a:spcPts val="0"/>
              </a:spcAft>
              <a:buSzPct val="100000"/>
              <a:buChar char="●"/>
            </a:pPr>
            <a:r>
              <a:rPr b="1" lang="es-419" sz="4921"/>
              <a:t>Información Previa es Crucial:</a:t>
            </a:r>
            <a:r>
              <a:rPr lang="es-419" sz="4921"/>
              <a:t> En muchas tareas de NLP, como la traducción automática o el análisis de sentimientos, el contexto anterior (o incluso el posterior) de una palabra o frase es crucial para entender su significado.</a:t>
            </a:r>
            <a:endParaRPr sz="4921"/>
          </a:p>
          <a:p>
            <a:pPr indent="0" lvl="0" marL="9144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4921"/>
          </a:p>
          <a:p>
            <a:pPr indent="-306723" lvl="0" marL="457200" rtl="0" algn="l">
              <a:spcBef>
                <a:spcPts val="1500"/>
              </a:spcBef>
              <a:spcAft>
                <a:spcPts val="0"/>
              </a:spcAft>
              <a:buSzPct val="100000"/>
              <a:buChar char="●"/>
            </a:pPr>
            <a:r>
              <a:rPr b="1" lang="es-419" sz="4921"/>
              <a:t>El orden es crucial:</a:t>
            </a:r>
            <a:r>
              <a:rPr lang="es-419" sz="4921"/>
              <a:t> Aunque contienen las mismas palabras, el orden cambia completamente el significado. Las redes que pueden recordar y utilizar información previa son capaces de discernir estas diferencias y procesarlas adecuadamente.</a:t>
            </a:r>
            <a:endParaRPr sz="4821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Redes Neuronales Recurrentes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Redes Neuronales Recurrentes</a:t>
            </a:r>
            <a:endParaRPr/>
          </a:p>
        </p:txBody>
      </p:sp>
      <p:sp>
        <p:nvSpPr>
          <p:cNvPr id="234" name="Google Shape;234;p37"/>
          <p:cNvSpPr txBox="1"/>
          <p:nvPr/>
        </p:nvSpPr>
        <p:spPr>
          <a:xfrm>
            <a:off x="916300" y="1466075"/>
            <a:ext cx="7688700" cy="3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Diseñadas específicamente para trabajar con datos secuenciales. Las RNR tienen la capacidad de "recordar" información de pasos anteriores.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Conexiones que se Retroalimentan:</a:t>
            </a:r>
            <a:r>
              <a:rPr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Tienen conexiones que se retroalimentan hacia sí mismas o hacia unidades anteriores.Mantiene un "estado" o memoria de los datos previos.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Memoria</a:t>
            </a:r>
            <a:r>
              <a:rPr b="1"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Capacidad de recordar pasos anteriores.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Procesamiento Secuencial: </a:t>
            </a:r>
            <a:r>
              <a:rPr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Procesan los datos de entrada uno a uno, manteniendo y actualizando su estado interno a medida que avanzan.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Flexibilidad en Longitudes de Secuencia: </a:t>
            </a:r>
            <a:r>
              <a:rPr lang="es-419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Las RNR pueden procesar secuencias de diferentes longitudes, ideales para tareas como el procesamiento de lenguaje natural donde las oraciones y los documentos varían en tamaño.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8"/>
          <p:cNvSpPr txBox="1"/>
          <p:nvPr/>
        </p:nvSpPr>
        <p:spPr>
          <a:xfrm>
            <a:off x="729450" y="2936450"/>
            <a:ext cx="1685100" cy="44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8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Recurrent Neural Network</a:t>
            </a:r>
            <a:endParaRPr/>
          </a:p>
        </p:txBody>
      </p:sp>
      <p:sp>
        <p:nvSpPr>
          <p:cNvPr id="241" name="Google Shape;241;p38"/>
          <p:cNvSpPr txBox="1"/>
          <p:nvPr/>
        </p:nvSpPr>
        <p:spPr>
          <a:xfrm>
            <a:off x="1036800" y="1511325"/>
            <a:ext cx="1377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Output</a:t>
            </a:r>
            <a:endParaRPr sz="1800"/>
          </a:p>
        </p:txBody>
      </p:sp>
      <p:sp>
        <p:nvSpPr>
          <p:cNvPr id="242" name="Google Shape;242;p38"/>
          <p:cNvSpPr txBox="1"/>
          <p:nvPr/>
        </p:nvSpPr>
        <p:spPr>
          <a:xfrm>
            <a:off x="782525" y="3005225"/>
            <a:ext cx="16323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Hidden layer</a:t>
            </a:r>
            <a:endParaRPr sz="1800"/>
          </a:p>
        </p:txBody>
      </p:sp>
      <p:sp>
        <p:nvSpPr>
          <p:cNvPr id="243" name="Google Shape;243;p38"/>
          <p:cNvSpPr txBox="1"/>
          <p:nvPr/>
        </p:nvSpPr>
        <p:spPr>
          <a:xfrm>
            <a:off x="1036800" y="4541550"/>
            <a:ext cx="1377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Input</a:t>
            </a:r>
            <a:endParaRPr sz="1800"/>
          </a:p>
        </p:txBody>
      </p:sp>
      <p:sp>
        <p:nvSpPr>
          <p:cNvPr id="244" name="Google Shape;244;p38"/>
          <p:cNvSpPr/>
          <p:nvPr/>
        </p:nvSpPr>
        <p:spPr>
          <a:xfrm>
            <a:off x="2840950" y="4540225"/>
            <a:ext cx="1424700" cy="447900"/>
          </a:xfrm>
          <a:prstGeom prst="roundRect">
            <a:avLst>
              <a:gd fmla="val 247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x</a:t>
            </a:r>
            <a:r>
              <a:rPr baseline="-25000" lang="es-419" sz="2400"/>
              <a:t>t</a:t>
            </a:r>
            <a:endParaRPr baseline="-25000" sz="2400"/>
          </a:p>
        </p:txBody>
      </p:sp>
      <p:sp>
        <p:nvSpPr>
          <p:cNvPr id="245" name="Google Shape;245;p38"/>
          <p:cNvSpPr/>
          <p:nvPr/>
        </p:nvSpPr>
        <p:spPr>
          <a:xfrm>
            <a:off x="2840950" y="2936375"/>
            <a:ext cx="1424700" cy="447900"/>
          </a:xfrm>
          <a:prstGeom prst="roundRect">
            <a:avLst>
              <a:gd fmla="val 235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</a:t>
            </a:r>
            <a:r>
              <a:rPr baseline="-25000" lang="es-419" sz="2400"/>
              <a:t>t</a:t>
            </a:r>
            <a:endParaRPr baseline="-25000" sz="2400"/>
          </a:p>
        </p:txBody>
      </p:sp>
      <p:sp>
        <p:nvSpPr>
          <p:cNvPr id="246" name="Google Shape;246;p38"/>
          <p:cNvSpPr/>
          <p:nvPr/>
        </p:nvSpPr>
        <p:spPr>
          <a:xfrm>
            <a:off x="2840950" y="1442475"/>
            <a:ext cx="1424700" cy="447900"/>
          </a:xfrm>
          <a:prstGeom prst="roundRect">
            <a:avLst>
              <a:gd fmla="val 17638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</a:t>
            </a:r>
            <a:r>
              <a:rPr baseline="-25000" lang="es-419" sz="2400"/>
              <a:t>t</a:t>
            </a:r>
            <a:endParaRPr baseline="-25000" sz="2400"/>
          </a:p>
        </p:txBody>
      </p:sp>
      <p:cxnSp>
        <p:nvCxnSpPr>
          <p:cNvPr id="247" name="Google Shape;247;p38"/>
          <p:cNvCxnSpPr/>
          <p:nvPr/>
        </p:nvCxnSpPr>
        <p:spPr>
          <a:xfrm rot="10800000">
            <a:off x="3572600" y="3532100"/>
            <a:ext cx="0" cy="83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" name="Google Shape;248;p38"/>
          <p:cNvCxnSpPr/>
          <p:nvPr/>
        </p:nvCxnSpPr>
        <p:spPr>
          <a:xfrm rot="10800000">
            <a:off x="3553250" y="1995475"/>
            <a:ext cx="0" cy="83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9" name="Google Shape;249;p38"/>
          <p:cNvSpPr/>
          <p:nvPr/>
        </p:nvSpPr>
        <p:spPr>
          <a:xfrm>
            <a:off x="4929875" y="4540225"/>
            <a:ext cx="1424700" cy="447900"/>
          </a:xfrm>
          <a:prstGeom prst="roundRect">
            <a:avLst>
              <a:gd fmla="val 247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x</a:t>
            </a:r>
            <a:r>
              <a:rPr baseline="-25000" lang="es-419" sz="2400"/>
              <a:t>t+1</a:t>
            </a:r>
            <a:endParaRPr baseline="-25000" sz="2400"/>
          </a:p>
        </p:txBody>
      </p:sp>
      <p:sp>
        <p:nvSpPr>
          <p:cNvPr id="250" name="Google Shape;250;p38"/>
          <p:cNvSpPr/>
          <p:nvPr/>
        </p:nvSpPr>
        <p:spPr>
          <a:xfrm>
            <a:off x="4929875" y="2936375"/>
            <a:ext cx="1424700" cy="447900"/>
          </a:xfrm>
          <a:prstGeom prst="roundRect">
            <a:avLst>
              <a:gd fmla="val 235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</a:t>
            </a:r>
            <a:r>
              <a:rPr baseline="-25000" lang="es-419" sz="2400"/>
              <a:t>t+1</a:t>
            </a:r>
            <a:endParaRPr baseline="-25000" sz="2400"/>
          </a:p>
        </p:txBody>
      </p:sp>
      <p:sp>
        <p:nvSpPr>
          <p:cNvPr id="251" name="Google Shape;251;p38"/>
          <p:cNvSpPr/>
          <p:nvPr/>
        </p:nvSpPr>
        <p:spPr>
          <a:xfrm>
            <a:off x="4929875" y="1442475"/>
            <a:ext cx="1424700" cy="447900"/>
          </a:xfrm>
          <a:prstGeom prst="roundRect">
            <a:avLst>
              <a:gd fmla="val 17638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</a:t>
            </a:r>
            <a:r>
              <a:rPr baseline="-25000" lang="es-419" sz="2400"/>
              <a:t>t+1</a:t>
            </a:r>
            <a:endParaRPr baseline="-25000" sz="2400"/>
          </a:p>
        </p:txBody>
      </p:sp>
      <p:cxnSp>
        <p:nvCxnSpPr>
          <p:cNvPr id="252" name="Google Shape;252;p38"/>
          <p:cNvCxnSpPr/>
          <p:nvPr/>
        </p:nvCxnSpPr>
        <p:spPr>
          <a:xfrm rot="10800000">
            <a:off x="5661525" y="3532100"/>
            <a:ext cx="0" cy="83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38"/>
          <p:cNvCxnSpPr/>
          <p:nvPr/>
        </p:nvCxnSpPr>
        <p:spPr>
          <a:xfrm rot="10800000">
            <a:off x="5642175" y="1995475"/>
            <a:ext cx="0" cy="83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4" name="Google Shape;254;p38"/>
          <p:cNvSpPr/>
          <p:nvPr/>
        </p:nvSpPr>
        <p:spPr>
          <a:xfrm>
            <a:off x="7105150" y="4540225"/>
            <a:ext cx="1424700" cy="447900"/>
          </a:xfrm>
          <a:prstGeom prst="roundRect">
            <a:avLst>
              <a:gd fmla="val 247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x</a:t>
            </a:r>
            <a:r>
              <a:rPr baseline="-25000" lang="es-419" sz="2400"/>
              <a:t>t+2</a:t>
            </a:r>
            <a:endParaRPr baseline="-25000" sz="2400"/>
          </a:p>
        </p:txBody>
      </p:sp>
      <p:sp>
        <p:nvSpPr>
          <p:cNvPr id="255" name="Google Shape;255;p38"/>
          <p:cNvSpPr/>
          <p:nvPr/>
        </p:nvSpPr>
        <p:spPr>
          <a:xfrm>
            <a:off x="7105150" y="2936375"/>
            <a:ext cx="1424700" cy="447900"/>
          </a:xfrm>
          <a:prstGeom prst="roundRect">
            <a:avLst>
              <a:gd fmla="val 235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</a:t>
            </a:r>
            <a:r>
              <a:rPr baseline="-25000" lang="es-419" sz="2400"/>
              <a:t>t+2</a:t>
            </a:r>
            <a:endParaRPr baseline="-25000" sz="2400"/>
          </a:p>
        </p:txBody>
      </p:sp>
      <p:sp>
        <p:nvSpPr>
          <p:cNvPr id="256" name="Google Shape;256;p38"/>
          <p:cNvSpPr/>
          <p:nvPr/>
        </p:nvSpPr>
        <p:spPr>
          <a:xfrm>
            <a:off x="7105150" y="1442475"/>
            <a:ext cx="1424700" cy="447900"/>
          </a:xfrm>
          <a:prstGeom prst="roundRect">
            <a:avLst>
              <a:gd fmla="val 17638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</a:t>
            </a:r>
            <a:r>
              <a:rPr baseline="-25000" lang="es-419" sz="2400"/>
              <a:t>t+2</a:t>
            </a:r>
            <a:endParaRPr baseline="-25000" sz="2400"/>
          </a:p>
        </p:txBody>
      </p:sp>
      <p:cxnSp>
        <p:nvCxnSpPr>
          <p:cNvPr id="257" name="Google Shape;257;p38"/>
          <p:cNvCxnSpPr/>
          <p:nvPr/>
        </p:nvCxnSpPr>
        <p:spPr>
          <a:xfrm rot="10800000">
            <a:off x="7836800" y="3532100"/>
            <a:ext cx="0" cy="83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38"/>
          <p:cNvCxnSpPr/>
          <p:nvPr/>
        </p:nvCxnSpPr>
        <p:spPr>
          <a:xfrm rot="10800000">
            <a:off x="7817450" y="1995475"/>
            <a:ext cx="0" cy="83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38"/>
          <p:cNvCxnSpPr>
            <a:stCxn id="245" idx="3"/>
            <a:endCxn id="250" idx="1"/>
          </p:cNvCxnSpPr>
          <p:nvPr/>
        </p:nvCxnSpPr>
        <p:spPr>
          <a:xfrm>
            <a:off x="4265650" y="3160325"/>
            <a:ext cx="66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38"/>
          <p:cNvCxnSpPr>
            <a:stCxn id="250" idx="3"/>
            <a:endCxn id="255" idx="1"/>
          </p:cNvCxnSpPr>
          <p:nvPr/>
        </p:nvCxnSpPr>
        <p:spPr>
          <a:xfrm>
            <a:off x="6354575" y="3160325"/>
            <a:ext cx="75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Generación de Texto</a:t>
            </a:r>
            <a:endParaRPr/>
          </a:p>
        </p:txBody>
      </p:sp>
      <p:sp>
        <p:nvSpPr>
          <p:cNvPr id="266" name="Google Shape;266;p39"/>
          <p:cNvSpPr/>
          <p:nvPr/>
        </p:nvSpPr>
        <p:spPr>
          <a:xfrm>
            <a:off x="1076950" y="4246071"/>
            <a:ext cx="1290900" cy="308400"/>
          </a:xfrm>
          <a:prstGeom prst="roundRect">
            <a:avLst>
              <a:gd fmla="val 247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Cuando</a:t>
            </a:r>
            <a:endParaRPr baseline="-25000" sz="2400"/>
          </a:p>
        </p:txBody>
      </p:sp>
      <p:sp>
        <p:nvSpPr>
          <p:cNvPr id="267" name="Google Shape;267;p39"/>
          <p:cNvSpPr/>
          <p:nvPr/>
        </p:nvSpPr>
        <p:spPr>
          <a:xfrm>
            <a:off x="1076950" y="3141279"/>
            <a:ext cx="1290900" cy="308400"/>
          </a:xfrm>
          <a:prstGeom prst="roundRect">
            <a:avLst>
              <a:gd fmla="val 235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</a:t>
            </a:r>
            <a:r>
              <a:rPr baseline="-25000" lang="es-419" sz="2400"/>
              <a:t>t</a:t>
            </a:r>
            <a:endParaRPr baseline="-25000" sz="2400"/>
          </a:p>
        </p:txBody>
      </p:sp>
      <p:sp>
        <p:nvSpPr>
          <p:cNvPr id="268" name="Google Shape;268;p39"/>
          <p:cNvSpPr/>
          <p:nvPr/>
        </p:nvSpPr>
        <p:spPr>
          <a:xfrm>
            <a:off x="1076950" y="2112224"/>
            <a:ext cx="1290900" cy="308400"/>
          </a:xfrm>
          <a:prstGeom prst="roundRect">
            <a:avLst>
              <a:gd fmla="val 17638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llegue</a:t>
            </a:r>
            <a:endParaRPr baseline="-25000" sz="2400"/>
          </a:p>
        </p:txBody>
      </p:sp>
      <p:cxnSp>
        <p:nvCxnSpPr>
          <p:cNvPr id="269" name="Google Shape;269;p39"/>
          <p:cNvCxnSpPr/>
          <p:nvPr/>
        </p:nvCxnSpPr>
        <p:spPr>
          <a:xfrm rot="10800000">
            <a:off x="1740074" y="3551367"/>
            <a:ext cx="0" cy="57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39"/>
          <p:cNvCxnSpPr/>
          <p:nvPr/>
        </p:nvCxnSpPr>
        <p:spPr>
          <a:xfrm rot="10800000">
            <a:off x="1722536" y="2492882"/>
            <a:ext cx="0" cy="57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1" name="Google Shape;271;p39"/>
          <p:cNvSpPr/>
          <p:nvPr/>
        </p:nvSpPr>
        <p:spPr>
          <a:xfrm>
            <a:off x="2970228" y="4246071"/>
            <a:ext cx="1290900" cy="308400"/>
          </a:xfrm>
          <a:prstGeom prst="roundRect">
            <a:avLst>
              <a:gd fmla="val 247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llegue</a:t>
            </a:r>
            <a:endParaRPr baseline="-25000" sz="2400"/>
          </a:p>
        </p:txBody>
      </p:sp>
      <p:sp>
        <p:nvSpPr>
          <p:cNvPr id="272" name="Google Shape;272;p39"/>
          <p:cNvSpPr/>
          <p:nvPr/>
        </p:nvSpPr>
        <p:spPr>
          <a:xfrm>
            <a:off x="2970228" y="3141279"/>
            <a:ext cx="1290900" cy="308400"/>
          </a:xfrm>
          <a:prstGeom prst="roundRect">
            <a:avLst>
              <a:gd fmla="val 235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</a:t>
            </a:r>
            <a:r>
              <a:rPr baseline="-25000" lang="es-419" sz="2400"/>
              <a:t>t+1</a:t>
            </a:r>
            <a:endParaRPr baseline="-25000" sz="2400"/>
          </a:p>
        </p:txBody>
      </p:sp>
      <p:sp>
        <p:nvSpPr>
          <p:cNvPr id="273" name="Google Shape;273;p39"/>
          <p:cNvSpPr/>
          <p:nvPr/>
        </p:nvSpPr>
        <p:spPr>
          <a:xfrm>
            <a:off x="2970228" y="2112224"/>
            <a:ext cx="1290900" cy="308400"/>
          </a:xfrm>
          <a:prstGeom prst="roundRect">
            <a:avLst>
              <a:gd fmla="val 17638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</a:t>
            </a:r>
            <a:endParaRPr baseline="-25000" sz="2400"/>
          </a:p>
        </p:txBody>
      </p:sp>
      <p:cxnSp>
        <p:nvCxnSpPr>
          <p:cNvPr id="274" name="Google Shape;274;p39"/>
          <p:cNvCxnSpPr/>
          <p:nvPr/>
        </p:nvCxnSpPr>
        <p:spPr>
          <a:xfrm rot="10800000">
            <a:off x="3633352" y="3551367"/>
            <a:ext cx="0" cy="57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" name="Google Shape;275;p39"/>
          <p:cNvCxnSpPr/>
          <p:nvPr/>
        </p:nvCxnSpPr>
        <p:spPr>
          <a:xfrm rot="10800000">
            <a:off x="3615814" y="2492882"/>
            <a:ext cx="0" cy="57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6" name="Google Shape;276;p39"/>
          <p:cNvSpPr/>
          <p:nvPr/>
        </p:nvSpPr>
        <p:spPr>
          <a:xfrm>
            <a:off x="4941768" y="4246071"/>
            <a:ext cx="1290900" cy="308400"/>
          </a:xfrm>
          <a:prstGeom prst="roundRect">
            <a:avLst>
              <a:gd fmla="val 247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</a:t>
            </a:r>
            <a:endParaRPr baseline="-25000" sz="2400"/>
          </a:p>
        </p:txBody>
      </p:sp>
      <p:sp>
        <p:nvSpPr>
          <p:cNvPr id="277" name="Google Shape;277;p39"/>
          <p:cNvSpPr/>
          <p:nvPr/>
        </p:nvSpPr>
        <p:spPr>
          <a:xfrm>
            <a:off x="4941768" y="3141279"/>
            <a:ext cx="1290900" cy="308400"/>
          </a:xfrm>
          <a:prstGeom prst="roundRect">
            <a:avLst>
              <a:gd fmla="val 235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</a:t>
            </a:r>
            <a:r>
              <a:rPr baseline="-25000" lang="es-419" sz="2400"/>
              <a:t>t+2</a:t>
            </a:r>
            <a:endParaRPr baseline="-25000" sz="2400"/>
          </a:p>
        </p:txBody>
      </p:sp>
      <p:sp>
        <p:nvSpPr>
          <p:cNvPr id="278" name="Google Shape;278;p39"/>
          <p:cNvSpPr/>
          <p:nvPr/>
        </p:nvSpPr>
        <p:spPr>
          <a:xfrm>
            <a:off x="4941768" y="2112224"/>
            <a:ext cx="1290900" cy="308400"/>
          </a:xfrm>
          <a:prstGeom prst="roundRect">
            <a:avLst>
              <a:gd fmla="val 17638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casa</a:t>
            </a:r>
            <a:endParaRPr baseline="-25000" sz="2400"/>
          </a:p>
        </p:txBody>
      </p:sp>
      <p:cxnSp>
        <p:nvCxnSpPr>
          <p:cNvPr id="279" name="Google Shape;279;p39"/>
          <p:cNvCxnSpPr/>
          <p:nvPr/>
        </p:nvCxnSpPr>
        <p:spPr>
          <a:xfrm rot="10800000">
            <a:off x="5604892" y="3551367"/>
            <a:ext cx="0" cy="57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" name="Google Shape;280;p39"/>
          <p:cNvCxnSpPr/>
          <p:nvPr/>
        </p:nvCxnSpPr>
        <p:spPr>
          <a:xfrm rot="10800000">
            <a:off x="5587354" y="2492882"/>
            <a:ext cx="0" cy="57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" name="Google Shape;281;p39"/>
          <p:cNvCxnSpPr>
            <a:stCxn id="267" idx="3"/>
            <a:endCxn id="272" idx="1"/>
          </p:cNvCxnSpPr>
          <p:nvPr/>
        </p:nvCxnSpPr>
        <p:spPr>
          <a:xfrm>
            <a:off x="2367850" y="3295479"/>
            <a:ext cx="60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" name="Google Shape;282;p39"/>
          <p:cNvCxnSpPr>
            <a:stCxn id="272" idx="3"/>
            <a:endCxn id="277" idx="1"/>
          </p:cNvCxnSpPr>
          <p:nvPr/>
        </p:nvCxnSpPr>
        <p:spPr>
          <a:xfrm>
            <a:off x="4261128" y="3295479"/>
            <a:ext cx="68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" name="Google Shape;283;p39"/>
          <p:cNvSpPr/>
          <p:nvPr/>
        </p:nvSpPr>
        <p:spPr>
          <a:xfrm>
            <a:off x="6912918" y="4246071"/>
            <a:ext cx="1290900" cy="308400"/>
          </a:xfrm>
          <a:prstGeom prst="roundRect">
            <a:avLst>
              <a:gd fmla="val 247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casa</a:t>
            </a:r>
            <a:endParaRPr baseline="-25000" sz="2400"/>
          </a:p>
        </p:txBody>
      </p:sp>
      <p:sp>
        <p:nvSpPr>
          <p:cNvPr id="284" name="Google Shape;284;p39"/>
          <p:cNvSpPr/>
          <p:nvPr/>
        </p:nvSpPr>
        <p:spPr>
          <a:xfrm>
            <a:off x="6912918" y="3141279"/>
            <a:ext cx="1290900" cy="308400"/>
          </a:xfrm>
          <a:prstGeom prst="roundRect">
            <a:avLst>
              <a:gd fmla="val 235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</a:t>
            </a:r>
            <a:r>
              <a:rPr baseline="-25000" lang="es-419" sz="2400"/>
              <a:t>t+2</a:t>
            </a:r>
            <a:endParaRPr baseline="-25000" sz="2400"/>
          </a:p>
        </p:txBody>
      </p:sp>
      <p:sp>
        <p:nvSpPr>
          <p:cNvPr id="285" name="Google Shape;285;p39"/>
          <p:cNvSpPr/>
          <p:nvPr/>
        </p:nvSpPr>
        <p:spPr>
          <a:xfrm>
            <a:off x="6912918" y="2112224"/>
            <a:ext cx="1290900" cy="308400"/>
          </a:xfrm>
          <a:prstGeom prst="roundRect">
            <a:avLst>
              <a:gd fmla="val 17638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me</a:t>
            </a:r>
            <a:endParaRPr baseline="-25000" sz="2400"/>
          </a:p>
        </p:txBody>
      </p:sp>
      <p:cxnSp>
        <p:nvCxnSpPr>
          <p:cNvPr id="286" name="Google Shape;286;p39"/>
          <p:cNvCxnSpPr/>
          <p:nvPr/>
        </p:nvCxnSpPr>
        <p:spPr>
          <a:xfrm rot="10800000">
            <a:off x="7576042" y="3551367"/>
            <a:ext cx="0" cy="57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" name="Google Shape;287;p39"/>
          <p:cNvCxnSpPr/>
          <p:nvPr/>
        </p:nvCxnSpPr>
        <p:spPr>
          <a:xfrm rot="10800000">
            <a:off x="7558504" y="2492882"/>
            <a:ext cx="0" cy="57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" name="Google Shape;288;p39"/>
          <p:cNvCxnSpPr>
            <a:endCxn id="284" idx="1"/>
          </p:cNvCxnSpPr>
          <p:nvPr/>
        </p:nvCxnSpPr>
        <p:spPr>
          <a:xfrm>
            <a:off x="6232518" y="3295479"/>
            <a:ext cx="68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9" name="Google Shape;289;p39"/>
          <p:cNvSpPr/>
          <p:nvPr/>
        </p:nvSpPr>
        <p:spPr>
          <a:xfrm>
            <a:off x="1656075" y="1814600"/>
            <a:ext cx="2294954" cy="2431355"/>
          </a:xfrm>
          <a:custGeom>
            <a:rect b="b" l="l" r="r" t="t"/>
            <a:pathLst>
              <a:path extrusionOk="0" h="130490" w="103997">
                <a:moveTo>
                  <a:pt x="0" y="16126"/>
                </a:moveTo>
                <a:cubicBezTo>
                  <a:pt x="15247" y="14574"/>
                  <a:pt x="74151" y="-12248"/>
                  <a:pt x="91484" y="6813"/>
                </a:cubicBezTo>
                <a:cubicBezTo>
                  <a:pt x="108817" y="25874"/>
                  <a:pt x="101912" y="109877"/>
                  <a:pt x="103997" y="130490"/>
                </a:cubicBez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290" name="Google Shape;290;p39"/>
          <p:cNvSpPr/>
          <p:nvPr/>
        </p:nvSpPr>
        <p:spPr>
          <a:xfrm>
            <a:off x="3484875" y="1814600"/>
            <a:ext cx="2294954" cy="2431355"/>
          </a:xfrm>
          <a:custGeom>
            <a:rect b="b" l="l" r="r" t="t"/>
            <a:pathLst>
              <a:path extrusionOk="0" h="130490" w="103997">
                <a:moveTo>
                  <a:pt x="0" y="16126"/>
                </a:moveTo>
                <a:cubicBezTo>
                  <a:pt x="15247" y="14574"/>
                  <a:pt x="74151" y="-12248"/>
                  <a:pt x="91484" y="6813"/>
                </a:cubicBezTo>
                <a:cubicBezTo>
                  <a:pt x="108817" y="25874"/>
                  <a:pt x="101912" y="109877"/>
                  <a:pt x="103997" y="130490"/>
                </a:cubicBez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291" name="Google Shape;291;p39"/>
          <p:cNvSpPr/>
          <p:nvPr/>
        </p:nvSpPr>
        <p:spPr>
          <a:xfrm>
            <a:off x="5466075" y="1814600"/>
            <a:ext cx="2294954" cy="2431355"/>
          </a:xfrm>
          <a:custGeom>
            <a:rect b="b" l="l" r="r" t="t"/>
            <a:pathLst>
              <a:path extrusionOk="0" h="130490" w="103997">
                <a:moveTo>
                  <a:pt x="0" y="16126"/>
                </a:moveTo>
                <a:cubicBezTo>
                  <a:pt x="15247" y="14574"/>
                  <a:pt x="74151" y="-12248"/>
                  <a:pt x="91484" y="6813"/>
                </a:cubicBezTo>
                <a:cubicBezTo>
                  <a:pt x="108817" y="25874"/>
                  <a:pt x="101912" y="109877"/>
                  <a:pt x="103997" y="130490"/>
                </a:cubicBez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0"/>
          <p:cNvSpPr txBox="1"/>
          <p:nvPr/>
        </p:nvSpPr>
        <p:spPr>
          <a:xfrm>
            <a:off x="729450" y="3726465"/>
            <a:ext cx="1439400" cy="27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0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Clasificación</a:t>
            </a:r>
            <a:endParaRPr/>
          </a:p>
        </p:txBody>
      </p:sp>
      <p:sp>
        <p:nvSpPr>
          <p:cNvPr id="298" name="Google Shape;298;p40"/>
          <p:cNvSpPr txBox="1"/>
          <p:nvPr/>
        </p:nvSpPr>
        <p:spPr>
          <a:xfrm>
            <a:off x="991952" y="2850089"/>
            <a:ext cx="11769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Output</a:t>
            </a:r>
            <a:endParaRPr sz="1800"/>
          </a:p>
        </p:txBody>
      </p:sp>
      <p:sp>
        <p:nvSpPr>
          <p:cNvPr id="299" name="Google Shape;299;p40"/>
          <p:cNvSpPr txBox="1"/>
          <p:nvPr/>
        </p:nvSpPr>
        <p:spPr>
          <a:xfrm>
            <a:off x="774780" y="3768758"/>
            <a:ext cx="1394100" cy="19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Hidden layer</a:t>
            </a:r>
            <a:endParaRPr sz="1800"/>
          </a:p>
        </p:txBody>
      </p:sp>
      <p:sp>
        <p:nvSpPr>
          <p:cNvPr id="300" name="Google Shape;300;p40"/>
          <p:cNvSpPr txBox="1"/>
          <p:nvPr/>
        </p:nvSpPr>
        <p:spPr>
          <a:xfrm>
            <a:off x="991952" y="4713516"/>
            <a:ext cx="11769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Input</a:t>
            </a:r>
            <a:endParaRPr sz="1800"/>
          </a:p>
        </p:txBody>
      </p:sp>
      <p:sp>
        <p:nvSpPr>
          <p:cNvPr id="301" name="Google Shape;301;p40"/>
          <p:cNvSpPr/>
          <p:nvPr/>
        </p:nvSpPr>
        <p:spPr>
          <a:xfrm>
            <a:off x="2532843" y="4712701"/>
            <a:ext cx="1216800" cy="275400"/>
          </a:xfrm>
          <a:prstGeom prst="roundRect">
            <a:avLst>
              <a:gd fmla="val 247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x</a:t>
            </a:r>
            <a:r>
              <a:rPr baseline="-25000" lang="es-419" sz="2400"/>
              <a:t>t</a:t>
            </a:r>
            <a:endParaRPr baseline="-25000" sz="2400"/>
          </a:p>
        </p:txBody>
      </p:sp>
      <p:sp>
        <p:nvSpPr>
          <p:cNvPr id="302" name="Google Shape;302;p40"/>
          <p:cNvSpPr/>
          <p:nvPr/>
        </p:nvSpPr>
        <p:spPr>
          <a:xfrm>
            <a:off x="2532843" y="3726419"/>
            <a:ext cx="1216800" cy="275400"/>
          </a:xfrm>
          <a:prstGeom prst="roundRect">
            <a:avLst>
              <a:gd fmla="val 235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</a:t>
            </a:r>
            <a:r>
              <a:rPr baseline="-25000" lang="es-419" sz="2400"/>
              <a:t>t</a:t>
            </a:r>
            <a:endParaRPr baseline="-25000" sz="2400"/>
          </a:p>
        </p:txBody>
      </p:sp>
      <p:sp>
        <p:nvSpPr>
          <p:cNvPr id="303" name="Google Shape;303;p40"/>
          <p:cNvSpPr/>
          <p:nvPr/>
        </p:nvSpPr>
        <p:spPr>
          <a:xfrm>
            <a:off x="2532843" y="2807750"/>
            <a:ext cx="1216800" cy="275400"/>
          </a:xfrm>
          <a:prstGeom prst="roundRect">
            <a:avLst>
              <a:gd fmla="val 17638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</a:t>
            </a:r>
            <a:r>
              <a:rPr baseline="-25000" lang="es-419" sz="2400"/>
              <a:t>t</a:t>
            </a:r>
            <a:endParaRPr baseline="-25000" sz="2400"/>
          </a:p>
        </p:txBody>
      </p:sp>
      <p:cxnSp>
        <p:nvCxnSpPr>
          <p:cNvPr id="304" name="Google Shape;304;p40"/>
          <p:cNvCxnSpPr/>
          <p:nvPr/>
        </p:nvCxnSpPr>
        <p:spPr>
          <a:xfrm rot="10800000">
            <a:off x="3157731" y="4092831"/>
            <a:ext cx="0" cy="51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" name="Google Shape;305;p40"/>
          <p:cNvCxnSpPr/>
          <p:nvPr/>
        </p:nvCxnSpPr>
        <p:spPr>
          <a:xfrm rot="10800000">
            <a:off x="3141205" y="3147888"/>
            <a:ext cx="0" cy="51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6" name="Google Shape;306;p40"/>
          <p:cNvSpPr/>
          <p:nvPr/>
        </p:nvSpPr>
        <p:spPr>
          <a:xfrm>
            <a:off x="4316955" y="4712701"/>
            <a:ext cx="1216800" cy="275400"/>
          </a:xfrm>
          <a:prstGeom prst="roundRect">
            <a:avLst>
              <a:gd fmla="val 247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x</a:t>
            </a:r>
            <a:r>
              <a:rPr baseline="-25000" lang="es-419" sz="2400"/>
              <a:t>t+1</a:t>
            </a:r>
            <a:endParaRPr baseline="-25000" sz="2400"/>
          </a:p>
        </p:txBody>
      </p:sp>
      <p:sp>
        <p:nvSpPr>
          <p:cNvPr id="307" name="Google Shape;307;p40"/>
          <p:cNvSpPr/>
          <p:nvPr/>
        </p:nvSpPr>
        <p:spPr>
          <a:xfrm>
            <a:off x="4316955" y="3726419"/>
            <a:ext cx="1216800" cy="275400"/>
          </a:xfrm>
          <a:prstGeom prst="roundRect">
            <a:avLst>
              <a:gd fmla="val 235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</a:t>
            </a:r>
            <a:r>
              <a:rPr baseline="-25000" lang="es-419" sz="2400"/>
              <a:t>t+1</a:t>
            </a:r>
            <a:endParaRPr baseline="-25000" sz="2400"/>
          </a:p>
        </p:txBody>
      </p:sp>
      <p:sp>
        <p:nvSpPr>
          <p:cNvPr id="308" name="Google Shape;308;p40"/>
          <p:cNvSpPr/>
          <p:nvPr/>
        </p:nvSpPr>
        <p:spPr>
          <a:xfrm>
            <a:off x="4316955" y="2807750"/>
            <a:ext cx="1216800" cy="275400"/>
          </a:xfrm>
          <a:prstGeom prst="roundRect">
            <a:avLst>
              <a:gd fmla="val 17638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</a:t>
            </a:r>
            <a:r>
              <a:rPr baseline="-25000" lang="es-419" sz="2400"/>
              <a:t>t+1</a:t>
            </a:r>
            <a:endParaRPr baseline="-25000" sz="2400"/>
          </a:p>
        </p:txBody>
      </p:sp>
      <p:cxnSp>
        <p:nvCxnSpPr>
          <p:cNvPr id="309" name="Google Shape;309;p40"/>
          <p:cNvCxnSpPr/>
          <p:nvPr/>
        </p:nvCxnSpPr>
        <p:spPr>
          <a:xfrm rot="10800000">
            <a:off x="4941843" y="4092831"/>
            <a:ext cx="0" cy="51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" name="Google Shape;310;p40"/>
          <p:cNvCxnSpPr/>
          <p:nvPr/>
        </p:nvCxnSpPr>
        <p:spPr>
          <a:xfrm rot="10800000">
            <a:off x="4925317" y="3147888"/>
            <a:ext cx="0" cy="51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1" name="Google Shape;311;p40"/>
          <p:cNvSpPr/>
          <p:nvPr/>
        </p:nvSpPr>
        <p:spPr>
          <a:xfrm>
            <a:off x="6174816" y="4712701"/>
            <a:ext cx="1216800" cy="275400"/>
          </a:xfrm>
          <a:prstGeom prst="roundRect">
            <a:avLst>
              <a:gd fmla="val 247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x</a:t>
            </a:r>
            <a:r>
              <a:rPr baseline="-25000" lang="es-419" sz="2400"/>
              <a:t>t+2</a:t>
            </a:r>
            <a:endParaRPr baseline="-25000" sz="2400"/>
          </a:p>
        </p:txBody>
      </p:sp>
      <p:sp>
        <p:nvSpPr>
          <p:cNvPr id="312" name="Google Shape;312;p40"/>
          <p:cNvSpPr/>
          <p:nvPr/>
        </p:nvSpPr>
        <p:spPr>
          <a:xfrm>
            <a:off x="6174816" y="3726419"/>
            <a:ext cx="1216800" cy="275400"/>
          </a:xfrm>
          <a:prstGeom prst="roundRect">
            <a:avLst>
              <a:gd fmla="val 235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</a:t>
            </a:r>
            <a:r>
              <a:rPr baseline="-25000" lang="es-419" sz="2400"/>
              <a:t>t+2</a:t>
            </a:r>
            <a:endParaRPr baseline="-25000" sz="2400"/>
          </a:p>
        </p:txBody>
      </p:sp>
      <p:sp>
        <p:nvSpPr>
          <p:cNvPr id="313" name="Google Shape;313;p40"/>
          <p:cNvSpPr/>
          <p:nvPr/>
        </p:nvSpPr>
        <p:spPr>
          <a:xfrm>
            <a:off x="6174816" y="2807750"/>
            <a:ext cx="1216800" cy="275400"/>
          </a:xfrm>
          <a:prstGeom prst="roundRect">
            <a:avLst>
              <a:gd fmla="val 17638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</a:t>
            </a:r>
            <a:r>
              <a:rPr baseline="-25000" lang="es-419" sz="2400"/>
              <a:t>t+2</a:t>
            </a:r>
            <a:endParaRPr baseline="-25000" sz="2400"/>
          </a:p>
        </p:txBody>
      </p:sp>
      <p:cxnSp>
        <p:nvCxnSpPr>
          <p:cNvPr id="314" name="Google Shape;314;p40"/>
          <p:cNvCxnSpPr/>
          <p:nvPr/>
        </p:nvCxnSpPr>
        <p:spPr>
          <a:xfrm rot="10800000">
            <a:off x="6799705" y="4092831"/>
            <a:ext cx="0" cy="51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" name="Google Shape;315;p40"/>
          <p:cNvCxnSpPr/>
          <p:nvPr/>
        </p:nvCxnSpPr>
        <p:spPr>
          <a:xfrm rot="10800000">
            <a:off x="6783179" y="3147888"/>
            <a:ext cx="0" cy="51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40"/>
          <p:cNvCxnSpPr>
            <a:stCxn id="302" idx="3"/>
            <a:endCxn id="307" idx="1"/>
          </p:cNvCxnSpPr>
          <p:nvPr/>
        </p:nvCxnSpPr>
        <p:spPr>
          <a:xfrm>
            <a:off x="3749643" y="3864119"/>
            <a:ext cx="56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40"/>
          <p:cNvCxnSpPr>
            <a:stCxn id="307" idx="3"/>
            <a:endCxn id="312" idx="1"/>
          </p:cNvCxnSpPr>
          <p:nvPr/>
        </p:nvCxnSpPr>
        <p:spPr>
          <a:xfrm>
            <a:off x="5533755" y="3864119"/>
            <a:ext cx="64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" name="Google Shape;318;p40"/>
          <p:cNvCxnSpPr>
            <a:stCxn id="303" idx="0"/>
            <a:endCxn id="319" idx="2"/>
          </p:cNvCxnSpPr>
          <p:nvPr/>
        </p:nvCxnSpPr>
        <p:spPr>
          <a:xfrm flipH="1" rot="10800000">
            <a:off x="3141243" y="1797950"/>
            <a:ext cx="1776600" cy="100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" name="Google Shape;320;p40"/>
          <p:cNvCxnSpPr>
            <a:stCxn id="308" idx="0"/>
            <a:endCxn id="319" idx="2"/>
          </p:cNvCxnSpPr>
          <p:nvPr/>
        </p:nvCxnSpPr>
        <p:spPr>
          <a:xfrm rot="10800000">
            <a:off x="4917555" y="1797950"/>
            <a:ext cx="7800" cy="100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40"/>
          <p:cNvCxnSpPr>
            <a:stCxn id="313" idx="0"/>
            <a:endCxn id="319" idx="2"/>
          </p:cNvCxnSpPr>
          <p:nvPr/>
        </p:nvCxnSpPr>
        <p:spPr>
          <a:xfrm rot="10800000">
            <a:off x="4917816" y="1797950"/>
            <a:ext cx="1865400" cy="100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9" name="Google Shape;319;p40"/>
          <p:cNvSpPr/>
          <p:nvPr/>
        </p:nvSpPr>
        <p:spPr>
          <a:xfrm>
            <a:off x="4309293" y="1522675"/>
            <a:ext cx="1216800" cy="275400"/>
          </a:xfrm>
          <a:prstGeom prst="roundRect">
            <a:avLst>
              <a:gd fmla="val 17638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/>
          </a:p>
        </p:txBody>
      </p:sp>
      <p:cxnSp>
        <p:nvCxnSpPr>
          <p:cNvPr id="322" name="Google Shape;322;p40"/>
          <p:cNvCxnSpPr>
            <a:stCxn id="319" idx="0"/>
          </p:cNvCxnSpPr>
          <p:nvPr/>
        </p:nvCxnSpPr>
        <p:spPr>
          <a:xfrm rot="10800000">
            <a:off x="4909893" y="1055875"/>
            <a:ext cx="7800" cy="46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3" name="Google Shape;323;p40"/>
          <p:cNvSpPr txBox="1"/>
          <p:nvPr/>
        </p:nvSpPr>
        <p:spPr>
          <a:xfrm>
            <a:off x="3417700" y="6241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Output</a:t>
            </a:r>
            <a:endParaRPr/>
          </a:p>
        </p:txBody>
      </p:sp>
      <p:sp>
        <p:nvSpPr>
          <p:cNvPr id="324" name="Google Shape;324;p40"/>
          <p:cNvSpPr txBox="1"/>
          <p:nvPr/>
        </p:nvSpPr>
        <p:spPr>
          <a:xfrm>
            <a:off x="5738300" y="1312475"/>
            <a:ext cx="22023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6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Cómo</a:t>
            </a:r>
            <a:r>
              <a:rPr lang="es-419" sz="16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 se genera esa </a:t>
            </a:r>
            <a:r>
              <a:rPr lang="es-419" sz="16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representación</a:t>
            </a:r>
            <a:r>
              <a:rPr lang="es-419" sz="16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1"/>
          <p:cNvSpPr txBox="1"/>
          <p:nvPr/>
        </p:nvSpPr>
        <p:spPr>
          <a:xfrm>
            <a:off x="729450" y="3726465"/>
            <a:ext cx="1439400" cy="27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1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Clasificación</a:t>
            </a:r>
            <a:endParaRPr/>
          </a:p>
        </p:txBody>
      </p:sp>
      <p:sp>
        <p:nvSpPr>
          <p:cNvPr id="331" name="Google Shape;331;p41"/>
          <p:cNvSpPr txBox="1"/>
          <p:nvPr/>
        </p:nvSpPr>
        <p:spPr>
          <a:xfrm>
            <a:off x="991952" y="2850089"/>
            <a:ext cx="11769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Output</a:t>
            </a:r>
            <a:endParaRPr sz="1800"/>
          </a:p>
        </p:txBody>
      </p:sp>
      <p:sp>
        <p:nvSpPr>
          <p:cNvPr id="332" name="Google Shape;332;p41"/>
          <p:cNvSpPr txBox="1"/>
          <p:nvPr/>
        </p:nvSpPr>
        <p:spPr>
          <a:xfrm>
            <a:off x="774780" y="3768758"/>
            <a:ext cx="1394100" cy="19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Hidden layer</a:t>
            </a:r>
            <a:endParaRPr sz="1800"/>
          </a:p>
        </p:txBody>
      </p:sp>
      <p:sp>
        <p:nvSpPr>
          <p:cNvPr id="333" name="Google Shape;333;p41"/>
          <p:cNvSpPr txBox="1"/>
          <p:nvPr/>
        </p:nvSpPr>
        <p:spPr>
          <a:xfrm>
            <a:off x="991952" y="4713516"/>
            <a:ext cx="11769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Input</a:t>
            </a:r>
            <a:endParaRPr sz="1800"/>
          </a:p>
        </p:txBody>
      </p:sp>
      <p:sp>
        <p:nvSpPr>
          <p:cNvPr id="334" name="Google Shape;334;p41"/>
          <p:cNvSpPr/>
          <p:nvPr/>
        </p:nvSpPr>
        <p:spPr>
          <a:xfrm>
            <a:off x="2532843" y="4712701"/>
            <a:ext cx="1216800" cy="275400"/>
          </a:xfrm>
          <a:prstGeom prst="roundRect">
            <a:avLst>
              <a:gd fmla="val 247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x</a:t>
            </a:r>
            <a:r>
              <a:rPr baseline="-25000" lang="es-419" sz="2400"/>
              <a:t>t</a:t>
            </a:r>
            <a:endParaRPr baseline="-25000" sz="2400"/>
          </a:p>
        </p:txBody>
      </p:sp>
      <p:sp>
        <p:nvSpPr>
          <p:cNvPr id="335" name="Google Shape;335;p41"/>
          <p:cNvSpPr/>
          <p:nvPr/>
        </p:nvSpPr>
        <p:spPr>
          <a:xfrm>
            <a:off x="2532843" y="3726419"/>
            <a:ext cx="1216800" cy="275400"/>
          </a:xfrm>
          <a:prstGeom prst="roundRect">
            <a:avLst>
              <a:gd fmla="val 235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</a:t>
            </a:r>
            <a:r>
              <a:rPr baseline="-25000" lang="es-419" sz="2400"/>
              <a:t>t</a:t>
            </a:r>
            <a:endParaRPr baseline="-25000" sz="2400"/>
          </a:p>
        </p:txBody>
      </p:sp>
      <p:sp>
        <p:nvSpPr>
          <p:cNvPr id="336" name="Google Shape;336;p41"/>
          <p:cNvSpPr/>
          <p:nvPr/>
        </p:nvSpPr>
        <p:spPr>
          <a:xfrm>
            <a:off x="2532843" y="2807750"/>
            <a:ext cx="1216800" cy="275400"/>
          </a:xfrm>
          <a:prstGeom prst="roundRect">
            <a:avLst>
              <a:gd fmla="val 17638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</a:t>
            </a:r>
            <a:r>
              <a:rPr baseline="-25000" lang="es-419" sz="2400"/>
              <a:t>t</a:t>
            </a:r>
            <a:endParaRPr baseline="-25000" sz="2400"/>
          </a:p>
        </p:txBody>
      </p:sp>
      <p:cxnSp>
        <p:nvCxnSpPr>
          <p:cNvPr id="337" name="Google Shape;337;p41"/>
          <p:cNvCxnSpPr/>
          <p:nvPr/>
        </p:nvCxnSpPr>
        <p:spPr>
          <a:xfrm rot="10800000">
            <a:off x="3157731" y="4092831"/>
            <a:ext cx="0" cy="51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8" name="Google Shape;338;p41"/>
          <p:cNvCxnSpPr/>
          <p:nvPr/>
        </p:nvCxnSpPr>
        <p:spPr>
          <a:xfrm rot="10800000">
            <a:off x="3141205" y="3147888"/>
            <a:ext cx="0" cy="51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9" name="Google Shape;339;p41"/>
          <p:cNvSpPr/>
          <p:nvPr/>
        </p:nvSpPr>
        <p:spPr>
          <a:xfrm>
            <a:off x="4316955" y="4712701"/>
            <a:ext cx="1216800" cy="275400"/>
          </a:xfrm>
          <a:prstGeom prst="roundRect">
            <a:avLst>
              <a:gd fmla="val 247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x</a:t>
            </a:r>
            <a:r>
              <a:rPr baseline="-25000" lang="es-419" sz="2400"/>
              <a:t>t+1</a:t>
            </a:r>
            <a:endParaRPr baseline="-25000" sz="2400"/>
          </a:p>
        </p:txBody>
      </p:sp>
      <p:sp>
        <p:nvSpPr>
          <p:cNvPr id="340" name="Google Shape;340;p41"/>
          <p:cNvSpPr/>
          <p:nvPr/>
        </p:nvSpPr>
        <p:spPr>
          <a:xfrm>
            <a:off x="4316955" y="3726419"/>
            <a:ext cx="1216800" cy="275400"/>
          </a:xfrm>
          <a:prstGeom prst="roundRect">
            <a:avLst>
              <a:gd fmla="val 235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</a:t>
            </a:r>
            <a:r>
              <a:rPr baseline="-25000" lang="es-419" sz="2400"/>
              <a:t>t+1</a:t>
            </a:r>
            <a:endParaRPr baseline="-25000" sz="2400"/>
          </a:p>
        </p:txBody>
      </p:sp>
      <p:sp>
        <p:nvSpPr>
          <p:cNvPr id="341" name="Google Shape;341;p41"/>
          <p:cNvSpPr/>
          <p:nvPr/>
        </p:nvSpPr>
        <p:spPr>
          <a:xfrm>
            <a:off x="4316955" y="2807750"/>
            <a:ext cx="1216800" cy="275400"/>
          </a:xfrm>
          <a:prstGeom prst="roundRect">
            <a:avLst>
              <a:gd fmla="val 17638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</a:t>
            </a:r>
            <a:r>
              <a:rPr baseline="-25000" lang="es-419" sz="2400"/>
              <a:t>t+1</a:t>
            </a:r>
            <a:endParaRPr baseline="-25000" sz="2400"/>
          </a:p>
        </p:txBody>
      </p:sp>
      <p:cxnSp>
        <p:nvCxnSpPr>
          <p:cNvPr id="342" name="Google Shape;342;p41"/>
          <p:cNvCxnSpPr/>
          <p:nvPr/>
        </p:nvCxnSpPr>
        <p:spPr>
          <a:xfrm rot="10800000">
            <a:off x="4941843" y="4092831"/>
            <a:ext cx="0" cy="51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" name="Google Shape;343;p41"/>
          <p:cNvCxnSpPr/>
          <p:nvPr/>
        </p:nvCxnSpPr>
        <p:spPr>
          <a:xfrm rot="10800000">
            <a:off x="4925317" y="3147888"/>
            <a:ext cx="0" cy="51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4" name="Google Shape;344;p41"/>
          <p:cNvSpPr/>
          <p:nvPr/>
        </p:nvSpPr>
        <p:spPr>
          <a:xfrm>
            <a:off x="6174816" y="4712701"/>
            <a:ext cx="1216800" cy="275400"/>
          </a:xfrm>
          <a:prstGeom prst="roundRect">
            <a:avLst>
              <a:gd fmla="val 247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x</a:t>
            </a:r>
            <a:r>
              <a:rPr baseline="-25000" lang="es-419" sz="2400"/>
              <a:t>t+2</a:t>
            </a:r>
            <a:endParaRPr baseline="-25000" sz="2400"/>
          </a:p>
        </p:txBody>
      </p:sp>
      <p:sp>
        <p:nvSpPr>
          <p:cNvPr id="345" name="Google Shape;345;p41"/>
          <p:cNvSpPr/>
          <p:nvPr/>
        </p:nvSpPr>
        <p:spPr>
          <a:xfrm>
            <a:off x="6174816" y="3726419"/>
            <a:ext cx="1216800" cy="275400"/>
          </a:xfrm>
          <a:prstGeom prst="roundRect">
            <a:avLst>
              <a:gd fmla="val 235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</a:t>
            </a:r>
            <a:r>
              <a:rPr baseline="-25000" lang="es-419" sz="2400"/>
              <a:t>t+2</a:t>
            </a:r>
            <a:endParaRPr baseline="-25000" sz="2400"/>
          </a:p>
        </p:txBody>
      </p:sp>
      <p:sp>
        <p:nvSpPr>
          <p:cNvPr id="346" name="Google Shape;346;p41"/>
          <p:cNvSpPr/>
          <p:nvPr/>
        </p:nvSpPr>
        <p:spPr>
          <a:xfrm>
            <a:off x="6174816" y="2807750"/>
            <a:ext cx="1216800" cy="275400"/>
          </a:xfrm>
          <a:prstGeom prst="roundRect">
            <a:avLst>
              <a:gd fmla="val 17638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</a:t>
            </a:r>
            <a:r>
              <a:rPr baseline="-25000" lang="es-419" sz="2400"/>
              <a:t>t+2</a:t>
            </a:r>
            <a:endParaRPr baseline="-25000" sz="2400"/>
          </a:p>
        </p:txBody>
      </p:sp>
      <p:cxnSp>
        <p:nvCxnSpPr>
          <p:cNvPr id="347" name="Google Shape;347;p41"/>
          <p:cNvCxnSpPr/>
          <p:nvPr/>
        </p:nvCxnSpPr>
        <p:spPr>
          <a:xfrm rot="10800000">
            <a:off x="6799705" y="4092831"/>
            <a:ext cx="0" cy="51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p41"/>
          <p:cNvCxnSpPr/>
          <p:nvPr/>
        </p:nvCxnSpPr>
        <p:spPr>
          <a:xfrm rot="10800000">
            <a:off x="6783179" y="3147888"/>
            <a:ext cx="0" cy="51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" name="Google Shape;349;p41"/>
          <p:cNvCxnSpPr>
            <a:stCxn id="335" idx="3"/>
            <a:endCxn id="340" idx="1"/>
          </p:cNvCxnSpPr>
          <p:nvPr/>
        </p:nvCxnSpPr>
        <p:spPr>
          <a:xfrm>
            <a:off x="3749643" y="3864119"/>
            <a:ext cx="56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" name="Google Shape;350;p41"/>
          <p:cNvCxnSpPr>
            <a:stCxn id="340" idx="3"/>
            <a:endCxn id="345" idx="1"/>
          </p:cNvCxnSpPr>
          <p:nvPr/>
        </p:nvCxnSpPr>
        <p:spPr>
          <a:xfrm>
            <a:off x="5533755" y="3864119"/>
            <a:ext cx="64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1" name="Google Shape;351;p41"/>
          <p:cNvCxnSpPr>
            <a:stCxn id="346" idx="0"/>
            <a:endCxn id="352" idx="2"/>
          </p:cNvCxnSpPr>
          <p:nvPr/>
        </p:nvCxnSpPr>
        <p:spPr>
          <a:xfrm rot="10800000">
            <a:off x="6783216" y="1890650"/>
            <a:ext cx="0" cy="91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2" name="Google Shape;352;p41"/>
          <p:cNvSpPr/>
          <p:nvPr/>
        </p:nvSpPr>
        <p:spPr>
          <a:xfrm>
            <a:off x="6174818" y="1615150"/>
            <a:ext cx="1216800" cy="275400"/>
          </a:xfrm>
          <a:prstGeom prst="roundRect">
            <a:avLst>
              <a:gd fmla="val 17638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/>
          </a:p>
        </p:txBody>
      </p:sp>
      <p:cxnSp>
        <p:nvCxnSpPr>
          <p:cNvPr id="353" name="Google Shape;353;p41"/>
          <p:cNvCxnSpPr>
            <a:stCxn id="352" idx="0"/>
          </p:cNvCxnSpPr>
          <p:nvPr/>
        </p:nvCxnSpPr>
        <p:spPr>
          <a:xfrm rot="10800000">
            <a:off x="6775418" y="1148350"/>
            <a:ext cx="7800" cy="46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4" name="Google Shape;354;p41"/>
          <p:cNvSpPr txBox="1"/>
          <p:nvPr/>
        </p:nvSpPr>
        <p:spPr>
          <a:xfrm>
            <a:off x="5283225" y="6533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Output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2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¿Qué hacemos con RRNs?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3"/>
          <p:cNvSpPr/>
          <p:nvPr/>
        </p:nvSpPr>
        <p:spPr>
          <a:xfrm>
            <a:off x="30365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3"/>
          <p:cNvSpPr/>
          <p:nvPr/>
        </p:nvSpPr>
        <p:spPr>
          <a:xfrm>
            <a:off x="30402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6" name="Google Shape;366;p43"/>
          <p:cNvCxnSpPr/>
          <p:nvPr/>
        </p:nvCxnSpPr>
        <p:spPr>
          <a:xfrm rot="10800000">
            <a:off x="32856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7" name="Google Shape;367;p43"/>
          <p:cNvSpPr txBox="1"/>
          <p:nvPr/>
        </p:nvSpPr>
        <p:spPr>
          <a:xfrm>
            <a:off x="3026925" y="29883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368" name="Google Shape;368;p43"/>
          <p:cNvSpPr txBox="1"/>
          <p:nvPr/>
        </p:nvSpPr>
        <p:spPr>
          <a:xfrm>
            <a:off x="3023288" y="39492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369" name="Google Shape;369;p43"/>
          <p:cNvSpPr txBox="1"/>
          <p:nvPr/>
        </p:nvSpPr>
        <p:spPr>
          <a:xfrm>
            <a:off x="28985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&lt;start&gt;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70" name="Google Shape;370;p43"/>
          <p:cNvSpPr txBox="1"/>
          <p:nvPr/>
        </p:nvSpPr>
        <p:spPr>
          <a:xfrm>
            <a:off x="3285625" y="35110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371" name="Google Shape;371;p43"/>
          <p:cNvSpPr/>
          <p:nvPr/>
        </p:nvSpPr>
        <p:spPr>
          <a:xfrm>
            <a:off x="3038888" y="2032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2" name="Google Shape;372;p43"/>
          <p:cNvCxnSpPr/>
          <p:nvPr/>
        </p:nvCxnSpPr>
        <p:spPr>
          <a:xfrm rot="10800000">
            <a:off x="3254838" y="2514975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3" name="Google Shape;373;p43"/>
          <p:cNvSpPr txBox="1"/>
          <p:nvPr/>
        </p:nvSpPr>
        <p:spPr>
          <a:xfrm>
            <a:off x="3025613" y="20682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cxnSp>
        <p:nvCxnSpPr>
          <p:cNvPr id="374" name="Google Shape;374;p43"/>
          <p:cNvCxnSpPr/>
          <p:nvPr/>
        </p:nvCxnSpPr>
        <p:spPr>
          <a:xfrm rot="10800000">
            <a:off x="3262613" y="1594875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5" name="Google Shape;375;p43"/>
          <p:cNvSpPr txBox="1"/>
          <p:nvPr/>
        </p:nvSpPr>
        <p:spPr>
          <a:xfrm>
            <a:off x="2958238" y="1274250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3"/>
          <p:cNvSpPr txBox="1"/>
          <p:nvPr/>
        </p:nvSpPr>
        <p:spPr>
          <a:xfrm>
            <a:off x="2880713" y="1205325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3"/>
          <p:cNvSpPr/>
          <p:nvPr/>
        </p:nvSpPr>
        <p:spPr>
          <a:xfrm>
            <a:off x="3038900" y="11565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43"/>
          <p:cNvSpPr txBox="1"/>
          <p:nvPr/>
        </p:nvSpPr>
        <p:spPr>
          <a:xfrm>
            <a:off x="3046150" y="11835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379" name="Google Shape;379;p43"/>
          <p:cNvSpPr txBox="1"/>
          <p:nvPr/>
        </p:nvSpPr>
        <p:spPr>
          <a:xfrm>
            <a:off x="3255100" y="259705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V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380" name="Google Shape;380;p43"/>
          <p:cNvSpPr txBox="1"/>
          <p:nvPr>
            <p:ph type="title"/>
          </p:nvPr>
        </p:nvSpPr>
        <p:spPr>
          <a:xfrm>
            <a:off x="692700" y="673625"/>
            <a:ext cx="264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Text generation</a:t>
            </a:r>
            <a:endParaRPr/>
          </a:p>
        </p:txBody>
      </p:sp>
      <p:sp>
        <p:nvSpPr>
          <p:cNvPr id="381" name="Google Shape;381;p43"/>
          <p:cNvSpPr txBox="1"/>
          <p:nvPr/>
        </p:nvSpPr>
        <p:spPr>
          <a:xfrm>
            <a:off x="3723600" y="931400"/>
            <a:ext cx="24375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3"/>
          <p:cNvSpPr txBox="1"/>
          <p:nvPr/>
        </p:nvSpPr>
        <p:spPr>
          <a:xfrm>
            <a:off x="3665375" y="1017725"/>
            <a:ext cx="23589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Sampleo de la distribución de probabilidad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4"/>
          <p:cNvSpPr/>
          <p:nvPr/>
        </p:nvSpPr>
        <p:spPr>
          <a:xfrm>
            <a:off x="30365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4"/>
          <p:cNvSpPr/>
          <p:nvPr/>
        </p:nvSpPr>
        <p:spPr>
          <a:xfrm>
            <a:off x="30402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9" name="Google Shape;389;p44"/>
          <p:cNvCxnSpPr/>
          <p:nvPr/>
        </p:nvCxnSpPr>
        <p:spPr>
          <a:xfrm rot="10800000">
            <a:off x="32856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0" name="Google Shape;390;p44"/>
          <p:cNvSpPr txBox="1"/>
          <p:nvPr/>
        </p:nvSpPr>
        <p:spPr>
          <a:xfrm>
            <a:off x="3026925" y="29883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391" name="Google Shape;391;p44"/>
          <p:cNvSpPr txBox="1"/>
          <p:nvPr/>
        </p:nvSpPr>
        <p:spPr>
          <a:xfrm>
            <a:off x="3023288" y="39492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392" name="Google Shape;392;p44"/>
          <p:cNvSpPr txBox="1"/>
          <p:nvPr/>
        </p:nvSpPr>
        <p:spPr>
          <a:xfrm>
            <a:off x="28985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&lt;start&gt;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93" name="Google Shape;393;p44"/>
          <p:cNvSpPr txBox="1"/>
          <p:nvPr/>
        </p:nvSpPr>
        <p:spPr>
          <a:xfrm>
            <a:off x="3285625" y="35110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394" name="Google Shape;394;p44"/>
          <p:cNvSpPr/>
          <p:nvPr/>
        </p:nvSpPr>
        <p:spPr>
          <a:xfrm>
            <a:off x="3038888" y="2032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5" name="Google Shape;395;p44"/>
          <p:cNvCxnSpPr/>
          <p:nvPr/>
        </p:nvCxnSpPr>
        <p:spPr>
          <a:xfrm rot="10800000">
            <a:off x="3254838" y="2514975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6" name="Google Shape;396;p44"/>
          <p:cNvSpPr txBox="1"/>
          <p:nvPr/>
        </p:nvSpPr>
        <p:spPr>
          <a:xfrm>
            <a:off x="3025613" y="20682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cxnSp>
        <p:nvCxnSpPr>
          <p:cNvPr id="397" name="Google Shape;397;p44"/>
          <p:cNvCxnSpPr/>
          <p:nvPr/>
        </p:nvCxnSpPr>
        <p:spPr>
          <a:xfrm rot="10800000">
            <a:off x="3262613" y="1594875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8" name="Google Shape;398;p44"/>
          <p:cNvSpPr txBox="1"/>
          <p:nvPr/>
        </p:nvSpPr>
        <p:spPr>
          <a:xfrm>
            <a:off x="2958238" y="1274250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4"/>
          <p:cNvSpPr txBox="1"/>
          <p:nvPr/>
        </p:nvSpPr>
        <p:spPr>
          <a:xfrm>
            <a:off x="2880713" y="1205325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4"/>
          <p:cNvSpPr/>
          <p:nvPr/>
        </p:nvSpPr>
        <p:spPr>
          <a:xfrm>
            <a:off x="3038900" y="11565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4"/>
          <p:cNvSpPr txBox="1"/>
          <p:nvPr/>
        </p:nvSpPr>
        <p:spPr>
          <a:xfrm>
            <a:off x="3046150" y="11835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402" name="Google Shape;402;p44"/>
          <p:cNvSpPr txBox="1"/>
          <p:nvPr/>
        </p:nvSpPr>
        <p:spPr>
          <a:xfrm>
            <a:off x="3255100" y="259705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V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403" name="Google Shape;403;p44"/>
          <p:cNvSpPr txBox="1"/>
          <p:nvPr/>
        </p:nvSpPr>
        <p:spPr>
          <a:xfrm>
            <a:off x="2871450" y="862875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C0000"/>
                </a:solidFill>
              </a:rPr>
              <a:t>Yo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404" name="Google Shape;404;p44"/>
          <p:cNvSpPr txBox="1"/>
          <p:nvPr>
            <p:ph type="title"/>
          </p:nvPr>
        </p:nvSpPr>
        <p:spPr>
          <a:xfrm>
            <a:off x="692700" y="673625"/>
            <a:ext cx="264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Text generation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/>
          <p:nvPr/>
        </p:nvSpPr>
        <p:spPr>
          <a:xfrm>
            <a:off x="30365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5"/>
          <p:cNvSpPr/>
          <p:nvPr/>
        </p:nvSpPr>
        <p:spPr>
          <a:xfrm>
            <a:off x="30402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1" name="Google Shape;411;p45"/>
          <p:cNvCxnSpPr/>
          <p:nvPr/>
        </p:nvCxnSpPr>
        <p:spPr>
          <a:xfrm rot="10800000">
            <a:off x="32856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2" name="Google Shape;412;p45"/>
          <p:cNvSpPr txBox="1"/>
          <p:nvPr/>
        </p:nvSpPr>
        <p:spPr>
          <a:xfrm>
            <a:off x="3026925" y="29883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413" name="Google Shape;413;p45"/>
          <p:cNvSpPr txBox="1"/>
          <p:nvPr/>
        </p:nvSpPr>
        <p:spPr>
          <a:xfrm>
            <a:off x="3023288" y="39492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414" name="Google Shape;414;p45"/>
          <p:cNvSpPr/>
          <p:nvPr/>
        </p:nvSpPr>
        <p:spPr>
          <a:xfrm>
            <a:off x="388831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5"/>
          <p:cNvSpPr/>
          <p:nvPr/>
        </p:nvSpPr>
        <p:spPr>
          <a:xfrm>
            <a:off x="389195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6" name="Google Shape;416;p45"/>
          <p:cNvCxnSpPr/>
          <p:nvPr/>
        </p:nvCxnSpPr>
        <p:spPr>
          <a:xfrm rot="10800000">
            <a:off x="413736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7" name="Google Shape;417;p45"/>
          <p:cNvSpPr txBox="1"/>
          <p:nvPr/>
        </p:nvSpPr>
        <p:spPr>
          <a:xfrm>
            <a:off x="3878675" y="29883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sp>
        <p:nvSpPr>
          <p:cNvPr id="418" name="Google Shape;418;p45"/>
          <p:cNvSpPr txBox="1"/>
          <p:nvPr/>
        </p:nvSpPr>
        <p:spPr>
          <a:xfrm>
            <a:off x="3875038" y="39492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419" name="Google Shape;419;p45"/>
          <p:cNvCxnSpPr/>
          <p:nvPr/>
        </p:nvCxnSpPr>
        <p:spPr>
          <a:xfrm>
            <a:off x="3511825" y="31869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0" name="Google Shape;420;p45"/>
          <p:cNvSpPr txBox="1"/>
          <p:nvPr/>
        </p:nvSpPr>
        <p:spPr>
          <a:xfrm>
            <a:off x="28985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&lt;start&gt;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421" name="Google Shape;421;p45"/>
          <p:cNvSpPr txBox="1"/>
          <p:nvPr/>
        </p:nvSpPr>
        <p:spPr>
          <a:xfrm>
            <a:off x="3760600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Yo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422" name="Google Shape;422;p45"/>
          <p:cNvSpPr txBox="1"/>
          <p:nvPr/>
        </p:nvSpPr>
        <p:spPr>
          <a:xfrm>
            <a:off x="3483325" y="27742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423" name="Google Shape;423;p45"/>
          <p:cNvSpPr txBox="1"/>
          <p:nvPr/>
        </p:nvSpPr>
        <p:spPr>
          <a:xfrm>
            <a:off x="3285625" y="35110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424" name="Google Shape;424;p45"/>
          <p:cNvSpPr txBox="1"/>
          <p:nvPr/>
        </p:nvSpPr>
        <p:spPr>
          <a:xfrm>
            <a:off x="4123825" y="35110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425" name="Google Shape;425;p45"/>
          <p:cNvSpPr/>
          <p:nvPr/>
        </p:nvSpPr>
        <p:spPr>
          <a:xfrm>
            <a:off x="3893025" y="20177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6" name="Google Shape;426;p45"/>
          <p:cNvCxnSpPr/>
          <p:nvPr/>
        </p:nvCxnSpPr>
        <p:spPr>
          <a:xfrm rot="10800000">
            <a:off x="4108975" y="249985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7" name="Google Shape;427;p45"/>
          <p:cNvSpPr txBox="1"/>
          <p:nvPr/>
        </p:nvSpPr>
        <p:spPr>
          <a:xfrm>
            <a:off x="3879750" y="20531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428" name="Google Shape;428;p45"/>
          <p:cNvCxnSpPr/>
          <p:nvPr/>
        </p:nvCxnSpPr>
        <p:spPr>
          <a:xfrm rot="10800000">
            <a:off x="4116750" y="157975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9" name="Google Shape;429;p45"/>
          <p:cNvSpPr txBox="1"/>
          <p:nvPr/>
        </p:nvSpPr>
        <p:spPr>
          <a:xfrm>
            <a:off x="3812375" y="125912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5"/>
          <p:cNvSpPr txBox="1"/>
          <p:nvPr/>
        </p:nvSpPr>
        <p:spPr>
          <a:xfrm>
            <a:off x="3734850" y="119020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5"/>
          <p:cNvSpPr/>
          <p:nvPr/>
        </p:nvSpPr>
        <p:spPr>
          <a:xfrm>
            <a:off x="3893038" y="11414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5"/>
          <p:cNvSpPr txBox="1"/>
          <p:nvPr/>
        </p:nvSpPr>
        <p:spPr>
          <a:xfrm>
            <a:off x="3900288" y="11684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sp>
        <p:nvSpPr>
          <p:cNvPr id="433" name="Google Shape;433;p45"/>
          <p:cNvSpPr txBox="1"/>
          <p:nvPr/>
        </p:nvSpPr>
        <p:spPr>
          <a:xfrm>
            <a:off x="4093300" y="259705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V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434" name="Google Shape;434;p45"/>
          <p:cNvSpPr/>
          <p:nvPr/>
        </p:nvSpPr>
        <p:spPr>
          <a:xfrm>
            <a:off x="3038888" y="2032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5" name="Google Shape;435;p45"/>
          <p:cNvCxnSpPr/>
          <p:nvPr/>
        </p:nvCxnSpPr>
        <p:spPr>
          <a:xfrm rot="10800000">
            <a:off x="3254838" y="2514975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6" name="Google Shape;436;p45"/>
          <p:cNvSpPr txBox="1"/>
          <p:nvPr/>
        </p:nvSpPr>
        <p:spPr>
          <a:xfrm>
            <a:off x="3025613" y="20682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cxnSp>
        <p:nvCxnSpPr>
          <p:cNvPr id="437" name="Google Shape;437;p45"/>
          <p:cNvCxnSpPr/>
          <p:nvPr/>
        </p:nvCxnSpPr>
        <p:spPr>
          <a:xfrm rot="10800000">
            <a:off x="3262613" y="1594875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8" name="Google Shape;438;p45"/>
          <p:cNvSpPr txBox="1"/>
          <p:nvPr/>
        </p:nvSpPr>
        <p:spPr>
          <a:xfrm>
            <a:off x="2958238" y="1274250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5"/>
          <p:cNvSpPr txBox="1"/>
          <p:nvPr/>
        </p:nvSpPr>
        <p:spPr>
          <a:xfrm>
            <a:off x="2880713" y="1205325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5"/>
          <p:cNvSpPr/>
          <p:nvPr/>
        </p:nvSpPr>
        <p:spPr>
          <a:xfrm>
            <a:off x="3038900" y="11565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5"/>
          <p:cNvSpPr txBox="1"/>
          <p:nvPr/>
        </p:nvSpPr>
        <p:spPr>
          <a:xfrm>
            <a:off x="3046150" y="11835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442" name="Google Shape;442;p45"/>
          <p:cNvSpPr txBox="1"/>
          <p:nvPr/>
        </p:nvSpPr>
        <p:spPr>
          <a:xfrm>
            <a:off x="3255100" y="259705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V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443" name="Google Shape;443;p45"/>
          <p:cNvSpPr txBox="1"/>
          <p:nvPr/>
        </p:nvSpPr>
        <p:spPr>
          <a:xfrm>
            <a:off x="2871450" y="862875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C0000"/>
                </a:solidFill>
              </a:rPr>
              <a:t>Yo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444" name="Google Shape;444;p45"/>
          <p:cNvSpPr txBox="1"/>
          <p:nvPr>
            <p:ph type="title"/>
          </p:nvPr>
        </p:nvSpPr>
        <p:spPr>
          <a:xfrm>
            <a:off x="692700" y="673625"/>
            <a:ext cx="264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Text generation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6"/>
          <p:cNvSpPr/>
          <p:nvPr/>
        </p:nvSpPr>
        <p:spPr>
          <a:xfrm>
            <a:off x="30365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6"/>
          <p:cNvSpPr/>
          <p:nvPr/>
        </p:nvSpPr>
        <p:spPr>
          <a:xfrm>
            <a:off x="30402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1" name="Google Shape;451;p46"/>
          <p:cNvCxnSpPr/>
          <p:nvPr/>
        </p:nvCxnSpPr>
        <p:spPr>
          <a:xfrm rot="10800000">
            <a:off x="32856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2" name="Google Shape;452;p46"/>
          <p:cNvSpPr txBox="1"/>
          <p:nvPr/>
        </p:nvSpPr>
        <p:spPr>
          <a:xfrm>
            <a:off x="3026925" y="29883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453" name="Google Shape;453;p46"/>
          <p:cNvSpPr txBox="1"/>
          <p:nvPr/>
        </p:nvSpPr>
        <p:spPr>
          <a:xfrm>
            <a:off x="3023288" y="39492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454" name="Google Shape;454;p46"/>
          <p:cNvSpPr/>
          <p:nvPr/>
        </p:nvSpPr>
        <p:spPr>
          <a:xfrm>
            <a:off x="388831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6"/>
          <p:cNvSpPr/>
          <p:nvPr/>
        </p:nvSpPr>
        <p:spPr>
          <a:xfrm>
            <a:off x="389195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6" name="Google Shape;456;p46"/>
          <p:cNvCxnSpPr/>
          <p:nvPr/>
        </p:nvCxnSpPr>
        <p:spPr>
          <a:xfrm rot="10800000">
            <a:off x="413736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7" name="Google Shape;457;p46"/>
          <p:cNvSpPr txBox="1"/>
          <p:nvPr/>
        </p:nvSpPr>
        <p:spPr>
          <a:xfrm>
            <a:off x="3878675" y="29883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sp>
        <p:nvSpPr>
          <p:cNvPr id="458" name="Google Shape;458;p46"/>
          <p:cNvSpPr txBox="1"/>
          <p:nvPr/>
        </p:nvSpPr>
        <p:spPr>
          <a:xfrm>
            <a:off x="3875038" y="39492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459" name="Google Shape;459;p46"/>
          <p:cNvCxnSpPr/>
          <p:nvPr/>
        </p:nvCxnSpPr>
        <p:spPr>
          <a:xfrm>
            <a:off x="3511825" y="31869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0" name="Google Shape;460;p46"/>
          <p:cNvSpPr txBox="1"/>
          <p:nvPr/>
        </p:nvSpPr>
        <p:spPr>
          <a:xfrm>
            <a:off x="28985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&lt;start&gt;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461" name="Google Shape;461;p46"/>
          <p:cNvSpPr txBox="1"/>
          <p:nvPr/>
        </p:nvSpPr>
        <p:spPr>
          <a:xfrm>
            <a:off x="3760600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Yo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462" name="Google Shape;462;p46"/>
          <p:cNvSpPr txBox="1"/>
          <p:nvPr/>
        </p:nvSpPr>
        <p:spPr>
          <a:xfrm>
            <a:off x="3483325" y="27742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463" name="Google Shape;463;p46"/>
          <p:cNvSpPr txBox="1"/>
          <p:nvPr/>
        </p:nvSpPr>
        <p:spPr>
          <a:xfrm>
            <a:off x="3285625" y="35110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464" name="Google Shape;464;p46"/>
          <p:cNvSpPr txBox="1"/>
          <p:nvPr/>
        </p:nvSpPr>
        <p:spPr>
          <a:xfrm>
            <a:off x="4123825" y="35110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465" name="Google Shape;465;p46"/>
          <p:cNvSpPr/>
          <p:nvPr/>
        </p:nvSpPr>
        <p:spPr>
          <a:xfrm>
            <a:off x="3893025" y="20177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6" name="Google Shape;466;p46"/>
          <p:cNvCxnSpPr/>
          <p:nvPr/>
        </p:nvCxnSpPr>
        <p:spPr>
          <a:xfrm rot="10800000">
            <a:off x="4108975" y="249985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7" name="Google Shape;467;p46"/>
          <p:cNvSpPr txBox="1"/>
          <p:nvPr/>
        </p:nvSpPr>
        <p:spPr>
          <a:xfrm>
            <a:off x="3879750" y="20531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468" name="Google Shape;468;p46"/>
          <p:cNvCxnSpPr/>
          <p:nvPr/>
        </p:nvCxnSpPr>
        <p:spPr>
          <a:xfrm rot="10800000">
            <a:off x="4116750" y="157975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9" name="Google Shape;469;p46"/>
          <p:cNvSpPr txBox="1"/>
          <p:nvPr/>
        </p:nvSpPr>
        <p:spPr>
          <a:xfrm>
            <a:off x="3812375" y="125912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6"/>
          <p:cNvSpPr txBox="1"/>
          <p:nvPr/>
        </p:nvSpPr>
        <p:spPr>
          <a:xfrm>
            <a:off x="3734850" y="119020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6"/>
          <p:cNvSpPr/>
          <p:nvPr/>
        </p:nvSpPr>
        <p:spPr>
          <a:xfrm>
            <a:off x="3893038" y="11414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6"/>
          <p:cNvSpPr txBox="1"/>
          <p:nvPr/>
        </p:nvSpPr>
        <p:spPr>
          <a:xfrm>
            <a:off x="3900288" y="11684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sp>
        <p:nvSpPr>
          <p:cNvPr id="473" name="Google Shape;473;p46"/>
          <p:cNvSpPr txBox="1"/>
          <p:nvPr/>
        </p:nvSpPr>
        <p:spPr>
          <a:xfrm>
            <a:off x="4093300" y="259705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V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474" name="Google Shape;474;p46"/>
          <p:cNvSpPr/>
          <p:nvPr/>
        </p:nvSpPr>
        <p:spPr>
          <a:xfrm>
            <a:off x="3038888" y="2032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5" name="Google Shape;475;p46"/>
          <p:cNvCxnSpPr/>
          <p:nvPr/>
        </p:nvCxnSpPr>
        <p:spPr>
          <a:xfrm rot="10800000">
            <a:off x="3254838" y="2514975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6" name="Google Shape;476;p46"/>
          <p:cNvSpPr txBox="1"/>
          <p:nvPr/>
        </p:nvSpPr>
        <p:spPr>
          <a:xfrm>
            <a:off x="3025613" y="20682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cxnSp>
        <p:nvCxnSpPr>
          <p:cNvPr id="477" name="Google Shape;477;p46"/>
          <p:cNvCxnSpPr/>
          <p:nvPr/>
        </p:nvCxnSpPr>
        <p:spPr>
          <a:xfrm rot="10800000">
            <a:off x="3262613" y="1594875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8" name="Google Shape;478;p46"/>
          <p:cNvSpPr txBox="1"/>
          <p:nvPr/>
        </p:nvSpPr>
        <p:spPr>
          <a:xfrm>
            <a:off x="2958238" y="1274250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6"/>
          <p:cNvSpPr txBox="1"/>
          <p:nvPr/>
        </p:nvSpPr>
        <p:spPr>
          <a:xfrm>
            <a:off x="2880713" y="1205325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6"/>
          <p:cNvSpPr/>
          <p:nvPr/>
        </p:nvSpPr>
        <p:spPr>
          <a:xfrm>
            <a:off x="3038900" y="11565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6"/>
          <p:cNvSpPr txBox="1"/>
          <p:nvPr/>
        </p:nvSpPr>
        <p:spPr>
          <a:xfrm>
            <a:off x="3046150" y="11835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482" name="Google Shape;482;p46"/>
          <p:cNvSpPr txBox="1"/>
          <p:nvPr/>
        </p:nvSpPr>
        <p:spPr>
          <a:xfrm>
            <a:off x="3255100" y="259705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V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483" name="Google Shape;483;p46"/>
          <p:cNvSpPr txBox="1"/>
          <p:nvPr/>
        </p:nvSpPr>
        <p:spPr>
          <a:xfrm>
            <a:off x="2871450" y="862875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C0000"/>
                </a:solidFill>
              </a:rPr>
              <a:t>Yo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484" name="Google Shape;484;p46"/>
          <p:cNvSpPr txBox="1"/>
          <p:nvPr/>
        </p:nvSpPr>
        <p:spPr>
          <a:xfrm>
            <a:off x="3725575" y="862875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C0000"/>
                </a:solidFill>
              </a:rPr>
              <a:t>quiero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485" name="Google Shape;485;p46"/>
          <p:cNvSpPr txBox="1"/>
          <p:nvPr>
            <p:ph type="title"/>
          </p:nvPr>
        </p:nvSpPr>
        <p:spPr>
          <a:xfrm>
            <a:off x="692700" y="673625"/>
            <a:ext cx="264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Text generation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7"/>
          <p:cNvSpPr/>
          <p:nvPr/>
        </p:nvSpPr>
        <p:spPr>
          <a:xfrm>
            <a:off x="4740063" y="38983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7"/>
          <p:cNvSpPr txBox="1"/>
          <p:nvPr/>
        </p:nvSpPr>
        <p:spPr>
          <a:xfrm>
            <a:off x="4726788" y="3933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2</a:t>
            </a:r>
            <a:endParaRPr sz="1800"/>
          </a:p>
        </p:txBody>
      </p:sp>
      <p:sp>
        <p:nvSpPr>
          <p:cNvPr id="492" name="Google Shape;492;p47"/>
          <p:cNvSpPr/>
          <p:nvPr/>
        </p:nvSpPr>
        <p:spPr>
          <a:xfrm>
            <a:off x="30365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7"/>
          <p:cNvSpPr/>
          <p:nvPr/>
        </p:nvSpPr>
        <p:spPr>
          <a:xfrm>
            <a:off x="30402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4" name="Google Shape;494;p47"/>
          <p:cNvCxnSpPr/>
          <p:nvPr/>
        </p:nvCxnSpPr>
        <p:spPr>
          <a:xfrm rot="10800000">
            <a:off x="32856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5" name="Google Shape;495;p47"/>
          <p:cNvSpPr txBox="1"/>
          <p:nvPr/>
        </p:nvSpPr>
        <p:spPr>
          <a:xfrm>
            <a:off x="3026925" y="29883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496" name="Google Shape;496;p47"/>
          <p:cNvSpPr txBox="1"/>
          <p:nvPr/>
        </p:nvSpPr>
        <p:spPr>
          <a:xfrm>
            <a:off x="3023288" y="39492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497" name="Google Shape;497;p47"/>
          <p:cNvSpPr/>
          <p:nvPr/>
        </p:nvSpPr>
        <p:spPr>
          <a:xfrm>
            <a:off x="388831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7"/>
          <p:cNvSpPr/>
          <p:nvPr/>
        </p:nvSpPr>
        <p:spPr>
          <a:xfrm>
            <a:off x="389195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9" name="Google Shape;499;p47"/>
          <p:cNvCxnSpPr/>
          <p:nvPr/>
        </p:nvCxnSpPr>
        <p:spPr>
          <a:xfrm rot="10800000">
            <a:off x="413736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0" name="Google Shape;500;p47"/>
          <p:cNvSpPr txBox="1"/>
          <p:nvPr/>
        </p:nvSpPr>
        <p:spPr>
          <a:xfrm>
            <a:off x="3878675" y="29883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sp>
        <p:nvSpPr>
          <p:cNvPr id="501" name="Google Shape;501;p47"/>
          <p:cNvSpPr txBox="1"/>
          <p:nvPr/>
        </p:nvSpPr>
        <p:spPr>
          <a:xfrm>
            <a:off x="3875038" y="39492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502" name="Google Shape;502;p47"/>
          <p:cNvCxnSpPr/>
          <p:nvPr/>
        </p:nvCxnSpPr>
        <p:spPr>
          <a:xfrm>
            <a:off x="3511825" y="31869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3" name="Google Shape;503;p47"/>
          <p:cNvSpPr/>
          <p:nvPr/>
        </p:nvSpPr>
        <p:spPr>
          <a:xfrm>
            <a:off x="4761750" y="20173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7"/>
          <p:cNvSpPr/>
          <p:nvPr/>
        </p:nvSpPr>
        <p:spPr>
          <a:xfrm>
            <a:off x="4743700" y="29374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5" name="Google Shape;505;p47"/>
          <p:cNvCxnSpPr/>
          <p:nvPr/>
        </p:nvCxnSpPr>
        <p:spPr>
          <a:xfrm rot="10800000">
            <a:off x="4989114" y="34053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6" name="Google Shape;506;p47"/>
          <p:cNvCxnSpPr>
            <a:stCxn id="504" idx="0"/>
          </p:cNvCxnSpPr>
          <p:nvPr/>
        </p:nvCxnSpPr>
        <p:spPr>
          <a:xfrm rot="10800000">
            <a:off x="4977700" y="24994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7" name="Google Shape;507;p47"/>
          <p:cNvSpPr txBox="1"/>
          <p:nvPr/>
        </p:nvSpPr>
        <p:spPr>
          <a:xfrm>
            <a:off x="4730425" y="29728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2</a:t>
            </a:r>
            <a:endParaRPr sz="1800"/>
          </a:p>
        </p:txBody>
      </p:sp>
      <p:sp>
        <p:nvSpPr>
          <p:cNvPr id="508" name="Google Shape;508;p47"/>
          <p:cNvSpPr txBox="1"/>
          <p:nvPr/>
        </p:nvSpPr>
        <p:spPr>
          <a:xfrm>
            <a:off x="4748475" y="2052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2</a:t>
            </a:r>
            <a:endParaRPr sz="1800"/>
          </a:p>
        </p:txBody>
      </p:sp>
      <p:cxnSp>
        <p:nvCxnSpPr>
          <p:cNvPr id="509" name="Google Shape;509;p47"/>
          <p:cNvCxnSpPr/>
          <p:nvPr/>
        </p:nvCxnSpPr>
        <p:spPr>
          <a:xfrm>
            <a:off x="4363575" y="317140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0" name="Google Shape;510;p47"/>
          <p:cNvSpPr txBox="1"/>
          <p:nvPr/>
        </p:nvSpPr>
        <p:spPr>
          <a:xfrm>
            <a:off x="28985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&lt;start&gt;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511" name="Google Shape;511;p47"/>
          <p:cNvSpPr txBox="1"/>
          <p:nvPr/>
        </p:nvSpPr>
        <p:spPr>
          <a:xfrm>
            <a:off x="3760600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Yo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512" name="Google Shape;512;p47"/>
          <p:cNvSpPr txBox="1"/>
          <p:nvPr/>
        </p:nvSpPr>
        <p:spPr>
          <a:xfrm>
            <a:off x="462262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quiero</a:t>
            </a:r>
            <a:endParaRPr>
              <a:solidFill>
                <a:srgbClr val="1C4587"/>
              </a:solidFill>
            </a:endParaRPr>
          </a:p>
        </p:txBody>
      </p:sp>
      <p:cxnSp>
        <p:nvCxnSpPr>
          <p:cNvPr id="513" name="Google Shape;513;p47"/>
          <p:cNvCxnSpPr/>
          <p:nvPr/>
        </p:nvCxnSpPr>
        <p:spPr>
          <a:xfrm rot="10800000">
            <a:off x="4985475" y="15793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4" name="Google Shape;514;p47"/>
          <p:cNvSpPr txBox="1"/>
          <p:nvPr/>
        </p:nvSpPr>
        <p:spPr>
          <a:xfrm>
            <a:off x="4681100" y="125867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47"/>
          <p:cNvSpPr txBox="1"/>
          <p:nvPr/>
        </p:nvSpPr>
        <p:spPr>
          <a:xfrm>
            <a:off x="4603575" y="118975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47"/>
          <p:cNvSpPr/>
          <p:nvPr/>
        </p:nvSpPr>
        <p:spPr>
          <a:xfrm>
            <a:off x="4761763" y="11410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7"/>
          <p:cNvSpPr txBox="1"/>
          <p:nvPr/>
        </p:nvSpPr>
        <p:spPr>
          <a:xfrm>
            <a:off x="4769013" y="11680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2</a:t>
            </a:r>
            <a:endParaRPr sz="1800"/>
          </a:p>
        </p:txBody>
      </p:sp>
      <p:sp>
        <p:nvSpPr>
          <p:cNvPr id="518" name="Google Shape;518;p47"/>
          <p:cNvSpPr txBox="1"/>
          <p:nvPr/>
        </p:nvSpPr>
        <p:spPr>
          <a:xfrm>
            <a:off x="3483325" y="27742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519" name="Google Shape;519;p47"/>
          <p:cNvSpPr txBox="1"/>
          <p:nvPr/>
        </p:nvSpPr>
        <p:spPr>
          <a:xfrm>
            <a:off x="4397725" y="27742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520" name="Google Shape;520;p47"/>
          <p:cNvSpPr txBox="1"/>
          <p:nvPr/>
        </p:nvSpPr>
        <p:spPr>
          <a:xfrm>
            <a:off x="3285625" y="35110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521" name="Google Shape;521;p47"/>
          <p:cNvSpPr txBox="1"/>
          <p:nvPr/>
        </p:nvSpPr>
        <p:spPr>
          <a:xfrm>
            <a:off x="4123825" y="35110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522" name="Google Shape;522;p47"/>
          <p:cNvSpPr txBox="1"/>
          <p:nvPr/>
        </p:nvSpPr>
        <p:spPr>
          <a:xfrm>
            <a:off x="4962025" y="35110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523" name="Google Shape;523;p47"/>
          <p:cNvSpPr txBox="1"/>
          <p:nvPr/>
        </p:nvSpPr>
        <p:spPr>
          <a:xfrm>
            <a:off x="4962025" y="25966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V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524" name="Google Shape;524;p47"/>
          <p:cNvSpPr/>
          <p:nvPr/>
        </p:nvSpPr>
        <p:spPr>
          <a:xfrm>
            <a:off x="3893025" y="20177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5" name="Google Shape;525;p47"/>
          <p:cNvCxnSpPr/>
          <p:nvPr/>
        </p:nvCxnSpPr>
        <p:spPr>
          <a:xfrm rot="10800000">
            <a:off x="4108975" y="249985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6" name="Google Shape;526;p47"/>
          <p:cNvSpPr txBox="1"/>
          <p:nvPr/>
        </p:nvSpPr>
        <p:spPr>
          <a:xfrm>
            <a:off x="3879750" y="20531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527" name="Google Shape;527;p47"/>
          <p:cNvCxnSpPr/>
          <p:nvPr/>
        </p:nvCxnSpPr>
        <p:spPr>
          <a:xfrm rot="10800000">
            <a:off x="4116750" y="157975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8" name="Google Shape;528;p47"/>
          <p:cNvSpPr txBox="1"/>
          <p:nvPr/>
        </p:nvSpPr>
        <p:spPr>
          <a:xfrm>
            <a:off x="3812375" y="125912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7"/>
          <p:cNvSpPr txBox="1"/>
          <p:nvPr/>
        </p:nvSpPr>
        <p:spPr>
          <a:xfrm>
            <a:off x="3734850" y="119020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7"/>
          <p:cNvSpPr/>
          <p:nvPr/>
        </p:nvSpPr>
        <p:spPr>
          <a:xfrm>
            <a:off x="3893038" y="11414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7"/>
          <p:cNvSpPr txBox="1"/>
          <p:nvPr/>
        </p:nvSpPr>
        <p:spPr>
          <a:xfrm>
            <a:off x="3900288" y="11684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sp>
        <p:nvSpPr>
          <p:cNvPr id="532" name="Google Shape;532;p47"/>
          <p:cNvSpPr txBox="1"/>
          <p:nvPr/>
        </p:nvSpPr>
        <p:spPr>
          <a:xfrm>
            <a:off x="4093300" y="259705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V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533" name="Google Shape;533;p47"/>
          <p:cNvSpPr/>
          <p:nvPr/>
        </p:nvSpPr>
        <p:spPr>
          <a:xfrm>
            <a:off x="3038888" y="2032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4" name="Google Shape;534;p47"/>
          <p:cNvCxnSpPr/>
          <p:nvPr/>
        </p:nvCxnSpPr>
        <p:spPr>
          <a:xfrm rot="10800000">
            <a:off x="3254838" y="2514975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5" name="Google Shape;535;p47"/>
          <p:cNvSpPr txBox="1"/>
          <p:nvPr/>
        </p:nvSpPr>
        <p:spPr>
          <a:xfrm>
            <a:off x="3025613" y="20682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cxnSp>
        <p:nvCxnSpPr>
          <p:cNvPr id="536" name="Google Shape;536;p47"/>
          <p:cNvCxnSpPr/>
          <p:nvPr/>
        </p:nvCxnSpPr>
        <p:spPr>
          <a:xfrm rot="10800000">
            <a:off x="3262613" y="1594875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7" name="Google Shape;537;p47"/>
          <p:cNvSpPr txBox="1"/>
          <p:nvPr/>
        </p:nvSpPr>
        <p:spPr>
          <a:xfrm>
            <a:off x="2958238" y="1274250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47"/>
          <p:cNvSpPr txBox="1"/>
          <p:nvPr/>
        </p:nvSpPr>
        <p:spPr>
          <a:xfrm>
            <a:off x="2880713" y="1205325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7"/>
          <p:cNvSpPr/>
          <p:nvPr/>
        </p:nvSpPr>
        <p:spPr>
          <a:xfrm>
            <a:off x="3038900" y="11565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7"/>
          <p:cNvSpPr txBox="1"/>
          <p:nvPr/>
        </p:nvSpPr>
        <p:spPr>
          <a:xfrm>
            <a:off x="3046150" y="11835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541" name="Google Shape;541;p47"/>
          <p:cNvSpPr txBox="1"/>
          <p:nvPr/>
        </p:nvSpPr>
        <p:spPr>
          <a:xfrm>
            <a:off x="3255100" y="259705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V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542" name="Google Shape;542;p47"/>
          <p:cNvSpPr txBox="1"/>
          <p:nvPr/>
        </p:nvSpPr>
        <p:spPr>
          <a:xfrm>
            <a:off x="2871450" y="862875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C0000"/>
                </a:solidFill>
              </a:rPr>
              <a:t>Yo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543" name="Google Shape;543;p47"/>
          <p:cNvSpPr txBox="1"/>
          <p:nvPr/>
        </p:nvSpPr>
        <p:spPr>
          <a:xfrm>
            <a:off x="3725575" y="862875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C0000"/>
                </a:solidFill>
              </a:rPr>
              <a:t>quiero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544" name="Google Shape;544;p47"/>
          <p:cNvSpPr txBox="1"/>
          <p:nvPr/>
        </p:nvSpPr>
        <p:spPr>
          <a:xfrm>
            <a:off x="4626700" y="862875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C0000"/>
                </a:solidFill>
              </a:rPr>
              <a:t>ver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545" name="Google Shape;545;p47"/>
          <p:cNvSpPr txBox="1"/>
          <p:nvPr>
            <p:ph type="title"/>
          </p:nvPr>
        </p:nvSpPr>
        <p:spPr>
          <a:xfrm>
            <a:off x="692700" y="673625"/>
            <a:ext cx="264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Text generation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8"/>
          <p:cNvSpPr/>
          <p:nvPr/>
        </p:nvSpPr>
        <p:spPr>
          <a:xfrm>
            <a:off x="4740063" y="38983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8"/>
          <p:cNvSpPr txBox="1"/>
          <p:nvPr/>
        </p:nvSpPr>
        <p:spPr>
          <a:xfrm>
            <a:off x="4726788" y="3933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2</a:t>
            </a:r>
            <a:endParaRPr sz="1800"/>
          </a:p>
        </p:txBody>
      </p:sp>
      <p:sp>
        <p:nvSpPr>
          <p:cNvPr id="552" name="Google Shape;552;p48"/>
          <p:cNvSpPr/>
          <p:nvPr/>
        </p:nvSpPr>
        <p:spPr>
          <a:xfrm>
            <a:off x="30365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48"/>
          <p:cNvSpPr/>
          <p:nvPr/>
        </p:nvSpPr>
        <p:spPr>
          <a:xfrm>
            <a:off x="30402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4" name="Google Shape;554;p48"/>
          <p:cNvCxnSpPr/>
          <p:nvPr/>
        </p:nvCxnSpPr>
        <p:spPr>
          <a:xfrm rot="10800000">
            <a:off x="32856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5" name="Google Shape;555;p48"/>
          <p:cNvSpPr txBox="1"/>
          <p:nvPr/>
        </p:nvSpPr>
        <p:spPr>
          <a:xfrm>
            <a:off x="3026925" y="29883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556" name="Google Shape;556;p48"/>
          <p:cNvSpPr txBox="1"/>
          <p:nvPr/>
        </p:nvSpPr>
        <p:spPr>
          <a:xfrm>
            <a:off x="3023288" y="39492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557" name="Google Shape;557;p48"/>
          <p:cNvSpPr/>
          <p:nvPr/>
        </p:nvSpPr>
        <p:spPr>
          <a:xfrm>
            <a:off x="388831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8"/>
          <p:cNvSpPr/>
          <p:nvPr/>
        </p:nvSpPr>
        <p:spPr>
          <a:xfrm>
            <a:off x="389195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9" name="Google Shape;559;p48"/>
          <p:cNvCxnSpPr/>
          <p:nvPr/>
        </p:nvCxnSpPr>
        <p:spPr>
          <a:xfrm rot="10800000">
            <a:off x="413736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0" name="Google Shape;560;p48"/>
          <p:cNvSpPr txBox="1"/>
          <p:nvPr/>
        </p:nvSpPr>
        <p:spPr>
          <a:xfrm>
            <a:off x="3878675" y="29883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sp>
        <p:nvSpPr>
          <p:cNvPr id="561" name="Google Shape;561;p48"/>
          <p:cNvSpPr txBox="1"/>
          <p:nvPr/>
        </p:nvSpPr>
        <p:spPr>
          <a:xfrm>
            <a:off x="3875038" y="39492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562" name="Google Shape;562;p48"/>
          <p:cNvCxnSpPr/>
          <p:nvPr/>
        </p:nvCxnSpPr>
        <p:spPr>
          <a:xfrm>
            <a:off x="3511825" y="31869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3" name="Google Shape;563;p48"/>
          <p:cNvSpPr/>
          <p:nvPr/>
        </p:nvSpPr>
        <p:spPr>
          <a:xfrm>
            <a:off x="4761750" y="20173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8"/>
          <p:cNvSpPr/>
          <p:nvPr/>
        </p:nvSpPr>
        <p:spPr>
          <a:xfrm>
            <a:off x="4743700" y="29374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5" name="Google Shape;565;p48"/>
          <p:cNvCxnSpPr/>
          <p:nvPr/>
        </p:nvCxnSpPr>
        <p:spPr>
          <a:xfrm rot="10800000">
            <a:off x="4989114" y="34053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6" name="Google Shape;566;p48"/>
          <p:cNvCxnSpPr>
            <a:stCxn id="564" idx="0"/>
          </p:cNvCxnSpPr>
          <p:nvPr/>
        </p:nvCxnSpPr>
        <p:spPr>
          <a:xfrm rot="10800000">
            <a:off x="4977700" y="24994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7" name="Google Shape;567;p48"/>
          <p:cNvSpPr txBox="1"/>
          <p:nvPr/>
        </p:nvSpPr>
        <p:spPr>
          <a:xfrm>
            <a:off x="4730425" y="29728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2</a:t>
            </a:r>
            <a:endParaRPr sz="1800"/>
          </a:p>
        </p:txBody>
      </p:sp>
      <p:sp>
        <p:nvSpPr>
          <p:cNvPr id="568" name="Google Shape;568;p48"/>
          <p:cNvSpPr txBox="1"/>
          <p:nvPr/>
        </p:nvSpPr>
        <p:spPr>
          <a:xfrm>
            <a:off x="4748475" y="2052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2</a:t>
            </a:r>
            <a:endParaRPr sz="1800"/>
          </a:p>
        </p:txBody>
      </p:sp>
      <p:cxnSp>
        <p:nvCxnSpPr>
          <p:cNvPr id="569" name="Google Shape;569;p48"/>
          <p:cNvCxnSpPr/>
          <p:nvPr/>
        </p:nvCxnSpPr>
        <p:spPr>
          <a:xfrm>
            <a:off x="4363575" y="317140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0" name="Google Shape;570;p48"/>
          <p:cNvSpPr txBox="1"/>
          <p:nvPr/>
        </p:nvSpPr>
        <p:spPr>
          <a:xfrm>
            <a:off x="28985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&lt;start&gt;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571" name="Google Shape;571;p48"/>
          <p:cNvSpPr txBox="1"/>
          <p:nvPr/>
        </p:nvSpPr>
        <p:spPr>
          <a:xfrm>
            <a:off x="3760600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Yo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572" name="Google Shape;572;p48"/>
          <p:cNvSpPr txBox="1"/>
          <p:nvPr/>
        </p:nvSpPr>
        <p:spPr>
          <a:xfrm>
            <a:off x="462262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quiero</a:t>
            </a:r>
            <a:endParaRPr>
              <a:solidFill>
                <a:srgbClr val="1C4587"/>
              </a:solidFill>
            </a:endParaRPr>
          </a:p>
        </p:txBody>
      </p:sp>
      <p:cxnSp>
        <p:nvCxnSpPr>
          <p:cNvPr id="573" name="Google Shape;573;p48"/>
          <p:cNvCxnSpPr/>
          <p:nvPr/>
        </p:nvCxnSpPr>
        <p:spPr>
          <a:xfrm rot="10800000">
            <a:off x="4985475" y="15793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4" name="Google Shape;574;p48"/>
          <p:cNvSpPr txBox="1"/>
          <p:nvPr/>
        </p:nvSpPr>
        <p:spPr>
          <a:xfrm>
            <a:off x="4681100" y="125867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48"/>
          <p:cNvSpPr txBox="1"/>
          <p:nvPr/>
        </p:nvSpPr>
        <p:spPr>
          <a:xfrm>
            <a:off x="4603575" y="118975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48"/>
          <p:cNvSpPr/>
          <p:nvPr/>
        </p:nvSpPr>
        <p:spPr>
          <a:xfrm>
            <a:off x="4761763" y="11410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48"/>
          <p:cNvSpPr txBox="1"/>
          <p:nvPr/>
        </p:nvSpPr>
        <p:spPr>
          <a:xfrm>
            <a:off x="4769013" y="11680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2</a:t>
            </a:r>
            <a:endParaRPr sz="1800"/>
          </a:p>
        </p:txBody>
      </p:sp>
      <p:sp>
        <p:nvSpPr>
          <p:cNvPr id="578" name="Google Shape;578;p48"/>
          <p:cNvSpPr txBox="1"/>
          <p:nvPr/>
        </p:nvSpPr>
        <p:spPr>
          <a:xfrm>
            <a:off x="3483325" y="27742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579" name="Google Shape;579;p48"/>
          <p:cNvSpPr txBox="1"/>
          <p:nvPr/>
        </p:nvSpPr>
        <p:spPr>
          <a:xfrm>
            <a:off x="4397725" y="27742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580" name="Google Shape;580;p48"/>
          <p:cNvSpPr txBox="1"/>
          <p:nvPr/>
        </p:nvSpPr>
        <p:spPr>
          <a:xfrm>
            <a:off x="3285625" y="35110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581" name="Google Shape;581;p48"/>
          <p:cNvSpPr txBox="1"/>
          <p:nvPr/>
        </p:nvSpPr>
        <p:spPr>
          <a:xfrm>
            <a:off x="4123825" y="35110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582" name="Google Shape;582;p48"/>
          <p:cNvSpPr txBox="1"/>
          <p:nvPr/>
        </p:nvSpPr>
        <p:spPr>
          <a:xfrm>
            <a:off x="4962025" y="35110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583" name="Google Shape;583;p48"/>
          <p:cNvSpPr txBox="1"/>
          <p:nvPr/>
        </p:nvSpPr>
        <p:spPr>
          <a:xfrm>
            <a:off x="4962025" y="25966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V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584" name="Google Shape;584;p48"/>
          <p:cNvSpPr/>
          <p:nvPr/>
        </p:nvSpPr>
        <p:spPr>
          <a:xfrm>
            <a:off x="3893025" y="20177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5" name="Google Shape;585;p48"/>
          <p:cNvCxnSpPr/>
          <p:nvPr/>
        </p:nvCxnSpPr>
        <p:spPr>
          <a:xfrm rot="10800000">
            <a:off x="4108975" y="249985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6" name="Google Shape;586;p48"/>
          <p:cNvSpPr txBox="1"/>
          <p:nvPr/>
        </p:nvSpPr>
        <p:spPr>
          <a:xfrm>
            <a:off x="3879750" y="20531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587" name="Google Shape;587;p48"/>
          <p:cNvCxnSpPr/>
          <p:nvPr/>
        </p:nvCxnSpPr>
        <p:spPr>
          <a:xfrm rot="10800000">
            <a:off x="4116750" y="157975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8" name="Google Shape;588;p48"/>
          <p:cNvSpPr txBox="1"/>
          <p:nvPr/>
        </p:nvSpPr>
        <p:spPr>
          <a:xfrm>
            <a:off x="3812375" y="125912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8"/>
          <p:cNvSpPr txBox="1"/>
          <p:nvPr/>
        </p:nvSpPr>
        <p:spPr>
          <a:xfrm>
            <a:off x="3734850" y="119020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8"/>
          <p:cNvSpPr/>
          <p:nvPr/>
        </p:nvSpPr>
        <p:spPr>
          <a:xfrm>
            <a:off x="3893038" y="11414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48"/>
          <p:cNvSpPr txBox="1"/>
          <p:nvPr/>
        </p:nvSpPr>
        <p:spPr>
          <a:xfrm>
            <a:off x="3900288" y="11684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sp>
        <p:nvSpPr>
          <p:cNvPr id="592" name="Google Shape;592;p48"/>
          <p:cNvSpPr txBox="1"/>
          <p:nvPr/>
        </p:nvSpPr>
        <p:spPr>
          <a:xfrm>
            <a:off x="4093300" y="259705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V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593" name="Google Shape;593;p48"/>
          <p:cNvSpPr/>
          <p:nvPr/>
        </p:nvSpPr>
        <p:spPr>
          <a:xfrm>
            <a:off x="3038888" y="2032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4" name="Google Shape;594;p48"/>
          <p:cNvCxnSpPr/>
          <p:nvPr/>
        </p:nvCxnSpPr>
        <p:spPr>
          <a:xfrm rot="10800000">
            <a:off x="3254838" y="2514975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5" name="Google Shape;595;p48"/>
          <p:cNvSpPr txBox="1"/>
          <p:nvPr/>
        </p:nvSpPr>
        <p:spPr>
          <a:xfrm>
            <a:off x="3025613" y="20682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cxnSp>
        <p:nvCxnSpPr>
          <p:cNvPr id="596" name="Google Shape;596;p48"/>
          <p:cNvCxnSpPr/>
          <p:nvPr/>
        </p:nvCxnSpPr>
        <p:spPr>
          <a:xfrm rot="10800000">
            <a:off x="3262613" y="1594875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7" name="Google Shape;597;p48"/>
          <p:cNvSpPr txBox="1"/>
          <p:nvPr/>
        </p:nvSpPr>
        <p:spPr>
          <a:xfrm>
            <a:off x="2958238" y="1274250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48"/>
          <p:cNvSpPr txBox="1"/>
          <p:nvPr/>
        </p:nvSpPr>
        <p:spPr>
          <a:xfrm>
            <a:off x="2880713" y="1205325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48"/>
          <p:cNvSpPr/>
          <p:nvPr/>
        </p:nvSpPr>
        <p:spPr>
          <a:xfrm>
            <a:off x="3038900" y="11565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48"/>
          <p:cNvSpPr txBox="1"/>
          <p:nvPr/>
        </p:nvSpPr>
        <p:spPr>
          <a:xfrm>
            <a:off x="3046150" y="11835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601" name="Google Shape;601;p48"/>
          <p:cNvSpPr txBox="1"/>
          <p:nvPr/>
        </p:nvSpPr>
        <p:spPr>
          <a:xfrm>
            <a:off x="3255100" y="259705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V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602" name="Google Shape;602;p48"/>
          <p:cNvSpPr txBox="1"/>
          <p:nvPr/>
        </p:nvSpPr>
        <p:spPr>
          <a:xfrm>
            <a:off x="2871450" y="862875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C0000"/>
                </a:solidFill>
              </a:rPr>
              <a:t>Yo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603" name="Google Shape;603;p48"/>
          <p:cNvSpPr txBox="1"/>
          <p:nvPr/>
        </p:nvSpPr>
        <p:spPr>
          <a:xfrm>
            <a:off x="3725575" y="862875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C0000"/>
                </a:solidFill>
              </a:rPr>
              <a:t>quiero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604" name="Google Shape;604;p48"/>
          <p:cNvSpPr txBox="1"/>
          <p:nvPr/>
        </p:nvSpPr>
        <p:spPr>
          <a:xfrm>
            <a:off x="4626700" y="862875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C0000"/>
                </a:solidFill>
              </a:rPr>
              <a:t>ver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605" name="Google Shape;605;p48"/>
          <p:cNvSpPr/>
          <p:nvPr/>
        </p:nvSpPr>
        <p:spPr>
          <a:xfrm>
            <a:off x="5591813" y="39250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48"/>
          <p:cNvSpPr txBox="1"/>
          <p:nvPr/>
        </p:nvSpPr>
        <p:spPr>
          <a:xfrm>
            <a:off x="5578538" y="396048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3</a:t>
            </a:r>
            <a:endParaRPr sz="1800"/>
          </a:p>
        </p:txBody>
      </p:sp>
      <p:sp>
        <p:nvSpPr>
          <p:cNvPr id="607" name="Google Shape;607;p48"/>
          <p:cNvSpPr/>
          <p:nvPr/>
        </p:nvSpPr>
        <p:spPr>
          <a:xfrm>
            <a:off x="5613500" y="20440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8"/>
          <p:cNvSpPr/>
          <p:nvPr/>
        </p:nvSpPr>
        <p:spPr>
          <a:xfrm>
            <a:off x="5595450" y="29641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9" name="Google Shape;609;p48"/>
          <p:cNvCxnSpPr/>
          <p:nvPr/>
        </p:nvCxnSpPr>
        <p:spPr>
          <a:xfrm rot="10800000">
            <a:off x="5840864" y="3432180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0" name="Google Shape;610;p48"/>
          <p:cNvCxnSpPr>
            <a:stCxn id="608" idx="0"/>
          </p:cNvCxnSpPr>
          <p:nvPr/>
        </p:nvCxnSpPr>
        <p:spPr>
          <a:xfrm rot="10800000">
            <a:off x="5829450" y="2526188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1" name="Google Shape;611;p48"/>
          <p:cNvSpPr txBox="1"/>
          <p:nvPr/>
        </p:nvSpPr>
        <p:spPr>
          <a:xfrm>
            <a:off x="5582175" y="299958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3</a:t>
            </a:r>
            <a:endParaRPr sz="1800"/>
          </a:p>
        </p:txBody>
      </p:sp>
      <p:sp>
        <p:nvSpPr>
          <p:cNvPr id="612" name="Google Shape;612;p48"/>
          <p:cNvSpPr txBox="1"/>
          <p:nvPr/>
        </p:nvSpPr>
        <p:spPr>
          <a:xfrm>
            <a:off x="5600225" y="207948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3</a:t>
            </a:r>
            <a:endParaRPr sz="1800"/>
          </a:p>
        </p:txBody>
      </p:sp>
      <p:cxnSp>
        <p:nvCxnSpPr>
          <p:cNvPr id="613" name="Google Shape;613;p48"/>
          <p:cNvCxnSpPr/>
          <p:nvPr/>
        </p:nvCxnSpPr>
        <p:spPr>
          <a:xfrm>
            <a:off x="5215325" y="3198188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4" name="Google Shape;614;p48"/>
          <p:cNvSpPr txBox="1"/>
          <p:nvPr/>
        </p:nvSpPr>
        <p:spPr>
          <a:xfrm>
            <a:off x="5484650" y="4452188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ver</a:t>
            </a:r>
            <a:endParaRPr>
              <a:solidFill>
                <a:srgbClr val="1C4587"/>
              </a:solidFill>
            </a:endParaRPr>
          </a:p>
        </p:txBody>
      </p:sp>
      <p:cxnSp>
        <p:nvCxnSpPr>
          <p:cNvPr id="615" name="Google Shape;615;p48"/>
          <p:cNvCxnSpPr/>
          <p:nvPr/>
        </p:nvCxnSpPr>
        <p:spPr>
          <a:xfrm rot="10800000">
            <a:off x="5837225" y="1606088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6" name="Google Shape;616;p48"/>
          <p:cNvSpPr txBox="1"/>
          <p:nvPr/>
        </p:nvSpPr>
        <p:spPr>
          <a:xfrm>
            <a:off x="5532850" y="1285463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8"/>
          <p:cNvSpPr txBox="1"/>
          <p:nvPr/>
        </p:nvSpPr>
        <p:spPr>
          <a:xfrm>
            <a:off x="5455325" y="1216538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48"/>
          <p:cNvSpPr/>
          <p:nvPr/>
        </p:nvSpPr>
        <p:spPr>
          <a:xfrm>
            <a:off x="5613513" y="11677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48"/>
          <p:cNvSpPr txBox="1"/>
          <p:nvPr/>
        </p:nvSpPr>
        <p:spPr>
          <a:xfrm>
            <a:off x="5620763" y="119478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3</a:t>
            </a:r>
            <a:endParaRPr sz="1800"/>
          </a:p>
        </p:txBody>
      </p:sp>
      <p:sp>
        <p:nvSpPr>
          <p:cNvPr id="620" name="Google Shape;620;p48"/>
          <p:cNvSpPr txBox="1"/>
          <p:nvPr/>
        </p:nvSpPr>
        <p:spPr>
          <a:xfrm>
            <a:off x="5249475" y="2800988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621" name="Google Shape;621;p48"/>
          <p:cNvSpPr txBox="1"/>
          <p:nvPr/>
        </p:nvSpPr>
        <p:spPr>
          <a:xfrm>
            <a:off x="5813775" y="3537788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622" name="Google Shape;622;p48"/>
          <p:cNvSpPr txBox="1"/>
          <p:nvPr/>
        </p:nvSpPr>
        <p:spPr>
          <a:xfrm>
            <a:off x="5813775" y="2623388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V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623" name="Google Shape;623;p48"/>
          <p:cNvSpPr txBox="1"/>
          <p:nvPr/>
        </p:nvSpPr>
        <p:spPr>
          <a:xfrm>
            <a:off x="5478450" y="889663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C0000"/>
                </a:solidFill>
              </a:rPr>
              <a:t>un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624" name="Google Shape;624;p48"/>
          <p:cNvSpPr/>
          <p:nvPr/>
        </p:nvSpPr>
        <p:spPr>
          <a:xfrm>
            <a:off x="6443563" y="3924413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8"/>
          <p:cNvSpPr txBox="1"/>
          <p:nvPr/>
        </p:nvSpPr>
        <p:spPr>
          <a:xfrm>
            <a:off x="6430288" y="3959813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4</a:t>
            </a:r>
            <a:endParaRPr sz="1800"/>
          </a:p>
        </p:txBody>
      </p:sp>
      <p:sp>
        <p:nvSpPr>
          <p:cNvPr id="626" name="Google Shape;626;p48"/>
          <p:cNvSpPr/>
          <p:nvPr/>
        </p:nvSpPr>
        <p:spPr>
          <a:xfrm>
            <a:off x="6465250" y="2043413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8"/>
          <p:cNvSpPr/>
          <p:nvPr/>
        </p:nvSpPr>
        <p:spPr>
          <a:xfrm>
            <a:off x="6447200" y="2963513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8" name="Google Shape;628;p48"/>
          <p:cNvCxnSpPr/>
          <p:nvPr/>
        </p:nvCxnSpPr>
        <p:spPr>
          <a:xfrm rot="10800000">
            <a:off x="6692614" y="3431505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9" name="Google Shape;629;p48"/>
          <p:cNvCxnSpPr>
            <a:stCxn id="627" idx="0"/>
          </p:cNvCxnSpPr>
          <p:nvPr/>
        </p:nvCxnSpPr>
        <p:spPr>
          <a:xfrm rot="10800000">
            <a:off x="6681200" y="2525513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0" name="Google Shape;630;p48"/>
          <p:cNvSpPr txBox="1"/>
          <p:nvPr/>
        </p:nvSpPr>
        <p:spPr>
          <a:xfrm>
            <a:off x="6433925" y="2998913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4</a:t>
            </a:r>
            <a:endParaRPr sz="1800"/>
          </a:p>
        </p:txBody>
      </p:sp>
      <p:sp>
        <p:nvSpPr>
          <p:cNvPr id="631" name="Google Shape;631;p48"/>
          <p:cNvSpPr txBox="1"/>
          <p:nvPr/>
        </p:nvSpPr>
        <p:spPr>
          <a:xfrm>
            <a:off x="6451975" y="2078813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4</a:t>
            </a:r>
            <a:endParaRPr sz="1800"/>
          </a:p>
        </p:txBody>
      </p:sp>
      <p:cxnSp>
        <p:nvCxnSpPr>
          <p:cNvPr id="632" name="Google Shape;632;p48"/>
          <p:cNvCxnSpPr/>
          <p:nvPr/>
        </p:nvCxnSpPr>
        <p:spPr>
          <a:xfrm>
            <a:off x="6067075" y="3197513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3" name="Google Shape;633;p48"/>
          <p:cNvSpPr txBox="1"/>
          <p:nvPr/>
        </p:nvSpPr>
        <p:spPr>
          <a:xfrm>
            <a:off x="6336400" y="4451513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un</a:t>
            </a:r>
            <a:endParaRPr>
              <a:solidFill>
                <a:srgbClr val="1C4587"/>
              </a:solidFill>
            </a:endParaRPr>
          </a:p>
        </p:txBody>
      </p:sp>
      <p:cxnSp>
        <p:nvCxnSpPr>
          <p:cNvPr id="634" name="Google Shape;634;p48"/>
          <p:cNvCxnSpPr/>
          <p:nvPr/>
        </p:nvCxnSpPr>
        <p:spPr>
          <a:xfrm rot="10800000">
            <a:off x="6688975" y="1605413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5" name="Google Shape;635;p48"/>
          <p:cNvSpPr txBox="1"/>
          <p:nvPr/>
        </p:nvSpPr>
        <p:spPr>
          <a:xfrm>
            <a:off x="6384600" y="1284788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48"/>
          <p:cNvSpPr txBox="1"/>
          <p:nvPr/>
        </p:nvSpPr>
        <p:spPr>
          <a:xfrm>
            <a:off x="6307075" y="1215863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8"/>
          <p:cNvSpPr/>
          <p:nvPr/>
        </p:nvSpPr>
        <p:spPr>
          <a:xfrm>
            <a:off x="6465263" y="1167113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8"/>
          <p:cNvSpPr txBox="1"/>
          <p:nvPr/>
        </p:nvSpPr>
        <p:spPr>
          <a:xfrm>
            <a:off x="6472513" y="1194113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4</a:t>
            </a:r>
            <a:endParaRPr sz="1800"/>
          </a:p>
        </p:txBody>
      </p:sp>
      <p:sp>
        <p:nvSpPr>
          <p:cNvPr id="639" name="Google Shape;639;p48"/>
          <p:cNvSpPr txBox="1"/>
          <p:nvPr/>
        </p:nvSpPr>
        <p:spPr>
          <a:xfrm>
            <a:off x="6101225" y="2800313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640" name="Google Shape;640;p48"/>
          <p:cNvSpPr txBox="1"/>
          <p:nvPr/>
        </p:nvSpPr>
        <p:spPr>
          <a:xfrm>
            <a:off x="6665525" y="3537113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641" name="Google Shape;641;p48"/>
          <p:cNvSpPr txBox="1"/>
          <p:nvPr/>
        </p:nvSpPr>
        <p:spPr>
          <a:xfrm>
            <a:off x="6665525" y="2622713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V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642" name="Google Shape;642;p48"/>
          <p:cNvSpPr txBox="1"/>
          <p:nvPr/>
        </p:nvSpPr>
        <p:spPr>
          <a:xfrm>
            <a:off x="6330200" y="888988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C0000"/>
                </a:solidFill>
              </a:rPr>
              <a:t>tren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643" name="Google Shape;643;p48"/>
          <p:cNvSpPr/>
          <p:nvPr/>
        </p:nvSpPr>
        <p:spPr>
          <a:xfrm>
            <a:off x="7295313" y="3924413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8"/>
          <p:cNvSpPr txBox="1"/>
          <p:nvPr/>
        </p:nvSpPr>
        <p:spPr>
          <a:xfrm>
            <a:off x="7282038" y="3959813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5</a:t>
            </a:r>
            <a:endParaRPr sz="1800"/>
          </a:p>
        </p:txBody>
      </p:sp>
      <p:sp>
        <p:nvSpPr>
          <p:cNvPr id="645" name="Google Shape;645;p48"/>
          <p:cNvSpPr/>
          <p:nvPr/>
        </p:nvSpPr>
        <p:spPr>
          <a:xfrm>
            <a:off x="7317000" y="2043413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48"/>
          <p:cNvSpPr/>
          <p:nvPr/>
        </p:nvSpPr>
        <p:spPr>
          <a:xfrm>
            <a:off x="7298950" y="2963513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7" name="Google Shape;647;p48"/>
          <p:cNvCxnSpPr/>
          <p:nvPr/>
        </p:nvCxnSpPr>
        <p:spPr>
          <a:xfrm rot="10800000">
            <a:off x="7544364" y="3431505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8" name="Google Shape;648;p48"/>
          <p:cNvCxnSpPr>
            <a:stCxn id="646" idx="0"/>
          </p:cNvCxnSpPr>
          <p:nvPr/>
        </p:nvCxnSpPr>
        <p:spPr>
          <a:xfrm rot="10800000">
            <a:off x="7532950" y="2525513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9" name="Google Shape;649;p48"/>
          <p:cNvSpPr txBox="1"/>
          <p:nvPr/>
        </p:nvSpPr>
        <p:spPr>
          <a:xfrm>
            <a:off x="7285675" y="2998913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5</a:t>
            </a:r>
            <a:endParaRPr sz="1800"/>
          </a:p>
        </p:txBody>
      </p:sp>
      <p:sp>
        <p:nvSpPr>
          <p:cNvPr id="650" name="Google Shape;650;p48"/>
          <p:cNvSpPr txBox="1"/>
          <p:nvPr/>
        </p:nvSpPr>
        <p:spPr>
          <a:xfrm>
            <a:off x="7303725" y="2078813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5</a:t>
            </a:r>
            <a:endParaRPr sz="1800"/>
          </a:p>
        </p:txBody>
      </p:sp>
      <p:cxnSp>
        <p:nvCxnSpPr>
          <p:cNvPr id="651" name="Google Shape;651;p48"/>
          <p:cNvCxnSpPr/>
          <p:nvPr/>
        </p:nvCxnSpPr>
        <p:spPr>
          <a:xfrm>
            <a:off x="6918825" y="3197513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2" name="Google Shape;652;p48"/>
          <p:cNvSpPr txBox="1"/>
          <p:nvPr/>
        </p:nvSpPr>
        <p:spPr>
          <a:xfrm>
            <a:off x="7188150" y="4451513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tren</a:t>
            </a:r>
            <a:endParaRPr>
              <a:solidFill>
                <a:srgbClr val="1C4587"/>
              </a:solidFill>
            </a:endParaRPr>
          </a:p>
        </p:txBody>
      </p:sp>
      <p:cxnSp>
        <p:nvCxnSpPr>
          <p:cNvPr id="653" name="Google Shape;653;p48"/>
          <p:cNvCxnSpPr/>
          <p:nvPr/>
        </p:nvCxnSpPr>
        <p:spPr>
          <a:xfrm rot="10800000">
            <a:off x="7540725" y="1605413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4" name="Google Shape;654;p48"/>
          <p:cNvSpPr txBox="1"/>
          <p:nvPr/>
        </p:nvSpPr>
        <p:spPr>
          <a:xfrm>
            <a:off x="7236350" y="1284788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8"/>
          <p:cNvSpPr txBox="1"/>
          <p:nvPr/>
        </p:nvSpPr>
        <p:spPr>
          <a:xfrm>
            <a:off x="7158825" y="1215863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48"/>
          <p:cNvSpPr/>
          <p:nvPr/>
        </p:nvSpPr>
        <p:spPr>
          <a:xfrm>
            <a:off x="7317013" y="1167113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48"/>
          <p:cNvSpPr txBox="1"/>
          <p:nvPr/>
        </p:nvSpPr>
        <p:spPr>
          <a:xfrm>
            <a:off x="7324263" y="1194113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5</a:t>
            </a:r>
            <a:endParaRPr sz="1800"/>
          </a:p>
        </p:txBody>
      </p:sp>
      <p:sp>
        <p:nvSpPr>
          <p:cNvPr id="658" name="Google Shape;658;p48"/>
          <p:cNvSpPr txBox="1"/>
          <p:nvPr/>
        </p:nvSpPr>
        <p:spPr>
          <a:xfrm>
            <a:off x="6952975" y="2800313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659" name="Google Shape;659;p48"/>
          <p:cNvSpPr txBox="1"/>
          <p:nvPr/>
        </p:nvSpPr>
        <p:spPr>
          <a:xfrm>
            <a:off x="7517275" y="3537113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660" name="Google Shape;660;p48"/>
          <p:cNvSpPr txBox="1"/>
          <p:nvPr/>
        </p:nvSpPr>
        <p:spPr>
          <a:xfrm>
            <a:off x="7517275" y="2622713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V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661" name="Google Shape;661;p48"/>
          <p:cNvSpPr txBox="1"/>
          <p:nvPr/>
        </p:nvSpPr>
        <p:spPr>
          <a:xfrm>
            <a:off x="7181950" y="888988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C0000"/>
                </a:solidFill>
              </a:rPr>
              <a:t>.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662" name="Google Shape;662;p48"/>
          <p:cNvSpPr/>
          <p:nvPr/>
        </p:nvSpPr>
        <p:spPr>
          <a:xfrm>
            <a:off x="8147063" y="39248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48"/>
          <p:cNvSpPr txBox="1"/>
          <p:nvPr/>
        </p:nvSpPr>
        <p:spPr>
          <a:xfrm>
            <a:off x="8133788" y="39602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6</a:t>
            </a:r>
            <a:endParaRPr sz="1800"/>
          </a:p>
        </p:txBody>
      </p:sp>
      <p:sp>
        <p:nvSpPr>
          <p:cNvPr id="664" name="Google Shape;664;p48"/>
          <p:cNvSpPr/>
          <p:nvPr/>
        </p:nvSpPr>
        <p:spPr>
          <a:xfrm>
            <a:off x="8168750" y="20438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48"/>
          <p:cNvSpPr/>
          <p:nvPr/>
        </p:nvSpPr>
        <p:spPr>
          <a:xfrm>
            <a:off x="8150700" y="29639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6" name="Google Shape;666;p48"/>
          <p:cNvCxnSpPr/>
          <p:nvPr/>
        </p:nvCxnSpPr>
        <p:spPr>
          <a:xfrm rot="10800000">
            <a:off x="8396114" y="343194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7" name="Google Shape;667;p48"/>
          <p:cNvCxnSpPr>
            <a:stCxn id="665" idx="0"/>
          </p:cNvCxnSpPr>
          <p:nvPr/>
        </p:nvCxnSpPr>
        <p:spPr>
          <a:xfrm rot="10800000">
            <a:off x="8384700" y="252595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8" name="Google Shape;668;p48"/>
          <p:cNvSpPr txBox="1"/>
          <p:nvPr/>
        </p:nvSpPr>
        <p:spPr>
          <a:xfrm>
            <a:off x="8137425" y="29993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6</a:t>
            </a:r>
            <a:endParaRPr sz="1800"/>
          </a:p>
        </p:txBody>
      </p:sp>
      <p:sp>
        <p:nvSpPr>
          <p:cNvPr id="669" name="Google Shape;669;p48"/>
          <p:cNvSpPr txBox="1"/>
          <p:nvPr/>
        </p:nvSpPr>
        <p:spPr>
          <a:xfrm>
            <a:off x="8155475" y="20792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6</a:t>
            </a:r>
            <a:endParaRPr sz="1800"/>
          </a:p>
        </p:txBody>
      </p:sp>
      <p:cxnSp>
        <p:nvCxnSpPr>
          <p:cNvPr id="670" name="Google Shape;670;p48"/>
          <p:cNvCxnSpPr/>
          <p:nvPr/>
        </p:nvCxnSpPr>
        <p:spPr>
          <a:xfrm>
            <a:off x="7770575" y="319795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1" name="Google Shape;671;p48"/>
          <p:cNvSpPr txBox="1"/>
          <p:nvPr/>
        </p:nvSpPr>
        <p:spPr>
          <a:xfrm>
            <a:off x="8039900" y="4451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.</a:t>
            </a:r>
            <a:endParaRPr>
              <a:solidFill>
                <a:srgbClr val="1C4587"/>
              </a:solidFill>
            </a:endParaRPr>
          </a:p>
        </p:txBody>
      </p:sp>
      <p:cxnSp>
        <p:nvCxnSpPr>
          <p:cNvPr id="672" name="Google Shape;672;p48"/>
          <p:cNvCxnSpPr/>
          <p:nvPr/>
        </p:nvCxnSpPr>
        <p:spPr>
          <a:xfrm rot="10800000">
            <a:off x="8392475" y="160585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3" name="Google Shape;673;p48"/>
          <p:cNvSpPr txBox="1"/>
          <p:nvPr/>
        </p:nvSpPr>
        <p:spPr>
          <a:xfrm>
            <a:off x="8088100" y="128522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48"/>
          <p:cNvSpPr txBox="1"/>
          <p:nvPr/>
        </p:nvSpPr>
        <p:spPr>
          <a:xfrm>
            <a:off x="8010575" y="121630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48"/>
          <p:cNvSpPr/>
          <p:nvPr/>
        </p:nvSpPr>
        <p:spPr>
          <a:xfrm>
            <a:off x="8168763" y="11675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48"/>
          <p:cNvSpPr txBox="1"/>
          <p:nvPr/>
        </p:nvSpPr>
        <p:spPr>
          <a:xfrm>
            <a:off x="8176013" y="11945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6</a:t>
            </a:r>
            <a:endParaRPr sz="1800"/>
          </a:p>
        </p:txBody>
      </p:sp>
      <p:sp>
        <p:nvSpPr>
          <p:cNvPr id="677" name="Google Shape;677;p48"/>
          <p:cNvSpPr txBox="1"/>
          <p:nvPr/>
        </p:nvSpPr>
        <p:spPr>
          <a:xfrm>
            <a:off x="7804725" y="280075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678" name="Google Shape;678;p48"/>
          <p:cNvSpPr txBox="1"/>
          <p:nvPr/>
        </p:nvSpPr>
        <p:spPr>
          <a:xfrm>
            <a:off x="8369025" y="353755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679" name="Google Shape;679;p48"/>
          <p:cNvSpPr txBox="1"/>
          <p:nvPr/>
        </p:nvSpPr>
        <p:spPr>
          <a:xfrm>
            <a:off x="8369025" y="262315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V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680" name="Google Shape;680;p48"/>
          <p:cNvSpPr txBox="1"/>
          <p:nvPr/>
        </p:nvSpPr>
        <p:spPr>
          <a:xfrm>
            <a:off x="8033700" y="889425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C0000"/>
                </a:solidFill>
              </a:rPr>
              <a:t>&lt;end&gt;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681" name="Google Shape;681;p48"/>
          <p:cNvSpPr txBox="1"/>
          <p:nvPr>
            <p:ph type="title"/>
          </p:nvPr>
        </p:nvSpPr>
        <p:spPr>
          <a:xfrm>
            <a:off x="692700" y="673625"/>
            <a:ext cx="264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Text generation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9"/>
          <p:cNvSpPr txBox="1"/>
          <p:nvPr/>
        </p:nvSpPr>
        <p:spPr>
          <a:xfrm>
            <a:off x="-179750" y="1207825"/>
            <a:ext cx="4548300" cy="18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30200" marR="1397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666666"/>
                </a:solidFill>
              </a:rPr>
              <a:t>@juanma25</a:t>
            </a:r>
            <a:endParaRPr>
              <a:solidFill>
                <a:srgbClr val="666666"/>
              </a:solidFill>
            </a:endParaRPr>
          </a:p>
          <a:p>
            <a:pPr indent="0" lvl="0" marL="330200" marR="1397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666666"/>
                </a:solidFill>
              </a:rPr>
              <a:t>      Empanadas + Netflix , infalible!</a:t>
            </a:r>
            <a:endParaRPr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330200" marR="1397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66666"/>
              </a:solidFill>
            </a:endParaRPr>
          </a:p>
        </p:txBody>
      </p:sp>
      <p:sp>
        <p:nvSpPr>
          <p:cNvPr id="687" name="Google Shape;687;p49"/>
          <p:cNvSpPr/>
          <p:nvPr/>
        </p:nvSpPr>
        <p:spPr>
          <a:xfrm>
            <a:off x="2987463" y="38983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49"/>
          <p:cNvSpPr txBox="1"/>
          <p:nvPr/>
        </p:nvSpPr>
        <p:spPr>
          <a:xfrm>
            <a:off x="2974188" y="3933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2</a:t>
            </a:r>
            <a:endParaRPr sz="1800"/>
          </a:p>
        </p:txBody>
      </p:sp>
      <p:sp>
        <p:nvSpPr>
          <p:cNvPr id="689" name="Google Shape;689;p49"/>
          <p:cNvSpPr/>
          <p:nvPr/>
        </p:nvSpPr>
        <p:spPr>
          <a:xfrm>
            <a:off x="12839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49"/>
          <p:cNvSpPr/>
          <p:nvPr/>
        </p:nvSpPr>
        <p:spPr>
          <a:xfrm>
            <a:off x="12876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1" name="Google Shape;691;p49"/>
          <p:cNvCxnSpPr/>
          <p:nvPr/>
        </p:nvCxnSpPr>
        <p:spPr>
          <a:xfrm rot="10800000">
            <a:off x="15330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2" name="Google Shape;692;p49"/>
          <p:cNvSpPr txBox="1"/>
          <p:nvPr/>
        </p:nvSpPr>
        <p:spPr>
          <a:xfrm>
            <a:off x="1274325" y="29883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693" name="Google Shape;693;p49"/>
          <p:cNvSpPr txBox="1"/>
          <p:nvPr/>
        </p:nvSpPr>
        <p:spPr>
          <a:xfrm>
            <a:off x="1270688" y="39492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694" name="Google Shape;694;p49"/>
          <p:cNvSpPr/>
          <p:nvPr/>
        </p:nvSpPr>
        <p:spPr>
          <a:xfrm>
            <a:off x="213571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49"/>
          <p:cNvSpPr/>
          <p:nvPr/>
        </p:nvSpPr>
        <p:spPr>
          <a:xfrm>
            <a:off x="213935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6" name="Google Shape;696;p49"/>
          <p:cNvCxnSpPr/>
          <p:nvPr/>
        </p:nvCxnSpPr>
        <p:spPr>
          <a:xfrm rot="10800000">
            <a:off x="238476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7" name="Google Shape;697;p49"/>
          <p:cNvSpPr txBox="1"/>
          <p:nvPr/>
        </p:nvSpPr>
        <p:spPr>
          <a:xfrm>
            <a:off x="2126075" y="29883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sp>
        <p:nvSpPr>
          <p:cNvPr id="698" name="Google Shape;698;p49"/>
          <p:cNvSpPr txBox="1"/>
          <p:nvPr/>
        </p:nvSpPr>
        <p:spPr>
          <a:xfrm>
            <a:off x="2122438" y="39492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699" name="Google Shape;699;p49"/>
          <p:cNvCxnSpPr/>
          <p:nvPr/>
        </p:nvCxnSpPr>
        <p:spPr>
          <a:xfrm>
            <a:off x="1759225" y="31869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0" name="Google Shape;700;p49"/>
          <p:cNvSpPr/>
          <p:nvPr/>
        </p:nvSpPr>
        <p:spPr>
          <a:xfrm>
            <a:off x="2991100" y="29374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1" name="Google Shape;701;p49"/>
          <p:cNvCxnSpPr/>
          <p:nvPr/>
        </p:nvCxnSpPr>
        <p:spPr>
          <a:xfrm rot="10800000">
            <a:off x="3236514" y="34053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2" name="Google Shape;702;p49"/>
          <p:cNvSpPr txBox="1"/>
          <p:nvPr/>
        </p:nvSpPr>
        <p:spPr>
          <a:xfrm>
            <a:off x="2977825" y="29728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2</a:t>
            </a:r>
            <a:endParaRPr sz="1800"/>
          </a:p>
        </p:txBody>
      </p:sp>
      <p:cxnSp>
        <p:nvCxnSpPr>
          <p:cNvPr id="703" name="Google Shape;703;p49"/>
          <p:cNvCxnSpPr/>
          <p:nvPr/>
        </p:nvCxnSpPr>
        <p:spPr>
          <a:xfrm>
            <a:off x="2610975" y="317140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4" name="Google Shape;704;p49"/>
          <p:cNvSpPr txBox="1"/>
          <p:nvPr/>
        </p:nvSpPr>
        <p:spPr>
          <a:xfrm>
            <a:off x="11459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&lt;start&gt;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705" name="Google Shape;705;p49"/>
          <p:cNvSpPr txBox="1"/>
          <p:nvPr/>
        </p:nvSpPr>
        <p:spPr>
          <a:xfrm>
            <a:off x="1801350" y="4424950"/>
            <a:ext cx="1266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Empanadas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706" name="Google Shape;706;p49"/>
          <p:cNvSpPr txBox="1"/>
          <p:nvPr/>
        </p:nvSpPr>
        <p:spPr>
          <a:xfrm>
            <a:off x="287002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+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707" name="Google Shape;707;p49"/>
          <p:cNvSpPr txBox="1"/>
          <p:nvPr/>
        </p:nvSpPr>
        <p:spPr>
          <a:xfrm>
            <a:off x="1730725" y="27742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08" name="Google Shape;708;p49"/>
          <p:cNvSpPr txBox="1"/>
          <p:nvPr/>
        </p:nvSpPr>
        <p:spPr>
          <a:xfrm>
            <a:off x="2645125" y="27742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09" name="Google Shape;709;p49"/>
          <p:cNvSpPr txBox="1"/>
          <p:nvPr/>
        </p:nvSpPr>
        <p:spPr>
          <a:xfrm>
            <a:off x="1533025" y="35110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10" name="Google Shape;710;p49"/>
          <p:cNvSpPr txBox="1"/>
          <p:nvPr/>
        </p:nvSpPr>
        <p:spPr>
          <a:xfrm>
            <a:off x="2371225" y="35110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11" name="Google Shape;711;p49"/>
          <p:cNvSpPr txBox="1"/>
          <p:nvPr/>
        </p:nvSpPr>
        <p:spPr>
          <a:xfrm>
            <a:off x="3209425" y="35110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12" name="Google Shape;712;p49"/>
          <p:cNvSpPr/>
          <p:nvPr/>
        </p:nvSpPr>
        <p:spPr>
          <a:xfrm>
            <a:off x="3839213" y="39250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49"/>
          <p:cNvSpPr txBox="1"/>
          <p:nvPr/>
        </p:nvSpPr>
        <p:spPr>
          <a:xfrm>
            <a:off x="3825938" y="396048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3</a:t>
            </a:r>
            <a:endParaRPr sz="1800"/>
          </a:p>
        </p:txBody>
      </p:sp>
      <p:sp>
        <p:nvSpPr>
          <p:cNvPr id="714" name="Google Shape;714;p49"/>
          <p:cNvSpPr/>
          <p:nvPr/>
        </p:nvSpPr>
        <p:spPr>
          <a:xfrm>
            <a:off x="3842850" y="29641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5" name="Google Shape;715;p49"/>
          <p:cNvCxnSpPr/>
          <p:nvPr/>
        </p:nvCxnSpPr>
        <p:spPr>
          <a:xfrm rot="10800000">
            <a:off x="4088264" y="3432180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6" name="Google Shape;716;p49"/>
          <p:cNvSpPr txBox="1"/>
          <p:nvPr/>
        </p:nvSpPr>
        <p:spPr>
          <a:xfrm>
            <a:off x="3829575" y="299958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3</a:t>
            </a:r>
            <a:endParaRPr sz="1800"/>
          </a:p>
        </p:txBody>
      </p:sp>
      <p:cxnSp>
        <p:nvCxnSpPr>
          <p:cNvPr id="717" name="Google Shape;717;p49"/>
          <p:cNvCxnSpPr/>
          <p:nvPr/>
        </p:nvCxnSpPr>
        <p:spPr>
          <a:xfrm>
            <a:off x="3462725" y="3198188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8" name="Google Shape;718;p49"/>
          <p:cNvSpPr txBox="1"/>
          <p:nvPr/>
        </p:nvSpPr>
        <p:spPr>
          <a:xfrm>
            <a:off x="3732050" y="4452188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Netflix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719" name="Google Shape;719;p49"/>
          <p:cNvSpPr txBox="1"/>
          <p:nvPr/>
        </p:nvSpPr>
        <p:spPr>
          <a:xfrm>
            <a:off x="3496875" y="2800988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20" name="Google Shape;720;p49"/>
          <p:cNvSpPr txBox="1"/>
          <p:nvPr/>
        </p:nvSpPr>
        <p:spPr>
          <a:xfrm>
            <a:off x="4061175" y="3537788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21" name="Google Shape;721;p49"/>
          <p:cNvSpPr/>
          <p:nvPr/>
        </p:nvSpPr>
        <p:spPr>
          <a:xfrm>
            <a:off x="4690963" y="3924413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49"/>
          <p:cNvSpPr txBox="1"/>
          <p:nvPr/>
        </p:nvSpPr>
        <p:spPr>
          <a:xfrm>
            <a:off x="4677688" y="3959813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4</a:t>
            </a:r>
            <a:endParaRPr sz="1800"/>
          </a:p>
        </p:txBody>
      </p:sp>
      <p:sp>
        <p:nvSpPr>
          <p:cNvPr id="723" name="Google Shape;723;p49"/>
          <p:cNvSpPr/>
          <p:nvPr/>
        </p:nvSpPr>
        <p:spPr>
          <a:xfrm>
            <a:off x="4694600" y="2963513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4" name="Google Shape;724;p49"/>
          <p:cNvCxnSpPr/>
          <p:nvPr/>
        </p:nvCxnSpPr>
        <p:spPr>
          <a:xfrm rot="10800000">
            <a:off x="4940014" y="3431505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5" name="Google Shape;725;p49"/>
          <p:cNvSpPr txBox="1"/>
          <p:nvPr/>
        </p:nvSpPr>
        <p:spPr>
          <a:xfrm>
            <a:off x="4681325" y="2998913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4</a:t>
            </a:r>
            <a:endParaRPr sz="1800"/>
          </a:p>
        </p:txBody>
      </p:sp>
      <p:cxnSp>
        <p:nvCxnSpPr>
          <p:cNvPr id="726" name="Google Shape;726;p49"/>
          <p:cNvCxnSpPr/>
          <p:nvPr/>
        </p:nvCxnSpPr>
        <p:spPr>
          <a:xfrm>
            <a:off x="4314475" y="3197513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7" name="Google Shape;727;p49"/>
          <p:cNvSpPr txBox="1"/>
          <p:nvPr/>
        </p:nvSpPr>
        <p:spPr>
          <a:xfrm>
            <a:off x="4583800" y="4451513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,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728" name="Google Shape;728;p49"/>
          <p:cNvSpPr txBox="1"/>
          <p:nvPr/>
        </p:nvSpPr>
        <p:spPr>
          <a:xfrm>
            <a:off x="4348625" y="2800313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29" name="Google Shape;729;p49"/>
          <p:cNvSpPr txBox="1"/>
          <p:nvPr/>
        </p:nvSpPr>
        <p:spPr>
          <a:xfrm>
            <a:off x="4912925" y="3537113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30" name="Google Shape;730;p49"/>
          <p:cNvSpPr/>
          <p:nvPr/>
        </p:nvSpPr>
        <p:spPr>
          <a:xfrm>
            <a:off x="5542713" y="3924413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49"/>
          <p:cNvSpPr txBox="1"/>
          <p:nvPr/>
        </p:nvSpPr>
        <p:spPr>
          <a:xfrm>
            <a:off x="5529438" y="3959813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5</a:t>
            </a:r>
            <a:endParaRPr sz="1800"/>
          </a:p>
        </p:txBody>
      </p:sp>
      <p:sp>
        <p:nvSpPr>
          <p:cNvPr id="732" name="Google Shape;732;p49"/>
          <p:cNvSpPr/>
          <p:nvPr/>
        </p:nvSpPr>
        <p:spPr>
          <a:xfrm>
            <a:off x="5546350" y="2963513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3" name="Google Shape;733;p49"/>
          <p:cNvCxnSpPr/>
          <p:nvPr/>
        </p:nvCxnSpPr>
        <p:spPr>
          <a:xfrm rot="10800000">
            <a:off x="5791764" y="3431505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4" name="Google Shape;734;p49"/>
          <p:cNvSpPr txBox="1"/>
          <p:nvPr/>
        </p:nvSpPr>
        <p:spPr>
          <a:xfrm>
            <a:off x="5533075" y="2998913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5</a:t>
            </a:r>
            <a:endParaRPr sz="1800"/>
          </a:p>
        </p:txBody>
      </p:sp>
      <p:cxnSp>
        <p:nvCxnSpPr>
          <p:cNvPr id="735" name="Google Shape;735;p49"/>
          <p:cNvCxnSpPr/>
          <p:nvPr/>
        </p:nvCxnSpPr>
        <p:spPr>
          <a:xfrm>
            <a:off x="5166225" y="3197513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6" name="Google Shape;736;p49"/>
          <p:cNvSpPr txBox="1"/>
          <p:nvPr/>
        </p:nvSpPr>
        <p:spPr>
          <a:xfrm>
            <a:off x="5350600" y="4451525"/>
            <a:ext cx="930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infalible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737" name="Google Shape;737;p49"/>
          <p:cNvSpPr txBox="1"/>
          <p:nvPr/>
        </p:nvSpPr>
        <p:spPr>
          <a:xfrm>
            <a:off x="5200375" y="2800313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38" name="Google Shape;738;p49"/>
          <p:cNvSpPr txBox="1"/>
          <p:nvPr/>
        </p:nvSpPr>
        <p:spPr>
          <a:xfrm>
            <a:off x="5764675" y="3537113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39" name="Google Shape;739;p49"/>
          <p:cNvSpPr/>
          <p:nvPr/>
        </p:nvSpPr>
        <p:spPr>
          <a:xfrm>
            <a:off x="6394463" y="39248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49"/>
          <p:cNvSpPr txBox="1"/>
          <p:nvPr/>
        </p:nvSpPr>
        <p:spPr>
          <a:xfrm>
            <a:off x="6381188" y="39602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6</a:t>
            </a:r>
            <a:endParaRPr sz="1800"/>
          </a:p>
        </p:txBody>
      </p:sp>
      <p:sp>
        <p:nvSpPr>
          <p:cNvPr id="741" name="Google Shape;741;p49"/>
          <p:cNvSpPr/>
          <p:nvPr/>
        </p:nvSpPr>
        <p:spPr>
          <a:xfrm>
            <a:off x="6416150" y="20438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49"/>
          <p:cNvSpPr/>
          <p:nvPr/>
        </p:nvSpPr>
        <p:spPr>
          <a:xfrm>
            <a:off x="6398100" y="29639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3" name="Google Shape;743;p49"/>
          <p:cNvCxnSpPr/>
          <p:nvPr/>
        </p:nvCxnSpPr>
        <p:spPr>
          <a:xfrm rot="10800000">
            <a:off x="6643514" y="343194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4" name="Google Shape;744;p49"/>
          <p:cNvCxnSpPr>
            <a:stCxn id="742" idx="0"/>
          </p:cNvCxnSpPr>
          <p:nvPr/>
        </p:nvCxnSpPr>
        <p:spPr>
          <a:xfrm rot="10800000">
            <a:off x="6632100" y="252595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5" name="Google Shape;745;p49"/>
          <p:cNvSpPr txBox="1"/>
          <p:nvPr/>
        </p:nvSpPr>
        <p:spPr>
          <a:xfrm>
            <a:off x="6384825" y="29993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6</a:t>
            </a:r>
            <a:endParaRPr sz="1800"/>
          </a:p>
        </p:txBody>
      </p:sp>
      <p:sp>
        <p:nvSpPr>
          <p:cNvPr id="746" name="Google Shape;746;p49"/>
          <p:cNvSpPr txBox="1"/>
          <p:nvPr/>
        </p:nvSpPr>
        <p:spPr>
          <a:xfrm>
            <a:off x="6402875" y="20792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endParaRPr sz="1800"/>
          </a:p>
        </p:txBody>
      </p:sp>
      <p:cxnSp>
        <p:nvCxnSpPr>
          <p:cNvPr id="747" name="Google Shape;747;p49"/>
          <p:cNvCxnSpPr/>
          <p:nvPr/>
        </p:nvCxnSpPr>
        <p:spPr>
          <a:xfrm>
            <a:off x="6017975" y="319795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8" name="Google Shape;748;p49"/>
          <p:cNvSpPr txBox="1"/>
          <p:nvPr/>
        </p:nvSpPr>
        <p:spPr>
          <a:xfrm>
            <a:off x="6287300" y="4451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!</a:t>
            </a:r>
            <a:endParaRPr>
              <a:solidFill>
                <a:srgbClr val="1C4587"/>
              </a:solidFill>
            </a:endParaRPr>
          </a:p>
        </p:txBody>
      </p:sp>
      <p:cxnSp>
        <p:nvCxnSpPr>
          <p:cNvPr id="749" name="Google Shape;749;p49"/>
          <p:cNvCxnSpPr/>
          <p:nvPr/>
        </p:nvCxnSpPr>
        <p:spPr>
          <a:xfrm rot="10800000">
            <a:off x="6639875" y="160585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0" name="Google Shape;750;p49"/>
          <p:cNvSpPr txBox="1"/>
          <p:nvPr/>
        </p:nvSpPr>
        <p:spPr>
          <a:xfrm>
            <a:off x="6335500" y="128522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49"/>
          <p:cNvSpPr txBox="1"/>
          <p:nvPr/>
        </p:nvSpPr>
        <p:spPr>
          <a:xfrm>
            <a:off x="6257975" y="121630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49"/>
          <p:cNvSpPr/>
          <p:nvPr/>
        </p:nvSpPr>
        <p:spPr>
          <a:xfrm>
            <a:off x="6416163" y="11675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49"/>
          <p:cNvSpPr txBox="1"/>
          <p:nvPr/>
        </p:nvSpPr>
        <p:spPr>
          <a:xfrm>
            <a:off x="6423413" y="11945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endParaRPr sz="1800"/>
          </a:p>
        </p:txBody>
      </p:sp>
      <p:sp>
        <p:nvSpPr>
          <p:cNvPr id="754" name="Google Shape;754;p49"/>
          <p:cNvSpPr txBox="1"/>
          <p:nvPr/>
        </p:nvSpPr>
        <p:spPr>
          <a:xfrm>
            <a:off x="6052125" y="280075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55" name="Google Shape;755;p49"/>
          <p:cNvSpPr txBox="1"/>
          <p:nvPr/>
        </p:nvSpPr>
        <p:spPr>
          <a:xfrm>
            <a:off x="6616425" y="353755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56" name="Google Shape;756;p49"/>
          <p:cNvSpPr txBox="1"/>
          <p:nvPr/>
        </p:nvSpPr>
        <p:spPr>
          <a:xfrm>
            <a:off x="6616425" y="262315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V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57" name="Google Shape;757;p49"/>
          <p:cNvSpPr txBox="1"/>
          <p:nvPr/>
        </p:nvSpPr>
        <p:spPr>
          <a:xfrm>
            <a:off x="6154325" y="873850"/>
            <a:ext cx="10122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C0000"/>
                </a:solidFill>
              </a:rPr>
              <a:t>0.9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758" name="Google Shape;758;p49"/>
          <p:cNvSpPr txBox="1"/>
          <p:nvPr>
            <p:ph type="title"/>
          </p:nvPr>
        </p:nvSpPr>
        <p:spPr>
          <a:xfrm>
            <a:off x="716450" y="669375"/>
            <a:ext cx="264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Clasificación</a:t>
            </a:r>
            <a:endParaRPr/>
          </a:p>
        </p:txBody>
      </p:sp>
      <p:sp>
        <p:nvSpPr>
          <p:cNvPr id="759" name="Google Shape;759;p49"/>
          <p:cNvSpPr/>
          <p:nvPr/>
        </p:nvSpPr>
        <p:spPr>
          <a:xfrm>
            <a:off x="130525" y="1355525"/>
            <a:ext cx="2933400" cy="1221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0" name="Google Shape;76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9925" y="1434113"/>
            <a:ext cx="474000" cy="38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0"/>
          <p:cNvSpPr/>
          <p:nvPr/>
        </p:nvSpPr>
        <p:spPr>
          <a:xfrm>
            <a:off x="3825663" y="38983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50"/>
          <p:cNvSpPr txBox="1"/>
          <p:nvPr/>
        </p:nvSpPr>
        <p:spPr>
          <a:xfrm>
            <a:off x="3812388" y="3933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2</a:t>
            </a:r>
            <a:endParaRPr sz="1800"/>
          </a:p>
        </p:txBody>
      </p:sp>
      <p:sp>
        <p:nvSpPr>
          <p:cNvPr id="767" name="Google Shape;767;p50"/>
          <p:cNvSpPr/>
          <p:nvPr/>
        </p:nvSpPr>
        <p:spPr>
          <a:xfrm>
            <a:off x="21221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0"/>
          <p:cNvSpPr/>
          <p:nvPr/>
        </p:nvSpPr>
        <p:spPr>
          <a:xfrm>
            <a:off x="21258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9" name="Google Shape;769;p50"/>
          <p:cNvCxnSpPr/>
          <p:nvPr/>
        </p:nvCxnSpPr>
        <p:spPr>
          <a:xfrm rot="10800000">
            <a:off x="23712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0" name="Google Shape;770;p50"/>
          <p:cNvSpPr txBox="1"/>
          <p:nvPr/>
        </p:nvSpPr>
        <p:spPr>
          <a:xfrm>
            <a:off x="2112525" y="29883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771" name="Google Shape;771;p50"/>
          <p:cNvSpPr txBox="1"/>
          <p:nvPr/>
        </p:nvSpPr>
        <p:spPr>
          <a:xfrm>
            <a:off x="2108888" y="39492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772" name="Google Shape;772;p50"/>
          <p:cNvSpPr/>
          <p:nvPr/>
        </p:nvSpPr>
        <p:spPr>
          <a:xfrm>
            <a:off x="297391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50"/>
          <p:cNvSpPr/>
          <p:nvPr/>
        </p:nvSpPr>
        <p:spPr>
          <a:xfrm>
            <a:off x="297755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4" name="Google Shape;774;p50"/>
          <p:cNvCxnSpPr/>
          <p:nvPr/>
        </p:nvCxnSpPr>
        <p:spPr>
          <a:xfrm rot="10800000">
            <a:off x="322296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5" name="Google Shape;775;p50"/>
          <p:cNvSpPr txBox="1"/>
          <p:nvPr/>
        </p:nvSpPr>
        <p:spPr>
          <a:xfrm>
            <a:off x="2964275" y="29883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sp>
        <p:nvSpPr>
          <p:cNvPr id="776" name="Google Shape;776;p50"/>
          <p:cNvSpPr txBox="1"/>
          <p:nvPr/>
        </p:nvSpPr>
        <p:spPr>
          <a:xfrm>
            <a:off x="2960638" y="39492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777" name="Google Shape;777;p50"/>
          <p:cNvCxnSpPr/>
          <p:nvPr/>
        </p:nvCxnSpPr>
        <p:spPr>
          <a:xfrm>
            <a:off x="2597425" y="31869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8" name="Google Shape;778;p50"/>
          <p:cNvSpPr/>
          <p:nvPr/>
        </p:nvSpPr>
        <p:spPr>
          <a:xfrm>
            <a:off x="3829300" y="29374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9" name="Google Shape;779;p50"/>
          <p:cNvCxnSpPr/>
          <p:nvPr/>
        </p:nvCxnSpPr>
        <p:spPr>
          <a:xfrm rot="10800000">
            <a:off x="4074714" y="34053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0" name="Google Shape;780;p50"/>
          <p:cNvSpPr txBox="1"/>
          <p:nvPr/>
        </p:nvSpPr>
        <p:spPr>
          <a:xfrm>
            <a:off x="3816025" y="29728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2</a:t>
            </a:r>
            <a:endParaRPr sz="1800"/>
          </a:p>
        </p:txBody>
      </p:sp>
      <p:cxnSp>
        <p:nvCxnSpPr>
          <p:cNvPr id="781" name="Google Shape;781;p50"/>
          <p:cNvCxnSpPr/>
          <p:nvPr/>
        </p:nvCxnSpPr>
        <p:spPr>
          <a:xfrm>
            <a:off x="3449175" y="317140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2" name="Google Shape;782;p50"/>
          <p:cNvSpPr txBox="1"/>
          <p:nvPr/>
        </p:nvSpPr>
        <p:spPr>
          <a:xfrm>
            <a:off x="19841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&lt;start&gt;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783" name="Google Shape;783;p50"/>
          <p:cNvSpPr txBox="1"/>
          <p:nvPr/>
        </p:nvSpPr>
        <p:spPr>
          <a:xfrm>
            <a:off x="2639550" y="4424950"/>
            <a:ext cx="1266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Empanadas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784" name="Google Shape;784;p50"/>
          <p:cNvSpPr txBox="1"/>
          <p:nvPr/>
        </p:nvSpPr>
        <p:spPr>
          <a:xfrm>
            <a:off x="370822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+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785" name="Google Shape;785;p50"/>
          <p:cNvSpPr txBox="1"/>
          <p:nvPr/>
        </p:nvSpPr>
        <p:spPr>
          <a:xfrm>
            <a:off x="2568925" y="27742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86" name="Google Shape;786;p50"/>
          <p:cNvSpPr txBox="1"/>
          <p:nvPr/>
        </p:nvSpPr>
        <p:spPr>
          <a:xfrm>
            <a:off x="3483325" y="27742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87" name="Google Shape;787;p50"/>
          <p:cNvSpPr txBox="1"/>
          <p:nvPr/>
        </p:nvSpPr>
        <p:spPr>
          <a:xfrm>
            <a:off x="2371225" y="35110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88" name="Google Shape;788;p50"/>
          <p:cNvSpPr txBox="1"/>
          <p:nvPr/>
        </p:nvSpPr>
        <p:spPr>
          <a:xfrm>
            <a:off x="3209425" y="35110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89" name="Google Shape;789;p50"/>
          <p:cNvSpPr txBox="1"/>
          <p:nvPr/>
        </p:nvSpPr>
        <p:spPr>
          <a:xfrm>
            <a:off x="4047625" y="351100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90" name="Google Shape;790;p50"/>
          <p:cNvSpPr/>
          <p:nvPr/>
        </p:nvSpPr>
        <p:spPr>
          <a:xfrm>
            <a:off x="4677413" y="39250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50"/>
          <p:cNvSpPr txBox="1"/>
          <p:nvPr/>
        </p:nvSpPr>
        <p:spPr>
          <a:xfrm>
            <a:off x="4664138" y="396048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3</a:t>
            </a:r>
            <a:endParaRPr sz="1800"/>
          </a:p>
        </p:txBody>
      </p:sp>
      <p:sp>
        <p:nvSpPr>
          <p:cNvPr id="792" name="Google Shape;792;p50"/>
          <p:cNvSpPr/>
          <p:nvPr/>
        </p:nvSpPr>
        <p:spPr>
          <a:xfrm>
            <a:off x="4681050" y="29641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3" name="Google Shape;793;p50"/>
          <p:cNvCxnSpPr/>
          <p:nvPr/>
        </p:nvCxnSpPr>
        <p:spPr>
          <a:xfrm rot="10800000">
            <a:off x="4926464" y="3432180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4" name="Google Shape;794;p50"/>
          <p:cNvSpPr txBox="1"/>
          <p:nvPr/>
        </p:nvSpPr>
        <p:spPr>
          <a:xfrm>
            <a:off x="4667775" y="299958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3</a:t>
            </a:r>
            <a:endParaRPr sz="1800"/>
          </a:p>
        </p:txBody>
      </p:sp>
      <p:cxnSp>
        <p:nvCxnSpPr>
          <p:cNvPr id="795" name="Google Shape;795;p50"/>
          <p:cNvCxnSpPr/>
          <p:nvPr/>
        </p:nvCxnSpPr>
        <p:spPr>
          <a:xfrm>
            <a:off x="4300925" y="3198188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6" name="Google Shape;796;p50"/>
          <p:cNvSpPr txBox="1"/>
          <p:nvPr/>
        </p:nvSpPr>
        <p:spPr>
          <a:xfrm>
            <a:off x="4570250" y="4452188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Netflix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797" name="Google Shape;797;p50"/>
          <p:cNvSpPr txBox="1"/>
          <p:nvPr/>
        </p:nvSpPr>
        <p:spPr>
          <a:xfrm>
            <a:off x="4335075" y="2800988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98" name="Google Shape;798;p50"/>
          <p:cNvSpPr txBox="1"/>
          <p:nvPr/>
        </p:nvSpPr>
        <p:spPr>
          <a:xfrm>
            <a:off x="4899375" y="3537788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99" name="Google Shape;799;p50"/>
          <p:cNvSpPr/>
          <p:nvPr/>
        </p:nvSpPr>
        <p:spPr>
          <a:xfrm>
            <a:off x="5529163" y="3924413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50"/>
          <p:cNvSpPr txBox="1"/>
          <p:nvPr/>
        </p:nvSpPr>
        <p:spPr>
          <a:xfrm>
            <a:off x="5515888" y="3959813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4</a:t>
            </a:r>
            <a:endParaRPr sz="1800"/>
          </a:p>
        </p:txBody>
      </p:sp>
      <p:sp>
        <p:nvSpPr>
          <p:cNvPr id="801" name="Google Shape;801;p50"/>
          <p:cNvSpPr/>
          <p:nvPr/>
        </p:nvSpPr>
        <p:spPr>
          <a:xfrm>
            <a:off x="5532800" y="2963513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2" name="Google Shape;802;p50"/>
          <p:cNvCxnSpPr/>
          <p:nvPr/>
        </p:nvCxnSpPr>
        <p:spPr>
          <a:xfrm rot="10800000">
            <a:off x="5778214" y="3431505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3" name="Google Shape;803;p50"/>
          <p:cNvSpPr txBox="1"/>
          <p:nvPr/>
        </p:nvSpPr>
        <p:spPr>
          <a:xfrm>
            <a:off x="5519525" y="2998913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4</a:t>
            </a:r>
            <a:endParaRPr sz="1800"/>
          </a:p>
        </p:txBody>
      </p:sp>
      <p:cxnSp>
        <p:nvCxnSpPr>
          <p:cNvPr id="804" name="Google Shape;804;p50"/>
          <p:cNvCxnSpPr/>
          <p:nvPr/>
        </p:nvCxnSpPr>
        <p:spPr>
          <a:xfrm>
            <a:off x="5152675" y="3197513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5" name="Google Shape;805;p50"/>
          <p:cNvSpPr txBox="1"/>
          <p:nvPr/>
        </p:nvSpPr>
        <p:spPr>
          <a:xfrm>
            <a:off x="5422000" y="4451513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,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806" name="Google Shape;806;p50"/>
          <p:cNvSpPr txBox="1"/>
          <p:nvPr/>
        </p:nvSpPr>
        <p:spPr>
          <a:xfrm>
            <a:off x="5186825" y="2800313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807" name="Google Shape;807;p50"/>
          <p:cNvSpPr txBox="1"/>
          <p:nvPr/>
        </p:nvSpPr>
        <p:spPr>
          <a:xfrm>
            <a:off x="5751125" y="3537113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808" name="Google Shape;808;p50"/>
          <p:cNvSpPr/>
          <p:nvPr/>
        </p:nvSpPr>
        <p:spPr>
          <a:xfrm>
            <a:off x="6380913" y="3924413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50"/>
          <p:cNvSpPr txBox="1"/>
          <p:nvPr/>
        </p:nvSpPr>
        <p:spPr>
          <a:xfrm>
            <a:off x="6367638" y="3959813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5</a:t>
            </a:r>
            <a:endParaRPr sz="1800"/>
          </a:p>
        </p:txBody>
      </p:sp>
      <p:sp>
        <p:nvSpPr>
          <p:cNvPr id="810" name="Google Shape;810;p50"/>
          <p:cNvSpPr/>
          <p:nvPr/>
        </p:nvSpPr>
        <p:spPr>
          <a:xfrm>
            <a:off x="6384550" y="2963513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1" name="Google Shape;811;p50"/>
          <p:cNvCxnSpPr/>
          <p:nvPr/>
        </p:nvCxnSpPr>
        <p:spPr>
          <a:xfrm rot="10800000">
            <a:off x="6629964" y="3431505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2" name="Google Shape;812;p50"/>
          <p:cNvSpPr txBox="1"/>
          <p:nvPr/>
        </p:nvSpPr>
        <p:spPr>
          <a:xfrm>
            <a:off x="6371275" y="2998913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5</a:t>
            </a:r>
            <a:endParaRPr sz="1800"/>
          </a:p>
        </p:txBody>
      </p:sp>
      <p:cxnSp>
        <p:nvCxnSpPr>
          <p:cNvPr id="813" name="Google Shape;813;p50"/>
          <p:cNvCxnSpPr/>
          <p:nvPr/>
        </p:nvCxnSpPr>
        <p:spPr>
          <a:xfrm>
            <a:off x="6004425" y="3197513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4" name="Google Shape;814;p50"/>
          <p:cNvSpPr txBox="1"/>
          <p:nvPr/>
        </p:nvSpPr>
        <p:spPr>
          <a:xfrm>
            <a:off x="6188800" y="4451525"/>
            <a:ext cx="930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infalible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815" name="Google Shape;815;p50"/>
          <p:cNvSpPr txBox="1"/>
          <p:nvPr/>
        </p:nvSpPr>
        <p:spPr>
          <a:xfrm>
            <a:off x="6038575" y="2800313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816" name="Google Shape;816;p50"/>
          <p:cNvSpPr txBox="1"/>
          <p:nvPr/>
        </p:nvSpPr>
        <p:spPr>
          <a:xfrm>
            <a:off x="6602875" y="3537113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817" name="Google Shape;817;p50"/>
          <p:cNvSpPr/>
          <p:nvPr/>
        </p:nvSpPr>
        <p:spPr>
          <a:xfrm>
            <a:off x="7232663" y="39248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50"/>
          <p:cNvSpPr txBox="1"/>
          <p:nvPr/>
        </p:nvSpPr>
        <p:spPr>
          <a:xfrm>
            <a:off x="7219388" y="39602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6</a:t>
            </a:r>
            <a:endParaRPr sz="1800"/>
          </a:p>
        </p:txBody>
      </p:sp>
      <p:sp>
        <p:nvSpPr>
          <p:cNvPr id="819" name="Google Shape;819;p50"/>
          <p:cNvSpPr/>
          <p:nvPr/>
        </p:nvSpPr>
        <p:spPr>
          <a:xfrm>
            <a:off x="7236300" y="29639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0" name="Google Shape;820;p50"/>
          <p:cNvCxnSpPr/>
          <p:nvPr/>
        </p:nvCxnSpPr>
        <p:spPr>
          <a:xfrm rot="10800000">
            <a:off x="7481714" y="343194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1" name="Google Shape;821;p50"/>
          <p:cNvSpPr txBox="1"/>
          <p:nvPr/>
        </p:nvSpPr>
        <p:spPr>
          <a:xfrm>
            <a:off x="7223025" y="29993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6</a:t>
            </a:r>
            <a:endParaRPr sz="1800"/>
          </a:p>
        </p:txBody>
      </p:sp>
      <p:cxnSp>
        <p:nvCxnSpPr>
          <p:cNvPr id="822" name="Google Shape;822;p50"/>
          <p:cNvCxnSpPr/>
          <p:nvPr/>
        </p:nvCxnSpPr>
        <p:spPr>
          <a:xfrm>
            <a:off x="6856175" y="319795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3" name="Google Shape;823;p50"/>
          <p:cNvSpPr txBox="1"/>
          <p:nvPr/>
        </p:nvSpPr>
        <p:spPr>
          <a:xfrm>
            <a:off x="7125500" y="4451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!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824" name="Google Shape;824;p50"/>
          <p:cNvSpPr txBox="1"/>
          <p:nvPr/>
        </p:nvSpPr>
        <p:spPr>
          <a:xfrm>
            <a:off x="8107750" y="891400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50"/>
          <p:cNvSpPr txBox="1"/>
          <p:nvPr/>
        </p:nvSpPr>
        <p:spPr>
          <a:xfrm>
            <a:off x="8030225" y="822475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50"/>
          <p:cNvSpPr txBox="1"/>
          <p:nvPr/>
        </p:nvSpPr>
        <p:spPr>
          <a:xfrm>
            <a:off x="6890325" y="280075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W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827" name="Google Shape;827;p50"/>
          <p:cNvSpPr txBox="1"/>
          <p:nvPr/>
        </p:nvSpPr>
        <p:spPr>
          <a:xfrm>
            <a:off x="7454625" y="3537550"/>
            <a:ext cx="376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U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828" name="Google Shape;828;p50"/>
          <p:cNvSpPr txBox="1"/>
          <p:nvPr/>
        </p:nvSpPr>
        <p:spPr>
          <a:xfrm>
            <a:off x="5190538" y="668250"/>
            <a:ext cx="10122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C0000"/>
                </a:solidFill>
              </a:rPr>
              <a:t>0.9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829" name="Google Shape;829;p50"/>
          <p:cNvSpPr/>
          <p:nvPr/>
        </p:nvSpPr>
        <p:spPr>
          <a:xfrm>
            <a:off x="4692475" y="2003300"/>
            <a:ext cx="468000" cy="4680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cxnSp>
        <p:nvCxnSpPr>
          <p:cNvPr id="830" name="Google Shape;830;p50"/>
          <p:cNvCxnSpPr>
            <a:stCxn id="785" idx="1"/>
            <a:endCxn id="829" idx="2"/>
          </p:cNvCxnSpPr>
          <p:nvPr/>
        </p:nvCxnSpPr>
        <p:spPr>
          <a:xfrm flipH="1" rot="10800000">
            <a:off x="2568925" y="2237200"/>
            <a:ext cx="2123700" cy="73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1" name="Google Shape;831;p50"/>
          <p:cNvCxnSpPr>
            <a:stCxn id="826" idx="3"/>
            <a:endCxn id="829" idx="6"/>
          </p:cNvCxnSpPr>
          <p:nvPr/>
        </p:nvCxnSpPr>
        <p:spPr>
          <a:xfrm rot="10800000">
            <a:off x="5160525" y="2237350"/>
            <a:ext cx="2106300" cy="762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2" name="Google Shape;832;p50"/>
          <p:cNvCxnSpPr>
            <a:stCxn id="786" idx="1"/>
            <a:endCxn id="829" idx="3"/>
          </p:cNvCxnSpPr>
          <p:nvPr/>
        </p:nvCxnSpPr>
        <p:spPr>
          <a:xfrm flipH="1" rot="10800000">
            <a:off x="3483325" y="2402800"/>
            <a:ext cx="1277700" cy="570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3" name="Google Shape;833;p50"/>
          <p:cNvCxnSpPr>
            <a:stCxn id="797" idx="1"/>
            <a:endCxn id="829" idx="4"/>
          </p:cNvCxnSpPr>
          <p:nvPr/>
        </p:nvCxnSpPr>
        <p:spPr>
          <a:xfrm flipH="1" rot="10800000">
            <a:off x="4335075" y="2471288"/>
            <a:ext cx="591300" cy="528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4" name="Google Shape;834;p50"/>
          <p:cNvCxnSpPr>
            <a:stCxn id="794" idx="0"/>
            <a:endCxn id="829" idx="4"/>
          </p:cNvCxnSpPr>
          <p:nvPr/>
        </p:nvCxnSpPr>
        <p:spPr>
          <a:xfrm flipH="1" rot="10800000">
            <a:off x="4904775" y="2471288"/>
            <a:ext cx="21600" cy="528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5" name="Google Shape;835;p50"/>
          <p:cNvCxnSpPr>
            <a:stCxn id="806" idx="3"/>
            <a:endCxn id="829" idx="4"/>
          </p:cNvCxnSpPr>
          <p:nvPr/>
        </p:nvCxnSpPr>
        <p:spPr>
          <a:xfrm rot="10800000">
            <a:off x="4926425" y="2471213"/>
            <a:ext cx="636900" cy="527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6" name="Google Shape;836;p50"/>
          <p:cNvCxnSpPr>
            <a:stCxn id="815" idx="3"/>
            <a:endCxn id="829" idx="5"/>
          </p:cNvCxnSpPr>
          <p:nvPr/>
        </p:nvCxnSpPr>
        <p:spPr>
          <a:xfrm rot="10800000">
            <a:off x="5092075" y="2402813"/>
            <a:ext cx="1323000" cy="596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7" name="Google Shape;837;p50"/>
          <p:cNvSpPr txBox="1"/>
          <p:nvPr/>
        </p:nvSpPr>
        <p:spPr>
          <a:xfrm>
            <a:off x="4738173" y="2074500"/>
            <a:ext cx="3765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A</a:t>
            </a:r>
            <a:endParaRPr sz="1800"/>
          </a:p>
        </p:txBody>
      </p:sp>
      <p:sp>
        <p:nvSpPr>
          <p:cNvPr id="838" name="Google Shape;838;p50"/>
          <p:cNvSpPr txBox="1"/>
          <p:nvPr/>
        </p:nvSpPr>
        <p:spPr>
          <a:xfrm>
            <a:off x="6415075" y="2373450"/>
            <a:ext cx="28266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666666"/>
                </a:solidFill>
              </a:rPr>
              <a:t>element-wise mean/max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839" name="Google Shape;839;p50"/>
          <p:cNvSpPr txBox="1"/>
          <p:nvPr/>
        </p:nvSpPr>
        <p:spPr>
          <a:xfrm>
            <a:off x="5188825" y="1902125"/>
            <a:ext cx="28266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Sentence representation</a:t>
            </a:r>
            <a:endParaRPr>
              <a:solidFill>
                <a:srgbClr val="4A86E8"/>
              </a:solidFill>
            </a:endParaRPr>
          </a:p>
        </p:txBody>
      </p:sp>
      <p:cxnSp>
        <p:nvCxnSpPr>
          <p:cNvPr id="840" name="Google Shape;840;p50"/>
          <p:cNvCxnSpPr>
            <a:stCxn id="829" idx="0"/>
            <a:endCxn id="841" idx="4"/>
          </p:cNvCxnSpPr>
          <p:nvPr/>
        </p:nvCxnSpPr>
        <p:spPr>
          <a:xfrm flipH="1" rot="10800000">
            <a:off x="4926475" y="1759400"/>
            <a:ext cx="1500" cy="24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1" name="Google Shape;841;p50"/>
          <p:cNvSpPr/>
          <p:nvPr/>
        </p:nvSpPr>
        <p:spPr>
          <a:xfrm>
            <a:off x="4693975" y="1291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50"/>
          <p:cNvSpPr txBox="1"/>
          <p:nvPr/>
        </p:nvSpPr>
        <p:spPr>
          <a:xfrm>
            <a:off x="4680700" y="13269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endParaRPr sz="1800"/>
          </a:p>
        </p:txBody>
      </p:sp>
      <p:cxnSp>
        <p:nvCxnSpPr>
          <p:cNvPr id="843" name="Google Shape;843;p50"/>
          <p:cNvCxnSpPr>
            <a:stCxn id="841" idx="0"/>
            <a:endCxn id="844" idx="4"/>
          </p:cNvCxnSpPr>
          <p:nvPr/>
        </p:nvCxnSpPr>
        <p:spPr>
          <a:xfrm rot="10800000">
            <a:off x="4927975" y="1035600"/>
            <a:ext cx="0" cy="25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5" name="Google Shape;845;p50"/>
          <p:cNvSpPr txBox="1"/>
          <p:nvPr/>
        </p:nvSpPr>
        <p:spPr>
          <a:xfrm>
            <a:off x="4613325" y="68527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50"/>
          <p:cNvSpPr txBox="1"/>
          <p:nvPr/>
        </p:nvSpPr>
        <p:spPr>
          <a:xfrm>
            <a:off x="4535800" y="61635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50"/>
          <p:cNvSpPr/>
          <p:nvPr/>
        </p:nvSpPr>
        <p:spPr>
          <a:xfrm>
            <a:off x="4693988" y="5676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50"/>
          <p:cNvSpPr txBox="1"/>
          <p:nvPr/>
        </p:nvSpPr>
        <p:spPr>
          <a:xfrm>
            <a:off x="4701238" y="5946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endParaRPr sz="1800"/>
          </a:p>
        </p:txBody>
      </p:sp>
      <p:sp>
        <p:nvSpPr>
          <p:cNvPr id="848" name="Google Shape;848;p50"/>
          <p:cNvSpPr txBox="1"/>
          <p:nvPr/>
        </p:nvSpPr>
        <p:spPr>
          <a:xfrm>
            <a:off x="201250" y="1431725"/>
            <a:ext cx="3184800" cy="12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1397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666666"/>
                </a:solidFill>
              </a:rPr>
              <a:t>@juanma25</a:t>
            </a:r>
            <a:endParaRPr>
              <a:solidFill>
                <a:srgbClr val="666666"/>
              </a:solidFill>
            </a:endParaRPr>
          </a:p>
          <a:p>
            <a:pPr indent="0" lvl="0" marL="330200" marR="1397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666666"/>
                </a:solidFill>
              </a:rPr>
              <a:t>Empanadas + Netflix , infalible!</a:t>
            </a:r>
            <a:endParaRPr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330200" marR="1397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66666"/>
              </a:solidFill>
            </a:endParaRPr>
          </a:p>
        </p:txBody>
      </p:sp>
      <p:sp>
        <p:nvSpPr>
          <p:cNvPr id="849" name="Google Shape;849;p50"/>
          <p:cNvSpPr txBox="1"/>
          <p:nvPr>
            <p:ph type="title"/>
          </p:nvPr>
        </p:nvSpPr>
        <p:spPr>
          <a:xfrm>
            <a:off x="716450" y="669375"/>
            <a:ext cx="264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Clasificación</a:t>
            </a:r>
            <a:endParaRPr/>
          </a:p>
        </p:txBody>
      </p:sp>
      <p:sp>
        <p:nvSpPr>
          <p:cNvPr id="850" name="Google Shape;850;p50"/>
          <p:cNvSpPr/>
          <p:nvPr/>
        </p:nvSpPr>
        <p:spPr>
          <a:xfrm>
            <a:off x="130525" y="1355525"/>
            <a:ext cx="2933400" cy="1221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1" name="Google Shape;85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9925" y="1434113"/>
            <a:ext cx="474000" cy="38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bold{c^{(t)}}=\bold{f}^{t}\, \circ \,\bold{c}^{(t-1)} + \bold{i}^{(t)}\; \circ  \; \bold{\tilde{c}}^{(t)}\\&#10;&#10;\bold{\tilde{c}}^{(t)}=\sigma(\bold{b}_c+\bold{W}_c\bold{h}^{(t-1)} + \bold{U}_c \bold{x}^{(t)})\\&#10;\bold{h}^{(t)}=\bold{o}^{t}\; \circ  \; \tanh(\bold{c^{(t)}})" id="856" name="Google Shape;856;p5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75" y="5327524"/>
            <a:ext cx="4309700" cy="13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51"/>
          <p:cNvSpPr txBox="1"/>
          <p:nvPr/>
        </p:nvSpPr>
        <p:spPr>
          <a:xfrm>
            <a:off x="4642973" y="-366387"/>
            <a:ext cx="3765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endParaRPr sz="1800"/>
          </a:p>
        </p:txBody>
      </p:sp>
      <p:sp>
        <p:nvSpPr>
          <p:cNvPr id="858" name="Google Shape;858;p51"/>
          <p:cNvSpPr txBox="1"/>
          <p:nvPr>
            <p:ph type="title"/>
          </p:nvPr>
        </p:nvSpPr>
        <p:spPr>
          <a:xfrm>
            <a:off x="692700" y="719950"/>
            <a:ext cx="330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Multi-layer RNNs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51"/>
          <p:cNvSpPr txBox="1"/>
          <p:nvPr/>
        </p:nvSpPr>
        <p:spPr>
          <a:xfrm>
            <a:off x="2046400" y="4781988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&lt;start&gt;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860" name="Google Shape;860;p51"/>
          <p:cNvSpPr txBox="1"/>
          <p:nvPr/>
        </p:nvSpPr>
        <p:spPr>
          <a:xfrm>
            <a:off x="2701775" y="4781988"/>
            <a:ext cx="1266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La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861" name="Google Shape;861;p51"/>
          <p:cNvSpPr txBox="1"/>
          <p:nvPr/>
        </p:nvSpPr>
        <p:spPr>
          <a:xfrm>
            <a:off x="3770450" y="4781988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estrella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862" name="Google Shape;862;p51"/>
          <p:cNvSpPr txBox="1"/>
          <p:nvPr/>
        </p:nvSpPr>
        <p:spPr>
          <a:xfrm>
            <a:off x="4632475" y="4809225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863" name="Google Shape;863;p51"/>
          <p:cNvSpPr txBox="1"/>
          <p:nvPr/>
        </p:nvSpPr>
        <p:spPr>
          <a:xfrm>
            <a:off x="5484225" y="48085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864" name="Google Shape;864;p51"/>
          <p:cNvSpPr txBox="1"/>
          <p:nvPr/>
        </p:nvSpPr>
        <p:spPr>
          <a:xfrm>
            <a:off x="6251025" y="4808563"/>
            <a:ext cx="930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vía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865" name="Google Shape;865;p51"/>
          <p:cNvSpPr txBox="1"/>
          <p:nvPr/>
        </p:nvSpPr>
        <p:spPr>
          <a:xfrm>
            <a:off x="7187725" y="4808988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láctea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866" name="Google Shape;866;p51"/>
          <p:cNvSpPr/>
          <p:nvPr/>
        </p:nvSpPr>
        <p:spPr>
          <a:xfrm>
            <a:off x="3924988" y="42871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51"/>
          <p:cNvSpPr txBox="1"/>
          <p:nvPr/>
        </p:nvSpPr>
        <p:spPr>
          <a:xfrm>
            <a:off x="3911713" y="43225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2</a:t>
            </a:r>
            <a:endParaRPr sz="1800"/>
          </a:p>
        </p:txBody>
      </p:sp>
      <p:sp>
        <p:nvSpPr>
          <p:cNvPr id="868" name="Google Shape;868;p51"/>
          <p:cNvSpPr/>
          <p:nvPr/>
        </p:nvSpPr>
        <p:spPr>
          <a:xfrm>
            <a:off x="2221488" y="43027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51"/>
          <p:cNvSpPr/>
          <p:nvPr/>
        </p:nvSpPr>
        <p:spPr>
          <a:xfrm>
            <a:off x="2225125" y="33418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51"/>
          <p:cNvCxnSpPr/>
          <p:nvPr/>
        </p:nvCxnSpPr>
        <p:spPr>
          <a:xfrm rot="10800000">
            <a:off x="2470539" y="380984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1" name="Google Shape;871;p51"/>
          <p:cNvSpPr txBox="1"/>
          <p:nvPr/>
        </p:nvSpPr>
        <p:spPr>
          <a:xfrm>
            <a:off x="2208213" y="43381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872" name="Google Shape;872;p51"/>
          <p:cNvSpPr/>
          <p:nvPr/>
        </p:nvSpPr>
        <p:spPr>
          <a:xfrm>
            <a:off x="3073238" y="43027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51"/>
          <p:cNvSpPr/>
          <p:nvPr/>
        </p:nvSpPr>
        <p:spPr>
          <a:xfrm>
            <a:off x="3076875" y="33418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4" name="Google Shape;874;p51"/>
          <p:cNvCxnSpPr/>
          <p:nvPr/>
        </p:nvCxnSpPr>
        <p:spPr>
          <a:xfrm rot="10800000">
            <a:off x="3322289" y="380984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5" name="Google Shape;875;p51"/>
          <p:cNvSpPr txBox="1"/>
          <p:nvPr/>
        </p:nvSpPr>
        <p:spPr>
          <a:xfrm>
            <a:off x="3059963" y="43381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876" name="Google Shape;876;p51"/>
          <p:cNvCxnSpPr/>
          <p:nvPr/>
        </p:nvCxnSpPr>
        <p:spPr>
          <a:xfrm>
            <a:off x="2696750" y="357585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7" name="Google Shape;877;p51"/>
          <p:cNvSpPr/>
          <p:nvPr/>
        </p:nvSpPr>
        <p:spPr>
          <a:xfrm>
            <a:off x="3928625" y="33262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8" name="Google Shape;878;p51"/>
          <p:cNvCxnSpPr/>
          <p:nvPr/>
        </p:nvCxnSpPr>
        <p:spPr>
          <a:xfrm rot="10800000">
            <a:off x="4174039" y="37942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9" name="Google Shape;879;p51"/>
          <p:cNvCxnSpPr/>
          <p:nvPr/>
        </p:nvCxnSpPr>
        <p:spPr>
          <a:xfrm>
            <a:off x="3548500" y="35602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0" name="Google Shape;880;p51"/>
          <p:cNvSpPr/>
          <p:nvPr/>
        </p:nvSpPr>
        <p:spPr>
          <a:xfrm>
            <a:off x="4776738" y="4313963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51"/>
          <p:cNvSpPr txBox="1"/>
          <p:nvPr/>
        </p:nvSpPr>
        <p:spPr>
          <a:xfrm>
            <a:off x="4763463" y="4349363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3</a:t>
            </a:r>
            <a:endParaRPr sz="1800"/>
          </a:p>
        </p:txBody>
      </p:sp>
      <p:sp>
        <p:nvSpPr>
          <p:cNvPr id="882" name="Google Shape;882;p51"/>
          <p:cNvSpPr/>
          <p:nvPr/>
        </p:nvSpPr>
        <p:spPr>
          <a:xfrm>
            <a:off x="4780375" y="3353063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51"/>
          <p:cNvCxnSpPr/>
          <p:nvPr/>
        </p:nvCxnSpPr>
        <p:spPr>
          <a:xfrm rot="10800000">
            <a:off x="5025789" y="3821055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4" name="Google Shape;884;p51"/>
          <p:cNvCxnSpPr/>
          <p:nvPr/>
        </p:nvCxnSpPr>
        <p:spPr>
          <a:xfrm>
            <a:off x="4400250" y="3587063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5" name="Google Shape;885;p51"/>
          <p:cNvSpPr/>
          <p:nvPr/>
        </p:nvSpPr>
        <p:spPr>
          <a:xfrm>
            <a:off x="5628488" y="43132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51"/>
          <p:cNvSpPr txBox="1"/>
          <p:nvPr/>
        </p:nvSpPr>
        <p:spPr>
          <a:xfrm>
            <a:off x="5615213" y="434868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4</a:t>
            </a:r>
            <a:endParaRPr sz="1800"/>
          </a:p>
        </p:txBody>
      </p:sp>
      <p:sp>
        <p:nvSpPr>
          <p:cNvPr id="887" name="Google Shape;887;p51"/>
          <p:cNvSpPr/>
          <p:nvPr/>
        </p:nvSpPr>
        <p:spPr>
          <a:xfrm>
            <a:off x="5632125" y="33523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8" name="Google Shape;888;p51"/>
          <p:cNvCxnSpPr/>
          <p:nvPr/>
        </p:nvCxnSpPr>
        <p:spPr>
          <a:xfrm rot="10800000">
            <a:off x="5877539" y="3820380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9" name="Google Shape;889;p51"/>
          <p:cNvCxnSpPr/>
          <p:nvPr/>
        </p:nvCxnSpPr>
        <p:spPr>
          <a:xfrm>
            <a:off x="5252000" y="3586388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0" name="Google Shape;890;p51"/>
          <p:cNvSpPr/>
          <p:nvPr/>
        </p:nvSpPr>
        <p:spPr>
          <a:xfrm>
            <a:off x="6480238" y="43132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51"/>
          <p:cNvSpPr txBox="1"/>
          <p:nvPr/>
        </p:nvSpPr>
        <p:spPr>
          <a:xfrm>
            <a:off x="6466963" y="434868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5</a:t>
            </a:r>
            <a:endParaRPr sz="1800"/>
          </a:p>
        </p:txBody>
      </p:sp>
      <p:sp>
        <p:nvSpPr>
          <p:cNvPr id="892" name="Google Shape;892;p51"/>
          <p:cNvSpPr/>
          <p:nvPr/>
        </p:nvSpPr>
        <p:spPr>
          <a:xfrm>
            <a:off x="6483875" y="33523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3" name="Google Shape;893;p51"/>
          <p:cNvCxnSpPr/>
          <p:nvPr/>
        </p:nvCxnSpPr>
        <p:spPr>
          <a:xfrm rot="10800000">
            <a:off x="6729289" y="3820380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4" name="Google Shape;894;p51"/>
          <p:cNvCxnSpPr/>
          <p:nvPr/>
        </p:nvCxnSpPr>
        <p:spPr>
          <a:xfrm>
            <a:off x="6103750" y="3586388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5" name="Google Shape;895;p51"/>
          <p:cNvSpPr/>
          <p:nvPr/>
        </p:nvSpPr>
        <p:spPr>
          <a:xfrm>
            <a:off x="7331988" y="431372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51"/>
          <p:cNvSpPr txBox="1"/>
          <p:nvPr/>
        </p:nvSpPr>
        <p:spPr>
          <a:xfrm>
            <a:off x="7318713" y="434912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6</a:t>
            </a:r>
            <a:endParaRPr sz="1800"/>
          </a:p>
        </p:txBody>
      </p:sp>
      <p:sp>
        <p:nvSpPr>
          <p:cNvPr id="897" name="Google Shape;897;p51"/>
          <p:cNvSpPr/>
          <p:nvPr/>
        </p:nvSpPr>
        <p:spPr>
          <a:xfrm>
            <a:off x="7335625" y="335282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8" name="Google Shape;898;p51"/>
          <p:cNvCxnSpPr/>
          <p:nvPr/>
        </p:nvCxnSpPr>
        <p:spPr>
          <a:xfrm rot="10800000">
            <a:off x="7581039" y="382081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9" name="Google Shape;899;p51"/>
          <p:cNvCxnSpPr/>
          <p:nvPr/>
        </p:nvCxnSpPr>
        <p:spPr>
          <a:xfrm>
            <a:off x="6955500" y="358682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0" name="Google Shape;900;p51"/>
          <p:cNvSpPr/>
          <p:nvPr/>
        </p:nvSpPr>
        <p:spPr>
          <a:xfrm>
            <a:off x="2211225" y="23674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1" name="Google Shape;901;p51"/>
          <p:cNvCxnSpPr/>
          <p:nvPr/>
        </p:nvCxnSpPr>
        <p:spPr>
          <a:xfrm rot="10800000">
            <a:off x="2456639" y="283544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2" name="Google Shape;902;p51"/>
          <p:cNvSpPr/>
          <p:nvPr/>
        </p:nvSpPr>
        <p:spPr>
          <a:xfrm>
            <a:off x="3062975" y="23674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3" name="Google Shape;903;p51"/>
          <p:cNvCxnSpPr/>
          <p:nvPr/>
        </p:nvCxnSpPr>
        <p:spPr>
          <a:xfrm rot="10800000">
            <a:off x="3308389" y="283544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4" name="Google Shape;904;p51"/>
          <p:cNvCxnSpPr/>
          <p:nvPr/>
        </p:nvCxnSpPr>
        <p:spPr>
          <a:xfrm>
            <a:off x="2682850" y="260145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5" name="Google Shape;905;p51"/>
          <p:cNvSpPr/>
          <p:nvPr/>
        </p:nvSpPr>
        <p:spPr>
          <a:xfrm>
            <a:off x="3914725" y="2351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6" name="Google Shape;906;p51"/>
          <p:cNvCxnSpPr/>
          <p:nvPr/>
        </p:nvCxnSpPr>
        <p:spPr>
          <a:xfrm rot="10800000">
            <a:off x="4160139" y="28198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7" name="Google Shape;907;p51"/>
          <p:cNvCxnSpPr/>
          <p:nvPr/>
        </p:nvCxnSpPr>
        <p:spPr>
          <a:xfrm>
            <a:off x="3534600" y="25858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8" name="Google Shape;908;p51"/>
          <p:cNvSpPr/>
          <p:nvPr/>
        </p:nvSpPr>
        <p:spPr>
          <a:xfrm>
            <a:off x="4766475" y="2378663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9" name="Google Shape;909;p51"/>
          <p:cNvCxnSpPr/>
          <p:nvPr/>
        </p:nvCxnSpPr>
        <p:spPr>
          <a:xfrm rot="10800000">
            <a:off x="5011889" y="2846655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0" name="Google Shape;910;p51"/>
          <p:cNvCxnSpPr/>
          <p:nvPr/>
        </p:nvCxnSpPr>
        <p:spPr>
          <a:xfrm>
            <a:off x="4386350" y="2612663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1" name="Google Shape;911;p51"/>
          <p:cNvSpPr/>
          <p:nvPr/>
        </p:nvSpPr>
        <p:spPr>
          <a:xfrm>
            <a:off x="5618225" y="23779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2" name="Google Shape;912;p51"/>
          <p:cNvCxnSpPr/>
          <p:nvPr/>
        </p:nvCxnSpPr>
        <p:spPr>
          <a:xfrm rot="10800000">
            <a:off x="5863639" y="2845980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3" name="Google Shape;913;p51"/>
          <p:cNvCxnSpPr/>
          <p:nvPr/>
        </p:nvCxnSpPr>
        <p:spPr>
          <a:xfrm>
            <a:off x="5238100" y="2611988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4" name="Google Shape;914;p51"/>
          <p:cNvSpPr/>
          <p:nvPr/>
        </p:nvSpPr>
        <p:spPr>
          <a:xfrm>
            <a:off x="6469975" y="23779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5" name="Google Shape;915;p51"/>
          <p:cNvCxnSpPr/>
          <p:nvPr/>
        </p:nvCxnSpPr>
        <p:spPr>
          <a:xfrm rot="10800000">
            <a:off x="6715389" y="2845980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6" name="Google Shape;916;p51"/>
          <p:cNvCxnSpPr/>
          <p:nvPr/>
        </p:nvCxnSpPr>
        <p:spPr>
          <a:xfrm>
            <a:off x="6089850" y="2611988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7" name="Google Shape;917;p51"/>
          <p:cNvSpPr/>
          <p:nvPr/>
        </p:nvSpPr>
        <p:spPr>
          <a:xfrm>
            <a:off x="7321725" y="237842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8" name="Google Shape;918;p51"/>
          <p:cNvCxnSpPr/>
          <p:nvPr/>
        </p:nvCxnSpPr>
        <p:spPr>
          <a:xfrm rot="10800000">
            <a:off x="7567139" y="284641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9" name="Google Shape;919;p51"/>
          <p:cNvCxnSpPr/>
          <p:nvPr/>
        </p:nvCxnSpPr>
        <p:spPr>
          <a:xfrm>
            <a:off x="6941600" y="261242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0" name="Google Shape;920;p51"/>
          <p:cNvSpPr/>
          <p:nvPr/>
        </p:nvSpPr>
        <p:spPr>
          <a:xfrm>
            <a:off x="2211225" y="1395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1" name="Google Shape;921;p51"/>
          <p:cNvCxnSpPr/>
          <p:nvPr/>
        </p:nvCxnSpPr>
        <p:spPr>
          <a:xfrm rot="10800000">
            <a:off x="2456639" y="18634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2" name="Google Shape;922;p51"/>
          <p:cNvSpPr/>
          <p:nvPr/>
        </p:nvSpPr>
        <p:spPr>
          <a:xfrm>
            <a:off x="3062975" y="1395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3" name="Google Shape;923;p51"/>
          <p:cNvCxnSpPr/>
          <p:nvPr/>
        </p:nvCxnSpPr>
        <p:spPr>
          <a:xfrm rot="10800000">
            <a:off x="3308389" y="18634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4" name="Google Shape;924;p51"/>
          <p:cNvCxnSpPr/>
          <p:nvPr/>
        </p:nvCxnSpPr>
        <p:spPr>
          <a:xfrm>
            <a:off x="2682850" y="162950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5" name="Google Shape;925;p51"/>
          <p:cNvSpPr/>
          <p:nvPr/>
        </p:nvSpPr>
        <p:spPr>
          <a:xfrm>
            <a:off x="3914725" y="137992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6" name="Google Shape;926;p51"/>
          <p:cNvCxnSpPr/>
          <p:nvPr/>
        </p:nvCxnSpPr>
        <p:spPr>
          <a:xfrm rot="10800000">
            <a:off x="4160139" y="184791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7" name="Google Shape;927;p51"/>
          <p:cNvCxnSpPr/>
          <p:nvPr/>
        </p:nvCxnSpPr>
        <p:spPr>
          <a:xfrm>
            <a:off x="3534600" y="161392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8" name="Google Shape;928;p51"/>
          <p:cNvSpPr/>
          <p:nvPr/>
        </p:nvSpPr>
        <p:spPr>
          <a:xfrm>
            <a:off x="4766475" y="1406713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9" name="Google Shape;929;p51"/>
          <p:cNvCxnSpPr/>
          <p:nvPr/>
        </p:nvCxnSpPr>
        <p:spPr>
          <a:xfrm rot="10800000">
            <a:off x="5011889" y="1874705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0" name="Google Shape;930;p51"/>
          <p:cNvCxnSpPr/>
          <p:nvPr/>
        </p:nvCxnSpPr>
        <p:spPr>
          <a:xfrm>
            <a:off x="4386350" y="1640713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1" name="Google Shape;931;p51"/>
          <p:cNvSpPr/>
          <p:nvPr/>
        </p:nvSpPr>
        <p:spPr>
          <a:xfrm>
            <a:off x="5618225" y="140603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2" name="Google Shape;932;p51"/>
          <p:cNvCxnSpPr/>
          <p:nvPr/>
        </p:nvCxnSpPr>
        <p:spPr>
          <a:xfrm rot="10800000">
            <a:off x="5863639" y="1874030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3" name="Google Shape;933;p51"/>
          <p:cNvCxnSpPr/>
          <p:nvPr/>
        </p:nvCxnSpPr>
        <p:spPr>
          <a:xfrm>
            <a:off x="5238100" y="1640038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4" name="Google Shape;934;p51"/>
          <p:cNvSpPr/>
          <p:nvPr/>
        </p:nvSpPr>
        <p:spPr>
          <a:xfrm>
            <a:off x="6469975" y="140603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5" name="Google Shape;935;p51"/>
          <p:cNvCxnSpPr/>
          <p:nvPr/>
        </p:nvCxnSpPr>
        <p:spPr>
          <a:xfrm rot="10800000">
            <a:off x="6715389" y="1874030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6" name="Google Shape;936;p51"/>
          <p:cNvCxnSpPr/>
          <p:nvPr/>
        </p:nvCxnSpPr>
        <p:spPr>
          <a:xfrm>
            <a:off x="6089850" y="1640038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7" name="Google Shape;937;p51"/>
          <p:cNvSpPr/>
          <p:nvPr/>
        </p:nvSpPr>
        <p:spPr>
          <a:xfrm>
            <a:off x="7321725" y="14064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8" name="Google Shape;938;p51"/>
          <p:cNvCxnSpPr/>
          <p:nvPr/>
        </p:nvCxnSpPr>
        <p:spPr>
          <a:xfrm rot="10800000">
            <a:off x="7567139" y="18744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9" name="Google Shape;939;p51"/>
          <p:cNvCxnSpPr/>
          <p:nvPr/>
        </p:nvCxnSpPr>
        <p:spPr>
          <a:xfrm>
            <a:off x="6941600" y="16404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0" name="Google Shape;940;p51"/>
          <p:cNvSpPr txBox="1"/>
          <p:nvPr/>
        </p:nvSpPr>
        <p:spPr>
          <a:xfrm>
            <a:off x="764375" y="3450900"/>
            <a:ext cx="1386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Layer 1</a:t>
            </a:r>
            <a:endParaRPr/>
          </a:p>
        </p:txBody>
      </p:sp>
      <p:sp>
        <p:nvSpPr>
          <p:cNvPr id="941" name="Google Shape;941;p51"/>
          <p:cNvSpPr txBox="1"/>
          <p:nvPr/>
        </p:nvSpPr>
        <p:spPr>
          <a:xfrm>
            <a:off x="764375" y="2460925"/>
            <a:ext cx="1386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Layer 2</a:t>
            </a:r>
            <a:endParaRPr/>
          </a:p>
        </p:txBody>
      </p:sp>
      <p:sp>
        <p:nvSpPr>
          <p:cNvPr id="942" name="Google Shape;942;p51"/>
          <p:cNvSpPr txBox="1"/>
          <p:nvPr/>
        </p:nvSpPr>
        <p:spPr>
          <a:xfrm>
            <a:off x="764375" y="1470950"/>
            <a:ext cx="1386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Layer 3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bold{c^{(t)}}=\bold{f}^{t}\, \circ \,\bold{c}^{(t-1)} + \bold{i}^{(t)}\; \circ  \; \bold{\tilde{c}}^{(t)}\\&#10;&#10;\bold{\tilde{c}}^{(t)}=\sigma(\bold{b}_c+\bold{W}_c\bold{h}^{(t-1)} + \bold{U}_c \bold{x}^{(t)})\\&#10;\bold{h}^{(t)}=\bold{o}^{t}\; \circ  \; \tanh(\bold{c^{(t)}})" id="947" name="Google Shape;947;p52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75" y="5327524"/>
            <a:ext cx="4309700" cy="13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52"/>
          <p:cNvSpPr txBox="1"/>
          <p:nvPr/>
        </p:nvSpPr>
        <p:spPr>
          <a:xfrm>
            <a:off x="4642973" y="-366387"/>
            <a:ext cx="3765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endParaRPr sz="1800"/>
          </a:p>
        </p:txBody>
      </p:sp>
      <p:sp>
        <p:nvSpPr>
          <p:cNvPr id="949" name="Google Shape;949;p52"/>
          <p:cNvSpPr txBox="1"/>
          <p:nvPr>
            <p:ph type="title"/>
          </p:nvPr>
        </p:nvSpPr>
        <p:spPr>
          <a:xfrm>
            <a:off x="692700" y="719950"/>
            <a:ext cx="330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Multi-layer RNNs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0" name="Google Shape;950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075" y="1590550"/>
            <a:ext cx="5711326" cy="3073976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52"/>
          <p:cNvSpPr txBox="1"/>
          <p:nvPr/>
        </p:nvSpPr>
        <p:spPr>
          <a:xfrm>
            <a:off x="6125650" y="1466500"/>
            <a:ext cx="28008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La salida de cada capa va a ser utilizada por la siguiente como entrada.</a:t>
            </a:r>
            <a:endParaRPr b="1" sz="1800">
              <a:solidFill>
                <a:srgbClr val="38761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8761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Esto permite poder analizar la información a diferentes niveles.</a:t>
            </a:r>
            <a:endParaRPr b="1" sz="1800">
              <a:solidFill>
                <a:srgbClr val="38761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8761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¿Cual es el orden de </a:t>
            </a:r>
            <a:r>
              <a:rPr b="1" lang="es-419" sz="18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ejecución</a:t>
            </a:r>
            <a:r>
              <a:rPr b="1" lang="es-419" sz="18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?</a:t>
            </a:r>
            <a:endParaRPr b="1" sz="1800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53"/>
          <p:cNvSpPr txBox="1"/>
          <p:nvPr>
            <p:ph type="title"/>
          </p:nvPr>
        </p:nvSpPr>
        <p:spPr>
          <a:xfrm>
            <a:off x="692700" y="64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Seq2seq model: </a:t>
            </a:r>
            <a:r>
              <a:rPr lang="es-419" sz="2400">
                <a:solidFill>
                  <a:srgbClr val="666666"/>
                </a:solidFill>
              </a:rPr>
              <a:t>Traducción español -&gt; inglés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957" name="Google Shape;957;p53"/>
          <p:cNvSpPr txBox="1"/>
          <p:nvPr/>
        </p:nvSpPr>
        <p:spPr>
          <a:xfrm>
            <a:off x="1391740" y="406944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958" name="Google Shape;958;p53"/>
          <p:cNvSpPr txBox="1"/>
          <p:nvPr/>
        </p:nvSpPr>
        <p:spPr>
          <a:xfrm>
            <a:off x="2177570" y="4092395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959" name="Google Shape;959;p53"/>
          <p:cNvSpPr txBox="1"/>
          <p:nvPr/>
        </p:nvSpPr>
        <p:spPr>
          <a:xfrm>
            <a:off x="2954033" y="409182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960" name="Google Shape;960;p53"/>
          <p:cNvSpPr txBox="1"/>
          <p:nvPr/>
        </p:nvSpPr>
        <p:spPr>
          <a:xfrm>
            <a:off x="3653056" y="409183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961" name="Google Shape;961;p53"/>
          <p:cNvSpPr/>
          <p:nvPr/>
        </p:nvSpPr>
        <p:spPr>
          <a:xfrm>
            <a:off x="1532617" y="365254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53"/>
          <p:cNvSpPr/>
          <p:nvPr/>
        </p:nvSpPr>
        <p:spPr>
          <a:xfrm>
            <a:off x="756154" y="366567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53"/>
          <p:cNvSpPr/>
          <p:nvPr/>
        </p:nvSpPr>
        <p:spPr>
          <a:xfrm>
            <a:off x="759470" y="2856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4" name="Google Shape;964;p53"/>
          <p:cNvCxnSpPr/>
          <p:nvPr/>
        </p:nvCxnSpPr>
        <p:spPr>
          <a:xfrm rot="10800000">
            <a:off x="983192" y="3250464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5" name="Google Shape;965;p53"/>
          <p:cNvSpPr/>
          <p:nvPr/>
        </p:nvSpPr>
        <p:spPr>
          <a:xfrm>
            <a:off x="1535933" y="2842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6" name="Google Shape;966;p53"/>
          <p:cNvCxnSpPr/>
          <p:nvPr/>
        </p:nvCxnSpPr>
        <p:spPr>
          <a:xfrm rot="10800000">
            <a:off x="1759656" y="323734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7" name="Google Shape;967;p53"/>
          <p:cNvCxnSpPr/>
          <p:nvPr/>
        </p:nvCxnSpPr>
        <p:spPr>
          <a:xfrm>
            <a:off x="1189408" y="3040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8" name="Google Shape;968;p53"/>
          <p:cNvSpPr/>
          <p:nvPr/>
        </p:nvSpPr>
        <p:spPr>
          <a:xfrm>
            <a:off x="2309081" y="367511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53"/>
          <p:cNvSpPr/>
          <p:nvPr/>
        </p:nvSpPr>
        <p:spPr>
          <a:xfrm>
            <a:off x="2312397" y="2865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0" name="Google Shape;970;p53"/>
          <p:cNvCxnSpPr/>
          <p:nvPr/>
        </p:nvCxnSpPr>
        <p:spPr>
          <a:xfrm rot="10800000">
            <a:off x="2536119" y="325991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1" name="Google Shape;971;p53"/>
          <p:cNvCxnSpPr/>
          <p:nvPr/>
        </p:nvCxnSpPr>
        <p:spPr>
          <a:xfrm>
            <a:off x="1965871" y="3062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2" name="Google Shape;972;p53"/>
          <p:cNvSpPr/>
          <p:nvPr/>
        </p:nvSpPr>
        <p:spPr>
          <a:xfrm>
            <a:off x="3085544" y="36745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53"/>
          <p:cNvSpPr/>
          <p:nvPr/>
        </p:nvSpPr>
        <p:spPr>
          <a:xfrm>
            <a:off x="3088860" y="2864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4" name="Google Shape;974;p53"/>
          <p:cNvCxnSpPr/>
          <p:nvPr/>
        </p:nvCxnSpPr>
        <p:spPr>
          <a:xfrm rot="10800000">
            <a:off x="3312582" y="32593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5" name="Google Shape;975;p53"/>
          <p:cNvCxnSpPr/>
          <p:nvPr/>
        </p:nvCxnSpPr>
        <p:spPr>
          <a:xfrm>
            <a:off x="2742335" y="306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6" name="Google Shape;976;p53"/>
          <p:cNvSpPr/>
          <p:nvPr/>
        </p:nvSpPr>
        <p:spPr>
          <a:xfrm>
            <a:off x="3862008" y="36745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7" name="Google Shape;977;p53"/>
          <p:cNvCxnSpPr/>
          <p:nvPr/>
        </p:nvCxnSpPr>
        <p:spPr>
          <a:xfrm rot="10800000">
            <a:off x="4089046" y="32593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8" name="Google Shape;978;p53"/>
          <p:cNvCxnSpPr/>
          <p:nvPr/>
        </p:nvCxnSpPr>
        <p:spPr>
          <a:xfrm>
            <a:off x="3518798" y="306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9" name="Google Shape;979;p53"/>
          <p:cNvSpPr txBox="1"/>
          <p:nvPr/>
        </p:nvSpPr>
        <p:spPr>
          <a:xfrm rot="-5400000">
            <a:off x="-870750" y="284190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980" name="Google Shape;980;p53"/>
          <p:cNvSpPr txBox="1"/>
          <p:nvPr/>
        </p:nvSpPr>
        <p:spPr>
          <a:xfrm>
            <a:off x="417525" y="406944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981" name="Google Shape;981;p53"/>
          <p:cNvSpPr/>
          <p:nvPr/>
        </p:nvSpPr>
        <p:spPr>
          <a:xfrm>
            <a:off x="3876135" y="2864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54"/>
          <p:cNvSpPr txBox="1"/>
          <p:nvPr>
            <p:ph type="title"/>
          </p:nvPr>
        </p:nvSpPr>
        <p:spPr>
          <a:xfrm>
            <a:off x="692700" y="64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Seq2seq model: </a:t>
            </a:r>
            <a:r>
              <a:rPr lang="es-419" sz="2400">
                <a:solidFill>
                  <a:srgbClr val="666666"/>
                </a:solidFill>
              </a:rPr>
              <a:t>Traducción español -&gt; inglés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987" name="Google Shape;987;p54"/>
          <p:cNvSpPr txBox="1"/>
          <p:nvPr/>
        </p:nvSpPr>
        <p:spPr>
          <a:xfrm>
            <a:off x="1391740" y="406944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988" name="Google Shape;988;p54"/>
          <p:cNvSpPr txBox="1"/>
          <p:nvPr/>
        </p:nvSpPr>
        <p:spPr>
          <a:xfrm>
            <a:off x="2177570" y="4092395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989" name="Google Shape;989;p54"/>
          <p:cNvSpPr txBox="1"/>
          <p:nvPr/>
        </p:nvSpPr>
        <p:spPr>
          <a:xfrm>
            <a:off x="2954033" y="409182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990" name="Google Shape;990;p54"/>
          <p:cNvSpPr txBox="1"/>
          <p:nvPr/>
        </p:nvSpPr>
        <p:spPr>
          <a:xfrm>
            <a:off x="3653056" y="409183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991" name="Google Shape;991;p54"/>
          <p:cNvSpPr/>
          <p:nvPr/>
        </p:nvSpPr>
        <p:spPr>
          <a:xfrm>
            <a:off x="1532617" y="365254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54"/>
          <p:cNvSpPr/>
          <p:nvPr/>
        </p:nvSpPr>
        <p:spPr>
          <a:xfrm>
            <a:off x="756154" y="366567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54"/>
          <p:cNvSpPr/>
          <p:nvPr/>
        </p:nvSpPr>
        <p:spPr>
          <a:xfrm>
            <a:off x="759470" y="2856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4" name="Google Shape;994;p54"/>
          <p:cNvCxnSpPr/>
          <p:nvPr/>
        </p:nvCxnSpPr>
        <p:spPr>
          <a:xfrm rot="10800000">
            <a:off x="983192" y="3250464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5" name="Google Shape;995;p54"/>
          <p:cNvSpPr/>
          <p:nvPr/>
        </p:nvSpPr>
        <p:spPr>
          <a:xfrm>
            <a:off x="1535933" y="2842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6" name="Google Shape;996;p54"/>
          <p:cNvCxnSpPr/>
          <p:nvPr/>
        </p:nvCxnSpPr>
        <p:spPr>
          <a:xfrm rot="10800000">
            <a:off x="1759656" y="323734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7" name="Google Shape;997;p54"/>
          <p:cNvCxnSpPr/>
          <p:nvPr/>
        </p:nvCxnSpPr>
        <p:spPr>
          <a:xfrm>
            <a:off x="1189408" y="3040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8" name="Google Shape;998;p54"/>
          <p:cNvSpPr/>
          <p:nvPr/>
        </p:nvSpPr>
        <p:spPr>
          <a:xfrm>
            <a:off x="2309081" y="367511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54"/>
          <p:cNvSpPr/>
          <p:nvPr/>
        </p:nvSpPr>
        <p:spPr>
          <a:xfrm>
            <a:off x="2312397" y="2865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0" name="Google Shape;1000;p54"/>
          <p:cNvCxnSpPr/>
          <p:nvPr/>
        </p:nvCxnSpPr>
        <p:spPr>
          <a:xfrm rot="10800000">
            <a:off x="2536119" y="325991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1" name="Google Shape;1001;p54"/>
          <p:cNvCxnSpPr/>
          <p:nvPr/>
        </p:nvCxnSpPr>
        <p:spPr>
          <a:xfrm>
            <a:off x="1965871" y="3062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2" name="Google Shape;1002;p54"/>
          <p:cNvSpPr/>
          <p:nvPr/>
        </p:nvSpPr>
        <p:spPr>
          <a:xfrm>
            <a:off x="3085544" y="36745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54"/>
          <p:cNvSpPr/>
          <p:nvPr/>
        </p:nvSpPr>
        <p:spPr>
          <a:xfrm>
            <a:off x="3088860" y="2864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4" name="Google Shape;1004;p54"/>
          <p:cNvCxnSpPr/>
          <p:nvPr/>
        </p:nvCxnSpPr>
        <p:spPr>
          <a:xfrm rot="10800000">
            <a:off x="3312582" y="32593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5" name="Google Shape;1005;p54"/>
          <p:cNvCxnSpPr/>
          <p:nvPr/>
        </p:nvCxnSpPr>
        <p:spPr>
          <a:xfrm>
            <a:off x="2742335" y="306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6" name="Google Shape;1006;p54"/>
          <p:cNvSpPr/>
          <p:nvPr/>
        </p:nvSpPr>
        <p:spPr>
          <a:xfrm>
            <a:off x="3862008" y="36745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54"/>
          <p:cNvSpPr/>
          <p:nvPr/>
        </p:nvSpPr>
        <p:spPr>
          <a:xfrm>
            <a:off x="3865324" y="2864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</p:txBody>
      </p:sp>
      <p:cxnSp>
        <p:nvCxnSpPr>
          <p:cNvPr id="1008" name="Google Shape;1008;p54"/>
          <p:cNvCxnSpPr/>
          <p:nvPr/>
        </p:nvCxnSpPr>
        <p:spPr>
          <a:xfrm rot="10800000">
            <a:off x="4089046" y="32593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9" name="Google Shape;1009;p54"/>
          <p:cNvCxnSpPr/>
          <p:nvPr/>
        </p:nvCxnSpPr>
        <p:spPr>
          <a:xfrm>
            <a:off x="3518798" y="306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0" name="Google Shape;1010;p54"/>
          <p:cNvSpPr txBox="1"/>
          <p:nvPr/>
        </p:nvSpPr>
        <p:spPr>
          <a:xfrm rot="-5400000">
            <a:off x="-870750" y="284190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1011" name="Google Shape;1011;p54"/>
          <p:cNvSpPr txBox="1"/>
          <p:nvPr/>
        </p:nvSpPr>
        <p:spPr>
          <a:xfrm>
            <a:off x="2249067" y="1859775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hidden initial state</a:t>
            </a:r>
            <a:endParaRPr sz="1600">
              <a:solidFill>
                <a:srgbClr val="6AA84F"/>
              </a:solidFill>
            </a:endParaRPr>
          </a:p>
        </p:txBody>
      </p:sp>
      <p:cxnSp>
        <p:nvCxnSpPr>
          <p:cNvPr id="1012" name="Google Shape;1012;p54"/>
          <p:cNvCxnSpPr/>
          <p:nvPr/>
        </p:nvCxnSpPr>
        <p:spPr>
          <a:xfrm>
            <a:off x="3594275" y="2448650"/>
            <a:ext cx="223500" cy="4125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013" name="Google Shape;1013;p54"/>
          <p:cNvSpPr txBox="1"/>
          <p:nvPr/>
        </p:nvSpPr>
        <p:spPr>
          <a:xfrm>
            <a:off x="417525" y="406944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014" name="Google Shape;1014;p54"/>
          <p:cNvSpPr txBox="1"/>
          <p:nvPr/>
        </p:nvSpPr>
        <p:spPr>
          <a:xfrm rot="5400000">
            <a:off x="7742717" y="323735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55"/>
          <p:cNvSpPr txBox="1"/>
          <p:nvPr>
            <p:ph type="title"/>
          </p:nvPr>
        </p:nvSpPr>
        <p:spPr>
          <a:xfrm>
            <a:off x="692700" y="64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Seq2seq model: </a:t>
            </a:r>
            <a:r>
              <a:rPr lang="es-419" sz="2400">
                <a:solidFill>
                  <a:srgbClr val="666666"/>
                </a:solidFill>
              </a:rPr>
              <a:t>Traducción español -&gt; inglés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020" name="Google Shape;1020;p55"/>
          <p:cNvSpPr txBox="1"/>
          <p:nvPr/>
        </p:nvSpPr>
        <p:spPr>
          <a:xfrm>
            <a:off x="1391740" y="406944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021" name="Google Shape;1021;p55"/>
          <p:cNvSpPr txBox="1"/>
          <p:nvPr/>
        </p:nvSpPr>
        <p:spPr>
          <a:xfrm>
            <a:off x="2177570" y="4092395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022" name="Google Shape;1022;p55"/>
          <p:cNvSpPr txBox="1"/>
          <p:nvPr/>
        </p:nvSpPr>
        <p:spPr>
          <a:xfrm>
            <a:off x="2954033" y="409182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023" name="Google Shape;1023;p55"/>
          <p:cNvSpPr txBox="1"/>
          <p:nvPr/>
        </p:nvSpPr>
        <p:spPr>
          <a:xfrm>
            <a:off x="3653056" y="409183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024" name="Google Shape;1024;p55"/>
          <p:cNvSpPr/>
          <p:nvPr/>
        </p:nvSpPr>
        <p:spPr>
          <a:xfrm>
            <a:off x="1532617" y="365254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55"/>
          <p:cNvSpPr/>
          <p:nvPr/>
        </p:nvSpPr>
        <p:spPr>
          <a:xfrm>
            <a:off x="756154" y="366567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55"/>
          <p:cNvSpPr/>
          <p:nvPr/>
        </p:nvSpPr>
        <p:spPr>
          <a:xfrm>
            <a:off x="759470" y="2856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27" name="Google Shape;1027;p55"/>
          <p:cNvCxnSpPr/>
          <p:nvPr/>
        </p:nvCxnSpPr>
        <p:spPr>
          <a:xfrm rot="10800000">
            <a:off x="983192" y="3250464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8" name="Google Shape;1028;p55"/>
          <p:cNvSpPr/>
          <p:nvPr/>
        </p:nvSpPr>
        <p:spPr>
          <a:xfrm>
            <a:off x="1535933" y="2842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29" name="Google Shape;1029;p55"/>
          <p:cNvCxnSpPr/>
          <p:nvPr/>
        </p:nvCxnSpPr>
        <p:spPr>
          <a:xfrm rot="10800000">
            <a:off x="1759656" y="323734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0" name="Google Shape;1030;p55"/>
          <p:cNvCxnSpPr/>
          <p:nvPr/>
        </p:nvCxnSpPr>
        <p:spPr>
          <a:xfrm>
            <a:off x="1189408" y="3040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1" name="Google Shape;1031;p55"/>
          <p:cNvSpPr/>
          <p:nvPr/>
        </p:nvSpPr>
        <p:spPr>
          <a:xfrm>
            <a:off x="2309081" y="367511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55"/>
          <p:cNvSpPr/>
          <p:nvPr/>
        </p:nvSpPr>
        <p:spPr>
          <a:xfrm>
            <a:off x="2312397" y="2865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3" name="Google Shape;1033;p55"/>
          <p:cNvCxnSpPr/>
          <p:nvPr/>
        </p:nvCxnSpPr>
        <p:spPr>
          <a:xfrm rot="10800000">
            <a:off x="2536119" y="325991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4" name="Google Shape;1034;p55"/>
          <p:cNvCxnSpPr/>
          <p:nvPr/>
        </p:nvCxnSpPr>
        <p:spPr>
          <a:xfrm>
            <a:off x="1965871" y="3062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5" name="Google Shape;1035;p55"/>
          <p:cNvSpPr/>
          <p:nvPr/>
        </p:nvSpPr>
        <p:spPr>
          <a:xfrm>
            <a:off x="3085544" y="36745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55"/>
          <p:cNvSpPr/>
          <p:nvPr/>
        </p:nvSpPr>
        <p:spPr>
          <a:xfrm>
            <a:off x="3088860" y="2864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7" name="Google Shape;1037;p55"/>
          <p:cNvCxnSpPr/>
          <p:nvPr/>
        </p:nvCxnSpPr>
        <p:spPr>
          <a:xfrm rot="10800000">
            <a:off x="3312582" y="32593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8" name="Google Shape;1038;p55"/>
          <p:cNvCxnSpPr/>
          <p:nvPr/>
        </p:nvCxnSpPr>
        <p:spPr>
          <a:xfrm>
            <a:off x="2742335" y="306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9" name="Google Shape;1039;p55"/>
          <p:cNvSpPr/>
          <p:nvPr/>
        </p:nvSpPr>
        <p:spPr>
          <a:xfrm>
            <a:off x="3862008" y="36745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55"/>
          <p:cNvSpPr/>
          <p:nvPr/>
        </p:nvSpPr>
        <p:spPr>
          <a:xfrm>
            <a:off x="3865324" y="2864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</p:txBody>
      </p:sp>
      <p:cxnSp>
        <p:nvCxnSpPr>
          <p:cNvPr id="1041" name="Google Shape;1041;p55"/>
          <p:cNvCxnSpPr/>
          <p:nvPr/>
        </p:nvCxnSpPr>
        <p:spPr>
          <a:xfrm rot="10800000">
            <a:off x="4089046" y="32593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2" name="Google Shape;1042;p55"/>
          <p:cNvCxnSpPr/>
          <p:nvPr/>
        </p:nvCxnSpPr>
        <p:spPr>
          <a:xfrm>
            <a:off x="3518798" y="306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3" name="Google Shape;1043;p55"/>
          <p:cNvSpPr txBox="1"/>
          <p:nvPr/>
        </p:nvSpPr>
        <p:spPr>
          <a:xfrm rot="-5400000">
            <a:off x="-870750" y="284190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1044" name="Google Shape;1044;p55"/>
          <p:cNvSpPr txBox="1"/>
          <p:nvPr/>
        </p:nvSpPr>
        <p:spPr>
          <a:xfrm>
            <a:off x="2249067" y="1859775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hidden initial state</a:t>
            </a:r>
            <a:endParaRPr sz="1600">
              <a:solidFill>
                <a:srgbClr val="6AA84F"/>
              </a:solidFill>
            </a:endParaRPr>
          </a:p>
        </p:txBody>
      </p:sp>
      <p:cxnSp>
        <p:nvCxnSpPr>
          <p:cNvPr id="1045" name="Google Shape;1045;p55"/>
          <p:cNvCxnSpPr/>
          <p:nvPr/>
        </p:nvCxnSpPr>
        <p:spPr>
          <a:xfrm>
            <a:off x="3594275" y="2448650"/>
            <a:ext cx="223500" cy="4125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046" name="Google Shape;1046;p55"/>
          <p:cNvSpPr txBox="1"/>
          <p:nvPr/>
        </p:nvSpPr>
        <p:spPr>
          <a:xfrm>
            <a:off x="417525" y="406944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047" name="Google Shape;1047;p55"/>
          <p:cNvSpPr txBox="1"/>
          <p:nvPr/>
        </p:nvSpPr>
        <p:spPr>
          <a:xfrm rot="5400000">
            <a:off x="7742717" y="323735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  <p:sp>
        <p:nvSpPr>
          <p:cNvPr id="1048" name="Google Shape;1048;p55"/>
          <p:cNvSpPr txBox="1"/>
          <p:nvPr/>
        </p:nvSpPr>
        <p:spPr>
          <a:xfrm>
            <a:off x="4452374" y="4448100"/>
            <a:ext cx="43098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E69138"/>
                </a:solidFill>
              </a:rPr>
              <a:t>la red decoder es un modelo de lenguaje condicionado (por la red encoder)</a:t>
            </a:r>
            <a:endParaRPr sz="1600">
              <a:solidFill>
                <a:srgbClr val="E69138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56"/>
          <p:cNvSpPr txBox="1"/>
          <p:nvPr>
            <p:ph type="title"/>
          </p:nvPr>
        </p:nvSpPr>
        <p:spPr>
          <a:xfrm>
            <a:off x="692700" y="64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Seq2seq model: </a:t>
            </a:r>
            <a:r>
              <a:rPr lang="es-419" sz="2400">
                <a:solidFill>
                  <a:srgbClr val="666666"/>
                </a:solidFill>
              </a:rPr>
              <a:t>Traducción español -&gt; inglés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054" name="Google Shape;1054;p56"/>
          <p:cNvSpPr txBox="1"/>
          <p:nvPr/>
        </p:nvSpPr>
        <p:spPr>
          <a:xfrm>
            <a:off x="1391740" y="406944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055" name="Google Shape;1055;p56"/>
          <p:cNvSpPr txBox="1"/>
          <p:nvPr/>
        </p:nvSpPr>
        <p:spPr>
          <a:xfrm>
            <a:off x="2177570" y="4092395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056" name="Google Shape;1056;p56"/>
          <p:cNvSpPr txBox="1"/>
          <p:nvPr/>
        </p:nvSpPr>
        <p:spPr>
          <a:xfrm>
            <a:off x="2954033" y="409182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057" name="Google Shape;1057;p56"/>
          <p:cNvSpPr txBox="1"/>
          <p:nvPr/>
        </p:nvSpPr>
        <p:spPr>
          <a:xfrm>
            <a:off x="3653056" y="409183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058" name="Google Shape;1058;p56"/>
          <p:cNvSpPr/>
          <p:nvPr/>
        </p:nvSpPr>
        <p:spPr>
          <a:xfrm>
            <a:off x="1532617" y="365254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56"/>
          <p:cNvSpPr/>
          <p:nvPr/>
        </p:nvSpPr>
        <p:spPr>
          <a:xfrm>
            <a:off x="756154" y="366567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56"/>
          <p:cNvSpPr/>
          <p:nvPr/>
        </p:nvSpPr>
        <p:spPr>
          <a:xfrm>
            <a:off x="759470" y="2856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1" name="Google Shape;1061;p56"/>
          <p:cNvCxnSpPr/>
          <p:nvPr/>
        </p:nvCxnSpPr>
        <p:spPr>
          <a:xfrm rot="10800000">
            <a:off x="983192" y="3250464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2" name="Google Shape;1062;p56"/>
          <p:cNvSpPr/>
          <p:nvPr/>
        </p:nvSpPr>
        <p:spPr>
          <a:xfrm>
            <a:off x="1535933" y="2842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3" name="Google Shape;1063;p56"/>
          <p:cNvCxnSpPr/>
          <p:nvPr/>
        </p:nvCxnSpPr>
        <p:spPr>
          <a:xfrm rot="10800000">
            <a:off x="1759656" y="323734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4" name="Google Shape;1064;p56"/>
          <p:cNvCxnSpPr/>
          <p:nvPr/>
        </p:nvCxnSpPr>
        <p:spPr>
          <a:xfrm>
            <a:off x="1189408" y="3040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5" name="Google Shape;1065;p56"/>
          <p:cNvSpPr/>
          <p:nvPr/>
        </p:nvSpPr>
        <p:spPr>
          <a:xfrm>
            <a:off x="2309081" y="367511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56"/>
          <p:cNvSpPr/>
          <p:nvPr/>
        </p:nvSpPr>
        <p:spPr>
          <a:xfrm>
            <a:off x="2312397" y="2865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7" name="Google Shape;1067;p56"/>
          <p:cNvCxnSpPr/>
          <p:nvPr/>
        </p:nvCxnSpPr>
        <p:spPr>
          <a:xfrm rot="10800000">
            <a:off x="2536119" y="325991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8" name="Google Shape;1068;p56"/>
          <p:cNvCxnSpPr/>
          <p:nvPr/>
        </p:nvCxnSpPr>
        <p:spPr>
          <a:xfrm>
            <a:off x="1965871" y="3062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9" name="Google Shape;1069;p56"/>
          <p:cNvSpPr/>
          <p:nvPr/>
        </p:nvSpPr>
        <p:spPr>
          <a:xfrm>
            <a:off x="3085544" y="36745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56"/>
          <p:cNvSpPr/>
          <p:nvPr/>
        </p:nvSpPr>
        <p:spPr>
          <a:xfrm>
            <a:off x="3088860" y="2864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1" name="Google Shape;1071;p56"/>
          <p:cNvCxnSpPr/>
          <p:nvPr/>
        </p:nvCxnSpPr>
        <p:spPr>
          <a:xfrm rot="10800000">
            <a:off x="3312582" y="32593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2" name="Google Shape;1072;p56"/>
          <p:cNvCxnSpPr/>
          <p:nvPr/>
        </p:nvCxnSpPr>
        <p:spPr>
          <a:xfrm>
            <a:off x="2742335" y="306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3" name="Google Shape;1073;p56"/>
          <p:cNvSpPr/>
          <p:nvPr/>
        </p:nvSpPr>
        <p:spPr>
          <a:xfrm>
            <a:off x="3862008" y="36745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56"/>
          <p:cNvSpPr/>
          <p:nvPr/>
        </p:nvSpPr>
        <p:spPr>
          <a:xfrm>
            <a:off x="3865324" y="2864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</p:txBody>
      </p:sp>
      <p:cxnSp>
        <p:nvCxnSpPr>
          <p:cNvPr id="1075" name="Google Shape;1075;p56"/>
          <p:cNvCxnSpPr/>
          <p:nvPr/>
        </p:nvCxnSpPr>
        <p:spPr>
          <a:xfrm rot="10800000">
            <a:off x="4089046" y="32593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6" name="Google Shape;1076;p56"/>
          <p:cNvCxnSpPr/>
          <p:nvPr/>
        </p:nvCxnSpPr>
        <p:spPr>
          <a:xfrm>
            <a:off x="3518798" y="306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7" name="Google Shape;1077;p56"/>
          <p:cNvSpPr txBox="1"/>
          <p:nvPr/>
        </p:nvSpPr>
        <p:spPr>
          <a:xfrm rot="-5400000">
            <a:off x="-870750" y="284190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1078" name="Google Shape;1078;p56"/>
          <p:cNvSpPr/>
          <p:nvPr/>
        </p:nvSpPr>
        <p:spPr>
          <a:xfrm>
            <a:off x="4638471" y="366324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56"/>
          <p:cNvSpPr/>
          <p:nvPr/>
        </p:nvSpPr>
        <p:spPr>
          <a:xfrm>
            <a:off x="4641787" y="2853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80" name="Google Shape;1080;p56"/>
          <p:cNvCxnSpPr/>
          <p:nvPr/>
        </p:nvCxnSpPr>
        <p:spPr>
          <a:xfrm rot="10800000">
            <a:off x="4865509" y="324804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1" name="Google Shape;1081;p56"/>
          <p:cNvCxnSpPr/>
          <p:nvPr/>
        </p:nvCxnSpPr>
        <p:spPr>
          <a:xfrm>
            <a:off x="4295262" y="30508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2" name="Google Shape;1082;p56"/>
          <p:cNvSpPr txBox="1"/>
          <p:nvPr/>
        </p:nvSpPr>
        <p:spPr>
          <a:xfrm>
            <a:off x="4295262" y="4092153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&lt;START&gt; </a:t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1083" name="Google Shape;1083;p56"/>
          <p:cNvCxnSpPr/>
          <p:nvPr/>
        </p:nvCxnSpPr>
        <p:spPr>
          <a:xfrm rot="10800000">
            <a:off x="4858650" y="2425848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4" name="Google Shape;1084;p56"/>
          <p:cNvSpPr txBox="1"/>
          <p:nvPr/>
        </p:nvSpPr>
        <p:spPr>
          <a:xfrm>
            <a:off x="4501126" y="220485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Let’s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085" name="Google Shape;1085;p56"/>
          <p:cNvSpPr txBox="1"/>
          <p:nvPr/>
        </p:nvSpPr>
        <p:spPr>
          <a:xfrm>
            <a:off x="2249067" y="1859775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hidden initial state</a:t>
            </a:r>
            <a:endParaRPr sz="1600">
              <a:solidFill>
                <a:srgbClr val="6AA84F"/>
              </a:solidFill>
            </a:endParaRPr>
          </a:p>
        </p:txBody>
      </p:sp>
      <p:cxnSp>
        <p:nvCxnSpPr>
          <p:cNvPr id="1086" name="Google Shape;1086;p56"/>
          <p:cNvCxnSpPr/>
          <p:nvPr/>
        </p:nvCxnSpPr>
        <p:spPr>
          <a:xfrm>
            <a:off x="3594275" y="2448650"/>
            <a:ext cx="223500" cy="4125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087" name="Google Shape;1087;p56"/>
          <p:cNvSpPr txBox="1"/>
          <p:nvPr/>
        </p:nvSpPr>
        <p:spPr>
          <a:xfrm>
            <a:off x="4161843" y="2605914"/>
            <a:ext cx="7764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rgbClr val="6AA84F"/>
                </a:solidFill>
              </a:rPr>
              <a:t>Argmax</a:t>
            </a:r>
            <a:endParaRPr sz="1300">
              <a:solidFill>
                <a:srgbClr val="6AA84F"/>
              </a:solidFill>
            </a:endParaRPr>
          </a:p>
        </p:txBody>
      </p:sp>
      <p:sp>
        <p:nvSpPr>
          <p:cNvPr id="1088" name="Google Shape;1088;p56"/>
          <p:cNvSpPr txBox="1"/>
          <p:nvPr/>
        </p:nvSpPr>
        <p:spPr>
          <a:xfrm>
            <a:off x="417525" y="406944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089" name="Google Shape;1089;p56"/>
          <p:cNvSpPr txBox="1"/>
          <p:nvPr/>
        </p:nvSpPr>
        <p:spPr>
          <a:xfrm rot="5400000">
            <a:off x="7742717" y="323735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  <p:sp>
        <p:nvSpPr>
          <p:cNvPr id="1090" name="Google Shape;1090;p56"/>
          <p:cNvSpPr txBox="1"/>
          <p:nvPr/>
        </p:nvSpPr>
        <p:spPr>
          <a:xfrm>
            <a:off x="4452374" y="4448100"/>
            <a:ext cx="43098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E69138"/>
                </a:solidFill>
              </a:rPr>
              <a:t>la red decoder es un modelo de lenguaje condicionado (por la red encoder)</a:t>
            </a:r>
            <a:endParaRPr sz="1600">
              <a:solidFill>
                <a:srgbClr val="E69138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57"/>
          <p:cNvSpPr txBox="1"/>
          <p:nvPr>
            <p:ph type="title"/>
          </p:nvPr>
        </p:nvSpPr>
        <p:spPr>
          <a:xfrm>
            <a:off x="692700" y="64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Seq2seq model: </a:t>
            </a:r>
            <a:r>
              <a:rPr lang="es-419" sz="2400">
                <a:solidFill>
                  <a:srgbClr val="666666"/>
                </a:solidFill>
              </a:rPr>
              <a:t>Traducción español -&gt; inglés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096" name="Google Shape;1096;p57"/>
          <p:cNvSpPr txBox="1"/>
          <p:nvPr/>
        </p:nvSpPr>
        <p:spPr>
          <a:xfrm>
            <a:off x="1391740" y="406944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097" name="Google Shape;1097;p57"/>
          <p:cNvSpPr txBox="1"/>
          <p:nvPr/>
        </p:nvSpPr>
        <p:spPr>
          <a:xfrm>
            <a:off x="2177570" y="4092395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098" name="Google Shape;1098;p57"/>
          <p:cNvSpPr txBox="1"/>
          <p:nvPr/>
        </p:nvSpPr>
        <p:spPr>
          <a:xfrm>
            <a:off x="2954033" y="409182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099" name="Google Shape;1099;p57"/>
          <p:cNvSpPr txBox="1"/>
          <p:nvPr/>
        </p:nvSpPr>
        <p:spPr>
          <a:xfrm>
            <a:off x="3653056" y="409183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100" name="Google Shape;1100;p57"/>
          <p:cNvSpPr/>
          <p:nvPr/>
        </p:nvSpPr>
        <p:spPr>
          <a:xfrm>
            <a:off x="1532617" y="365254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57"/>
          <p:cNvSpPr/>
          <p:nvPr/>
        </p:nvSpPr>
        <p:spPr>
          <a:xfrm>
            <a:off x="756154" y="366567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57"/>
          <p:cNvSpPr/>
          <p:nvPr/>
        </p:nvSpPr>
        <p:spPr>
          <a:xfrm>
            <a:off x="759470" y="2856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3" name="Google Shape;1103;p57"/>
          <p:cNvCxnSpPr/>
          <p:nvPr/>
        </p:nvCxnSpPr>
        <p:spPr>
          <a:xfrm rot="10800000">
            <a:off x="983192" y="3250464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4" name="Google Shape;1104;p57"/>
          <p:cNvSpPr/>
          <p:nvPr/>
        </p:nvSpPr>
        <p:spPr>
          <a:xfrm>
            <a:off x="1535933" y="2842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5" name="Google Shape;1105;p57"/>
          <p:cNvCxnSpPr/>
          <p:nvPr/>
        </p:nvCxnSpPr>
        <p:spPr>
          <a:xfrm rot="10800000">
            <a:off x="1759656" y="323734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6" name="Google Shape;1106;p57"/>
          <p:cNvCxnSpPr/>
          <p:nvPr/>
        </p:nvCxnSpPr>
        <p:spPr>
          <a:xfrm>
            <a:off x="1189408" y="3040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7" name="Google Shape;1107;p57"/>
          <p:cNvSpPr/>
          <p:nvPr/>
        </p:nvSpPr>
        <p:spPr>
          <a:xfrm>
            <a:off x="2309081" y="367511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57"/>
          <p:cNvSpPr/>
          <p:nvPr/>
        </p:nvSpPr>
        <p:spPr>
          <a:xfrm>
            <a:off x="2312397" y="2865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9" name="Google Shape;1109;p57"/>
          <p:cNvCxnSpPr/>
          <p:nvPr/>
        </p:nvCxnSpPr>
        <p:spPr>
          <a:xfrm rot="10800000">
            <a:off x="2536119" y="325991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0" name="Google Shape;1110;p57"/>
          <p:cNvCxnSpPr/>
          <p:nvPr/>
        </p:nvCxnSpPr>
        <p:spPr>
          <a:xfrm>
            <a:off x="1965871" y="3062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1" name="Google Shape;1111;p57"/>
          <p:cNvSpPr/>
          <p:nvPr/>
        </p:nvSpPr>
        <p:spPr>
          <a:xfrm>
            <a:off x="3085544" y="36745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57"/>
          <p:cNvSpPr/>
          <p:nvPr/>
        </p:nvSpPr>
        <p:spPr>
          <a:xfrm>
            <a:off x="3088860" y="2864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3" name="Google Shape;1113;p57"/>
          <p:cNvCxnSpPr/>
          <p:nvPr/>
        </p:nvCxnSpPr>
        <p:spPr>
          <a:xfrm rot="10800000">
            <a:off x="3312582" y="32593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4" name="Google Shape;1114;p57"/>
          <p:cNvCxnSpPr/>
          <p:nvPr/>
        </p:nvCxnSpPr>
        <p:spPr>
          <a:xfrm>
            <a:off x="2742335" y="306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5" name="Google Shape;1115;p57"/>
          <p:cNvSpPr/>
          <p:nvPr/>
        </p:nvSpPr>
        <p:spPr>
          <a:xfrm>
            <a:off x="3862008" y="36745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57"/>
          <p:cNvSpPr/>
          <p:nvPr/>
        </p:nvSpPr>
        <p:spPr>
          <a:xfrm>
            <a:off x="3865324" y="2864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</p:txBody>
      </p:sp>
      <p:cxnSp>
        <p:nvCxnSpPr>
          <p:cNvPr id="1117" name="Google Shape;1117;p57"/>
          <p:cNvCxnSpPr/>
          <p:nvPr/>
        </p:nvCxnSpPr>
        <p:spPr>
          <a:xfrm rot="10800000">
            <a:off x="4089046" y="32593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8" name="Google Shape;1118;p57"/>
          <p:cNvCxnSpPr/>
          <p:nvPr/>
        </p:nvCxnSpPr>
        <p:spPr>
          <a:xfrm>
            <a:off x="3518798" y="306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9" name="Google Shape;1119;p57"/>
          <p:cNvSpPr txBox="1"/>
          <p:nvPr/>
        </p:nvSpPr>
        <p:spPr>
          <a:xfrm rot="-5400000">
            <a:off x="-870750" y="284190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1120" name="Google Shape;1120;p57"/>
          <p:cNvSpPr/>
          <p:nvPr/>
        </p:nvSpPr>
        <p:spPr>
          <a:xfrm>
            <a:off x="4638471" y="366324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57"/>
          <p:cNvSpPr/>
          <p:nvPr/>
        </p:nvSpPr>
        <p:spPr>
          <a:xfrm>
            <a:off x="4641787" y="2853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2" name="Google Shape;1122;p57"/>
          <p:cNvCxnSpPr/>
          <p:nvPr/>
        </p:nvCxnSpPr>
        <p:spPr>
          <a:xfrm rot="10800000">
            <a:off x="4865509" y="324804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57"/>
          <p:cNvCxnSpPr/>
          <p:nvPr/>
        </p:nvCxnSpPr>
        <p:spPr>
          <a:xfrm>
            <a:off x="4295262" y="30508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4" name="Google Shape;1124;p57"/>
          <p:cNvSpPr/>
          <p:nvPr/>
        </p:nvSpPr>
        <p:spPr>
          <a:xfrm>
            <a:off x="5414935" y="368581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57"/>
          <p:cNvSpPr/>
          <p:nvPr/>
        </p:nvSpPr>
        <p:spPr>
          <a:xfrm>
            <a:off x="5418251" y="28762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6" name="Google Shape;1126;p57"/>
          <p:cNvCxnSpPr/>
          <p:nvPr/>
        </p:nvCxnSpPr>
        <p:spPr>
          <a:xfrm rot="10800000">
            <a:off x="5641973" y="327061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7" name="Google Shape;1127;p57"/>
          <p:cNvCxnSpPr/>
          <p:nvPr/>
        </p:nvCxnSpPr>
        <p:spPr>
          <a:xfrm>
            <a:off x="5071725" y="30733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8" name="Google Shape;1128;p57"/>
          <p:cNvSpPr txBox="1"/>
          <p:nvPr/>
        </p:nvSpPr>
        <p:spPr>
          <a:xfrm>
            <a:off x="4295262" y="4092153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&lt;START&gt; 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129" name="Google Shape;1129;p57"/>
          <p:cNvSpPr txBox="1"/>
          <p:nvPr/>
        </p:nvSpPr>
        <p:spPr>
          <a:xfrm>
            <a:off x="5269476" y="4092153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Let’s</a:t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1130" name="Google Shape;1130;p57"/>
          <p:cNvCxnSpPr/>
          <p:nvPr/>
        </p:nvCxnSpPr>
        <p:spPr>
          <a:xfrm rot="10800000">
            <a:off x="4858650" y="2425848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" name="Google Shape;1131;p57"/>
          <p:cNvCxnSpPr/>
          <p:nvPr/>
        </p:nvCxnSpPr>
        <p:spPr>
          <a:xfrm rot="10800000">
            <a:off x="5635113" y="2448418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2" name="Google Shape;1132;p57"/>
          <p:cNvSpPr txBox="1"/>
          <p:nvPr/>
        </p:nvSpPr>
        <p:spPr>
          <a:xfrm>
            <a:off x="4501126" y="220485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Let’s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133" name="Google Shape;1133;p57"/>
          <p:cNvSpPr txBox="1"/>
          <p:nvPr/>
        </p:nvSpPr>
        <p:spPr>
          <a:xfrm>
            <a:off x="5286956" y="2227801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go</a:t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1134" name="Google Shape;1134;p57"/>
          <p:cNvCxnSpPr/>
          <p:nvPr/>
        </p:nvCxnSpPr>
        <p:spPr>
          <a:xfrm>
            <a:off x="4977488" y="2490916"/>
            <a:ext cx="431400" cy="15687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35" name="Google Shape;1135;p57"/>
          <p:cNvSpPr txBox="1"/>
          <p:nvPr/>
        </p:nvSpPr>
        <p:spPr>
          <a:xfrm>
            <a:off x="2249067" y="1859775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hidden initial state</a:t>
            </a:r>
            <a:endParaRPr sz="1600">
              <a:solidFill>
                <a:srgbClr val="6AA84F"/>
              </a:solidFill>
            </a:endParaRPr>
          </a:p>
        </p:txBody>
      </p:sp>
      <p:cxnSp>
        <p:nvCxnSpPr>
          <p:cNvPr id="1136" name="Google Shape;1136;p57"/>
          <p:cNvCxnSpPr/>
          <p:nvPr/>
        </p:nvCxnSpPr>
        <p:spPr>
          <a:xfrm>
            <a:off x="3594275" y="2448650"/>
            <a:ext cx="223500" cy="4125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37" name="Google Shape;1137;p57"/>
          <p:cNvSpPr txBox="1"/>
          <p:nvPr/>
        </p:nvSpPr>
        <p:spPr>
          <a:xfrm>
            <a:off x="4161843" y="2605914"/>
            <a:ext cx="7764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rgbClr val="6AA84F"/>
                </a:solidFill>
              </a:rPr>
              <a:t>Argmax</a:t>
            </a:r>
            <a:endParaRPr sz="1300">
              <a:solidFill>
                <a:srgbClr val="6AA84F"/>
              </a:solidFill>
            </a:endParaRPr>
          </a:p>
        </p:txBody>
      </p:sp>
      <p:sp>
        <p:nvSpPr>
          <p:cNvPr id="1138" name="Google Shape;1138;p57"/>
          <p:cNvSpPr txBox="1"/>
          <p:nvPr/>
        </p:nvSpPr>
        <p:spPr>
          <a:xfrm>
            <a:off x="417525" y="406944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139" name="Google Shape;1139;p57"/>
          <p:cNvSpPr txBox="1"/>
          <p:nvPr/>
        </p:nvSpPr>
        <p:spPr>
          <a:xfrm rot="5400000">
            <a:off x="7742717" y="323735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  <p:sp>
        <p:nvSpPr>
          <p:cNvPr id="1140" name="Google Shape;1140;p57"/>
          <p:cNvSpPr txBox="1"/>
          <p:nvPr/>
        </p:nvSpPr>
        <p:spPr>
          <a:xfrm>
            <a:off x="4452374" y="4448100"/>
            <a:ext cx="43098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E69138"/>
                </a:solidFill>
              </a:rPr>
              <a:t>la red decoder es un modelo de lenguaje condicionado (por la red encoder)</a:t>
            </a:r>
            <a:endParaRPr sz="1600">
              <a:solidFill>
                <a:srgbClr val="E69138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58"/>
          <p:cNvSpPr txBox="1"/>
          <p:nvPr>
            <p:ph type="title"/>
          </p:nvPr>
        </p:nvSpPr>
        <p:spPr>
          <a:xfrm>
            <a:off x="692700" y="64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Seq2seq model: </a:t>
            </a:r>
            <a:r>
              <a:rPr lang="es-419" sz="2400">
                <a:solidFill>
                  <a:srgbClr val="666666"/>
                </a:solidFill>
              </a:rPr>
              <a:t>Traducción español -&gt; inglés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146" name="Google Shape;1146;p58"/>
          <p:cNvSpPr txBox="1"/>
          <p:nvPr/>
        </p:nvSpPr>
        <p:spPr>
          <a:xfrm>
            <a:off x="1391740" y="406944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147" name="Google Shape;1147;p58"/>
          <p:cNvSpPr txBox="1"/>
          <p:nvPr/>
        </p:nvSpPr>
        <p:spPr>
          <a:xfrm>
            <a:off x="2177570" y="4092395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148" name="Google Shape;1148;p58"/>
          <p:cNvSpPr txBox="1"/>
          <p:nvPr/>
        </p:nvSpPr>
        <p:spPr>
          <a:xfrm>
            <a:off x="2954033" y="409182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149" name="Google Shape;1149;p58"/>
          <p:cNvSpPr txBox="1"/>
          <p:nvPr/>
        </p:nvSpPr>
        <p:spPr>
          <a:xfrm>
            <a:off x="3653056" y="409183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150" name="Google Shape;1150;p58"/>
          <p:cNvSpPr/>
          <p:nvPr/>
        </p:nvSpPr>
        <p:spPr>
          <a:xfrm>
            <a:off x="1532617" y="365254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58"/>
          <p:cNvSpPr/>
          <p:nvPr/>
        </p:nvSpPr>
        <p:spPr>
          <a:xfrm>
            <a:off x="756154" y="366567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58"/>
          <p:cNvSpPr/>
          <p:nvPr/>
        </p:nvSpPr>
        <p:spPr>
          <a:xfrm>
            <a:off x="759470" y="2856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3" name="Google Shape;1153;p58"/>
          <p:cNvCxnSpPr/>
          <p:nvPr/>
        </p:nvCxnSpPr>
        <p:spPr>
          <a:xfrm rot="10800000">
            <a:off x="983192" y="3250464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4" name="Google Shape;1154;p58"/>
          <p:cNvSpPr/>
          <p:nvPr/>
        </p:nvSpPr>
        <p:spPr>
          <a:xfrm>
            <a:off x="1535933" y="2842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5" name="Google Shape;1155;p58"/>
          <p:cNvCxnSpPr/>
          <p:nvPr/>
        </p:nvCxnSpPr>
        <p:spPr>
          <a:xfrm rot="10800000">
            <a:off x="1759656" y="323734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6" name="Google Shape;1156;p58"/>
          <p:cNvCxnSpPr/>
          <p:nvPr/>
        </p:nvCxnSpPr>
        <p:spPr>
          <a:xfrm>
            <a:off x="1189408" y="3040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7" name="Google Shape;1157;p58"/>
          <p:cNvSpPr/>
          <p:nvPr/>
        </p:nvSpPr>
        <p:spPr>
          <a:xfrm>
            <a:off x="2309081" y="367511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58"/>
          <p:cNvSpPr/>
          <p:nvPr/>
        </p:nvSpPr>
        <p:spPr>
          <a:xfrm>
            <a:off x="2312397" y="2865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9" name="Google Shape;1159;p58"/>
          <p:cNvCxnSpPr/>
          <p:nvPr/>
        </p:nvCxnSpPr>
        <p:spPr>
          <a:xfrm rot="10800000">
            <a:off x="2536119" y="325991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0" name="Google Shape;1160;p58"/>
          <p:cNvCxnSpPr/>
          <p:nvPr/>
        </p:nvCxnSpPr>
        <p:spPr>
          <a:xfrm>
            <a:off x="1965871" y="3062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1" name="Google Shape;1161;p58"/>
          <p:cNvSpPr/>
          <p:nvPr/>
        </p:nvSpPr>
        <p:spPr>
          <a:xfrm>
            <a:off x="3085544" y="36745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58"/>
          <p:cNvSpPr/>
          <p:nvPr/>
        </p:nvSpPr>
        <p:spPr>
          <a:xfrm>
            <a:off x="3088860" y="2864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3" name="Google Shape;1163;p58"/>
          <p:cNvCxnSpPr/>
          <p:nvPr/>
        </p:nvCxnSpPr>
        <p:spPr>
          <a:xfrm rot="10800000">
            <a:off x="3312582" y="32593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4" name="Google Shape;1164;p58"/>
          <p:cNvCxnSpPr/>
          <p:nvPr/>
        </p:nvCxnSpPr>
        <p:spPr>
          <a:xfrm>
            <a:off x="2742335" y="306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5" name="Google Shape;1165;p58"/>
          <p:cNvSpPr/>
          <p:nvPr/>
        </p:nvSpPr>
        <p:spPr>
          <a:xfrm>
            <a:off x="3862008" y="36745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58"/>
          <p:cNvSpPr/>
          <p:nvPr/>
        </p:nvSpPr>
        <p:spPr>
          <a:xfrm>
            <a:off x="3865324" y="2864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</p:txBody>
      </p:sp>
      <p:cxnSp>
        <p:nvCxnSpPr>
          <p:cNvPr id="1167" name="Google Shape;1167;p58"/>
          <p:cNvCxnSpPr/>
          <p:nvPr/>
        </p:nvCxnSpPr>
        <p:spPr>
          <a:xfrm rot="10800000">
            <a:off x="4089046" y="32593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8" name="Google Shape;1168;p58"/>
          <p:cNvCxnSpPr/>
          <p:nvPr/>
        </p:nvCxnSpPr>
        <p:spPr>
          <a:xfrm>
            <a:off x="3518798" y="306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9" name="Google Shape;1169;p58"/>
          <p:cNvSpPr txBox="1"/>
          <p:nvPr/>
        </p:nvSpPr>
        <p:spPr>
          <a:xfrm rot="-5400000">
            <a:off x="-870750" y="284190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1170" name="Google Shape;1170;p58"/>
          <p:cNvSpPr/>
          <p:nvPr/>
        </p:nvSpPr>
        <p:spPr>
          <a:xfrm>
            <a:off x="4638471" y="366324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58"/>
          <p:cNvSpPr/>
          <p:nvPr/>
        </p:nvSpPr>
        <p:spPr>
          <a:xfrm>
            <a:off x="4641787" y="2853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2" name="Google Shape;1172;p58"/>
          <p:cNvCxnSpPr/>
          <p:nvPr/>
        </p:nvCxnSpPr>
        <p:spPr>
          <a:xfrm rot="10800000">
            <a:off x="4865509" y="324804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3" name="Google Shape;1173;p58"/>
          <p:cNvCxnSpPr/>
          <p:nvPr/>
        </p:nvCxnSpPr>
        <p:spPr>
          <a:xfrm>
            <a:off x="4295262" y="30508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4" name="Google Shape;1174;p58"/>
          <p:cNvSpPr/>
          <p:nvPr/>
        </p:nvSpPr>
        <p:spPr>
          <a:xfrm>
            <a:off x="5414935" y="368581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58"/>
          <p:cNvSpPr/>
          <p:nvPr/>
        </p:nvSpPr>
        <p:spPr>
          <a:xfrm>
            <a:off x="5418251" y="28762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6" name="Google Shape;1176;p58"/>
          <p:cNvCxnSpPr/>
          <p:nvPr/>
        </p:nvCxnSpPr>
        <p:spPr>
          <a:xfrm rot="10800000">
            <a:off x="5641973" y="327061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7" name="Google Shape;1177;p58"/>
          <p:cNvCxnSpPr/>
          <p:nvPr/>
        </p:nvCxnSpPr>
        <p:spPr>
          <a:xfrm>
            <a:off x="5071725" y="30733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8" name="Google Shape;1178;p58"/>
          <p:cNvSpPr/>
          <p:nvPr/>
        </p:nvSpPr>
        <p:spPr>
          <a:xfrm>
            <a:off x="6191398" y="36852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58"/>
          <p:cNvSpPr/>
          <p:nvPr/>
        </p:nvSpPr>
        <p:spPr>
          <a:xfrm>
            <a:off x="6194714" y="28756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0" name="Google Shape;1180;p58"/>
          <p:cNvCxnSpPr/>
          <p:nvPr/>
        </p:nvCxnSpPr>
        <p:spPr>
          <a:xfrm rot="10800000">
            <a:off x="6418436" y="32700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1" name="Google Shape;1181;p58"/>
          <p:cNvCxnSpPr/>
          <p:nvPr/>
        </p:nvCxnSpPr>
        <p:spPr>
          <a:xfrm>
            <a:off x="5848189" y="3072806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2" name="Google Shape;1182;p58"/>
          <p:cNvSpPr txBox="1"/>
          <p:nvPr/>
        </p:nvSpPr>
        <p:spPr>
          <a:xfrm>
            <a:off x="4295262" y="4092153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&lt;START&gt; 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183" name="Google Shape;1183;p58"/>
          <p:cNvSpPr txBox="1"/>
          <p:nvPr/>
        </p:nvSpPr>
        <p:spPr>
          <a:xfrm>
            <a:off x="5269476" y="4092153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Let’s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184" name="Google Shape;1184;p58"/>
          <p:cNvSpPr txBox="1"/>
          <p:nvPr/>
        </p:nvSpPr>
        <p:spPr>
          <a:xfrm>
            <a:off x="6055306" y="41151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go</a:t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1185" name="Google Shape;1185;p58"/>
          <p:cNvCxnSpPr/>
          <p:nvPr/>
        </p:nvCxnSpPr>
        <p:spPr>
          <a:xfrm rot="10800000">
            <a:off x="4858650" y="2425848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6" name="Google Shape;1186;p58"/>
          <p:cNvCxnSpPr/>
          <p:nvPr/>
        </p:nvCxnSpPr>
        <p:spPr>
          <a:xfrm rot="10800000">
            <a:off x="5635113" y="2448418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7" name="Google Shape;1187;p58"/>
          <p:cNvCxnSpPr/>
          <p:nvPr/>
        </p:nvCxnSpPr>
        <p:spPr>
          <a:xfrm rot="10800000">
            <a:off x="6411577" y="2447849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8" name="Google Shape;1188;p58"/>
          <p:cNvSpPr txBox="1"/>
          <p:nvPr/>
        </p:nvSpPr>
        <p:spPr>
          <a:xfrm>
            <a:off x="4501126" y="220485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Let’s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189" name="Google Shape;1189;p58"/>
          <p:cNvSpPr txBox="1"/>
          <p:nvPr/>
        </p:nvSpPr>
        <p:spPr>
          <a:xfrm>
            <a:off x="5286956" y="2227801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go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190" name="Google Shape;1190;p58"/>
          <p:cNvSpPr txBox="1"/>
          <p:nvPr/>
        </p:nvSpPr>
        <p:spPr>
          <a:xfrm>
            <a:off x="6063420" y="222723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to</a:t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1191" name="Google Shape;1191;p58"/>
          <p:cNvCxnSpPr/>
          <p:nvPr/>
        </p:nvCxnSpPr>
        <p:spPr>
          <a:xfrm>
            <a:off x="4977488" y="2490916"/>
            <a:ext cx="431400" cy="15687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192" name="Google Shape;1192;p58"/>
          <p:cNvCxnSpPr/>
          <p:nvPr/>
        </p:nvCxnSpPr>
        <p:spPr>
          <a:xfrm>
            <a:off x="5702571" y="2448873"/>
            <a:ext cx="431400" cy="15687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93" name="Google Shape;1193;p58"/>
          <p:cNvSpPr txBox="1"/>
          <p:nvPr/>
        </p:nvSpPr>
        <p:spPr>
          <a:xfrm>
            <a:off x="2249067" y="1859775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hidden initial state</a:t>
            </a:r>
            <a:endParaRPr sz="1600">
              <a:solidFill>
                <a:srgbClr val="6AA84F"/>
              </a:solidFill>
            </a:endParaRPr>
          </a:p>
        </p:txBody>
      </p:sp>
      <p:cxnSp>
        <p:nvCxnSpPr>
          <p:cNvPr id="1194" name="Google Shape;1194;p58"/>
          <p:cNvCxnSpPr/>
          <p:nvPr/>
        </p:nvCxnSpPr>
        <p:spPr>
          <a:xfrm>
            <a:off x="3594275" y="2448650"/>
            <a:ext cx="223500" cy="4125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95" name="Google Shape;1195;p58"/>
          <p:cNvSpPr txBox="1"/>
          <p:nvPr/>
        </p:nvSpPr>
        <p:spPr>
          <a:xfrm>
            <a:off x="4161843" y="2605914"/>
            <a:ext cx="7764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rgbClr val="6AA84F"/>
                </a:solidFill>
              </a:rPr>
              <a:t>Argmax</a:t>
            </a:r>
            <a:endParaRPr sz="1300">
              <a:solidFill>
                <a:srgbClr val="6AA84F"/>
              </a:solidFill>
            </a:endParaRPr>
          </a:p>
        </p:txBody>
      </p:sp>
      <p:sp>
        <p:nvSpPr>
          <p:cNvPr id="1196" name="Google Shape;1196;p58"/>
          <p:cNvSpPr txBox="1"/>
          <p:nvPr/>
        </p:nvSpPr>
        <p:spPr>
          <a:xfrm>
            <a:off x="417525" y="406944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197" name="Google Shape;1197;p58"/>
          <p:cNvSpPr txBox="1"/>
          <p:nvPr/>
        </p:nvSpPr>
        <p:spPr>
          <a:xfrm rot="5400000">
            <a:off x="7742717" y="323735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  <p:sp>
        <p:nvSpPr>
          <p:cNvPr id="1198" name="Google Shape;1198;p58"/>
          <p:cNvSpPr txBox="1"/>
          <p:nvPr/>
        </p:nvSpPr>
        <p:spPr>
          <a:xfrm>
            <a:off x="4452374" y="4448100"/>
            <a:ext cx="43098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E69138"/>
                </a:solidFill>
              </a:rPr>
              <a:t>la red decoder es un modelo de lenguaje condicionado (por la red encoder)</a:t>
            </a:r>
            <a:endParaRPr sz="1600">
              <a:solidFill>
                <a:srgbClr val="E69138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59"/>
          <p:cNvSpPr txBox="1"/>
          <p:nvPr>
            <p:ph type="title"/>
          </p:nvPr>
        </p:nvSpPr>
        <p:spPr>
          <a:xfrm>
            <a:off x="692700" y="64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Seq2seq model: </a:t>
            </a:r>
            <a:r>
              <a:rPr lang="es-419" sz="2400">
                <a:solidFill>
                  <a:srgbClr val="666666"/>
                </a:solidFill>
              </a:rPr>
              <a:t>Traducción español -&gt; inglés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1204" name="Google Shape;1204;p59"/>
          <p:cNvSpPr txBox="1"/>
          <p:nvPr/>
        </p:nvSpPr>
        <p:spPr>
          <a:xfrm>
            <a:off x="1391740" y="406944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205" name="Google Shape;1205;p59"/>
          <p:cNvSpPr txBox="1"/>
          <p:nvPr/>
        </p:nvSpPr>
        <p:spPr>
          <a:xfrm>
            <a:off x="2177570" y="4092395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206" name="Google Shape;1206;p59"/>
          <p:cNvSpPr txBox="1"/>
          <p:nvPr/>
        </p:nvSpPr>
        <p:spPr>
          <a:xfrm>
            <a:off x="2954033" y="409182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207" name="Google Shape;1207;p59"/>
          <p:cNvSpPr txBox="1"/>
          <p:nvPr/>
        </p:nvSpPr>
        <p:spPr>
          <a:xfrm>
            <a:off x="3653056" y="409183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208" name="Google Shape;1208;p59"/>
          <p:cNvSpPr/>
          <p:nvPr/>
        </p:nvSpPr>
        <p:spPr>
          <a:xfrm>
            <a:off x="1532617" y="365254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59"/>
          <p:cNvSpPr/>
          <p:nvPr/>
        </p:nvSpPr>
        <p:spPr>
          <a:xfrm>
            <a:off x="756154" y="366567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59"/>
          <p:cNvSpPr/>
          <p:nvPr/>
        </p:nvSpPr>
        <p:spPr>
          <a:xfrm>
            <a:off x="759470" y="2856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1" name="Google Shape;1211;p59"/>
          <p:cNvCxnSpPr/>
          <p:nvPr/>
        </p:nvCxnSpPr>
        <p:spPr>
          <a:xfrm rot="10800000">
            <a:off x="983192" y="3250464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2" name="Google Shape;1212;p59"/>
          <p:cNvSpPr/>
          <p:nvPr/>
        </p:nvSpPr>
        <p:spPr>
          <a:xfrm>
            <a:off x="1535933" y="2842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3" name="Google Shape;1213;p59"/>
          <p:cNvCxnSpPr/>
          <p:nvPr/>
        </p:nvCxnSpPr>
        <p:spPr>
          <a:xfrm rot="10800000">
            <a:off x="1759656" y="323734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4" name="Google Shape;1214;p59"/>
          <p:cNvCxnSpPr/>
          <p:nvPr/>
        </p:nvCxnSpPr>
        <p:spPr>
          <a:xfrm>
            <a:off x="1189408" y="3040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5" name="Google Shape;1215;p59"/>
          <p:cNvSpPr/>
          <p:nvPr/>
        </p:nvSpPr>
        <p:spPr>
          <a:xfrm>
            <a:off x="2309081" y="367511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59"/>
          <p:cNvSpPr/>
          <p:nvPr/>
        </p:nvSpPr>
        <p:spPr>
          <a:xfrm>
            <a:off x="2312397" y="2865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7" name="Google Shape;1217;p59"/>
          <p:cNvCxnSpPr/>
          <p:nvPr/>
        </p:nvCxnSpPr>
        <p:spPr>
          <a:xfrm rot="10800000">
            <a:off x="2536119" y="325991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8" name="Google Shape;1218;p59"/>
          <p:cNvCxnSpPr/>
          <p:nvPr/>
        </p:nvCxnSpPr>
        <p:spPr>
          <a:xfrm>
            <a:off x="1965871" y="3062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9" name="Google Shape;1219;p59"/>
          <p:cNvSpPr/>
          <p:nvPr/>
        </p:nvSpPr>
        <p:spPr>
          <a:xfrm>
            <a:off x="3085544" y="36745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59"/>
          <p:cNvSpPr/>
          <p:nvPr/>
        </p:nvSpPr>
        <p:spPr>
          <a:xfrm>
            <a:off x="3088860" y="2864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21" name="Google Shape;1221;p59"/>
          <p:cNvCxnSpPr/>
          <p:nvPr/>
        </p:nvCxnSpPr>
        <p:spPr>
          <a:xfrm rot="10800000">
            <a:off x="3312582" y="32593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2" name="Google Shape;1222;p59"/>
          <p:cNvCxnSpPr/>
          <p:nvPr/>
        </p:nvCxnSpPr>
        <p:spPr>
          <a:xfrm>
            <a:off x="2742335" y="306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3" name="Google Shape;1223;p59"/>
          <p:cNvSpPr/>
          <p:nvPr/>
        </p:nvSpPr>
        <p:spPr>
          <a:xfrm>
            <a:off x="3862008" y="36745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59"/>
          <p:cNvSpPr/>
          <p:nvPr/>
        </p:nvSpPr>
        <p:spPr>
          <a:xfrm>
            <a:off x="3865324" y="2864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</p:txBody>
      </p:sp>
      <p:cxnSp>
        <p:nvCxnSpPr>
          <p:cNvPr id="1225" name="Google Shape;1225;p59"/>
          <p:cNvCxnSpPr/>
          <p:nvPr/>
        </p:nvCxnSpPr>
        <p:spPr>
          <a:xfrm rot="10800000">
            <a:off x="4089046" y="32593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6" name="Google Shape;1226;p59"/>
          <p:cNvCxnSpPr/>
          <p:nvPr/>
        </p:nvCxnSpPr>
        <p:spPr>
          <a:xfrm>
            <a:off x="3518798" y="306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7" name="Google Shape;1227;p59"/>
          <p:cNvSpPr txBox="1"/>
          <p:nvPr/>
        </p:nvSpPr>
        <p:spPr>
          <a:xfrm rot="-5400000">
            <a:off x="-870750" y="284190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1228" name="Google Shape;1228;p59"/>
          <p:cNvSpPr/>
          <p:nvPr/>
        </p:nvSpPr>
        <p:spPr>
          <a:xfrm>
            <a:off x="4638471" y="366324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59"/>
          <p:cNvSpPr/>
          <p:nvPr/>
        </p:nvSpPr>
        <p:spPr>
          <a:xfrm>
            <a:off x="4641787" y="2853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0" name="Google Shape;1230;p59"/>
          <p:cNvCxnSpPr/>
          <p:nvPr/>
        </p:nvCxnSpPr>
        <p:spPr>
          <a:xfrm rot="10800000">
            <a:off x="4865509" y="324804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1" name="Google Shape;1231;p59"/>
          <p:cNvCxnSpPr/>
          <p:nvPr/>
        </p:nvCxnSpPr>
        <p:spPr>
          <a:xfrm>
            <a:off x="4295262" y="30508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2" name="Google Shape;1232;p59"/>
          <p:cNvSpPr/>
          <p:nvPr/>
        </p:nvSpPr>
        <p:spPr>
          <a:xfrm>
            <a:off x="5414935" y="368581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59"/>
          <p:cNvSpPr/>
          <p:nvPr/>
        </p:nvSpPr>
        <p:spPr>
          <a:xfrm>
            <a:off x="5418251" y="28762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4" name="Google Shape;1234;p59"/>
          <p:cNvCxnSpPr/>
          <p:nvPr/>
        </p:nvCxnSpPr>
        <p:spPr>
          <a:xfrm rot="10800000">
            <a:off x="5641973" y="327061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5" name="Google Shape;1235;p59"/>
          <p:cNvCxnSpPr/>
          <p:nvPr/>
        </p:nvCxnSpPr>
        <p:spPr>
          <a:xfrm>
            <a:off x="5071725" y="30733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6" name="Google Shape;1236;p59"/>
          <p:cNvSpPr/>
          <p:nvPr/>
        </p:nvSpPr>
        <p:spPr>
          <a:xfrm>
            <a:off x="6191398" y="36852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59"/>
          <p:cNvSpPr/>
          <p:nvPr/>
        </p:nvSpPr>
        <p:spPr>
          <a:xfrm>
            <a:off x="6194714" y="28756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8" name="Google Shape;1238;p59"/>
          <p:cNvCxnSpPr/>
          <p:nvPr/>
        </p:nvCxnSpPr>
        <p:spPr>
          <a:xfrm rot="10800000">
            <a:off x="6418436" y="32700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9" name="Google Shape;1239;p59"/>
          <p:cNvCxnSpPr/>
          <p:nvPr/>
        </p:nvCxnSpPr>
        <p:spPr>
          <a:xfrm>
            <a:off x="5848189" y="3072806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0" name="Google Shape;1240;p59"/>
          <p:cNvSpPr/>
          <p:nvPr/>
        </p:nvSpPr>
        <p:spPr>
          <a:xfrm>
            <a:off x="6967862" y="36852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59"/>
          <p:cNvSpPr/>
          <p:nvPr/>
        </p:nvSpPr>
        <p:spPr>
          <a:xfrm>
            <a:off x="6971178" y="28756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  <p:cxnSp>
        <p:nvCxnSpPr>
          <p:cNvPr id="1242" name="Google Shape;1242;p59"/>
          <p:cNvCxnSpPr/>
          <p:nvPr/>
        </p:nvCxnSpPr>
        <p:spPr>
          <a:xfrm>
            <a:off x="6624652" y="3072806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3" name="Google Shape;1243;p59"/>
          <p:cNvCxnSpPr/>
          <p:nvPr/>
        </p:nvCxnSpPr>
        <p:spPr>
          <a:xfrm rot="10800000">
            <a:off x="7181180" y="327061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4" name="Google Shape;1244;p59"/>
          <p:cNvSpPr/>
          <p:nvPr/>
        </p:nvSpPr>
        <p:spPr>
          <a:xfrm>
            <a:off x="7744325" y="3685796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59"/>
          <p:cNvSpPr/>
          <p:nvPr/>
        </p:nvSpPr>
        <p:spPr>
          <a:xfrm>
            <a:off x="7747641" y="2876199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  <p:cxnSp>
        <p:nvCxnSpPr>
          <p:cNvPr id="1246" name="Google Shape;1246;p59"/>
          <p:cNvCxnSpPr/>
          <p:nvPr/>
        </p:nvCxnSpPr>
        <p:spPr>
          <a:xfrm>
            <a:off x="7401116" y="3073353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7" name="Google Shape;1247;p59"/>
          <p:cNvCxnSpPr/>
          <p:nvPr/>
        </p:nvCxnSpPr>
        <p:spPr>
          <a:xfrm rot="10800000">
            <a:off x="7957644" y="3271159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8" name="Google Shape;1248;p59"/>
          <p:cNvSpPr txBox="1"/>
          <p:nvPr/>
        </p:nvSpPr>
        <p:spPr>
          <a:xfrm>
            <a:off x="4295262" y="4092153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&lt;START&gt; 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249" name="Google Shape;1249;p59"/>
          <p:cNvSpPr txBox="1"/>
          <p:nvPr/>
        </p:nvSpPr>
        <p:spPr>
          <a:xfrm>
            <a:off x="5269476" y="4092153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Let’s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250" name="Google Shape;1250;p59"/>
          <p:cNvSpPr txBox="1"/>
          <p:nvPr/>
        </p:nvSpPr>
        <p:spPr>
          <a:xfrm>
            <a:off x="6055306" y="41151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go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251" name="Google Shape;1251;p59"/>
          <p:cNvSpPr txBox="1"/>
          <p:nvPr/>
        </p:nvSpPr>
        <p:spPr>
          <a:xfrm>
            <a:off x="6831770" y="4114533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to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252" name="Google Shape;1252;p59"/>
          <p:cNvSpPr txBox="1"/>
          <p:nvPr/>
        </p:nvSpPr>
        <p:spPr>
          <a:xfrm>
            <a:off x="7530792" y="4114544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Raúl’s</a:t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1253" name="Google Shape;1253;p59"/>
          <p:cNvCxnSpPr/>
          <p:nvPr/>
        </p:nvCxnSpPr>
        <p:spPr>
          <a:xfrm rot="10800000">
            <a:off x="4858650" y="2425848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4" name="Google Shape;1254;p59"/>
          <p:cNvCxnSpPr/>
          <p:nvPr/>
        </p:nvCxnSpPr>
        <p:spPr>
          <a:xfrm rot="10800000">
            <a:off x="5635113" y="2448418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5" name="Google Shape;1255;p59"/>
          <p:cNvCxnSpPr/>
          <p:nvPr/>
        </p:nvCxnSpPr>
        <p:spPr>
          <a:xfrm rot="10800000">
            <a:off x="6411577" y="2447849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6" name="Google Shape;1256;p59"/>
          <p:cNvCxnSpPr/>
          <p:nvPr/>
        </p:nvCxnSpPr>
        <p:spPr>
          <a:xfrm rot="10800000">
            <a:off x="7174320" y="2448418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7" name="Google Shape;1257;p59"/>
          <p:cNvCxnSpPr/>
          <p:nvPr/>
        </p:nvCxnSpPr>
        <p:spPr>
          <a:xfrm rot="10800000">
            <a:off x="7950784" y="2448966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8" name="Google Shape;1258;p59"/>
          <p:cNvSpPr txBox="1"/>
          <p:nvPr/>
        </p:nvSpPr>
        <p:spPr>
          <a:xfrm>
            <a:off x="4501126" y="220485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Let’s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259" name="Google Shape;1259;p59"/>
          <p:cNvSpPr txBox="1"/>
          <p:nvPr/>
        </p:nvSpPr>
        <p:spPr>
          <a:xfrm>
            <a:off x="5286956" y="2227801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go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260" name="Google Shape;1260;p59"/>
          <p:cNvSpPr txBox="1"/>
          <p:nvPr/>
        </p:nvSpPr>
        <p:spPr>
          <a:xfrm>
            <a:off x="6063420" y="222723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to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261" name="Google Shape;1261;p59"/>
          <p:cNvSpPr txBox="1"/>
          <p:nvPr/>
        </p:nvSpPr>
        <p:spPr>
          <a:xfrm>
            <a:off x="6762442" y="2227243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Raúl’s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262" name="Google Shape;1262;p59"/>
          <p:cNvSpPr txBox="1"/>
          <p:nvPr/>
        </p:nvSpPr>
        <p:spPr>
          <a:xfrm>
            <a:off x="7401116" y="2226263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&lt;END&gt; </a:t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1263" name="Google Shape;1263;p59"/>
          <p:cNvCxnSpPr/>
          <p:nvPr/>
        </p:nvCxnSpPr>
        <p:spPr>
          <a:xfrm>
            <a:off x="4977488" y="2490916"/>
            <a:ext cx="431400" cy="15687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264" name="Google Shape;1264;p59"/>
          <p:cNvCxnSpPr/>
          <p:nvPr/>
        </p:nvCxnSpPr>
        <p:spPr>
          <a:xfrm>
            <a:off x="5702571" y="2448873"/>
            <a:ext cx="431400" cy="15687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265" name="Google Shape;1265;p59"/>
          <p:cNvCxnSpPr/>
          <p:nvPr/>
        </p:nvCxnSpPr>
        <p:spPr>
          <a:xfrm>
            <a:off x="6536146" y="2448873"/>
            <a:ext cx="431400" cy="15687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266" name="Google Shape;1266;p59"/>
          <p:cNvCxnSpPr/>
          <p:nvPr/>
        </p:nvCxnSpPr>
        <p:spPr>
          <a:xfrm>
            <a:off x="7300257" y="2448873"/>
            <a:ext cx="431400" cy="15687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267" name="Google Shape;1267;p59"/>
          <p:cNvSpPr txBox="1"/>
          <p:nvPr/>
        </p:nvSpPr>
        <p:spPr>
          <a:xfrm>
            <a:off x="2249067" y="1859775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hidden initial state</a:t>
            </a:r>
            <a:endParaRPr sz="1600">
              <a:solidFill>
                <a:srgbClr val="6AA84F"/>
              </a:solidFill>
            </a:endParaRPr>
          </a:p>
        </p:txBody>
      </p:sp>
      <p:cxnSp>
        <p:nvCxnSpPr>
          <p:cNvPr id="1268" name="Google Shape;1268;p59"/>
          <p:cNvCxnSpPr/>
          <p:nvPr/>
        </p:nvCxnSpPr>
        <p:spPr>
          <a:xfrm>
            <a:off x="3594275" y="2448650"/>
            <a:ext cx="223500" cy="4125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269" name="Google Shape;1269;p59"/>
          <p:cNvSpPr txBox="1"/>
          <p:nvPr/>
        </p:nvSpPr>
        <p:spPr>
          <a:xfrm>
            <a:off x="4161843" y="2605914"/>
            <a:ext cx="7764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rgbClr val="6AA84F"/>
                </a:solidFill>
              </a:rPr>
              <a:t>Argmax</a:t>
            </a:r>
            <a:endParaRPr sz="1300">
              <a:solidFill>
                <a:srgbClr val="6AA84F"/>
              </a:solidFill>
            </a:endParaRPr>
          </a:p>
        </p:txBody>
      </p:sp>
      <p:sp>
        <p:nvSpPr>
          <p:cNvPr id="1270" name="Google Shape;1270;p59"/>
          <p:cNvSpPr txBox="1"/>
          <p:nvPr/>
        </p:nvSpPr>
        <p:spPr>
          <a:xfrm>
            <a:off x="417525" y="406944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271" name="Google Shape;1271;p59"/>
          <p:cNvSpPr txBox="1"/>
          <p:nvPr/>
        </p:nvSpPr>
        <p:spPr>
          <a:xfrm rot="5400000">
            <a:off x="7742717" y="323735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  <p:sp>
        <p:nvSpPr>
          <p:cNvPr id="1272" name="Google Shape;1272;p59"/>
          <p:cNvSpPr txBox="1"/>
          <p:nvPr/>
        </p:nvSpPr>
        <p:spPr>
          <a:xfrm>
            <a:off x="4452374" y="4448100"/>
            <a:ext cx="43098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E69138"/>
                </a:solidFill>
              </a:rPr>
              <a:t>la red decoder es un modelo de lenguaje condicionado (por la red encoder)</a:t>
            </a:r>
            <a:endParaRPr sz="1600">
              <a:solidFill>
                <a:srgbClr val="E69138"/>
              </a:solidFill>
            </a:endParaRPr>
          </a:p>
        </p:txBody>
      </p:sp>
      <p:sp>
        <p:nvSpPr>
          <p:cNvPr id="1273" name="Google Shape;1273;p59"/>
          <p:cNvSpPr txBox="1"/>
          <p:nvPr/>
        </p:nvSpPr>
        <p:spPr>
          <a:xfrm>
            <a:off x="3365700" y="1322563"/>
            <a:ext cx="220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6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Pros and cons</a:t>
            </a:r>
            <a:r>
              <a:rPr lang="es-419" sz="16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6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celda RNN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61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Recurrent Neural Network</a:t>
            </a:r>
            <a:endParaRPr/>
          </a:p>
        </p:txBody>
      </p:sp>
      <p:sp>
        <p:nvSpPr>
          <p:cNvPr id="1284" name="Google Shape;1284;p61"/>
          <p:cNvSpPr txBox="1"/>
          <p:nvPr/>
        </p:nvSpPr>
        <p:spPr>
          <a:xfrm>
            <a:off x="5286550" y="1113125"/>
            <a:ext cx="3632400" cy="41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2200" u="sng">
                <a:latin typeface="Raleway"/>
                <a:ea typeface="Raleway"/>
                <a:cs typeface="Raleway"/>
                <a:sym typeface="Raleway"/>
              </a:rPr>
              <a:t>Idea:</a:t>
            </a:r>
            <a:endParaRPr i="1" sz="2200" u="sng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latin typeface="Raleway"/>
                <a:ea typeface="Raleway"/>
                <a:cs typeface="Raleway"/>
                <a:sym typeface="Raleway"/>
              </a:rPr>
              <a:t>El hidden layer del tiempo </a:t>
            </a:r>
            <a:r>
              <a:rPr i="1" lang="es-419" sz="1600">
                <a:latin typeface="Raleway"/>
                <a:ea typeface="Raleway"/>
                <a:cs typeface="Raleway"/>
                <a:sym typeface="Raleway"/>
              </a:rPr>
              <a:t>t </a:t>
            </a:r>
            <a:r>
              <a:rPr lang="es-419" sz="1600">
                <a:latin typeface="Raleway"/>
                <a:ea typeface="Raleway"/>
                <a:cs typeface="Raleway"/>
                <a:sym typeface="Raleway"/>
              </a:rPr>
              <a:t>(h</a:t>
            </a:r>
            <a:r>
              <a:rPr baseline="-25000" lang="es-419" sz="1600"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s-419" sz="1600">
                <a:latin typeface="Raleway"/>
                <a:ea typeface="Raleway"/>
                <a:cs typeface="Raleway"/>
                <a:sym typeface="Raleway"/>
              </a:rPr>
              <a:t>) se alimenta del input del tiempo </a:t>
            </a:r>
            <a:r>
              <a:rPr i="1" lang="es-419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s-419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(x</a:t>
            </a:r>
            <a:r>
              <a:rPr baseline="-25000" lang="es-419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s-419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  <a:r>
              <a:rPr lang="es-419" sz="1600">
                <a:latin typeface="Raleway"/>
                <a:ea typeface="Raleway"/>
                <a:cs typeface="Raleway"/>
                <a:sym typeface="Raleway"/>
              </a:rPr>
              <a:t> y del </a:t>
            </a:r>
            <a:r>
              <a:rPr lang="es-419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hidden layer del tiempo anterior t-1 (h</a:t>
            </a:r>
            <a:r>
              <a:rPr baseline="-25000" lang="es-419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t-1</a:t>
            </a:r>
            <a:r>
              <a:rPr lang="es-419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) </a:t>
            </a:r>
            <a:r>
              <a:rPr lang="es-419" sz="1600">
                <a:latin typeface="Raleway"/>
                <a:ea typeface="Raleway"/>
                <a:cs typeface="Raleway"/>
                <a:sym typeface="Raleway"/>
              </a:rPr>
              <a:t> 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2200" u="sng">
                <a:latin typeface="Raleway"/>
                <a:ea typeface="Raleway"/>
                <a:cs typeface="Raleway"/>
                <a:sym typeface="Raleway"/>
              </a:rPr>
              <a:t>Ventajas:</a:t>
            </a:r>
            <a:endParaRPr i="1" sz="2200" u="sng"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Char char="●"/>
            </a:pPr>
            <a:r>
              <a:rPr lang="es-419" sz="1600">
                <a:latin typeface="Raleway"/>
                <a:ea typeface="Raleway"/>
                <a:cs typeface="Raleway"/>
                <a:sym typeface="Raleway"/>
              </a:rPr>
              <a:t>En teoría puede usar información de toda la secuencia.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Char char="●"/>
            </a:pPr>
            <a:r>
              <a:rPr lang="es-419" sz="1600">
                <a:latin typeface="Raleway"/>
                <a:ea typeface="Raleway"/>
                <a:cs typeface="Raleway"/>
                <a:sym typeface="Raleway"/>
              </a:rPr>
              <a:t>El tamaño del modelo no depende del largo del input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85" name="Google Shape;1285;p61"/>
          <p:cNvSpPr/>
          <p:nvPr/>
        </p:nvSpPr>
        <p:spPr>
          <a:xfrm flipH="1" rot="748">
            <a:off x="3066675" y="2232842"/>
            <a:ext cx="1377900" cy="1542900"/>
          </a:xfrm>
          <a:prstGeom prst="arc">
            <a:avLst>
              <a:gd fmla="val 2289992" name="adj1"/>
              <a:gd fmla="val 20165109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86" name="Google Shape;1286;p61"/>
          <p:cNvSpPr txBox="1"/>
          <p:nvPr/>
        </p:nvSpPr>
        <p:spPr>
          <a:xfrm>
            <a:off x="558013" y="1400325"/>
            <a:ext cx="1377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Output</a:t>
            </a:r>
            <a:endParaRPr sz="1800"/>
          </a:p>
        </p:txBody>
      </p:sp>
      <p:sp>
        <p:nvSpPr>
          <p:cNvPr id="1287" name="Google Shape;1287;p61"/>
          <p:cNvSpPr txBox="1"/>
          <p:nvPr/>
        </p:nvSpPr>
        <p:spPr>
          <a:xfrm>
            <a:off x="303738" y="2894225"/>
            <a:ext cx="16323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Hidden layer</a:t>
            </a:r>
            <a:endParaRPr sz="1800"/>
          </a:p>
        </p:txBody>
      </p:sp>
      <p:sp>
        <p:nvSpPr>
          <p:cNvPr id="1288" name="Google Shape;1288;p61"/>
          <p:cNvSpPr txBox="1"/>
          <p:nvPr/>
        </p:nvSpPr>
        <p:spPr>
          <a:xfrm>
            <a:off x="558013" y="4430550"/>
            <a:ext cx="1377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Input</a:t>
            </a:r>
            <a:endParaRPr sz="1800"/>
          </a:p>
        </p:txBody>
      </p:sp>
      <p:sp>
        <p:nvSpPr>
          <p:cNvPr id="1289" name="Google Shape;1289;p61"/>
          <p:cNvSpPr/>
          <p:nvPr/>
        </p:nvSpPr>
        <p:spPr>
          <a:xfrm>
            <a:off x="2362163" y="4429225"/>
            <a:ext cx="1424700" cy="447900"/>
          </a:xfrm>
          <a:prstGeom prst="roundRect">
            <a:avLst>
              <a:gd fmla="val 247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x</a:t>
            </a:r>
            <a:r>
              <a:rPr baseline="-25000" lang="es-419" sz="2400"/>
              <a:t>t</a:t>
            </a:r>
            <a:endParaRPr baseline="-25000" sz="2400"/>
          </a:p>
        </p:txBody>
      </p:sp>
      <p:sp>
        <p:nvSpPr>
          <p:cNvPr id="1290" name="Google Shape;1290;p61"/>
          <p:cNvSpPr/>
          <p:nvPr/>
        </p:nvSpPr>
        <p:spPr>
          <a:xfrm>
            <a:off x="2362163" y="2825375"/>
            <a:ext cx="1424700" cy="447900"/>
          </a:xfrm>
          <a:prstGeom prst="roundRect">
            <a:avLst>
              <a:gd fmla="val 235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</a:t>
            </a:r>
            <a:r>
              <a:rPr baseline="-25000" lang="es-419" sz="2400"/>
              <a:t>t</a:t>
            </a:r>
            <a:endParaRPr baseline="-25000" sz="2400"/>
          </a:p>
        </p:txBody>
      </p:sp>
      <p:sp>
        <p:nvSpPr>
          <p:cNvPr id="1291" name="Google Shape;1291;p61"/>
          <p:cNvSpPr/>
          <p:nvPr/>
        </p:nvSpPr>
        <p:spPr>
          <a:xfrm>
            <a:off x="2362163" y="1331475"/>
            <a:ext cx="1424700" cy="447900"/>
          </a:xfrm>
          <a:prstGeom prst="roundRect">
            <a:avLst>
              <a:gd fmla="val 17638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</a:t>
            </a:r>
            <a:r>
              <a:rPr baseline="-25000" lang="es-419" sz="2400"/>
              <a:t>t</a:t>
            </a:r>
            <a:endParaRPr baseline="-25000" sz="2400"/>
          </a:p>
        </p:txBody>
      </p:sp>
      <p:cxnSp>
        <p:nvCxnSpPr>
          <p:cNvPr id="1292" name="Google Shape;1292;p61"/>
          <p:cNvCxnSpPr/>
          <p:nvPr/>
        </p:nvCxnSpPr>
        <p:spPr>
          <a:xfrm rot="10800000">
            <a:off x="3093813" y="3421100"/>
            <a:ext cx="0" cy="83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3" name="Google Shape;1293;p61"/>
          <p:cNvCxnSpPr/>
          <p:nvPr/>
        </p:nvCxnSpPr>
        <p:spPr>
          <a:xfrm rot="10800000">
            <a:off x="3074463" y="1884475"/>
            <a:ext cx="0" cy="83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62"/>
          <p:cNvSpPr txBox="1"/>
          <p:nvPr>
            <p:ph type="title"/>
          </p:nvPr>
        </p:nvSpPr>
        <p:spPr>
          <a:xfrm>
            <a:off x="729450" y="5489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celda RNR</a:t>
            </a:r>
            <a:endParaRPr/>
          </a:p>
        </p:txBody>
      </p:sp>
      <p:sp>
        <p:nvSpPr>
          <p:cNvPr id="1299" name="Google Shape;1299;p62"/>
          <p:cNvSpPr txBox="1"/>
          <p:nvPr>
            <p:ph idx="1" type="body"/>
          </p:nvPr>
        </p:nvSpPr>
        <p:spPr>
          <a:xfrm>
            <a:off x="122175" y="1331700"/>
            <a:ext cx="6829500" cy="28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s-419" sz="6408"/>
              <a:t>Las Redes Neuronales Recurrentes están compuestas por </a:t>
            </a:r>
            <a:r>
              <a:rPr b="1" lang="es-419" sz="6408"/>
              <a:t>unidades o celdas</a:t>
            </a:r>
            <a:r>
              <a:rPr lang="es-419" sz="6408"/>
              <a:t> que se encargan de </a:t>
            </a:r>
            <a:r>
              <a:rPr b="1" lang="es-419" sz="6408"/>
              <a:t>mantener y actualizar el estado de la red</a:t>
            </a:r>
            <a:r>
              <a:rPr lang="es-419" sz="6408"/>
              <a:t> a medida que se procesan los datos secuenciales.</a:t>
            </a:r>
            <a:endParaRPr sz="6408"/>
          </a:p>
          <a:p>
            <a:pPr indent="-330322" lvl="0" marL="457200" rtl="0" algn="l">
              <a:spcBef>
                <a:spcPts val="1500"/>
              </a:spcBef>
              <a:spcAft>
                <a:spcPts val="0"/>
              </a:spcAft>
              <a:buSzPct val="100000"/>
              <a:buChar char="●"/>
            </a:pPr>
            <a:r>
              <a:rPr b="1" lang="es-419" sz="6408"/>
              <a:t>Retroalimentación:</a:t>
            </a:r>
            <a:r>
              <a:rPr lang="es-419" sz="6408"/>
              <a:t> Conexiones que se retroalimentan hacia sí mismas o hacia unidades anteriores. Esta estructura permite que la red retenga información de pasos anteriores en la secuencia.</a:t>
            </a:r>
            <a:endParaRPr sz="6408"/>
          </a:p>
          <a:p>
            <a:pPr indent="-3303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-419" sz="6408"/>
              <a:t>Estado Oculto: </a:t>
            </a:r>
            <a:r>
              <a:rPr lang="es-419" sz="6408"/>
              <a:t>Cada celda RNR tiene un "estado oculto" que almacena información sobre los datos procesados previamente. Este estado se actualiza a medida que la red recibe nuevas entradas, permitiendo que la RNR "recuerde" información de pasos anteriores.</a:t>
            </a:r>
            <a:endParaRPr sz="6408"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62"/>
          <p:cNvSpPr/>
          <p:nvPr/>
        </p:nvSpPr>
        <p:spPr>
          <a:xfrm flipH="1" rot="1449">
            <a:off x="8378100" y="2004409"/>
            <a:ext cx="711600" cy="1151400"/>
          </a:xfrm>
          <a:prstGeom prst="arc">
            <a:avLst>
              <a:gd fmla="val 2289992" name="adj1"/>
              <a:gd fmla="val 20165109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01" name="Google Shape;1301;p62"/>
          <p:cNvSpPr txBox="1"/>
          <p:nvPr/>
        </p:nvSpPr>
        <p:spPr>
          <a:xfrm>
            <a:off x="7082964" y="1383087"/>
            <a:ext cx="7116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Output</a:t>
            </a:r>
            <a:endParaRPr sz="1200"/>
          </a:p>
        </p:txBody>
      </p:sp>
      <p:sp>
        <p:nvSpPr>
          <p:cNvPr id="1302" name="Google Shape;1302;p62"/>
          <p:cNvSpPr txBox="1"/>
          <p:nvPr/>
        </p:nvSpPr>
        <p:spPr>
          <a:xfrm>
            <a:off x="6951675" y="2498079"/>
            <a:ext cx="842700" cy="23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Hidden layer</a:t>
            </a:r>
            <a:endParaRPr sz="1200"/>
          </a:p>
        </p:txBody>
      </p:sp>
      <p:sp>
        <p:nvSpPr>
          <p:cNvPr id="1303" name="Google Shape;1303;p62"/>
          <p:cNvSpPr txBox="1"/>
          <p:nvPr/>
        </p:nvSpPr>
        <p:spPr>
          <a:xfrm>
            <a:off x="7082964" y="3644735"/>
            <a:ext cx="7116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Input</a:t>
            </a:r>
            <a:endParaRPr sz="1200"/>
          </a:p>
        </p:txBody>
      </p:sp>
      <p:sp>
        <p:nvSpPr>
          <p:cNvPr id="1304" name="Google Shape;1304;p62"/>
          <p:cNvSpPr/>
          <p:nvPr/>
        </p:nvSpPr>
        <p:spPr>
          <a:xfrm>
            <a:off x="8014495" y="3643746"/>
            <a:ext cx="735600" cy="334500"/>
          </a:xfrm>
          <a:prstGeom prst="roundRect">
            <a:avLst>
              <a:gd fmla="val 247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x</a:t>
            </a:r>
            <a:r>
              <a:rPr baseline="-25000" lang="es-419" sz="2400"/>
              <a:t>t</a:t>
            </a:r>
            <a:endParaRPr baseline="-25000" sz="2400"/>
          </a:p>
        </p:txBody>
      </p:sp>
      <p:sp>
        <p:nvSpPr>
          <p:cNvPr id="1305" name="Google Shape;1305;p62"/>
          <p:cNvSpPr/>
          <p:nvPr/>
        </p:nvSpPr>
        <p:spPr>
          <a:xfrm>
            <a:off x="8014495" y="2446692"/>
            <a:ext cx="735600" cy="334500"/>
          </a:xfrm>
          <a:prstGeom prst="roundRect">
            <a:avLst>
              <a:gd fmla="val 235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</a:t>
            </a:r>
            <a:r>
              <a:rPr baseline="-25000" lang="es-419" sz="2400"/>
              <a:t>t</a:t>
            </a:r>
            <a:endParaRPr baseline="-25000" sz="2400"/>
          </a:p>
        </p:txBody>
      </p:sp>
      <p:sp>
        <p:nvSpPr>
          <p:cNvPr id="1306" name="Google Shape;1306;p62"/>
          <p:cNvSpPr/>
          <p:nvPr/>
        </p:nvSpPr>
        <p:spPr>
          <a:xfrm>
            <a:off x="8014495" y="1331700"/>
            <a:ext cx="735600" cy="334500"/>
          </a:xfrm>
          <a:prstGeom prst="roundRect">
            <a:avLst>
              <a:gd fmla="val 17638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</a:t>
            </a:r>
            <a:r>
              <a:rPr baseline="-25000" lang="es-419" sz="2400"/>
              <a:t>t</a:t>
            </a:r>
            <a:endParaRPr baseline="-25000" sz="2400"/>
          </a:p>
        </p:txBody>
      </p:sp>
      <p:cxnSp>
        <p:nvCxnSpPr>
          <p:cNvPr id="1307" name="Google Shape;1307;p62"/>
          <p:cNvCxnSpPr/>
          <p:nvPr/>
        </p:nvCxnSpPr>
        <p:spPr>
          <a:xfrm rot="10800000">
            <a:off x="8392265" y="2891429"/>
            <a:ext cx="0" cy="6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8" name="Google Shape;1308;p62"/>
          <p:cNvCxnSpPr/>
          <p:nvPr/>
        </p:nvCxnSpPr>
        <p:spPr>
          <a:xfrm rot="10800000">
            <a:off x="8382274" y="1744549"/>
            <a:ext cx="0" cy="6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63"/>
          <p:cNvSpPr txBox="1"/>
          <p:nvPr>
            <p:ph type="title"/>
          </p:nvPr>
        </p:nvSpPr>
        <p:spPr>
          <a:xfrm>
            <a:off x="729450" y="5489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celda RNR</a:t>
            </a:r>
            <a:endParaRPr/>
          </a:p>
        </p:txBody>
      </p:sp>
      <p:sp>
        <p:nvSpPr>
          <p:cNvPr id="1314" name="Google Shape;1314;p63"/>
          <p:cNvSpPr txBox="1"/>
          <p:nvPr>
            <p:ph idx="1" type="body"/>
          </p:nvPr>
        </p:nvSpPr>
        <p:spPr>
          <a:xfrm>
            <a:off x="12850" y="1165350"/>
            <a:ext cx="7070100" cy="31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s-419" sz="4808"/>
              <a:t>Flujo de Información</a:t>
            </a:r>
            <a:endParaRPr b="1" sz="4800"/>
          </a:p>
          <a:p>
            <a:pPr indent="-323972" lvl="0" marL="457200" rtl="0" algn="l">
              <a:spcBef>
                <a:spcPts val="15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s-419" sz="6008"/>
              <a:t>Entrada Actual y Estado Oculto Previo:</a:t>
            </a:r>
            <a:r>
              <a:rPr lang="es-419" sz="6008"/>
              <a:t> Para cada paso en una secuencia, la RNR toma tanto la entrada actual como el estado oculto del paso anterior para generar una salida y actualizar el estado oculto.</a:t>
            </a:r>
            <a:endParaRPr sz="6008"/>
          </a:p>
          <a:p>
            <a:pPr indent="-32397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s-419" sz="6008"/>
              <a:t>Retroalimentación:</a:t>
            </a:r>
            <a:r>
              <a:rPr lang="es-419" sz="6008"/>
              <a:t> Después de procesar una entrada, la información (en forma de estado oculto) se retroalimenta a la celda para ser utilizada en el siguiente paso de la secuencia. Esta retroalimentación permite que la RNR tenga en cuenta el contexto y la historia al procesar datos nuevos.</a:t>
            </a:r>
            <a:endParaRPr sz="6008"/>
          </a:p>
          <a:p>
            <a:pPr indent="-32397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s-419" sz="6008"/>
              <a:t>Propagación a través del Tiempo:</a:t>
            </a:r>
            <a:r>
              <a:rPr lang="es-419" sz="6008"/>
              <a:t> A medida que la RNR procesa una secuencia, la información se propaga a través de la red paso a paso, permitiendo que la red construya una comprensión acumulativa de los datos.</a:t>
            </a:r>
            <a:endParaRPr sz="5908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63"/>
          <p:cNvSpPr/>
          <p:nvPr/>
        </p:nvSpPr>
        <p:spPr>
          <a:xfrm flipH="1" rot="1449">
            <a:off x="8378100" y="2004409"/>
            <a:ext cx="711600" cy="1151400"/>
          </a:xfrm>
          <a:prstGeom prst="arc">
            <a:avLst>
              <a:gd fmla="val 2289992" name="adj1"/>
              <a:gd fmla="val 20165109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16" name="Google Shape;1316;p63"/>
          <p:cNvSpPr txBox="1"/>
          <p:nvPr/>
        </p:nvSpPr>
        <p:spPr>
          <a:xfrm>
            <a:off x="7082964" y="1383087"/>
            <a:ext cx="7116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Output</a:t>
            </a:r>
            <a:endParaRPr sz="1200"/>
          </a:p>
        </p:txBody>
      </p:sp>
      <p:sp>
        <p:nvSpPr>
          <p:cNvPr id="1317" name="Google Shape;1317;p63"/>
          <p:cNvSpPr txBox="1"/>
          <p:nvPr/>
        </p:nvSpPr>
        <p:spPr>
          <a:xfrm>
            <a:off x="6951675" y="2498079"/>
            <a:ext cx="842700" cy="23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Hidden layer</a:t>
            </a:r>
            <a:endParaRPr sz="1200"/>
          </a:p>
        </p:txBody>
      </p:sp>
      <p:sp>
        <p:nvSpPr>
          <p:cNvPr id="1318" name="Google Shape;1318;p63"/>
          <p:cNvSpPr txBox="1"/>
          <p:nvPr/>
        </p:nvSpPr>
        <p:spPr>
          <a:xfrm>
            <a:off x="7082964" y="3644735"/>
            <a:ext cx="7116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Input</a:t>
            </a:r>
            <a:endParaRPr sz="1200"/>
          </a:p>
        </p:txBody>
      </p:sp>
      <p:sp>
        <p:nvSpPr>
          <p:cNvPr id="1319" name="Google Shape;1319;p63"/>
          <p:cNvSpPr/>
          <p:nvPr/>
        </p:nvSpPr>
        <p:spPr>
          <a:xfrm>
            <a:off x="8014495" y="3643746"/>
            <a:ext cx="735600" cy="334500"/>
          </a:xfrm>
          <a:prstGeom prst="roundRect">
            <a:avLst>
              <a:gd fmla="val 247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x</a:t>
            </a:r>
            <a:r>
              <a:rPr baseline="-25000" lang="es-419" sz="2400"/>
              <a:t>t</a:t>
            </a:r>
            <a:endParaRPr baseline="-25000" sz="2400"/>
          </a:p>
        </p:txBody>
      </p:sp>
      <p:sp>
        <p:nvSpPr>
          <p:cNvPr id="1320" name="Google Shape;1320;p63"/>
          <p:cNvSpPr/>
          <p:nvPr/>
        </p:nvSpPr>
        <p:spPr>
          <a:xfrm>
            <a:off x="8014495" y="2446692"/>
            <a:ext cx="735600" cy="334500"/>
          </a:xfrm>
          <a:prstGeom prst="roundRect">
            <a:avLst>
              <a:gd fmla="val 235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</a:t>
            </a:r>
            <a:r>
              <a:rPr baseline="-25000" lang="es-419" sz="2400"/>
              <a:t>t</a:t>
            </a:r>
            <a:endParaRPr baseline="-25000" sz="2400"/>
          </a:p>
        </p:txBody>
      </p:sp>
      <p:sp>
        <p:nvSpPr>
          <p:cNvPr id="1321" name="Google Shape;1321;p63"/>
          <p:cNvSpPr/>
          <p:nvPr/>
        </p:nvSpPr>
        <p:spPr>
          <a:xfrm>
            <a:off x="8014495" y="1331700"/>
            <a:ext cx="735600" cy="334500"/>
          </a:xfrm>
          <a:prstGeom prst="roundRect">
            <a:avLst>
              <a:gd fmla="val 17638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</a:t>
            </a:r>
            <a:r>
              <a:rPr baseline="-25000" lang="es-419" sz="2400"/>
              <a:t>t</a:t>
            </a:r>
            <a:endParaRPr baseline="-25000" sz="2400"/>
          </a:p>
        </p:txBody>
      </p:sp>
      <p:cxnSp>
        <p:nvCxnSpPr>
          <p:cNvPr id="1322" name="Google Shape;1322;p63"/>
          <p:cNvCxnSpPr/>
          <p:nvPr/>
        </p:nvCxnSpPr>
        <p:spPr>
          <a:xfrm rot="10800000">
            <a:off x="8392265" y="2891429"/>
            <a:ext cx="0" cy="6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3" name="Google Shape;1323;p63"/>
          <p:cNvCxnSpPr/>
          <p:nvPr/>
        </p:nvCxnSpPr>
        <p:spPr>
          <a:xfrm rot="10800000">
            <a:off x="8382274" y="1744549"/>
            <a:ext cx="0" cy="6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64"/>
          <p:cNvSpPr txBox="1"/>
          <p:nvPr/>
        </p:nvSpPr>
        <p:spPr>
          <a:xfrm>
            <a:off x="5710550" y="4773650"/>
            <a:ext cx="33954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222222"/>
                </a:solidFill>
                <a:highlight>
                  <a:srgbClr val="FFFFFF"/>
                </a:highlight>
              </a:rPr>
              <a:t>Goodfellow, Bengio, and Courville (2016) </a:t>
            </a:r>
            <a:r>
              <a:rPr i="1" lang="es-419" sz="1000">
                <a:solidFill>
                  <a:srgbClr val="222222"/>
                </a:solidFill>
                <a:highlight>
                  <a:srgbClr val="FFFFFF"/>
                </a:highlight>
              </a:rPr>
              <a:t>Deep learning</a:t>
            </a:r>
            <a:r>
              <a:rPr lang="es-419" sz="1000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  <a:endParaRPr sz="1000">
              <a:solidFill>
                <a:srgbClr val="666666"/>
              </a:solidFill>
            </a:endParaRPr>
          </a:p>
        </p:txBody>
      </p:sp>
      <p:pic>
        <p:nvPicPr>
          <p:cNvPr id="1329" name="Google Shape;132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5775" y="2565273"/>
            <a:ext cx="3854451" cy="157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0" name="Google Shape;1330;p64"/>
          <p:cNvCxnSpPr>
            <a:stCxn id="1331" idx="2"/>
          </p:cNvCxnSpPr>
          <p:nvPr/>
        </p:nvCxnSpPr>
        <p:spPr>
          <a:xfrm>
            <a:off x="7893025" y="1759125"/>
            <a:ext cx="257400" cy="85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1" name="Google Shape;1331;p64"/>
          <p:cNvSpPr txBox="1"/>
          <p:nvPr/>
        </p:nvSpPr>
        <p:spPr>
          <a:xfrm>
            <a:off x="6925825" y="1400325"/>
            <a:ext cx="19344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</a:rPr>
              <a:t>embedding of word </a:t>
            </a:r>
            <a:r>
              <a:rPr i="1" lang="es-419">
                <a:solidFill>
                  <a:srgbClr val="434343"/>
                </a:solidFill>
              </a:rPr>
              <a:t>t</a:t>
            </a:r>
            <a:endParaRPr i="1">
              <a:solidFill>
                <a:srgbClr val="434343"/>
              </a:solidFill>
            </a:endParaRPr>
          </a:p>
        </p:txBody>
      </p:sp>
      <p:sp>
        <p:nvSpPr>
          <p:cNvPr id="1332" name="Google Shape;1332;p64"/>
          <p:cNvSpPr txBox="1"/>
          <p:nvPr/>
        </p:nvSpPr>
        <p:spPr>
          <a:xfrm>
            <a:off x="3075925" y="3076575"/>
            <a:ext cx="49626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64"/>
          <p:cNvSpPr/>
          <p:nvPr/>
        </p:nvSpPr>
        <p:spPr>
          <a:xfrm flipH="1" rot="748">
            <a:off x="3066675" y="2232842"/>
            <a:ext cx="1377900" cy="1542900"/>
          </a:xfrm>
          <a:prstGeom prst="arc">
            <a:avLst>
              <a:gd fmla="val 2289992" name="adj1"/>
              <a:gd fmla="val 20165109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34" name="Google Shape;1334;p64"/>
          <p:cNvSpPr txBox="1"/>
          <p:nvPr/>
        </p:nvSpPr>
        <p:spPr>
          <a:xfrm>
            <a:off x="558013" y="1400325"/>
            <a:ext cx="1377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Output</a:t>
            </a:r>
            <a:endParaRPr sz="1800"/>
          </a:p>
        </p:txBody>
      </p:sp>
      <p:sp>
        <p:nvSpPr>
          <p:cNvPr id="1335" name="Google Shape;1335;p64"/>
          <p:cNvSpPr txBox="1"/>
          <p:nvPr/>
        </p:nvSpPr>
        <p:spPr>
          <a:xfrm>
            <a:off x="303738" y="2894225"/>
            <a:ext cx="16323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Hidden layer</a:t>
            </a:r>
            <a:endParaRPr sz="1800"/>
          </a:p>
        </p:txBody>
      </p:sp>
      <p:sp>
        <p:nvSpPr>
          <p:cNvPr id="1336" name="Google Shape;1336;p64"/>
          <p:cNvSpPr txBox="1"/>
          <p:nvPr/>
        </p:nvSpPr>
        <p:spPr>
          <a:xfrm>
            <a:off x="558013" y="4430550"/>
            <a:ext cx="1377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Input</a:t>
            </a:r>
            <a:endParaRPr sz="1800"/>
          </a:p>
        </p:txBody>
      </p:sp>
      <p:sp>
        <p:nvSpPr>
          <p:cNvPr id="1337" name="Google Shape;1337;p64"/>
          <p:cNvSpPr/>
          <p:nvPr/>
        </p:nvSpPr>
        <p:spPr>
          <a:xfrm>
            <a:off x="2362163" y="4429225"/>
            <a:ext cx="1424700" cy="447900"/>
          </a:xfrm>
          <a:prstGeom prst="roundRect">
            <a:avLst>
              <a:gd fmla="val 247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x</a:t>
            </a:r>
            <a:r>
              <a:rPr baseline="-25000" lang="es-419" sz="2400"/>
              <a:t>t</a:t>
            </a:r>
            <a:endParaRPr baseline="-25000" sz="2400"/>
          </a:p>
        </p:txBody>
      </p:sp>
      <p:sp>
        <p:nvSpPr>
          <p:cNvPr id="1338" name="Google Shape;1338;p64"/>
          <p:cNvSpPr/>
          <p:nvPr/>
        </p:nvSpPr>
        <p:spPr>
          <a:xfrm>
            <a:off x="2362163" y="2825375"/>
            <a:ext cx="1424700" cy="447900"/>
          </a:xfrm>
          <a:prstGeom prst="roundRect">
            <a:avLst>
              <a:gd fmla="val 235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</a:t>
            </a:r>
            <a:r>
              <a:rPr baseline="-25000" lang="es-419" sz="2400"/>
              <a:t>t</a:t>
            </a:r>
            <a:endParaRPr baseline="-25000" sz="2400"/>
          </a:p>
        </p:txBody>
      </p:sp>
      <p:sp>
        <p:nvSpPr>
          <p:cNvPr id="1339" name="Google Shape;1339;p64"/>
          <p:cNvSpPr/>
          <p:nvPr/>
        </p:nvSpPr>
        <p:spPr>
          <a:xfrm>
            <a:off x="2362163" y="1331475"/>
            <a:ext cx="1424700" cy="447900"/>
          </a:xfrm>
          <a:prstGeom prst="roundRect">
            <a:avLst>
              <a:gd fmla="val 17638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</a:t>
            </a:r>
            <a:r>
              <a:rPr baseline="-25000" lang="es-419" sz="2400"/>
              <a:t>t</a:t>
            </a:r>
            <a:endParaRPr baseline="-25000" sz="2400"/>
          </a:p>
        </p:txBody>
      </p:sp>
      <p:cxnSp>
        <p:nvCxnSpPr>
          <p:cNvPr id="1340" name="Google Shape;1340;p64"/>
          <p:cNvCxnSpPr/>
          <p:nvPr/>
        </p:nvCxnSpPr>
        <p:spPr>
          <a:xfrm rot="10800000">
            <a:off x="3093813" y="3421100"/>
            <a:ext cx="0" cy="83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1" name="Google Shape;1341;p64"/>
          <p:cNvCxnSpPr/>
          <p:nvPr/>
        </p:nvCxnSpPr>
        <p:spPr>
          <a:xfrm rot="10800000">
            <a:off x="3074463" y="1884475"/>
            <a:ext cx="0" cy="83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2" name="Google Shape;1342;p64"/>
          <p:cNvSpPr txBox="1"/>
          <p:nvPr/>
        </p:nvSpPr>
        <p:spPr>
          <a:xfrm>
            <a:off x="2545566" y="37188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43" name="Google Shape;1343;p64"/>
          <p:cNvSpPr txBox="1"/>
          <p:nvPr/>
        </p:nvSpPr>
        <p:spPr>
          <a:xfrm>
            <a:off x="3993366" y="28806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44" name="Google Shape;1344;p64"/>
          <p:cNvSpPr txBox="1"/>
          <p:nvPr/>
        </p:nvSpPr>
        <p:spPr>
          <a:xfrm>
            <a:off x="2545566" y="21948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45" name="Google Shape;1345;p64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Recurrent Neural Network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65"/>
          <p:cNvSpPr txBox="1"/>
          <p:nvPr/>
        </p:nvSpPr>
        <p:spPr>
          <a:xfrm>
            <a:off x="5710550" y="4773650"/>
            <a:ext cx="33954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222222"/>
                </a:solidFill>
                <a:highlight>
                  <a:srgbClr val="FFFFFF"/>
                </a:highlight>
              </a:rPr>
              <a:t>Goodfellow, Bengio, and Courville (2016) </a:t>
            </a:r>
            <a:r>
              <a:rPr i="1" lang="es-419" sz="1000">
                <a:solidFill>
                  <a:srgbClr val="222222"/>
                </a:solidFill>
                <a:highlight>
                  <a:srgbClr val="FFFFFF"/>
                </a:highlight>
              </a:rPr>
              <a:t>Deep learning</a:t>
            </a:r>
            <a:r>
              <a:rPr lang="es-419" sz="1000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  <a:endParaRPr sz="1000">
              <a:solidFill>
                <a:srgbClr val="666666"/>
              </a:solidFill>
            </a:endParaRPr>
          </a:p>
        </p:txBody>
      </p:sp>
      <p:pic>
        <p:nvPicPr>
          <p:cNvPr id="1351" name="Google Shape;135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00" y="3523248"/>
            <a:ext cx="3854451" cy="15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65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Recurrent Neural Network</a:t>
            </a:r>
            <a:endParaRPr/>
          </a:p>
        </p:txBody>
      </p:sp>
      <p:grpSp>
        <p:nvGrpSpPr>
          <p:cNvPr id="1353" name="Google Shape;1353;p65"/>
          <p:cNvGrpSpPr/>
          <p:nvPr/>
        </p:nvGrpSpPr>
        <p:grpSpPr>
          <a:xfrm>
            <a:off x="1788363" y="1314754"/>
            <a:ext cx="5593375" cy="2112592"/>
            <a:chOff x="1788363" y="1314754"/>
            <a:chExt cx="5593375" cy="2112592"/>
          </a:xfrm>
        </p:grpSpPr>
        <p:grpSp>
          <p:nvGrpSpPr>
            <p:cNvPr id="1354" name="Google Shape;1354;p65"/>
            <p:cNvGrpSpPr/>
            <p:nvPr/>
          </p:nvGrpSpPr>
          <p:grpSpPr>
            <a:xfrm>
              <a:off x="1788363" y="1343971"/>
              <a:ext cx="5567273" cy="2083375"/>
              <a:chOff x="1788363" y="1343971"/>
              <a:chExt cx="5567273" cy="2083375"/>
            </a:xfrm>
          </p:grpSpPr>
          <p:pic>
            <p:nvPicPr>
              <p:cNvPr id="1355" name="Google Shape;1355;p6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788363" y="1343971"/>
                <a:ext cx="5567273" cy="20833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56" name="Google Shape;1356;p65"/>
              <p:cNvSpPr/>
              <p:nvPr/>
            </p:nvSpPr>
            <p:spPr>
              <a:xfrm>
                <a:off x="4068375" y="2559850"/>
                <a:ext cx="127500" cy="1275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65"/>
              <p:cNvSpPr txBox="1"/>
              <p:nvPr/>
            </p:nvSpPr>
            <p:spPr>
              <a:xfrm>
                <a:off x="3989788" y="2422913"/>
                <a:ext cx="2274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419">
                    <a:latin typeface="Lato"/>
                    <a:ea typeface="Lato"/>
                    <a:cs typeface="Lato"/>
                    <a:sym typeface="Lato"/>
                  </a:rPr>
                  <a:t>+</a:t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358" name="Google Shape;1358;p65"/>
            <p:cNvSpPr txBox="1"/>
            <p:nvPr/>
          </p:nvSpPr>
          <p:spPr>
            <a:xfrm>
              <a:off x="3653000" y="1875650"/>
              <a:ext cx="767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>
                  <a:solidFill>
                    <a:srgbClr val="CC0000"/>
                  </a:solidFill>
                  <a:latin typeface="Raleway"/>
                  <a:ea typeface="Raleway"/>
                  <a:cs typeface="Raleway"/>
                  <a:sym typeface="Raleway"/>
                </a:rPr>
                <a:t>Wh</a:t>
              </a:r>
              <a:r>
                <a:rPr b="1" baseline="30000" lang="es-419">
                  <a:solidFill>
                    <a:srgbClr val="CC0000"/>
                  </a:solidFill>
                  <a:latin typeface="Raleway"/>
                  <a:ea typeface="Raleway"/>
                  <a:cs typeface="Raleway"/>
                  <a:sym typeface="Raleway"/>
                </a:rPr>
                <a:t>(t-1)</a:t>
              </a:r>
              <a:endParaRPr b="1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359" name="Google Shape;1359;p65"/>
            <p:cNvSpPr txBox="1"/>
            <p:nvPr/>
          </p:nvSpPr>
          <p:spPr>
            <a:xfrm>
              <a:off x="3702515" y="2590952"/>
              <a:ext cx="767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>
                  <a:solidFill>
                    <a:srgbClr val="CC0000"/>
                  </a:solidFill>
                  <a:latin typeface="Raleway"/>
                  <a:ea typeface="Raleway"/>
                  <a:cs typeface="Raleway"/>
                  <a:sym typeface="Raleway"/>
                </a:rPr>
                <a:t>Ux</a:t>
              </a:r>
              <a:r>
                <a:rPr b="1" baseline="30000" lang="es-419">
                  <a:solidFill>
                    <a:srgbClr val="CC0000"/>
                  </a:solidFill>
                  <a:latin typeface="Raleway"/>
                  <a:ea typeface="Raleway"/>
                  <a:cs typeface="Raleway"/>
                  <a:sym typeface="Raleway"/>
                </a:rPr>
                <a:t>(t)</a:t>
              </a:r>
              <a:endParaRPr b="1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360" name="Google Shape;1360;p65"/>
            <p:cNvSpPr txBox="1"/>
            <p:nvPr/>
          </p:nvSpPr>
          <p:spPr>
            <a:xfrm>
              <a:off x="4567400" y="1875650"/>
              <a:ext cx="767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>
                  <a:solidFill>
                    <a:srgbClr val="CC0000"/>
                  </a:solidFill>
                  <a:latin typeface="Raleway"/>
                  <a:ea typeface="Raleway"/>
                  <a:cs typeface="Raleway"/>
                  <a:sym typeface="Raleway"/>
                </a:rPr>
                <a:t>h</a:t>
              </a:r>
              <a:r>
                <a:rPr b="1" baseline="30000" lang="es-419">
                  <a:solidFill>
                    <a:srgbClr val="CC0000"/>
                  </a:solidFill>
                  <a:latin typeface="Raleway"/>
                  <a:ea typeface="Raleway"/>
                  <a:cs typeface="Raleway"/>
                  <a:sym typeface="Raleway"/>
                </a:rPr>
                <a:t>(t)</a:t>
              </a:r>
              <a:endParaRPr b="1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361" name="Google Shape;1361;p65"/>
            <p:cNvSpPr/>
            <p:nvPr/>
          </p:nvSpPr>
          <p:spPr>
            <a:xfrm>
              <a:off x="3145475" y="1327475"/>
              <a:ext cx="288600" cy="288600"/>
            </a:xfrm>
            <a:prstGeom prst="ellipse">
              <a:avLst/>
            </a:prstGeom>
            <a:solidFill>
              <a:srgbClr val="D5A6B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65"/>
            <p:cNvSpPr txBox="1"/>
            <p:nvPr/>
          </p:nvSpPr>
          <p:spPr>
            <a:xfrm>
              <a:off x="3099294" y="1314754"/>
              <a:ext cx="582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latin typeface="Raleway"/>
                  <a:ea typeface="Raleway"/>
                  <a:cs typeface="Raleway"/>
                  <a:sym typeface="Raleway"/>
                </a:rPr>
                <a:t>o</a:t>
              </a:r>
              <a:r>
                <a:rPr b="1" baseline="30000" lang="es-419" sz="1000">
                  <a:latin typeface="Raleway"/>
                  <a:ea typeface="Raleway"/>
                  <a:cs typeface="Raleway"/>
                  <a:sym typeface="Raleway"/>
                </a:rPr>
                <a:t>(t-1)</a:t>
              </a:r>
              <a:endParaRPr b="1" baseline="30000" sz="1000"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363" name="Google Shape;1363;p65"/>
            <p:cNvSpPr/>
            <p:nvPr/>
          </p:nvSpPr>
          <p:spPr>
            <a:xfrm>
              <a:off x="4974275" y="1327475"/>
              <a:ext cx="288600" cy="288600"/>
            </a:xfrm>
            <a:prstGeom prst="ellipse">
              <a:avLst/>
            </a:prstGeom>
            <a:solidFill>
              <a:srgbClr val="D5A6B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65"/>
            <p:cNvSpPr txBox="1"/>
            <p:nvPr/>
          </p:nvSpPr>
          <p:spPr>
            <a:xfrm>
              <a:off x="4928094" y="1314754"/>
              <a:ext cx="582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latin typeface="Raleway"/>
                  <a:ea typeface="Raleway"/>
                  <a:cs typeface="Raleway"/>
                  <a:sym typeface="Raleway"/>
                </a:rPr>
                <a:t>o</a:t>
              </a:r>
              <a:r>
                <a:rPr b="1" baseline="30000" lang="es-419" sz="1000">
                  <a:latin typeface="Raleway"/>
                  <a:ea typeface="Raleway"/>
                  <a:cs typeface="Raleway"/>
                  <a:sym typeface="Raleway"/>
                </a:rPr>
                <a:t>(t)</a:t>
              </a:r>
              <a:endParaRPr b="1" baseline="30000" sz="1000"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365" name="Google Shape;1365;p65"/>
            <p:cNvSpPr/>
            <p:nvPr/>
          </p:nvSpPr>
          <p:spPr>
            <a:xfrm>
              <a:off x="6845919" y="1327475"/>
              <a:ext cx="288600" cy="288600"/>
            </a:xfrm>
            <a:prstGeom prst="ellipse">
              <a:avLst/>
            </a:prstGeom>
            <a:solidFill>
              <a:srgbClr val="D5A6B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65"/>
            <p:cNvSpPr txBox="1"/>
            <p:nvPr/>
          </p:nvSpPr>
          <p:spPr>
            <a:xfrm>
              <a:off x="6799738" y="1314754"/>
              <a:ext cx="582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latin typeface="Raleway"/>
                  <a:ea typeface="Raleway"/>
                  <a:cs typeface="Raleway"/>
                  <a:sym typeface="Raleway"/>
                </a:rPr>
                <a:t>o</a:t>
              </a:r>
              <a:r>
                <a:rPr b="1" baseline="30000" lang="es-419" sz="1000">
                  <a:latin typeface="Raleway"/>
                  <a:ea typeface="Raleway"/>
                  <a:cs typeface="Raleway"/>
                  <a:sym typeface="Raleway"/>
                </a:rPr>
                <a:t>(t+1)</a:t>
              </a:r>
              <a:endParaRPr b="1" baseline="30000" sz="1000"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1367" name="Google Shape;1367;p65"/>
          <p:cNvSpPr txBox="1"/>
          <p:nvPr/>
        </p:nvSpPr>
        <p:spPr>
          <a:xfrm>
            <a:off x="5100800" y="1570850"/>
            <a:ext cx="76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68" name="Google Shape;1368;p65"/>
          <p:cNvSpPr txBox="1"/>
          <p:nvPr/>
        </p:nvSpPr>
        <p:spPr>
          <a:xfrm>
            <a:off x="3246750" y="4096088"/>
            <a:ext cx="22023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600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Los pesos son siempre los mismos, en cada step.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66"/>
          <p:cNvSpPr/>
          <p:nvPr/>
        </p:nvSpPr>
        <p:spPr>
          <a:xfrm>
            <a:off x="467588" y="3833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66"/>
          <p:cNvSpPr/>
          <p:nvPr/>
        </p:nvSpPr>
        <p:spPr>
          <a:xfrm>
            <a:off x="471225" y="28726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66"/>
          <p:cNvSpPr/>
          <p:nvPr/>
        </p:nvSpPr>
        <p:spPr>
          <a:xfrm flipH="1">
            <a:off x="769680" y="2831798"/>
            <a:ext cx="706200" cy="679200"/>
          </a:xfrm>
          <a:prstGeom prst="arc">
            <a:avLst>
              <a:gd fmla="val 2258622" name="adj1"/>
              <a:gd fmla="val 18013119" name="adj2"/>
            </a:avLst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1376" name="Google Shape;1376;p66"/>
          <p:cNvCxnSpPr/>
          <p:nvPr/>
        </p:nvCxnSpPr>
        <p:spPr>
          <a:xfrm rot="10800000">
            <a:off x="716639" y="33405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7" name="Google Shape;1377;p66"/>
          <p:cNvCxnSpPr>
            <a:stCxn id="1374" idx="0"/>
          </p:cNvCxnSpPr>
          <p:nvPr/>
        </p:nvCxnSpPr>
        <p:spPr>
          <a:xfrm rot="10800000">
            <a:off x="705225" y="24346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8" name="Google Shape;1378;p66"/>
          <p:cNvSpPr txBox="1"/>
          <p:nvPr/>
        </p:nvSpPr>
        <p:spPr>
          <a:xfrm>
            <a:off x="457950" y="28318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379" name="Google Shape;1379;p66"/>
          <p:cNvSpPr txBox="1"/>
          <p:nvPr/>
        </p:nvSpPr>
        <p:spPr>
          <a:xfrm>
            <a:off x="454313" y="3792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380" name="Google Shape;1380;p66"/>
          <p:cNvSpPr txBox="1"/>
          <p:nvPr/>
        </p:nvSpPr>
        <p:spPr>
          <a:xfrm>
            <a:off x="476000" y="1911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381" name="Google Shape;1381;p66"/>
          <p:cNvSpPr/>
          <p:nvPr/>
        </p:nvSpPr>
        <p:spPr>
          <a:xfrm>
            <a:off x="489275" y="1952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66"/>
          <p:cNvSpPr txBox="1"/>
          <p:nvPr/>
        </p:nvSpPr>
        <p:spPr>
          <a:xfrm>
            <a:off x="1176500" y="1341550"/>
            <a:ext cx="35034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onsolas"/>
                <a:ea typeface="Consolas"/>
                <a:cs typeface="Consolas"/>
                <a:sym typeface="Consolas"/>
              </a:rPr>
              <a:t>Cuando llegue a casa me tengo que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onsolas"/>
                <a:ea typeface="Consolas"/>
                <a:cs typeface="Consolas"/>
                <a:sym typeface="Consolas"/>
              </a:rPr>
              <a:t>acordar de darle de comer al ____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3" name="Google Shape;1383;p66"/>
          <p:cNvSpPr txBox="1"/>
          <p:nvPr/>
        </p:nvSpPr>
        <p:spPr>
          <a:xfrm>
            <a:off x="4755975" y="118975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4" name="Google Shape;138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150" y="2497650"/>
            <a:ext cx="3293957" cy="13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66"/>
          <p:cNvSpPr txBox="1"/>
          <p:nvPr>
            <p:ph type="title"/>
          </p:nvPr>
        </p:nvSpPr>
        <p:spPr>
          <a:xfrm>
            <a:off x="729450" y="556650"/>
            <a:ext cx="7556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Recurrent Neural Network</a:t>
            </a:r>
            <a:endParaRPr/>
          </a:p>
        </p:txBody>
      </p:sp>
      <p:sp>
        <p:nvSpPr>
          <p:cNvPr id="1386" name="Google Shape;1386;p66"/>
          <p:cNvSpPr txBox="1"/>
          <p:nvPr/>
        </p:nvSpPr>
        <p:spPr>
          <a:xfrm>
            <a:off x="5550450" y="1148475"/>
            <a:ext cx="31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ŷ</a:t>
            </a:r>
            <a:r>
              <a:rPr b="1" baseline="-25000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b="1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 = p(gato | … darle de comer al)</a:t>
            </a:r>
            <a:endParaRPr b="1">
              <a:solidFill>
                <a:srgbClr val="A64D7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87" name="Google Shape;1387;p66"/>
          <p:cNvSpPr txBox="1"/>
          <p:nvPr/>
        </p:nvSpPr>
        <p:spPr>
          <a:xfrm>
            <a:off x="620993" y="2556625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88" name="Google Shape;1388;p66"/>
          <p:cNvSpPr txBox="1"/>
          <p:nvPr/>
        </p:nvSpPr>
        <p:spPr>
          <a:xfrm>
            <a:off x="1095900" y="302860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89" name="Google Shape;1389;p66"/>
          <p:cNvSpPr txBox="1"/>
          <p:nvPr/>
        </p:nvSpPr>
        <p:spPr>
          <a:xfrm>
            <a:off x="643382" y="3490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67"/>
          <p:cNvSpPr/>
          <p:nvPr/>
        </p:nvSpPr>
        <p:spPr>
          <a:xfrm>
            <a:off x="467588" y="3833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67"/>
          <p:cNvSpPr/>
          <p:nvPr/>
        </p:nvSpPr>
        <p:spPr>
          <a:xfrm>
            <a:off x="471225" y="28726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67"/>
          <p:cNvSpPr/>
          <p:nvPr/>
        </p:nvSpPr>
        <p:spPr>
          <a:xfrm flipH="1">
            <a:off x="769680" y="2831798"/>
            <a:ext cx="706200" cy="679200"/>
          </a:xfrm>
          <a:prstGeom prst="arc">
            <a:avLst>
              <a:gd fmla="val 2258622" name="adj1"/>
              <a:gd fmla="val 18013119" name="adj2"/>
            </a:avLst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1397" name="Google Shape;1397;p67"/>
          <p:cNvCxnSpPr/>
          <p:nvPr/>
        </p:nvCxnSpPr>
        <p:spPr>
          <a:xfrm rot="10800000">
            <a:off x="716639" y="33405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8" name="Google Shape;1398;p67"/>
          <p:cNvCxnSpPr>
            <a:stCxn id="1395" idx="0"/>
          </p:cNvCxnSpPr>
          <p:nvPr/>
        </p:nvCxnSpPr>
        <p:spPr>
          <a:xfrm rot="10800000">
            <a:off x="705225" y="24346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9" name="Google Shape;1399;p67"/>
          <p:cNvSpPr txBox="1"/>
          <p:nvPr/>
        </p:nvSpPr>
        <p:spPr>
          <a:xfrm>
            <a:off x="457950" y="28318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400" name="Google Shape;1400;p67"/>
          <p:cNvSpPr txBox="1"/>
          <p:nvPr/>
        </p:nvSpPr>
        <p:spPr>
          <a:xfrm>
            <a:off x="454313" y="3792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401" name="Google Shape;1401;p67"/>
          <p:cNvSpPr txBox="1"/>
          <p:nvPr/>
        </p:nvSpPr>
        <p:spPr>
          <a:xfrm>
            <a:off x="476000" y="1911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402" name="Google Shape;1402;p67"/>
          <p:cNvSpPr/>
          <p:nvPr/>
        </p:nvSpPr>
        <p:spPr>
          <a:xfrm>
            <a:off x="489275" y="1952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67"/>
          <p:cNvSpPr/>
          <p:nvPr/>
        </p:nvSpPr>
        <p:spPr>
          <a:xfrm>
            <a:off x="2082338" y="29496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67"/>
          <p:cNvSpPr txBox="1"/>
          <p:nvPr/>
        </p:nvSpPr>
        <p:spPr>
          <a:xfrm>
            <a:off x="2072881" y="297462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>
                <a:solidFill>
                  <a:schemeClr val="dk1"/>
                </a:solidFill>
              </a:rPr>
              <a:t>1...</a:t>
            </a:r>
            <a:endParaRPr/>
          </a:p>
        </p:txBody>
      </p:sp>
      <p:sp>
        <p:nvSpPr>
          <p:cNvPr id="1405" name="Google Shape;1405;p67"/>
          <p:cNvSpPr/>
          <p:nvPr/>
        </p:nvSpPr>
        <p:spPr>
          <a:xfrm>
            <a:off x="1526475" y="3073025"/>
            <a:ext cx="4740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67"/>
          <p:cNvSpPr txBox="1"/>
          <p:nvPr/>
        </p:nvSpPr>
        <p:spPr>
          <a:xfrm>
            <a:off x="4833500" y="125867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67"/>
          <p:cNvSpPr txBox="1"/>
          <p:nvPr/>
        </p:nvSpPr>
        <p:spPr>
          <a:xfrm>
            <a:off x="4755975" y="118975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8" name="Google Shape;140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150" y="2497650"/>
            <a:ext cx="3293957" cy="13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9" name="Google Shape;1409;p67"/>
          <p:cNvSpPr txBox="1"/>
          <p:nvPr>
            <p:ph type="title"/>
          </p:nvPr>
        </p:nvSpPr>
        <p:spPr>
          <a:xfrm>
            <a:off x="729450" y="556650"/>
            <a:ext cx="7556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Recurrent Neural Network</a:t>
            </a:r>
            <a:endParaRPr/>
          </a:p>
        </p:txBody>
      </p:sp>
      <p:cxnSp>
        <p:nvCxnSpPr>
          <p:cNvPr id="1410" name="Google Shape;1410;p67"/>
          <p:cNvCxnSpPr/>
          <p:nvPr/>
        </p:nvCxnSpPr>
        <p:spPr>
          <a:xfrm>
            <a:off x="2565794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1" name="Google Shape;1411;p67"/>
          <p:cNvSpPr txBox="1"/>
          <p:nvPr/>
        </p:nvSpPr>
        <p:spPr>
          <a:xfrm>
            <a:off x="2469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12" name="Google Shape;1412;p67"/>
          <p:cNvSpPr/>
          <p:nvPr/>
        </p:nvSpPr>
        <p:spPr>
          <a:xfrm>
            <a:off x="2088806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13" name="Google Shape;1413;p67"/>
          <p:cNvCxnSpPr/>
          <p:nvPr/>
        </p:nvCxnSpPr>
        <p:spPr>
          <a:xfrm rot="10800000">
            <a:off x="2337858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4" name="Google Shape;1414;p67"/>
          <p:cNvSpPr txBox="1"/>
          <p:nvPr/>
        </p:nvSpPr>
        <p:spPr>
          <a:xfrm>
            <a:off x="2075531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sp>
        <p:nvSpPr>
          <p:cNvPr id="1415" name="Google Shape;1415;p67"/>
          <p:cNvSpPr txBox="1"/>
          <p:nvPr/>
        </p:nvSpPr>
        <p:spPr>
          <a:xfrm>
            <a:off x="1759803" y="4424950"/>
            <a:ext cx="1148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darle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416" name="Google Shape;1416;p67"/>
          <p:cNvSpPr txBox="1"/>
          <p:nvPr/>
        </p:nvSpPr>
        <p:spPr>
          <a:xfrm>
            <a:off x="2286426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17" name="Google Shape;1417;p67"/>
          <p:cNvSpPr txBox="1"/>
          <p:nvPr/>
        </p:nvSpPr>
        <p:spPr>
          <a:xfrm>
            <a:off x="5550450" y="1148475"/>
            <a:ext cx="31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ŷ</a:t>
            </a:r>
            <a:r>
              <a:rPr b="1" baseline="-25000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b="1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 = p(gato | … darle de comer al)</a:t>
            </a:r>
            <a:endParaRPr b="1">
              <a:solidFill>
                <a:srgbClr val="A64D7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18" name="Google Shape;1418;p67"/>
          <p:cNvSpPr txBox="1"/>
          <p:nvPr/>
        </p:nvSpPr>
        <p:spPr>
          <a:xfrm>
            <a:off x="1176500" y="1341550"/>
            <a:ext cx="35034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onsolas"/>
                <a:ea typeface="Consolas"/>
                <a:cs typeface="Consolas"/>
                <a:sym typeface="Consolas"/>
              </a:rPr>
              <a:t>Cuando llegue a casa me tengo que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onsolas"/>
                <a:ea typeface="Consolas"/>
                <a:cs typeface="Consolas"/>
                <a:sym typeface="Consolas"/>
              </a:rPr>
              <a:t>acordar de darle de comer al ____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9" name="Google Shape;1419;p67"/>
          <p:cNvSpPr txBox="1"/>
          <p:nvPr/>
        </p:nvSpPr>
        <p:spPr>
          <a:xfrm>
            <a:off x="620993" y="2556625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20" name="Google Shape;1420;p67"/>
          <p:cNvSpPr txBox="1"/>
          <p:nvPr/>
        </p:nvSpPr>
        <p:spPr>
          <a:xfrm>
            <a:off x="1095900" y="302860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21" name="Google Shape;1421;p67"/>
          <p:cNvSpPr txBox="1"/>
          <p:nvPr/>
        </p:nvSpPr>
        <p:spPr>
          <a:xfrm>
            <a:off x="643382" y="3490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22" name="Google Shape;1422;p67"/>
          <p:cNvSpPr txBox="1"/>
          <p:nvPr/>
        </p:nvSpPr>
        <p:spPr>
          <a:xfrm>
            <a:off x="2718200" y="3920725"/>
            <a:ext cx="5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...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68"/>
          <p:cNvSpPr/>
          <p:nvPr/>
        </p:nvSpPr>
        <p:spPr>
          <a:xfrm>
            <a:off x="467588" y="3833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68"/>
          <p:cNvSpPr/>
          <p:nvPr/>
        </p:nvSpPr>
        <p:spPr>
          <a:xfrm>
            <a:off x="471225" y="28726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68"/>
          <p:cNvSpPr/>
          <p:nvPr/>
        </p:nvSpPr>
        <p:spPr>
          <a:xfrm flipH="1">
            <a:off x="769680" y="2831798"/>
            <a:ext cx="706200" cy="679200"/>
          </a:xfrm>
          <a:prstGeom prst="arc">
            <a:avLst>
              <a:gd fmla="val 2258622" name="adj1"/>
              <a:gd fmla="val 18013119" name="adj2"/>
            </a:avLst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1430" name="Google Shape;1430;p68"/>
          <p:cNvCxnSpPr/>
          <p:nvPr/>
        </p:nvCxnSpPr>
        <p:spPr>
          <a:xfrm rot="10800000">
            <a:off x="716639" y="33405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1" name="Google Shape;1431;p68"/>
          <p:cNvCxnSpPr>
            <a:stCxn id="1428" idx="0"/>
          </p:cNvCxnSpPr>
          <p:nvPr/>
        </p:nvCxnSpPr>
        <p:spPr>
          <a:xfrm rot="10800000">
            <a:off x="705225" y="24346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2" name="Google Shape;1432;p68"/>
          <p:cNvSpPr txBox="1"/>
          <p:nvPr/>
        </p:nvSpPr>
        <p:spPr>
          <a:xfrm>
            <a:off x="457950" y="28318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433" name="Google Shape;1433;p68"/>
          <p:cNvSpPr txBox="1"/>
          <p:nvPr/>
        </p:nvSpPr>
        <p:spPr>
          <a:xfrm>
            <a:off x="454313" y="3792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434" name="Google Shape;1434;p68"/>
          <p:cNvSpPr txBox="1"/>
          <p:nvPr/>
        </p:nvSpPr>
        <p:spPr>
          <a:xfrm>
            <a:off x="476000" y="1911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435" name="Google Shape;1435;p68"/>
          <p:cNvSpPr/>
          <p:nvPr/>
        </p:nvSpPr>
        <p:spPr>
          <a:xfrm>
            <a:off x="489275" y="1952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68"/>
          <p:cNvSpPr/>
          <p:nvPr/>
        </p:nvSpPr>
        <p:spPr>
          <a:xfrm>
            <a:off x="31889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68"/>
          <p:cNvSpPr/>
          <p:nvPr/>
        </p:nvSpPr>
        <p:spPr>
          <a:xfrm>
            <a:off x="31926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38" name="Google Shape;1438;p68"/>
          <p:cNvCxnSpPr/>
          <p:nvPr/>
        </p:nvCxnSpPr>
        <p:spPr>
          <a:xfrm rot="10800000">
            <a:off x="34380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9" name="Google Shape;1439;p68"/>
          <p:cNvSpPr txBox="1"/>
          <p:nvPr/>
        </p:nvSpPr>
        <p:spPr>
          <a:xfrm>
            <a:off x="317932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1440" name="Google Shape;1440;p68"/>
          <p:cNvSpPr txBox="1"/>
          <p:nvPr/>
        </p:nvSpPr>
        <p:spPr>
          <a:xfrm>
            <a:off x="3175688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1441" name="Google Shape;1441;p68"/>
          <p:cNvCxnSpPr/>
          <p:nvPr/>
        </p:nvCxnSpPr>
        <p:spPr>
          <a:xfrm>
            <a:off x="2987275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2" name="Google Shape;1442;p68"/>
          <p:cNvSpPr/>
          <p:nvPr/>
        </p:nvSpPr>
        <p:spPr>
          <a:xfrm>
            <a:off x="2082338" y="29496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68"/>
          <p:cNvSpPr txBox="1"/>
          <p:nvPr/>
        </p:nvSpPr>
        <p:spPr>
          <a:xfrm>
            <a:off x="2072881" y="297462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>
                <a:solidFill>
                  <a:schemeClr val="dk1"/>
                </a:solidFill>
              </a:rPr>
              <a:t>1...</a:t>
            </a:r>
            <a:endParaRPr/>
          </a:p>
        </p:txBody>
      </p:sp>
      <p:cxnSp>
        <p:nvCxnSpPr>
          <p:cNvPr id="1444" name="Google Shape;1444;p68"/>
          <p:cNvCxnSpPr/>
          <p:nvPr/>
        </p:nvCxnSpPr>
        <p:spPr>
          <a:xfrm>
            <a:off x="3664225" y="31869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5" name="Google Shape;1445;p68"/>
          <p:cNvSpPr txBox="1"/>
          <p:nvPr/>
        </p:nvSpPr>
        <p:spPr>
          <a:xfrm>
            <a:off x="30509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446" name="Google Shape;1446;p68"/>
          <p:cNvSpPr/>
          <p:nvPr/>
        </p:nvSpPr>
        <p:spPr>
          <a:xfrm>
            <a:off x="1526475" y="3073025"/>
            <a:ext cx="4740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7" name="Google Shape;144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150" y="2497650"/>
            <a:ext cx="3293957" cy="13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68"/>
          <p:cNvSpPr txBox="1"/>
          <p:nvPr>
            <p:ph type="title"/>
          </p:nvPr>
        </p:nvSpPr>
        <p:spPr>
          <a:xfrm>
            <a:off x="729450" y="556650"/>
            <a:ext cx="7556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Recurrent Neural Network</a:t>
            </a:r>
            <a:endParaRPr/>
          </a:p>
        </p:txBody>
      </p:sp>
      <p:sp>
        <p:nvSpPr>
          <p:cNvPr id="1449" name="Google Shape;1449;p68"/>
          <p:cNvSpPr txBox="1"/>
          <p:nvPr/>
        </p:nvSpPr>
        <p:spPr>
          <a:xfrm>
            <a:off x="2850366" y="27282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50" name="Google Shape;1450;p68"/>
          <p:cNvSpPr txBox="1"/>
          <p:nvPr/>
        </p:nvSpPr>
        <p:spPr>
          <a:xfrm>
            <a:off x="3386582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451" name="Google Shape;1451;p68"/>
          <p:cNvCxnSpPr/>
          <p:nvPr/>
        </p:nvCxnSpPr>
        <p:spPr>
          <a:xfrm>
            <a:off x="2565794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2" name="Google Shape;1452;p68"/>
          <p:cNvSpPr txBox="1"/>
          <p:nvPr/>
        </p:nvSpPr>
        <p:spPr>
          <a:xfrm>
            <a:off x="2718200" y="2930125"/>
            <a:ext cx="5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...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3" name="Google Shape;1453;p68"/>
          <p:cNvSpPr txBox="1"/>
          <p:nvPr/>
        </p:nvSpPr>
        <p:spPr>
          <a:xfrm>
            <a:off x="2469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54" name="Google Shape;1454;p68"/>
          <p:cNvSpPr/>
          <p:nvPr/>
        </p:nvSpPr>
        <p:spPr>
          <a:xfrm>
            <a:off x="2088806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5" name="Google Shape;1455;p68"/>
          <p:cNvCxnSpPr/>
          <p:nvPr/>
        </p:nvCxnSpPr>
        <p:spPr>
          <a:xfrm rot="10800000">
            <a:off x="2337858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6" name="Google Shape;1456;p68"/>
          <p:cNvSpPr txBox="1"/>
          <p:nvPr/>
        </p:nvSpPr>
        <p:spPr>
          <a:xfrm>
            <a:off x="1759803" y="4424950"/>
            <a:ext cx="1148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darle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457" name="Google Shape;1457;p68"/>
          <p:cNvSpPr txBox="1"/>
          <p:nvPr/>
        </p:nvSpPr>
        <p:spPr>
          <a:xfrm>
            <a:off x="2286426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58" name="Google Shape;1458;p68"/>
          <p:cNvSpPr txBox="1"/>
          <p:nvPr/>
        </p:nvSpPr>
        <p:spPr>
          <a:xfrm>
            <a:off x="3612366" y="27282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59" name="Google Shape;1459;p68"/>
          <p:cNvSpPr txBox="1"/>
          <p:nvPr/>
        </p:nvSpPr>
        <p:spPr>
          <a:xfrm>
            <a:off x="5550450" y="1148475"/>
            <a:ext cx="31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ŷ</a:t>
            </a:r>
            <a:r>
              <a:rPr b="1" baseline="-25000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b="1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 = p(gato | … darle de comer al)</a:t>
            </a:r>
            <a:endParaRPr b="1">
              <a:solidFill>
                <a:srgbClr val="A64D7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60" name="Google Shape;1460;p68"/>
          <p:cNvSpPr txBox="1"/>
          <p:nvPr/>
        </p:nvSpPr>
        <p:spPr>
          <a:xfrm>
            <a:off x="1176500" y="1341550"/>
            <a:ext cx="35034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onsolas"/>
                <a:ea typeface="Consolas"/>
                <a:cs typeface="Consolas"/>
                <a:sym typeface="Consolas"/>
              </a:rPr>
              <a:t>Cuando llegue a casa me tengo que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onsolas"/>
                <a:ea typeface="Consolas"/>
                <a:cs typeface="Consolas"/>
                <a:sym typeface="Consolas"/>
              </a:rPr>
              <a:t>acordar de darle de comer al ____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1" name="Google Shape;1461;p68"/>
          <p:cNvSpPr txBox="1"/>
          <p:nvPr/>
        </p:nvSpPr>
        <p:spPr>
          <a:xfrm>
            <a:off x="620993" y="2556625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62" name="Google Shape;1462;p68"/>
          <p:cNvSpPr txBox="1"/>
          <p:nvPr/>
        </p:nvSpPr>
        <p:spPr>
          <a:xfrm>
            <a:off x="1095900" y="302860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63" name="Google Shape;1463;p68"/>
          <p:cNvSpPr txBox="1"/>
          <p:nvPr/>
        </p:nvSpPr>
        <p:spPr>
          <a:xfrm>
            <a:off x="643382" y="3490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64" name="Google Shape;1464;p68"/>
          <p:cNvSpPr txBox="1"/>
          <p:nvPr/>
        </p:nvSpPr>
        <p:spPr>
          <a:xfrm>
            <a:off x="2075531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sp>
        <p:nvSpPr>
          <p:cNvPr id="1465" name="Google Shape;1465;p68"/>
          <p:cNvSpPr txBox="1"/>
          <p:nvPr/>
        </p:nvSpPr>
        <p:spPr>
          <a:xfrm>
            <a:off x="2718200" y="3920725"/>
            <a:ext cx="5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...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69"/>
          <p:cNvSpPr/>
          <p:nvPr/>
        </p:nvSpPr>
        <p:spPr>
          <a:xfrm>
            <a:off x="467588" y="3833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69"/>
          <p:cNvSpPr/>
          <p:nvPr/>
        </p:nvSpPr>
        <p:spPr>
          <a:xfrm>
            <a:off x="471225" y="28726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69"/>
          <p:cNvSpPr/>
          <p:nvPr/>
        </p:nvSpPr>
        <p:spPr>
          <a:xfrm flipH="1">
            <a:off x="769680" y="2831798"/>
            <a:ext cx="706200" cy="679200"/>
          </a:xfrm>
          <a:prstGeom prst="arc">
            <a:avLst>
              <a:gd fmla="val 2258622" name="adj1"/>
              <a:gd fmla="val 18013119" name="adj2"/>
            </a:avLst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1473" name="Google Shape;1473;p69"/>
          <p:cNvCxnSpPr/>
          <p:nvPr/>
        </p:nvCxnSpPr>
        <p:spPr>
          <a:xfrm rot="10800000">
            <a:off x="716639" y="33405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4" name="Google Shape;1474;p69"/>
          <p:cNvCxnSpPr>
            <a:stCxn id="1471" idx="0"/>
          </p:cNvCxnSpPr>
          <p:nvPr/>
        </p:nvCxnSpPr>
        <p:spPr>
          <a:xfrm rot="10800000">
            <a:off x="705225" y="24346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5" name="Google Shape;1475;p69"/>
          <p:cNvSpPr txBox="1"/>
          <p:nvPr/>
        </p:nvSpPr>
        <p:spPr>
          <a:xfrm>
            <a:off x="457950" y="28318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476" name="Google Shape;1476;p69"/>
          <p:cNvSpPr txBox="1"/>
          <p:nvPr/>
        </p:nvSpPr>
        <p:spPr>
          <a:xfrm>
            <a:off x="454313" y="3792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477" name="Google Shape;1477;p69"/>
          <p:cNvSpPr txBox="1"/>
          <p:nvPr/>
        </p:nvSpPr>
        <p:spPr>
          <a:xfrm>
            <a:off x="476000" y="1911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478" name="Google Shape;1478;p69"/>
          <p:cNvSpPr/>
          <p:nvPr/>
        </p:nvSpPr>
        <p:spPr>
          <a:xfrm>
            <a:off x="489275" y="1952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69"/>
          <p:cNvSpPr/>
          <p:nvPr/>
        </p:nvSpPr>
        <p:spPr>
          <a:xfrm>
            <a:off x="31889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69"/>
          <p:cNvSpPr/>
          <p:nvPr/>
        </p:nvSpPr>
        <p:spPr>
          <a:xfrm>
            <a:off x="31926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81" name="Google Shape;1481;p69"/>
          <p:cNvCxnSpPr/>
          <p:nvPr/>
        </p:nvCxnSpPr>
        <p:spPr>
          <a:xfrm rot="10800000">
            <a:off x="34380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2" name="Google Shape;1482;p69"/>
          <p:cNvSpPr txBox="1"/>
          <p:nvPr/>
        </p:nvSpPr>
        <p:spPr>
          <a:xfrm>
            <a:off x="317932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1483" name="Google Shape;1483;p69"/>
          <p:cNvSpPr txBox="1"/>
          <p:nvPr/>
        </p:nvSpPr>
        <p:spPr>
          <a:xfrm>
            <a:off x="3175688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1484" name="Google Shape;1484;p69"/>
          <p:cNvCxnSpPr/>
          <p:nvPr/>
        </p:nvCxnSpPr>
        <p:spPr>
          <a:xfrm>
            <a:off x="2987275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5" name="Google Shape;1485;p69"/>
          <p:cNvSpPr/>
          <p:nvPr/>
        </p:nvSpPr>
        <p:spPr>
          <a:xfrm>
            <a:off x="2082338" y="29496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69"/>
          <p:cNvSpPr txBox="1"/>
          <p:nvPr/>
        </p:nvSpPr>
        <p:spPr>
          <a:xfrm>
            <a:off x="2072881" y="297462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>
                <a:solidFill>
                  <a:schemeClr val="dk1"/>
                </a:solidFill>
              </a:rPr>
              <a:t>1...</a:t>
            </a:r>
            <a:endParaRPr/>
          </a:p>
        </p:txBody>
      </p:sp>
      <p:sp>
        <p:nvSpPr>
          <p:cNvPr id="1487" name="Google Shape;1487;p69"/>
          <p:cNvSpPr/>
          <p:nvPr/>
        </p:nvSpPr>
        <p:spPr>
          <a:xfrm>
            <a:off x="404071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69"/>
          <p:cNvSpPr/>
          <p:nvPr/>
        </p:nvSpPr>
        <p:spPr>
          <a:xfrm>
            <a:off x="404435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89" name="Google Shape;1489;p69"/>
          <p:cNvCxnSpPr/>
          <p:nvPr/>
        </p:nvCxnSpPr>
        <p:spPr>
          <a:xfrm rot="10800000">
            <a:off x="428976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0" name="Google Shape;1490;p69"/>
          <p:cNvSpPr txBox="1"/>
          <p:nvPr/>
        </p:nvSpPr>
        <p:spPr>
          <a:xfrm>
            <a:off x="403107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sp>
        <p:nvSpPr>
          <p:cNvPr id="1491" name="Google Shape;1491;p69"/>
          <p:cNvSpPr txBox="1"/>
          <p:nvPr/>
        </p:nvSpPr>
        <p:spPr>
          <a:xfrm>
            <a:off x="4027438" y="3902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1492" name="Google Shape;1492;p69"/>
          <p:cNvCxnSpPr/>
          <p:nvPr/>
        </p:nvCxnSpPr>
        <p:spPr>
          <a:xfrm>
            <a:off x="3664225" y="31869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3" name="Google Shape;1493;p69"/>
          <p:cNvCxnSpPr/>
          <p:nvPr/>
        </p:nvCxnSpPr>
        <p:spPr>
          <a:xfrm>
            <a:off x="4515975" y="317140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4" name="Google Shape;1494;p69"/>
          <p:cNvSpPr txBox="1"/>
          <p:nvPr/>
        </p:nvSpPr>
        <p:spPr>
          <a:xfrm>
            <a:off x="30509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495" name="Google Shape;1495;p69"/>
          <p:cNvSpPr txBox="1"/>
          <p:nvPr/>
        </p:nvSpPr>
        <p:spPr>
          <a:xfrm>
            <a:off x="3913000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comer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496" name="Google Shape;1496;p69"/>
          <p:cNvSpPr/>
          <p:nvPr/>
        </p:nvSpPr>
        <p:spPr>
          <a:xfrm>
            <a:off x="1526475" y="3073025"/>
            <a:ext cx="4740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7" name="Google Shape;149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150" y="2497650"/>
            <a:ext cx="3293957" cy="13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8" name="Google Shape;1498;p69"/>
          <p:cNvSpPr txBox="1"/>
          <p:nvPr>
            <p:ph type="title"/>
          </p:nvPr>
        </p:nvSpPr>
        <p:spPr>
          <a:xfrm>
            <a:off x="729450" y="556650"/>
            <a:ext cx="7556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Recurrent Neural Network</a:t>
            </a:r>
            <a:endParaRPr/>
          </a:p>
        </p:txBody>
      </p:sp>
      <p:sp>
        <p:nvSpPr>
          <p:cNvPr id="1499" name="Google Shape;1499;p69"/>
          <p:cNvSpPr txBox="1"/>
          <p:nvPr/>
        </p:nvSpPr>
        <p:spPr>
          <a:xfrm>
            <a:off x="2850366" y="27282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00" name="Google Shape;1500;p69"/>
          <p:cNvSpPr txBox="1"/>
          <p:nvPr/>
        </p:nvSpPr>
        <p:spPr>
          <a:xfrm>
            <a:off x="3612366" y="27282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01" name="Google Shape;1501;p69"/>
          <p:cNvSpPr txBox="1"/>
          <p:nvPr/>
        </p:nvSpPr>
        <p:spPr>
          <a:xfrm>
            <a:off x="4500081" y="27282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02" name="Google Shape;1502;p69"/>
          <p:cNvSpPr txBox="1"/>
          <p:nvPr/>
        </p:nvSpPr>
        <p:spPr>
          <a:xfrm>
            <a:off x="3386582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03" name="Google Shape;1503;p69"/>
          <p:cNvSpPr txBox="1"/>
          <p:nvPr/>
        </p:nvSpPr>
        <p:spPr>
          <a:xfrm>
            <a:off x="4224782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504" name="Google Shape;1504;p69"/>
          <p:cNvCxnSpPr/>
          <p:nvPr/>
        </p:nvCxnSpPr>
        <p:spPr>
          <a:xfrm>
            <a:off x="2565794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5" name="Google Shape;1505;p69"/>
          <p:cNvSpPr txBox="1"/>
          <p:nvPr/>
        </p:nvSpPr>
        <p:spPr>
          <a:xfrm>
            <a:off x="2718200" y="2930125"/>
            <a:ext cx="5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...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6" name="Google Shape;1506;p69"/>
          <p:cNvSpPr txBox="1"/>
          <p:nvPr/>
        </p:nvSpPr>
        <p:spPr>
          <a:xfrm>
            <a:off x="2469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07" name="Google Shape;1507;p69"/>
          <p:cNvSpPr/>
          <p:nvPr/>
        </p:nvSpPr>
        <p:spPr>
          <a:xfrm>
            <a:off x="2088806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08" name="Google Shape;1508;p69"/>
          <p:cNvCxnSpPr/>
          <p:nvPr/>
        </p:nvCxnSpPr>
        <p:spPr>
          <a:xfrm rot="10800000">
            <a:off x="2337858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9" name="Google Shape;1509;p69"/>
          <p:cNvSpPr txBox="1"/>
          <p:nvPr/>
        </p:nvSpPr>
        <p:spPr>
          <a:xfrm>
            <a:off x="1759803" y="4424950"/>
            <a:ext cx="1148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darle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510" name="Google Shape;1510;p69"/>
          <p:cNvSpPr txBox="1"/>
          <p:nvPr/>
        </p:nvSpPr>
        <p:spPr>
          <a:xfrm>
            <a:off x="2286426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11" name="Google Shape;1511;p69"/>
          <p:cNvSpPr txBox="1"/>
          <p:nvPr/>
        </p:nvSpPr>
        <p:spPr>
          <a:xfrm>
            <a:off x="5550450" y="1148475"/>
            <a:ext cx="31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ŷ</a:t>
            </a:r>
            <a:r>
              <a:rPr b="1" baseline="-25000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b="1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 = p(gato | … darle de comer al)</a:t>
            </a:r>
            <a:endParaRPr b="1">
              <a:solidFill>
                <a:srgbClr val="A64D7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12" name="Google Shape;1512;p69"/>
          <p:cNvSpPr txBox="1"/>
          <p:nvPr/>
        </p:nvSpPr>
        <p:spPr>
          <a:xfrm>
            <a:off x="1176500" y="1341550"/>
            <a:ext cx="35034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onsolas"/>
                <a:ea typeface="Consolas"/>
                <a:cs typeface="Consolas"/>
                <a:sym typeface="Consolas"/>
              </a:rPr>
              <a:t>Cuando llegue a casa me tengo que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onsolas"/>
                <a:ea typeface="Consolas"/>
                <a:cs typeface="Consolas"/>
                <a:sym typeface="Consolas"/>
              </a:rPr>
              <a:t>acordar de darle de comer al ____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3" name="Google Shape;1513;p69"/>
          <p:cNvSpPr txBox="1"/>
          <p:nvPr/>
        </p:nvSpPr>
        <p:spPr>
          <a:xfrm>
            <a:off x="620993" y="2556625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14" name="Google Shape;1514;p69"/>
          <p:cNvSpPr txBox="1"/>
          <p:nvPr/>
        </p:nvSpPr>
        <p:spPr>
          <a:xfrm>
            <a:off x="1095900" y="302860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15" name="Google Shape;1515;p69"/>
          <p:cNvSpPr txBox="1"/>
          <p:nvPr/>
        </p:nvSpPr>
        <p:spPr>
          <a:xfrm>
            <a:off x="643382" y="3490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16" name="Google Shape;1516;p69"/>
          <p:cNvSpPr txBox="1"/>
          <p:nvPr/>
        </p:nvSpPr>
        <p:spPr>
          <a:xfrm>
            <a:off x="2075531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sp>
        <p:nvSpPr>
          <p:cNvPr id="1517" name="Google Shape;1517;p69"/>
          <p:cNvSpPr txBox="1"/>
          <p:nvPr/>
        </p:nvSpPr>
        <p:spPr>
          <a:xfrm>
            <a:off x="2718200" y="3920725"/>
            <a:ext cx="5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...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70"/>
          <p:cNvSpPr txBox="1"/>
          <p:nvPr/>
        </p:nvSpPr>
        <p:spPr>
          <a:xfrm>
            <a:off x="4879188" y="3900344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1523" name="Google Shape;1523;p70"/>
          <p:cNvSpPr/>
          <p:nvPr/>
        </p:nvSpPr>
        <p:spPr>
          <a:xfrm>
            <a:off x="467588" y="3833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70"/>
          <p:cNvSpPr/>
          <p:nvPr/>
        </p:nvSpPr>
        <p:spPr>
          <a:xfrm>
            <a:off x="471225" y="28726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70"/>
          <p:cNvSpPr/>
          <p:nvPr/>
        </p:nvSpPr>
        <p:spPr>
          <a:xfrm flipH="1">
            <a:off x="769680" y="2831798"/>
            <a:ext cx="706200" cy="679200"/>
          </a:xfrm>
          <a:prstGeom prst="arc">
            <a:avLst>
              <a:gd fmla="val 2258622" name="adj1"/>
              <a:gd fmla="val 18013119" name="adj2"/>
            </a:avLst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1526" name="Google Shape;1526;p70"/>
          <p:cNvCxnSpPr/>
          <p:nvPr/>
        </p:nvCxnSpPr>
        <p:spPr>
          <a:xfrm rot="10800000">
            <a:off x="716639" y="33405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7" name="Google Shape;1527;p70"/>
          <p:cNvCxnSpPr>
            <a:stCxn id="1524" idx="0"/>
          </p:cNvCxnSpPr>
          <p:nvPr/>
        </p:nvCxnSpPr>
        <p:spPr>
          <a:xfrm rot="10800000">
            <a:off x="705225" y="24346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8" name="Google Shape;1528;p70"/>
          <p:cNvSpPr txBox="1"/>
          <p:nvPr/>
        </p:nvSpPr>
        <p:spPr>
          <a:xfrm>
            <a:off x="457950" y="28318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529" name="Google Shape;1529;p70"/>
          <p:cNvSpPr txBox="1"/>
          <p:nvPr/>
        </p:nvSpPr>
        <p:spPr>
          <a:xfrm>
            <a:off x="454313" y="3792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530" name="Google Shape;1530;p70"/>
          <p:cNvSpPr txBox="1"/>
          <p:nvPr/>
        </p:nvSpPr>
        <p:spPr>
          <a:xfrm>
            <a:off x="476000" y="1911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531" name="Google Shape;1531;p70"/>
          <p:cNvSpPr/>
          <p:nvPr/>
        </p:nvSpPr>
        <p:spPr>
          <a:xfrm>
            <a:off x="489275" y="1952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70"/>
          <p:cNvSpPr/>
          <p:nvPr/>
        </p:nvSpPr>
        <p:spPr>
          <a:xfrm>
            <a:off x="31889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70"/>
          <p:cNvSpPr/>
          <p:nvPr/>
        </p:nvSpPr>
        <p:spPr>
          <a:xfrm>
            <a:off x="31926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4" name="Google Shape;1534;p70"/>
          <p:cNvCxnSpPr/>
          <p:nvPr/>
        </p:nvCxnSpPr>
        <p:spPr>
          <a:xfrm rot="10800000">
            <a:off x="34380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5" name="Google Shape;1535;p70"/>
          <p:cNvSpPr txBox="1"/>
          <p:nvPr/>
        </p:nvSpPr>
        <p:spPr>
          <a:xfrm>
            <a:off x="317932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1536" name="Google Shape;1536;p70"/>
          <p:cNvSpPr txBox="1"/>
          <p:nvPr/>
        </p:nvSpPr>
        <p:spPr>
          <a:xfrm>
            <a:off x="3175688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1537" name="Google Shape;1537;p70"/>
          <p:cNvCxnSpPr/>
          <p:nvPr/>
        </p:nvCxnSpPr>
        <p:spPr>
          <a:xfrm>
            <a:off x="2987275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8" name="Google Shape;1538;p70"/>
          <p:cNvSpPr/>
          <p:nvPr/>
        </p:nvSpPr>
        <p:spPr>
          <a:xfrm>
            <a:off x="2082338" y="29496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70"/>
          <p:cNvSpPr txBox="1"/>
          <p:nvPr/>
        </p:nvSpPr>
        <p:spPr>
          <a:xfrm>
            <a:off x="2072881" y="297462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>
                <a:solidFill>
                  <a:schemeClr val="dk1"/>
                </a:solidFill>
              </a:rPr>
              <a:t>1...</a:t>
            </a:r>
            <a:endParaRPr/>
          </a:p>
        </p:txBody>
      </p:sp>
      <p:sp>
        <p:nvSpPr>
          <p:cNvPr id="1540" name="Google Shape;1540;p70"/>
          <p:cNvSpPr/>
          <p:nvPr/>
        </p:nvSpPr>
        <p:spPr>
          <a:xfrm>
            <a:off x="404071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70"/>
          <p:cNvSpPr/>
          <p:nvPr/>
        </p:nvSpPr>
        <p:spPr>
          <a:xfrm>
            <a:off x="404435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2" name="Google Shape;1542;p70"/>
          <p:cNvCxnSpPr/>
          <p:nvPr/>
        </p:nvCxnSpPr>
        <p:spPr>
          <a:xfrm rot="10800000">
            <a:off x="428976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3" name="Google Shape;1543;p70"/>
          <p:cNvSpPr txBox="1"/>
          <p:nvPr/>
        </p:nvSpPr>
        <p:spPr>
          <a:xfrm>
            <a:off x="403107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sp>
        <p:nvSpPr>
          <p:cNvPr id="1544" name="Google Shape;1544;p70"/>
          <p:cNvSpPr txBox="1"/>
          <p:nvPr/>
        </p:nvSpPr>
        <p:spPr>
          <a:xfrm>
            <a:off x="4027438" y="3902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1545" name="Google Shape;1545;p70"/>
          <p:cNvCxnSpPr/>
          <p:nvPr/>
        </p:nvCxnSpPr>
        <p:spPr>
          <a:xfrm>
            <a:off x="3664225" y="31869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6" name="Google Shape;1546;p70"/>
          <p:cNvSpPr/>
          <p:nvPr/>
        </p:nvSpPr>
        <p:spPr>
          <a:xfrm>
            <a:off x="4914150" y="20173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70"/>
          <p:cNvSpPr/>
          <p:nvPr/>
        </p:nvSpPr>
        <p:spPr>
          <a:xfrm>
            <a:off x="4892463" y="38983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70"/>
          <p:cNvSpPr/>
          <p:nvPr/>
        </p:nvSpPr>
        <p:spPr>
          <a:xfrm>
            <a:off x="4896100" y="29374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9" name="Google Shape;1549;p70"/>
          <p:cNvCxnSpPr/>
          <p:nvPr/>
        </p:nvCxnSpPr>
        <p:spPr>
          <a:xfrm rot="10800000">
            <a:off x="5141514" y="34053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0" name="Google Shape;1550;p70"/>
          <p:cNvCxnSpPr>
            <a:stCxn id="1548" idx="0"/>
          </p:cNvCxnSpPr>
          <p:nvPr/>
        </p:nvCxnSpPr>
        <p:spPr>
          <a:xfrm rot="10800000">
            <a:off x="5130100" y="24994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1" name="Google Shape;1551;p70"/>
          <p:cNvSpPr txBox="1"/>
          <p:nvPr/>
        </p:nvSpPr>
        <p:spPr>
          <a:xfrm>
            <a:off x="4882825" y="293662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1552" name="Google Shape;1552;p70"/>
          <p:cNvSpPr txBox="1"/>
          <p:nvPr/>
        </p:nvSpPr>
        <p:spPr>
          <a:xfrm>
            <a:off x="4900875" y="2052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1553" name="Google Shape;1553;p70"/>
          <p:cNvCxnSpPr/>
          <p:nvPr/>
        </p:nvCxnSpPr>
        <p:spPr>
          <a:xfrm>
            <a:off x="4515975" y="317140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4" name="Google Shape;1554;p70"/>
          <p:cNvSpPr txBox="1"/>
          <p:nvPr/>
        </p:nvSpPr>
        <p:spPr>
          <a:xfrm>
            <a:off x="30509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555" name="Google Shape;1555;p70"/>
          <p:cNvSpPr txBox="1"/>
          <p:nvPr/>
        </p:nvSpPr>
        <p:spPr>
          <a:xfrm>
            <a:off x="3913000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comer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556" name="Google Shape;1556;p70"/>
          <p:cNvSpPr txBox="1"/>
          <p:nvPr/>
        </p:nvSpPr>
        <p:spPr>
          <a:xfrm>
            <a:off x="477502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557" name="Google Shape;1557;p70"/>
          <p:cNvSpPr/>
          <p:nvPr/>
        </p:nvSpPr>
        <p:spPr>
          <a:xfrm>
            <a:off x="1526475" y="3073025"/>
            <a:ext cx="4740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58" name="Google Shape;1558;p70"/>
          <p:cNvCxnSpPr/>
          <p:nvPr/>
        </p:nvCxnSpPr>
        <p:spPr>
          <a:xfrm rot="10800000">
            <a:off x="5137875" y="15793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9" name="Google Shape;1559;p70"/>
          <p:cNvSpPr txBox="1"/>
          <p:nvPr/>
        </p:nvSpPr>
        <p:spPr>
          <a:xfrm>
            <a:off x="4833500" y="125867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70"/>
          <p:cNvSpPr txBox="1"/>
          <p:nvPr/>
        </p:nvSpPr>
        <p:spPr>
          <a:xfrm>
            <a:off x="4755975" y="118975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70"/>
          <p:cNvSpPr/>
          <p:nvPr/>
        </p:nvSpPr>
        <p:spPr>
          <a:xfrm>
            <a:off x="4914163" y="11410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70"/>
          <p:cNvSpPr txBox="1"/>
          <p:nvPr/>
        </p:nvSpPr>
        <p:spPr>
          <a:xfrm>
            <a:off x="4921413" y="11680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pic>
        <p:nvPicPr>
          <p:cNvPr id="1563" name="Google Shape;156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150" y="2497650"/>
            <a:ext cx="3293957" cy="13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4" name="Google Shape;1564;p70"/>
          <p:cNvSpPr txBox="1"/>
          <p:nvPr>
            <p:ph type="title"/>
          </p:nvPr>
        </p:nvSpPr>
        <p:spPr>
          <a:xfrm>
            <a:off x="729450" y="556650"/>
            <a:ext cx="7556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Recurrent Neural Network</a:t>
            </a:r>
            <a:endParaRPr/>
          </a:p>
        </p:txBody>
      </p:sp>
      <p:sp>
        <p:nvSpPr>
          <p:cNvPr id="1565" name="Google Shape;1565;p70"/>
          <p:cNvSpPr txBox="1"/>
          <p:nvPr/>
        </p:nvSpPr>
        <p:spPr>
          <a:xfrm>
            <a:off x="5073508" y="2582521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6" name="Google Shape;1566;p70"/>
          <p:cNvSpPr txBox="1"/>
          <p:nvPr/>
        </p:nvSpPr>
        <p:spPr>
          <a:xfrm>
            <a:off x="2850366" y="27282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7" name="Google Shape;1567;p70"/>
          <p:cNvSpPr txBox="1"/>
          <p:nvPr/>
        </p:nvSpPr>
        <p:spPr>
          <a:xfrm>
            <a:off x="3612366" y="27282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8" name="Google Shape;1568;p70"/>
          <p:cNvSpPr txBox="1"/>
          <p:nvPr/>
        </p:nvSpPr>
        <p:spPr>
          <a:xfrm>
            <a:off x="4500081" y="27282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9" name="Google Shape;1569;p70"/>
          <p:cNvSpPr txBox="1"/>
          <p:nvPr/>
        </p:nvSpPr>
        <p:spPr>
          <a:xfrm>
            <a:off x="3386582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70" name="Google Shape;1570;p70"/>
          <p:cNvSpPr txBox="1"/>
          <p:nvPr/>
        </p:nvSpPr>
        <p:spPr>
          <a:xfrm>
            <a:off x="4224782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71" name="Google Shape;1571;p70"/>
          <p:cNvSpPr txBox="1"/>
          <p:nvPr/>
        </p:nvSpPr>
        <p:spPr>
          <a:xfrm>
            <a:off x="5096338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572" name="Google Shape;1572;p70"/>
          <p:cNvCxnSpPr/>
          <p:nvPr/>
        </p:nvCxnSpPr>
        <p:spPr>
          <a:xfrm>
            <a:off x="2565794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3" name="Google Shape;1573;p70"/>
          <p:cNvSpPr txBox="1"/>
          <p:nvPr/>
        </p:nvSpPr>
        <p:spPr>
          <a:xfrm>
            <a:off x="2718200" y="2930125"/>
            <a:ext cx="5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...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4" name="Google Shape;1574;p70"/>
          <p:cNvSpPr txBox="1"/>
          <p:nvPr/>
        </p:nvSpPr>
        <p:spPr>
          <a:xfrm>
            <a:off x="2469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75" name="Google Shape;1575;p70"/>
          <p:cNvSpPr/>
          <p:nvPr/>
        </p:nvSpPr>
        <p:spPr>
          <a:xfrm>
            <a:off x="2088806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6" name="Google Shape;1576;p70"/>
          <p:cNvCxnSpPr/>
          <p:nvPr/>
        </p:nvCxnSpPr>
        <p:spPr>
          <a:xfrm rot="10800000">
            <a:off x="2337858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7" name="Google Shape;1577;p70"/>
          <p:cNvSpPr txBox="1"/>
          <p:nvPr/>
        </p:nvSpPr>
        <p:spPr>
          <a:xfrm>
            <a:off x="1759803" y="4424950"/>
            <a:ext cx="1148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darle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578" name="Google Shape;1578;p70"/>
          <p:cNvSpPr txBox="1"/>
          <p:nvPr/>
        </p:nvSpPr>
        <p:spPr>
          <a:xfrm>
            <a:off x="2286426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79" name="Google Shape;1579;p70"/>
          <p:cNvSpPr txBox="1"/>
          <p:nvPr/>
        </p:nvSpPr>
        <p:spPr>
          <a:xfrm>
            <a:off x="5550450" y="1148475"/>
            <a:ext cx="31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ŷ</a:t>
            </a:r>
            <a:r>
              <a:rPr b="1" baseline="-25000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b="1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 = p(gato | … darle de comer al)</a:t>
            </a:r>
            <a:endParaRPr b="1">
              <a:solidFill>
                <a:srgbClr val="A64D7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80" name="Google Shape;1580;p70"/>
          <p:cNvSpPr txBox="1"/>
          <p:nvPr/>
        </p:nvSpPr>
        <p:spPr>
          <a:xfrm>
            <a:off x="1176500" y="1341550"/>
            <a:ext cx="35034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onsolas"/>
                <a:ea typeface="Consolas"/>
                <a:cs typeface="Consolas"/>
                <a:sym typeface="Consolas"/>
              </a:rPr>
              <a:t>Cuando llegue a casa me tengo que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onsolas"/>
                <a:ea typeface="Consolas"/>
                <a:cs typeface="Consolas"/>
                <a:sym typeface="Consolas"/>
              </a:rPr>
              <a:t>acordar de darle de comer al ____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1" name="Google Shape;1581;p70"/>
          <p:cNvSpPr txBox="1"/>
          <p:nvPr/>
        </p:nvSpPr>
        <p:spPr>
          <a:xfrm>
            <a:off x="620993" y="2556625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82" name="Google Shape;1582;p70"/>
          <p:cNvSpPr txBox="1"/>
          <p:nvPr/>
        </p:nvSpPr>
        <p:spPr>
          <a:xfrm>
            <a:off x="1095900" y="302860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83" name="Google Shape;1583;p70"/>
          <p:cNvSpPr txBox="1"/>
          <p:nvPr/>
        </p:nvSpPr>
        <p:spPr>
          <a:xfrm>
            <a:off x="643382" y="3490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84" name="Google Shape;1584;p70"/>
          <p:cNvSpPr txBox="1"/>
          <p:nvPr/>
        </p:nvSpPr>
        <p:spPr>
          <a:xfrm>
            <a:off x="2075531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sp>
        <p:nvSpPr>
          <p:cNvPr id="1585" name="Google Shape;1585;p70"/>
          <p:cNvSpPr txBox="1"/>
          <p:nvPr/>
        </p:nvSpPr>
        <p:spPr>
          <a:xfrm>
            <a:off x="2718200" y="3920725"/>
            <a:ext cx="5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...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71"/>
          <p:cNvSpPr txBox="1"/>
          <p:nvPr/>
        </p:nvSpPr>
        <p:spPr>
          <a:xfrm>
            <a:off x="4879188" y="3900344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1591" name="Google Shape;1591;p71"/>
          <p:cNvSpPr/>
          <p:nvPr/>
        </p:nvSpPr>
        <p:spPr>
          <a:xfrm>
            <a:off x="467588" y="3833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71"/>
          <p:cNvSpPr/>
          <p:nvPr/>
        </p:nvSpPr>
        <p:spPr>
          <a:xfrm>
            <a:off x="471225" y="28726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71"/>
          <p:cNvSpPr/>
          <p:nvPr/>
        </p:nvSpPr>
        <p:spPr>
          <a:xfrm flipH="1">
            <a:off x="769680" y="2831798"/>
            <a:ext cx="706200" cy="679200"/>
          </a:xfrm>
          <a:prstGeom prst="arc">
            <a:avLst>
              <a:gd fmla="val 2258622" name="adj1"/>
              <a:gd fmla="val 18013119" name="adj2"/>
            </a:avLst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1594" name="Google Shape;1594;p71"/>
          <p:cNvCxnSpPr/>
          <p:nvPr/>
        </p:nvCxnSpPr>
        <p:spPr>
          <a:xfrm rot="10800000">
            <a:off x="716639" y="33405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5" name="Google Shape;1595;p71"/>
          <p:cNvCxnSpPr>
            <a:stCxn id="1592" idx="0"/>
          </p:cNvCxnSpPr>
          <p:nvPr/>
        </p:nvCxnSpPr>
        <p:spPr>
          <a:xfrm rot="10800000">
            <a:off x="705225" y="24346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6" name="Google Shape;1596;p71"/>
          <p:cNvSpPr txBox="1"/>
          <p:nvPr/>
        </p:nvSpPr>
        <p:spPr>
          <a:xfrm>
            <a:off x="457950" y="28318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597" name="Google Shape;1597;p71"/>
          <p:cNvSpPr txBox="1"/>
          <p:nvPr/>
        </p:nvSpPr>
        <p:spPr>
          <a:xfrm>
            <a:off x="454313" y="3792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598" name="Google Shape;1598;p71"/>
          <p:cNvSpPr txBox="1"/>
          <p:nvPr/>
        </p:nvSpPr>
        <p:spPr>
          <a:xfrm>
            <a:off x="476000" y="1911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599" name="Google Shape;1599;p71"/>
          <p:cNvSpPr/>
          <p:nvPr/>
        </p:nvSpPr>
        <p:spPr>
          <a:xfrm>
            <a:off x="489275" y="1952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71"/>
          <p:cNvSpPr/>
          <p:nvPr/>
        </p:nvSpPr>
        <p:spPr>
          <a:xfrm>
            <a:off x="31889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71"/>
          <p:cNvSpPr/>
          <p:nvPr/>
        </p:nvSpPr>
        <p:spPr>
          <a:xfrm>
            <a:off x="31926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2" name="Google Shape;1602;p71"/>
          <p:cNvCxnSpPr/>
          <p:nvPr/>
        </p:nvCxnSpPr>
        <p:spPr>
          <a:xfrm rot="10800000">
            <a:off x="34380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3" name="Google Shape;1603;p71"/>
          <p:cNvSpPr txBox="1"/>
          <p:nvPr/>
        </p:nvSpPr>
        <p:spPr>
          <a:xfrm>
            <a:off x="317932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1604" name="Google Shape;1604;p71"/>
          <p:cNvSpPr txBox="1"/>
          <p:nvPr/>
        </p:nvSpPr>
        <p:spPr>
          <a:xfrm>
            <a:off x="3175688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1605" name="Google Shape;1605;p71"/>
          <p:cNvCxnSpPr/>
          <p:nvPr/>
        </p:nvCxnSpPr>
        <p:spPr>
          <a:xfrm>
            <a:off x="2987275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6" name="Google Shape;1606;p71"/>
          <p:cNvSpPr/>
          <p:nvPr/>
        </p:nvSpPr>
        <p:spPr>
          <a:xfrm>
            <a:off x="2082338" y="29496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71"/>
          <p:cNvSpPr txBox="1"/>
          <p:nvPr/>
        </p:nvSpPr>
        <p:spPr>
          <a:xfrm>
            <a:off x="2072881" y="297462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>
                <a:solidFill>
                  <a:schemeClr val="dk1"/>
                </a:solidFill>
              </a:rPr>
              <a:t>1...</a:t>
            </a:r>
            <a:endParaRPr/>
          </a:p>
        </p:txBody>
      </p:sp>
      <p:sp>
        <p:nvSpPr>
          <p:cNvPr id="1608" name="Google Shape;1608;p71"/>
          <p:cNvSpPr/>
          <p:nvPr/>
        </p:nvSpPr>
        <p:spPr>
          <a:xfrm>
            <a:off x="404071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71"/>
          <p:cNvSpPr/>
          <p:nvPr/>
        </p:nvSpPr>
        <p:spPr>
          <a:xfrm>
            <a:off x="404435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10" name="Google Shape;1610;p71"/>
          <p:cNvCxnSpPr/>
          <p:nvPr/>
        </p:nvCxnSpPr>
        <p:spPr>
          <a:xfrm rot="10800000">
            <a:off x="428976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1" name="Google Shape;1611;p71"/>
          <p:cNvSpPr txBox="1"/>
          <p:nvPr/>
        </p:nvSpPr>
        <p:spPr>
          <a:xfrm>
            <a:off x="403107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sp>
        <p:nvSpPr>
          <p:cNvPr id="1612" name="Google Shape;1612;p71"/>
          <p:cNvSpPr txBox="1"/>
          <p:nvPr/>
        </p:nvSpPr>
        <p:spPr>
          <a:xfrm>
            <a:off x="4027438" y="3902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1613" name="Google Shape;1613;p71"/>
          <p:cNvCxnSpPr/>
          <p:nvPr/>
        </p:nvCxnSpPr>
        <p:spPr>
          <a:xfrm>
            <a:off x="3664225" y="31869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4" name="Google Shape;1614;p71"/>
          <p:cNvSpPr/>
          <p:nvPr/>
        </p:nvSpPr>
        <p:spPr>
          <a:xfrm>
            <a:off x="4896323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71"/>
          <p:cNvSpPr/>
          <p:nvPr/>
        </p:nvSpPr>
        <p:spPr>
          <a:xfrm>
            <a:off x="4892463" y="38983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71"/>
          <p:cNvSpPr/>
          <p:nvPr/>
        </p:nvSpPr>
        <p:spPr>
          <a:xfrm>
            <a:off x="4896100" y="29374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17" name="Google Shape;1617;p71"/>
          <p:cNvCxnSpPr/>
          <p:nvPr/>
        </p:nvCxnSpPr>
        <p:spPr>
          <a:xfrm rot="10800000">
            <a:off x="5141514" y="34053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8" name="Google Shape;1618;p71"/>
          <p:cNvCxnSpPr>
            <a:stCxn id="1616" idx="0"/>
            <a:endCxn id="1614" idx="4"/>
          </p:cNvCxnSpPr>
          <p:nvPr/>
        </p:nvCxnSpPr>
        <p:spPr>
          <a:xfrm flipH="1" rot="10800000">
            <a:off x="5130100" y="2678200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9" name="Google Shape;1619;p71"/>
          <p:cNvSpPr txBox="1"/>
          <p:nvPr/>
        </p:nvSpPr>
        <p:spPr>
          <a:xfrm>
            <a:off x="4882825" y="293662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1620" name="Google Shape;1620;p71"/>
          <p:cNvSpPr txBox="1"/>
          <p:nvPr/>
        </p:nvSpPr>
        <p:spPr>
          <a:xfrm>
            <a:off x="4883048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1621" name="Google Shape;1621;p71"/>
          <p:cNvCxnSpPr/>
          <p:nvPr/>
        </p:nvCxnSpPr>
        <p:spPr>
          <a:xfrm>
            <a:off x="4515975" y="317140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2" name="Google Shape;1622;p71"/>
          <p:cNvSpPr txBox="1"/>
          <p:nvPr/>
        </p:nvSpPr>
        <p:spPr>
          <a:xfrm>
            <a:off x="30509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623" name="Google Shape;1623;p71"/>
          <p:cNvSpPr txBox="1"/>
          <p:nvPr/>
        </p:nvSpPr>
        <p:spPr>
          <a:xfrm>
            <a:off x="3913000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comer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624" name="Google Shape;1624;p71"/>
          <p:cNvSpPr txBox="1"/>
          <p:nvPr/>
        </p:nvSpPr>
        <p:spPr>
          <a:xfrm>
            <a:off x="477502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625" name="Google Shape;1625;p71"/>
          <p:cNvSpPr/>
          <p:nvPr/>
        </p:nvSpPr>
        <p:spPr>
          <a:xfrm>
            <a:off x="1526475" y="3073025"/>
            <a:ext cx="4740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26" name="Google Shape;1626;p71"/>
          <p:cNvCxnSpPr>
            <a:stCxn id="1614" idx="0"/>
            <a:endCxn id="1627" idx="4"/>
          </p:cNvCxnSpPr>
          <p:nvPr/>
        </p:nvCxnSpPr>
        <p:spPr>
          <a:xfrm rot="10800000">
            <a:off x="5128223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8" name="Google Shape;1628;p71"/>
          <p:cNvSpPr txBox="1"/>
          <p:nvPr/>
        </p:nvSpPr>
        <p:spPr>
          <a:xfrm>
            <a:off x="4813486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71"/>
          <p:cNvSpPr txBox="1"/>
          <p:nvPr/>
        </p:nvSpPr>
        <p:spPr>
          <a:xfrm>
            <a:off x="4714280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71"/>
          <p:cNvSpPr/>
          <p:nvPr/>
        </p:nvSpPr>
        <p:spPr>
          <a:xfrm>
            <a:off x="4894149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71"/>
          <p:cNvSpPr txBox="1"/>
          <p:nvPr/>
        </p:nvSpPr>
        <p:spPr>
          <a:xfrm>
            <a:off x="4896395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pic>
        <p:nvPicPr>
          <p:cNvPr id="1631" name="Google Shape;163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150" y="2497650"/>
            <a:ext cx="3293957" cy="13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2" name="Google Shape;1632;p71"/>
          <p:cNvSpPr txBox="1"/>
          <p:nvPr>
            <p:ph type="title"/>
          </p:nvPr>
        </p:nvSpPr>
        <p:spPr>
          <a:xfrm>
            <a:off x="726114" y="402582"/>
            <a:ext cx="7556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Entrenamiento: Backpropagation</a:t>
            </a:r>
            <a:endParaRPr/>
          </a:p>
        </p:txBody>
      </p:sp>
      <p:sp>
        <p:nvSpPr>
          <p:cNvPr id="1633" name="Google Shape;1633;p71"/>
          <p:cNvSpPr txBox="1"/>
          <p:nvPr/>
        </p:nvSpPr>
        <p:spPr>
          <a:xfrm>
            <a:off x="5073508" y="2658721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34" name="Google Shape;1634;p71"/>
          <p:cNvSpPr txBox="1"/>
          <p:nvPr/>
        </p:nvSpPr>
        <p:spPr>
          <a:xfrm>
            <a:off x="2850366" y="27282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35" name="Google Shape;1635;p71"/>
          <p:cNvSpPr txBox="1"/>
          <p:nvPr/>
        </p:nvSpPr>
        <p:spPr>
          <a:xfrm>
            <a:off x="3612366" y="27282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36" name="Google Shape;1636;p71"/>
          <p:cNvSpPr txBox="1"/>
          <p:nvPr/>
        </p:nvSpPr>
        <p:spPr>
          <a:xfrm>
            <a:off x="4500081" y="27282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37" name="Google Shape;1637;p71"/>
          <p:cNvSpPr txBox="1"/>
          <p:nvPr/>
        </p:nvSpPr>
        <p:spPr>
          <a:xfrm>
            <a:off x="3386582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38" name="Google Shape;1638;p71"/>
          <p:cNvSpPr txBox="1"/>
          <p:nvPr/>
        </p:nvSpPr>
        <p:spPr>
          <a:xfrm>
            <a:off x="4224782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39" name="Google Shape;1639;p71"/>
          <p:cNvSpPr txBox="1"/>
          <p:nvPr/>
        </p:nvSpPr>
        <p:spPr>
          <a:xfrm>
            <a:off x="5096338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640" name="Google Shape;1640;p71"/>
          <p:cNvCxnSpPr/>
          <p:nvPr/>
        </p:nvCxnSpPr>
        <p:spPr>
          <a:xfrm>
            <a:off x="2565794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1" name="Google Shape;1641;p71"/>
          <p:cNvSpPr txBox="1"/>
          <p:nvPr/>
        </p:nvSpPr>
        <p:spPr>
          <a:xfrm>
            <a:off x="2718200" y="2930125"/>
            <a:ext cx="5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...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2" name="Google Shape;1642;p71"/>
          <p:cNvSpPr txBox="1"/>
          <p:nvPr/>
        </p:nvSpPr>
        <p:spPr>
          <a:xfrm>
            <a:off x="2469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43" name="Google Shape;1643;p71"/>
          <p:cNvSpPr/>
          <p:nvPr/>
        </p:nvSpPr>
        <p:spPr>
          <a:xfrm>
            <a:off x="2088806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44" name="Google Shape;1644;p71"/>
          <p:cNvCxnSpPr/>
          <p:nvPr/>
        </p:nvCxnSpPr>
        <p:spPr>
          <a:xfrm rot="10800000">
            <a:off x="2337858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5" name="Google Shape;1645;p71"/>
          <p:cNvSpPr txBox="1"/>
          <p:nvPr/>
        </p:nvSpPr>
        <p:spPr>
          <a:xfrm>
            <a:off x="2075531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1646" name="Google Shape;1646;p71"/>
          <p:cNvSpPr txBox="1"/>
          <p:nvPr/>
        </p:nvSpPr>
        <p:spPr>
          <a:xfrm>
            <a:off x="1759803" y="4424950"/>
            <a:ext cx="1148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darle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647" name="Google Shape;1647;p71"/>
          <p:cNvSpPr txBox="1"/>
          <p:nvPr/>
        </p:nvSpPr>
        <p:spPr>
          <a:xfrm>
            <a:off x="2286426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48" name="Google Shape;1648;p71"/>
          <p:cNvSpPr txBox="1"/>
          <p:nvPr/>
        </p:nvSpPr>
        <p:spPr>
          <a:xfrm>
            <a:off x="5550450" y="1605675"/>
            <a:ext cx="31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ŷ</a:t>
            </a:r>
            <a:r>
              <a:rPr b="1" baseline="-25000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b="1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 = p(gato | … darle de comer al)</a:t>
            </a:r>
            <a:endParaRPr b="1">
              <a:solidFill>
                <a:srgbClr val="A64D7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49" name="Google Shape;1649;p71"/>
          <p:cNvSpPr txBox="1"/>
          <p:nvPr/>
        </p:nvSpPr>
        <p:spPr>
          <a:xfrm>
            <a:off x="620993" y="2556625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50" name="Google Shape;1650;p71"/>
          <p:cNvSpPr txBox="1"/>
          <p:nvPr/>
        </p:nvSpPr>
        <p:spPr>
          <a:xfrm>
            <a:off x="1095900" y="302860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51" name="Google Shape;1651;p71"/>
          <p:cNvSpPr txBox="1"/>
          <p:nvPr/>
        </p:nvSpPr>
        <p:spPr>
          <a:xfrm>
            <a:off x="643382" y="3490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52" name="Google Shape;1652;p71"/>
          <p:cNvSpPr txBox="1"/>
          <p:nvPr/>
        </p:nvSpPr>
        <p:spPr>
          <a:xfrm>
            <a:off x="4714280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72"/>
          <p:cNvSpPr txBox="1"/>
          <p:nvPr/>
        </p:nvSpPr>
        <p:spPr>
          <a:xfrm>
            <a:off x="4879188" y="3900344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1658" name="Google Shape;1658;p72"/>
          <p:cNvSpPr/>
          <p:nvPr/>
        </p:nvSpPr>
        <p:spPr>
          <a:xfrm>
            <a:off x="467588" y="3833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72"/>
          <p:cNvSpPr/>
          <p:nvPr/>
        </p:nvSpPr>
        <p:spPr>
          <a:xfrm>
            <a:off x="471225" y="28726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72"/>
          <p:cNvSpPr/>
          <p:nvPr/>
        </p:nvSpPr>
        <p:spPr>
          <a:xfrm flipH="1">
            <a:off x="769680" y="2831798"/>
            <a:ext cx="706200" cy="679200"/>
          </a:xfrm>
          <a:prstGeom prst="arc">
            <a:avLst>
              <a:gd fmla="val 2258622" name="adj1"/>
              <a:gd fmla="val 18013119" name="adj2"/>
            </a:avLst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1661" name="Google Shape;1661;p72"/>
          <p:cNvCxnSpPr/>
          <p:nvPr/>
        </p:nvCxnSpPr>
        <p:spPr>
          <a:xfrm rot="10800000">
            <a:off x="716639" y="33405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2" name="Google Shape;1662;p72"/>
          <p:cNvCxnSpPr>
            <a:stCxn id="1659" idx="0"/>
          </p:cNvCxnSpPr>
          <p:nvPr/>
        </p:nvCxnSpPr>
        <p:spPr>
          <a:xfrm rot="10800000">
            <a:off x="705225" y="24346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3" name="Google Shape;1663;p72"/>
          <p:cNvSpPr txBox="1"/>
          <p:nvPr/>
        </p:nvSpPr>
        <p:spPr>
          <a:xfrm>
            <a:off x="457950" y="28318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664" name="Google Shape;1664;p72"/>
          <p:cNvSpPr txBox="1"/>
          <p:nvPr/>
        </p:nvSpPr>
        <p:spPr>
          <a:xfrm>
            <a:off x="454313" y="3792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665" name="Google Shape;1665;p72"/>
          <p:cNvSpPr txBox="1"/>
          <p:nvPr/>
        </p:nvSpPr>
        <p:spPr>
          <a:xfrm>
            <a:off x="476000" y="1911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666" name="Google Shape;1666;p72"/>
          <p:cNvSpPr/>
          <p:nvPr/>
        </p:nvSpPr>
        <p:spPr>
          <a:xfrm>
            <a:off x="489275" y="1952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72"/>
          <p:cNvSpPr/>
          <p:nvPr/>
        </p:nvSpPr>
        <p:spPr>
          <a:xfrm>
            <a:off x="31889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72"/>
          <p:cNvSpPr/>
          <p:nvPr/>
        </p:nvSpPr>
        <p:spPr>
          <a:xfrm>
            <a:off x="31926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9" name="Google Shape;1669;p72"/>
          <p:cNvCxnSpPr/>
          <p:nvPr/>
        </p:nvCxnSpPr>
        <p:spPr>
          <a:xfrm rot="10800000">
            <a:off x="34380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0" name="Google Shape;1670;p72"/>
          <p:cNvSpPr txBox="1"/>
          <p:nvPr/>
        </p:nvSpPr>
        <p:spPr>
          <a:xfrm>
            <a:off x="317932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1671" name="Google Shape;1671;p72"/>
          <p:cNvSpPr txBox="1"/>
          <p:nvPr/>
        </p:nvSpPr>
        <p:spPr>
          <a:xfrm>
            <a:off x="3175688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1672" name="Google Shape;1672;p72"/>
          <p:cNvCxnSpPr/>
          <p:nvPr/>
        </p:nvCxnSpPr>
        <p:spPr>
          <a:xfrm>
            <a:off x="2987275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3" name="Google Shape;1673;p72"/>
          <p:cNvSpPr/>
          <p:nvPr/>
        </p:nvSpPr>
        <p:spPr>
          <a:xfrm>
            <a:off x="2082338" y="29496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72"/>
          <p:cNvSpPr txBox="1"/>
          <p:nvPr/>
        </p:nvSpPr>
        <p:spPr>
          <a:xfrm>
            <a:off x="2072881" y="297462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>
                <a:solidFill>
                  <a:schemeClr val="dk1"/>
                </a:solidFill>
              </a:rPr>
              <a:t>1...</a:t>
            </a:r>
            <a:endParaRPr/>
          </a:p>
        </p:txBody>
      </p:sp>
      <p:sp>
        <p:nvSpPr>
          <p:cNvPr id="1675" name="Google Shape;1675;p72"/>
          <p:cNvSpPr/>
          <p:nvPr/>
        </p:nvSpPr>
        <p:spPr>
          <a:xfrm>
            <a:off x="404071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72"/>
          <p:cNvSpPr/>
          <p:nvPr/>
        </p:nvSpPr>
        <p:spPr>
          <a:xfrm>
            <a:off x="404435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77" name="Google Shape;1677;p72"/>
          <p:cNvCxnSpPr/>
          <p:nvPr/>
        </p:nvCxnSpPr>
        <p:spPr>
          <a:xfrm rot="10800000">
            <a:off x="428976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8" name="Google Shape;1678;p72"/>
          <p:cNvSpPr txBox="1"/>
          <p:nvPr/>
        </p:nvSpPr>
        <p:spPr>
          <a:xfrm>
            <a:off x="403107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sp>
        <p:nvSpPr>
          <p:cNvPr id="1679" name="Google Shape;1679;p72"/>
          <p:cNvSpPr txBox="1"/>
          <p:nvPr/>
        </p:nvSpPr>
        <p:spPr>
          <a:xfrm>
            <a:off x="4027438" y="3902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1680" name="Google Shape;1680;p72"/>
          <p:cNvCxnSpPr/>
          <p:nvPr/>
        </p:nvCxnSpPr>
        <p:spPr>
          <a:xfrm>
            <a:off x="3664225" y="31869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1" name="Google Shape;1681;p72"/>
          <p:cNvSpPr/>
          <p:nvPr/>
        </p:nvSpPr>
        <p:spPr>
          <a:xfrm>
            <a:off x="4896323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72"/>
          <p:cNvSpPr/>
          <p:nvPr/>
        </p:nvSpPr>
        <p:spPr>
          <a:xfrm>
            <a:off x="4892463" y="38983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72"/>
          <p:cNvSpPr/>
          <p:nvPr/>
        </p:nvSpPr>
        <p:spPr>
          <a:xfrm>
            <a:off x="4896100" y="29374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4" name="Google Shape;1684;p72"/>
          <p:cNvCxnSpPr/>
          <p:nvPr/>
        </p:nvCxnSpPr>
        <p:spPr>
          <a:xfrm rot="10800000">
            <a:off x="5141514" y="34053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5" name="Google Shape;1685;p72"/>
          <p:cNvCxnSpPr>
            <a:stCxn id="1683" idx="0"/>
            <a:endCxn id="1681" idx="4"/>
          </p:cNvCxnSpPr>
          <p:nvPr/>
        </p:nvCxnSpPr>
        <p:spPr>
          <a:xfrm flipH="1" rot="10800000">
            <a:off x="5130100" y="2678200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6" name="Google Shape;1686;p72"/>
          <p:cNvSpPr txBox="1"/>
          <p:nvPr/>
        </p:nvSpPr>
        <p:spPr>
          <a:xfrm>
            <a:off x="4882825" y="293662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1687" name="Google Shape;1687;p72"/>
          <p:cNvSpPr txBox="1"/>
          <p:nvPr/>
        </p:nvSpPr>
        <p:spPr>
          <a:xfrm>
            <a:off x="4883048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1688" name="Google Shape;1688;p72"/>
          <p:cNvCxnSpPr/>
          <p:nvPr/>
        </p:nvCxnSpPr>
        <p:spPr>
          <a:xfrm>
            <a:off x="4515975" y="317140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9" name="Google Shape;1689;p72"/>
          <p:cNvSpPr txBox="1"/>
          <p:nvPr/>
        </p:nvSpPr>
        <p:spPr>
          <a:xfrm>
            <a:off x="30509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690" name="Google Shape;1690;p72"/>
          <p:cNvSpPr txBox="1"/>
          <p:nvPr/>
        </p:nvSpPr>
        <p:spPr>
          <a:xfrm>
            <a:off x="3913000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comer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691" name="Google Shape;1691;p72"/>
          <p:cNvSpPr txBox="1"/>
          <p:nvPr/>
        </p:nvSpPr>
        <p:spPr>
          <a:xfrm>
            <a:off x="477502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692" name="Google Shape;1692;p72"/>
          <p:cNvSpPr/>
          <p:nvPr/>
        </p:nvSpPr>
        <p:spPr>
          <a:xfrm>
            <a:off x="1526475" y="3073025"/>
            <a:ext cx="4740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3" name="Google Shape;1693;p72"/>
          <p:cNvCxnSpPr>
            <a:stCxn id="1681" idx="0"/>
            <a:endCxn id="1694" idx="4"/>
          </p:cNvCxnSpPr>
          <p:nvPr/>
        </p:nvCxnSpPr>
        <p:spPr>
          <a:xfrm rot="10800000">
            <a:off x="5128223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5" name="Google Shape;1695;p72"/>
          <p:cNvSpPr txBox="1"/>
          <p:nvPr/>
        </p:nvSpPr>
        <p:spPr>
          <a:xfrm>
            <a:off x="4813486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2"/>
          <p:cNvSpPr txBox="1"/>
          <p:nvPr/>
        </p:nvSpPr>
        <p:spPr>
          <a:xfrm>
            <a:off x="4714280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2"/>
          <p:cNvSpPr/>
          <p:nvPr/>
        </p:nvSpPr>
        <p:spPr>
          <a:xfrm>
            <a:off x="4894149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72"/>
          <p:cNvSpPr txBox="1"/>
          <p:nvPr/>
        </p:nvSpPr>
        <p:spPr>
          <a:xfrm>
            <a:off x="4896395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pic>
        <p:nvPicPr>
          <p:cNvPr id="1698" name="Google Shape;169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150" y="2497650"/>
            <a:ext cx="3293957" cy="13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9" name="Google Shape;1699;p72"/>
          <p:cNvSpPr txBox="1"/>
          <p:nvPr>
            <p:ph type="title"/>
          </p:nvPr>
        </p:nvSpPr>
        <p:spPr>
          <a:xfrm>
            <a:off x="726114" y="402582"/>
            <a:ext cx="7556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Entrenamiento: Backpropagation</a:t>
            </a:r>
            <a:endParaRPr/>
          </a:p>
        </p:txBody>
      </p:sp>
      <p:sp>
        <p:nvSpPr>
          <p:cNvPr id="1700" name="Google Shape;1700;p72"/>
          <p:cNvSpPr txBox="1"/>
          <p:nvPr/>
        </p:nvSpPr>
        <p:spPr>
          <a:xfrm>
            <a:off x="5073508" y="2658721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01" name="Google Shape;1701;p72"/>
          <p:cNvSpPr txBox="1"/>
          <p:nvPr/>
        </p:nvSpPr>
        <p:spPr>
          <a:xfrm>
            <a:off x="2850366" y="27282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02" name="Google Shape;1702;p72"/>
          <p:cNvSpPr txBox="1"/>
          <p:nvPr/>
        </p:nvSpPr>
        <p:spPr>
          <a:xfrm>
            <a:off x="3612366" y="27282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03" name="Google Shape;1703;p72"/>
          <p:cNvSpPr txBox="1"/>
          <p:nvPr/>
        </p:nvSpPr>
        <p:spPr>
          <a:xfrm>
            <a:off x="4500081" y="27282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04" name="Google Shape;1704;p72"/>
          <p:cNvSpPr txBox="1"/>
          <p:nvPr/>
        </p:nvSpPr>
        <p:spPr>
          <a:xfrm>
            <a:off x="3386582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05" name="Google Shape;1705;p72"/>
          <p:cNvSpPr txBox="1"/>
          <p:nvPr/>
        </p:nvSpPr>
        <p:spPr>
          <a:xfrm>
            <a:off x="4224782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06" name="Google Shape;1706;p72"/>
          <p:cNvSpPr txBox="1"/>
          <p:nvPr/>
        </p:nvSpPr>
        <p:spPr>
          <a:xfrm>
            <a:off x="5096338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707" name="Google Shape;1707;p72"/>
          <p:cNvCxnSpPr/>
          <p:nvPr/>
        </p:nvCxnSpPr>
        <p:spPr>
          <a:xfrm>
            <a:off x="2565794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8" name="Google Shape;1708;p72"/>
          <p:cNvSpPr txBox="1"/>
          <p:nvPr/>
        </p:nvSpPr>
        <p:spPr>
          <a:xfrm>
            <a:off x="2718200" y="2930125"/>
            <a:ext cx="5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...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9" name="Google Shape;1709;p72"/>
          <p:cNvSpPr txBox="1"/>
          <p:nvPr/>
        </p:nvSpPr>
        <p:spPr>
          <a:xfrm>
            <a:off x="2469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10" name="Google Shape;1710;p72"/>
          <p:cNvSpPr/>
          <p:nvPr/>
        </p:nvSpPr>
        <p:spPr>
          <a:xfrm>
            <a:off x="2088806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1" name="Google Shape;1711;p72"/>
          <p:cNvCxnSpPr/>
          <p:nvPr/>
        </p:nvCxnSpPr>
        <p:spPr>
          <a:xfrm rot="10800000">
            <a:off x="2337858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2" name="Google Shape;1712;p72"/>
          <p:cNvSpPr txBox="1"/>
          <p:nvPr/>
        </p:nvSpPr>
        <p:spPr>
          <a:xfrm>
            <a:off x="2075531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1713" name="Google Shape;1713;p72"/>
          <p:cNvSpPr txBox="1"/>
          <p:nvPr/>
        </p:nvSpPr>
        <p:spPr>
          <a:xfrm>
            <a:off x="1759803" y="4424950"/>
            <a:ext cx="1148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darle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714" name="Google Shape;1714;p72"/>
          <p:cNvSpPr txBox="1"/>
          <p:nvPr/>
        </p:nvSpPr>
        <p:spPr>
          <a:xfrm>
            <a:off x="2286426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15" name="Google Shape;1715;p72"/>
          <p:cNvSpPr txBox="1"/>
          <p:nvPr/>
        </p:nvSpPr>
        <p:spPr>
          <a:xfrm>
            <a:off x="5550450" y="1605675"/>
            <a:ext cx="31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ŷ</a:t>
            </a:r>
            <a:r>
              <a:rPr b="1" baseline="-25000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b="1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 = p(gato | … darle de comer al)</a:t>
            </a:r>
            <a:endParaRPr b="1">
              <a:solidFill>
                <a:srgbClr val="A64D7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16" name="Google Shape;1716;p72"/>
          <p:cNvSpPr txBox="1"/>
          <p:nvPr/>
        </p:nvSpPr>
        <p:spPr>
          <a:xfrm>
            <a:off x="620993" y="2556625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17" name="Google Shape;1717;p72"/>
          <p:cNvSpPr txBox="1"/>
          <p:nvPr/>
        </p:nvSpPr>
        <p:spPr>
          <a:xfrm>
            <a:off x="1095900" y="302860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18" name="Google Shape;1718;p72"/>
          <p:cNvSpPr txBox="1"/>
          <p:nvPr/>
        </p:nvSpPr>
        <p:spPr>
          <a:xfrm>
            <a:off x="643382" y="3490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19" name="Google Shape;1719;p72"/>
          <p:cNvSpPr txBox="1"/>
          <p:nvPr/>
        </p:nvSpPr>
        <p:spPr>
          <a:xfrm>
            <a:off x="4714280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20" name="Google Shape;1720;p72"/>
          <p:cNvCxnSpPr/>
          <p:nvPr/>
        </p:nvCxnSpPr>
        <p:spPr>
          <a:xfrm flipH="1">
            <a:off x="5128149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1" name="Google Shape;1721;p72"/>
          <p:cNvSpPr txBox="1"/>
          <p:nvPr/>
        </p:nvSpPr>
        <p:spPr>
          <a:xfrm>
            <a:off x="4813486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72"/>
          <p:cNvSpPr txBox="1"/>
          <p:nvPr/>
        </p:nvSpPr>
        <p:spPr>
          <a:xfrm>
            <a:off x="4714280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72"/>
          <p:cNvSpPr/>
          <p:nvPr/>
        </p:nvSpPr>
        <p:spPr>
          <a:xfrm>
            <a:off x="4894149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2"/>
          <p:cNvSpPr txBox="1"/>
          <p:nvPr/>
        </p:nvSpPr>
        <p:spPr>
          <a:xfrm>
            <a:off x="4896395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\mathcal{L_i}=- \sum_{w \in V} y^w_i \log(\hat{y}^w_i)" id="1725" name="Google Shape;1725;p72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8026" y="990625"/>
            <a:ext cx="2149638" cy="24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73"/>
          <p:cNvSpPr txBox="1"/>
          <p:nvPr/>
        </p:nvSpPr>
        <p:spPr>
          <a:xfrm>
            <a:off x="4879188" y="3900344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1731" name="Google Shape;1731;p73"/>
          <p:cNvSpPr/>
          <p:nvPr/>
        </p:nvSpPr>
        <p:spPr>
          <a:xfrm>
            <a:off x="467588" y="3833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73"/>
          <p:cNvSpPr/>
          <p:nvPr/>
        </p:nvSpPr>
        <p:spPr>
          <a:xfrm>
            <a:off x="471225" y="28726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73"/>
          <p:cNvSpPr/>
          <p:nvPr/>
        </p:nvSpPr>
        <p:spPr>
          <a:xfrm flipH="1">
            <a:off x="769680" y="2831798"/>
            <a:ext cx="706200" cy="679200"/>
          </a:xfrm>
          <a:prstGeom prst="arc">
            <a:avLst>
              <a:gd fmla="val 2258622" name="adj1"/>
              <a:gd fmla="val 18013119" name="adj2"/>
            </a:avLst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1734" name="Google Shape;1734;p73"/>
          <p:cNvCxnSpPr/>
          <p:nvPr/>
        </p:nvCxnSpPr>
        <p:spPr>
          <a:xfrm rot="10800000">
            <a:off x="716639" y="33405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5" name="Google Shape;1735;p73"/>
          <p:cNvCxnSpPr>
            <a:stCxn id="1732" idx="0"/>
          </p:cNvCxnSpPr>
          <p:nvPr/>
        </p:nvCxnSpPr>
        <p:spPr>
          <a:xfrm rot="10800000">
            <a:off x="705225" y="24346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6" name="Google Shape;1736;p73"/>
          <p:cNvSpPr txBox="1"/>
          <p:nvPr/>
        </p:nvSpPr>
        <p:spPr>
          <a:xfrm>
            <a:off x="457950" y="28318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737" name="Google Shape;1737;p73"/>
          <p:cNvSpPr txBox="1"/>
          <p:nvPr/>
        </p:nvSpPr>
        <p:spPr>
          <a:xfrm>
            <a:off x="454313" y="3792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738" name="Google Shape;1738;p73"/>
          <p:cNvSpPr txBox="1"/>
          <p:nvPr/>
        </p:nvSpPr>
        <p:spPr>
          <a:xfrm>
            <a:off x="476000" y="1911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739" name="Google Shape;1739;p73"/>
          <p:cNvSpPr/>
          <p:nvPr/>
        </p:nvSpPr>
        <p:spPr>
          <a:xfrm>
            <a:off x="489275" y="1952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73"/>
          <p:cNvSpPr/>
          <p:nvPr/>
        </p:nvSpPr>
        <p:spPr>
          <a:xfrm>
            <a:off x="31889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73"/>
          <p:cNvSpPr/>
          <p:nvPr/>
        </p:nvSpPr>
        <p:spPr>
          <a:xfrm>
            <a:off x="31926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2" name="Google Shape;1742;p73"/>
          <p:cNvCxnSpPr/>
          <p:nvPr/>
        </p:nvCxnSpPr>
        <p:spPr>
          <a:xfrm rot="10800000">
            <a:off x="34380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3" name="Google Shape;1743;p73"/>
          <p:cNvSpPr txBox="1"/>
          <p:nvPr/>
        </p:nvSpPr>
        <p:spPr>
          <a:xfrm>
            <a:off x="317932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1744" name="Google Shape;1744;p73"/>
          <p:cNvSpPr txBox="1"/>
          <p:nvPr/>
        </p:nvSpPr>
        <p:spPr>
          <a:xfrm>
            <a:off x="3175688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1745" name="Google Shape;1745;p73"/>
          <p:cNvCxnSpPr/>
          <p:nvPr/>
        </p:nvCxnSpPr>
        <p:spPr>
          <a:xfrm>
            <a:off x="2987275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6" name="Google Shape;1746;p73"/>
          <p:cNvSpPr/>
          <p:nvPr/>
        </p:nvSpPr>
        <p:spPr>
          <a:xfrm>
            <a:off x="2082338" y="29496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73"/>
          <p:cNvSpPr txBox="1"/>
          <p:nvPr/>
        </p:nvSpPr>
        <p:spPr>
          <a:xfrm>
            <a:off x="2072881" y="297462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>
                <a:solidFill>
                  <a:schemeClr val="dk1"/>
                </a:solidFill>
              </a:rPr>
              <a:t>1...</a:t>
            </a:r>
            <a:endParaRPr/>
          </a:p>
        </p:txBody>
      </p:sp>
      <p:sp>
        <p:nvSpPr>
          <p:cNvPr id="1748" name="Google Shape;1748;p73"/>
          <p:cNvSpPr/>
          <p:nvPr/>
        </p:nvSpPr>
        <p:spPr>
          <a:xfrm>
            <a:off x="404071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73"/>
          <p:cNvSpPr/>
          <p:nvPr/>
        </p:nvSpPr>
        <p:spPr>
          <a:xfrm>
            <a:off x="404435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50" name="Google Shape;1750;p73"/>
          <p:cNvCxnSpPr/>
          <p:nvPr/>
        </p:nvCxnSpPr>
        <p:spPr>
          <a:xfrm rot="10800000">
            <a:off x="428976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1" name="Google Shape;1751;p73"/>
          <p:cNvSpPr txBox="1"/>
          <p:nvPr/>
        </p:nvSpPr>
        <p:spPr>
          <a:xfrm>
            <a:off x="403107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sp>
        <p:nvSpPr>
          <p:cNvPr id="1752" name="Google Shape;1752;p73"/>
          <p:cNvSpPr txBox="1"/>
          <p:nvPr/>
        </p:nvSpPr>
        <p:spPr>
          <a:xfrm>
            <a:off x="4027438" y="3902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1753" name="Google Shape;1753;p73"/>
          <p:cNvCxnSpPr/>
          <p:nvPr/>
        </p:nvCxnSpPr>
        <p:spPr>
          <a:xfrm>
            <a:off x="3664225" y="31869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4" name="Google Shape;1754;p73"/>
          <p:cNvSpPr/>
          <p:nvPr/>
        </p:nvSpPr>
        <p:spPr>
          <a:xfrm>
            <a:off x="4896323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73"/>
          <p:cNvSpPr/>
          <p:nvPr/>
        </p:nvSpPr>
        <p:spPr>
          <a:xfrm>
            <a:off x="4892463" y="38983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73"/>
          <p:cNvSpPr/>
          <p:nvPr/>
        </p:nvSpPr>
        <p:spPr>
          <a:xfrm>
            <a:off x="4896100" y="29374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57" name="Google Shape;1757;p73"/>
          <p:cNvCxnSpPr/>
          <p:nvPr/>
        </p:nvCxnSpPr>
        <p:spPr>
          <a:xfrm rot="10800000">
            <a:off x="5141514" y="34053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8" name="Google Shape;1758;p73"/>
          <p:cNvCxnSpPr>
            <a:stCxn id="1756" idx="0"/>
            <a:endCxn id="1754" idx="4"/>
          </p:cNvCxnSpPr>
          <p:nvPr/>
        </p:nvCxnSpPr>
        <p:spPr>
          <a:xfrm flipH="1" rot="10800000">
            <a:off x="5130100" y="2678200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9" name="Google Shape;1759;p73"/>
          <p:cNvSpPr txBox="1"/>
          <p:nvPr/>
        </p:nvSpPr>
        <p:spPr>
          <a:xfrm>
            <a:off x="4882825" y="293662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1760" name="Google Shape;1760;p73"/>
          <p:cNvSpPr txBox="1"/>
          <p:nvPr/>
        </p:nvSpPr>
        <p:spPr>
          <a:xfrm>
            <a:off x="4883048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1761" name="Google Shape;1761;p73"/>
          <p:cNvCxnSpPr/>
          <p:nvPr/>
        </p:nvCxnSpPr>
        <p:spPr>
          <a:xfrm>
            <a:off x="4515975" y="317140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2" name="Google Shape;1762;p73"/>
          <p:cNvSpPr txBox="1"/>
          <p:nvPr/>
        </p:nvSpPr>
        <p:spPr>
          <a:xfrm>
            <a:off x="30509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763" name="Google Shape;1763;p73"/>
          <p:cNvSpPr txBox="1"/>
          <p:nvPr/>
        </p:nvSpPr>
        <p:spPr>
          <a:xfrm>
            <a:off x="3913000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comer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764" name="Google Shape;1764;p73"/>
          <p:cNvSpPr txBox="1"/>
          <p:nvPr/>
        </p:nvSpPr>
        <p:spPr>
          <a:xfrm>
            <a:off x="477502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765" name="Google Shape;1765;p73"/>
          <p:cNvSpPr/>
          <p:nvPr/>
        </p:nvSpPr>
        <p:spPr>
          <a:xfrm>
            <a:off x="1526475" y="3073025"/>
            <a:ext cx="4740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66" name="Google Shape;1766;p73"/>
          <p:cNvCxnSpPr>
            <a:stCxn id="1754" idx="0"/>
            <a:endCxn id="1767" idx="4"/>
          </p:cNvCxnSpPr>
          <p:nvPr/>
        </p:nvCxnSpPr>
        <p:spPr>
          <a:xfrm rot="10800000">
            <a:off x="5128223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8" name="Google Shape;1768;p73"/>
          <p:cNvSpPr txBox="1"/>
          <p:nvPr/>
        </p:nvSpPr>
        <p:spPr>
          <a:xfrm>
            <a:off x="4813486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73"/>
          <p:cNvSpPr txBox="1"/>
          <p:nvPr/>
        </p:nvSpPr>
        <p:spPr>
          <a:xfrm>
            <a:off x="4714280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73"/>
          <p:cNvSpPr/>
          <p:nvPr/>
        </p:nvSpPr>
        <p:spPr>
          <a:xfrm>
            <a:off x="4894149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73"/>
          <p:cNvSpPr txBox="1"/>
          <p:nvPr/>
        </p:nvSpPr>
        <p:spPr>
          <a:xfrm>
            <a:off x="4896395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pic>
        <p:nvPicPr>
          <p:cNvPr id="1771" name="Google Shape;177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150" y="2497650"/>
            <a:ext cx="3293957" cy="13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2" name="Google Shape;1772;p73"/>
          <p:cNvSpPr txBox="1"/>
          <p:nvPr>
            <p:ph type="title"/>
          </p:nvPr>
        </p:nvSpPr>
        <p:spPr>
          <a:xfrm>
            <a:off x="726114" y="402582"/>
            <a:ext cx="7556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Entrenamiento: Backpropagation</a:t>
            </a:r>
            <a:endParaRPr/>
          </a:p>
        </p:txBody>
      </p:sp>
      <p:sp>
        <p:nvSpPr>
          <p:cNvPr id="1773" name="Google Shape;1773;p73"/>
          <p:cNvSpPr txBox="1"/>
          <p:nvPr/>
        </p:nvSpPr>
        <p:spPr>
          <a:xfrm>
            <a:off x="5073508" y="2658721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74" name="Google Shape;1774;p73"/>
          <p:cNvSpPr txBox="1"/>
          <p:nvPr/>
        </p:nvSpPr>
        <p:spPr>
          <a:xfrm>
            <a:off x="2850366" y="27282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75" name="Google Shape;1775;p73"/>
          <p:cNvSpPr txBox="1"/>
          <p:nvPr/>
        </p:nvSpPr>
        <p:spPr>
          <a:xfrm>
            <a:off x="3612366" y="27282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76" name="Google Shape;1776;p73"/>
          <p:cNvSpPr txBox="1"/>
          <p:nvPr/>
        </p:nvSpPr>
        <p:spPr>
          <a:xfrm>
            <a:off x="4500081" y="27282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77" name="Google Shape;1777;p73"/>
          <p:cNvSpPr txBox="1"/>
          <p:nvPr/>
        </p:nvSpPr>
        <p:spPr>
          <a:xfrm>
            <a:off x="3386582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78" name="Google Shape;1778;p73"/>
          <p:cNvSpPr txBox="1"/>
          <p:nvPr/>
        </p:nvSpPr>
        <p:spPr>
          <a:xfrm>
            <a:off x="4224782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79" name="Google Shape;1779;p73"/>
          <p:cNvSpPr txBox="1"/>
          <p:nvPr/>
        </p:nvSpPr>
        <p:spPr>
          <a:xfrm>
            <a:off x="5096338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780" name="Google Shape;1780;p73"/>
          <p:cNvCxnSpPr/>
          <p:nvPr/>
        </p:nvCxnSpPr>
        <p:spPr>
          <a:xfrm>
            <a:off x="2565794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1" name="Google Shape;1781;p73"/>
          <p:cNvSpPr txBox="1"/>
          <p:nvPr/>
        </p:nvSpPr>
        <p:spPr>
          <a:xfrm>
            <a:off x="2718200" y="2930125"/>
            <a:ext cx="5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...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2" name="Google Shape;1782;p73"/>
          <p:cNvSpPr txBox="1"/>
          <p:nvPr/>
        </p:nvSpPr>
        <p:spPr>
          <a:xfrm>
            <a:off x="2469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83" name="Google Shape;1783;p73"/>
          <p:cNvSpPr/>
          <p:nvPr/>
        </p:nvSpPr>
        <p:spPr>
          <a:xfrm>
            <a:off x="2088806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84" name="Google Shape;1784;p73"/>
          <p:cNvCxnSpPr/>
          <p:nvPr/>
        </p:nvCxnSpPr>
        <p:spPr>
          <a:xfrm rot="10800000">
            <a:off x="2337858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5" name="Google Shape;1785;p73"/>
          <p:cNvSpPr txBox="1"/>
          <p:nvPr/>
        </p:nvSpPr>
        <p:spPr>
          <a:xfrm>
            <a:off x="2075531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1786" name="Google Shape;1786;p73"/>
          <p:cNvSpPr txBox="1"/>
          <p:nvPr/>
        </p:nvSpPr>
        <p:spPr>
          <a:xfrm>
            <a:off x="1759803" y="4424950"/>
            <a:ext cx="1148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darle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787" name="Google Shape;1787;p73"/>
          <p:cNvSpPr txBox="1"/>
          <p:nvPr/>
        </p:nvSpPr>
        <p:spPr>
          <a:xfrm>
            <a:off x="2286426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88" name="Google Shape;1788;p73"/>
          <p:cNvSpPr txBox="1"/>
          <p:nvPr/>
        </p:nvSpPr>
        <p:spPr>
          <a:xfrm>
            <a:off x="5550450" y="1605675"/>
            <a:ext cx="31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ŷ</a:t>
            </a:r>
            <a:r>
              <a:rPr b="1" baseline="-25000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b="1" lang="es-419">
                <a:solidFill>
                  <a:srgbClr val="A64D79"/>
                </a:solidFill>
                <a:latin typeface="Raleway"/>
                <a:ea typeface="Raleway"/>
                <a:cs typeface="Raleway"/>
                <a:sym typeface="Raleway"/>
              </a:rPr>
              <a:t> = p(gato | … darle de comer al)</a:t>
            </a:r>
            <a:endParaRPr b="1">
              <a:solidFill>
                <a:srgbClr val="A64D7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89" name="Google Shape;1789;p73"/>
          <p:cNvSpPr txBox="1"/>
          <p:nvPr/>
        </p:nvSpPr>
        <p:spPr>
          <a:xfrm>
            <a:off x="620993" y="2556625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90" name="Google Shape;1790;p73"/>
          <p:cNvSpPr txBox="1"/>
          <p:nvPr/>
        </p:nvSpPr>
        <p:spPr>
          <a:xfrm>
            <a:off x="1095900" y="302860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91" name="Google Shape;1791;p73"/>
          <p:cNvSpPr txBox="1"/>
          <p:nvPr/>
        </p:nvSpPr>
        <p:spPr>
          <a:xfrm>
            <a:off x="643382" y="3490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792" name="Google Shape;1792;p73"/>
          <p:cNvCxnSpPr/>
          <p:nvPr/>
        </p:nvCxnSpPr>
        <p:spPr>
          <a:xfrm flipH="1">
            <a:off x="5128149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3" name="Google Shape;1793;p73"/>
          <p:cNvSpPr txBox="1"/>
          <p:nvPr/>
        </p:nvSpPr>
        <p:spPr>
          <a:xfrm>
            <a:off x="4813486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3"/>
          <p:cNvSpPr txBox="1"/>
          <p:nvPr/>
        </p:nvSpPr>
        <p:spPr>
          <a:xfrm>
            <a:off x="4714280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3"/>
          <p:cNvSpPr/>
          <p:nvPr/>
        </p:nvSpPr>
        <p:spPr>
          <a:xfrm>
            <a:off x="4894149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3"/>
          <p:cNvSpPr txBox="1"/>
          <p:nvPr/>
        </p:nvSpPr>
        <p:spPr>
          <a:xfrm>
            <a:off x="4896395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\mathcal{L_i}=- \sum_{w \in V} y^w_i \log(\hat{y}^w_i)" id="1797" name="Google Shape;1797;p73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8026" y="990625"/>
            <a:ext cx="2149638" cy="2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8" name="Google Shape;1798;p73"/>
          <p:cNvSpPr txBox="1"/>
          <p:nvPr/>
        </p:nvSpPr>
        <p:spPr>
          <a:xfrm>
            <a:off x="2812475" y="1537350"/>
            <a:ext cx="1690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F00FF"/>
                </a:solidFill>
              </a:rPr>
              <a:t>Backpropagation through time</a:t>
            </a:r>
            <a:endParaRPr b="1">
              <a:solidFill>
                <a:srgbClr val="FF00FF"/>
              </a:solidFill>
            </a:endParaRPr>
          </a:p>
        </p:txBody>
      </p:sp>
      <p:cxnSp>
        <p:nvCxnSpPr>
          <p:cNvPr id="1799" name="Google Shape;1799;p73"/>
          <p:cNvCxnSpPr/>
          <p:nvPr/>
        </p:nvCxnSpPr>
        <p:spPr>
          <a:xfrm>
            <a:off x="47052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0" name="Google Shape;1800;p73"/>
          <p:cNvCxnSpPr/>
          <p:nvPr/>
        </p:nvCxnSpPr>
        <p:spPr>
          <a:xfrm>
            <a:off x="4770961" y="3371830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1" name="Google Shape;1801;p73"/>
          <p:cNvCxnSpPr/>
          <p:nvPr/>
        </p:nvCxnSpPr>
        <p:spPr>
          <a:xfrm>
            <a:off x="4008961" y="3371830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2" name="Google Shape;1802;p73"/>
          <p:cNvCxnSpPr/>
          <p:nvPr/>
        </p:nvCxnSpPr>
        <p:spPr>
          <a:xfrm>
            <a:off x="3170761" y="3371830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3" name="Google Shape;1803;p73"/>
          <p:cNvCxnSpPr/>
          <p:nvPr/>
        </p:nvCxnSpPr>
        <p:spPr>
          <a:xfrm>
            <a:off x="2103961" y="3371830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4" name="Google Shape;1804;p73"/>
          <p:cNvCxnSpPr/>
          <p:nvPr/>
        </p:nvCxnSpPr>
        <p:spPr>
          <a:xfrm>
            <a:off x="46628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5" name="Google Shape;1805;p73"/>
          <p:cNvCxnSpPr/>
          <p:nvPr/>
        </p:nvCxnSpPr>
        <p:spPr>
          <a:xfrm>
            <a:off x="38246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6" name="Google Shape;1806;p73"/>
          <p:cNvCxnSpPr/>
          <p:nvPr/>
        </p:nvCxnSpPr>
        <p:spPr>
          <a:xfrm>
            <a:off x="28340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74"/>
          <p:cNvSpPr txBox="1"/>
          <p:nvPr/>
        </p:nvSpPr>
        <p:spPr>
          <a:xfrm>
            <a:off x="4879188" y="3900344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1812" name="Google Shape;1812;p74"/>
          <p:cNvSpPr/>
          <p:nvPr/>
        </p:nvSpPr>
        <p:spPr>
          <a:xfrm>
            <a:off x="467588" y="3833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74"/>
          <p:cNvSpPr/>
          <p:nvPr/>
        </p:nvSpPr>
        <p:spPr>
          <a:xfrm>
            <a:off x="471225" y="28726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4" name="Google Shape;1814;p74"/>
          <p:cNvSpPr/>
          <p:nvPr/>
        </p:nvSpPr>
        <p:spPr>
          <a:xfrm flipH="1">
            <a:off x="769680" y="2831798"/>
            <a:ext cx="706200" cy="679200"/>
          </a:xfrm>
          <a:prstGeom prst="arc">
            <a:avLst>
              <a:gd fmla="val 2258622" name="adj1"/>
              <a:gd fmla="val 18013119" name="adj2"/>
            </a:avLst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1815" name="Google Shape;1815;p74"/>
          <p:cNvCxnSpPr/>
          <p:nvPr/>
        </p:nvCxnSpPr>
        <p:spPr>
          <a:xfrm rot="10800000">
            <a:off x="716639" y="33405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6" name="Google Shape;1816;p74"/>
          <p:cNvCxnSpPr>
            <a:stCxn id="1813" idx="0"/>
          </p:cNvCxnSpPr>
          <p:nvPr/>
        </p:nvCxnSpPr>
        <p:spPr>
          <a:xfrm rot="10800000">
            <a:off x="705225" y="24346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7" name="Google Shape;1817;p74"/>
          <p:cNvSpPr txBox="1"/>
          <p:nvPr/>
        </p:nvSpPr>
        <p:spPr>
          <a:xfrm>
            <a:off x="457950" y="28318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818" name="Google Shape;1818;p74"/>
          <p:cNvSpPr txBox="1"/>
          <p:nvPr/>
        </p:nvSpPr>
        <p:spPr>
          <a:xfrm>
            <a:off x="454313" y="3792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819" name="Google Shape;1819;p74"/>
          <p:cNvSpPr txBox="1"/>
          <p:nvPr/>
        </p:nvSpPr>
        <p:spPr>
          <a:xfrm>
            <a:off x="476000" y="1911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820" name="Google Shape;1820;p74"/>
          <p:cNvSpPr/>
          <p:nvPr/>
        </p:nvSpPr>
        <p:spPr>
          <a:xfrm>
            <a:off x="489275" y="1952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74"/>
          <p:cNvSpPr/>
          <p:nvPr/>
        </p:nvSpPr>
        <p:spPr>
          <a:xfrm>
            <a:off x="31889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74"/>
          <p:cNvSpPr/>
          <p:nvPr/>
        </p:nvSpPr>
        <p:spPr>
          <a:xfrm>
            <a:off x="31926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23" name="Google Shape;1823;p74"/>
          <p:cNvCxnSpPr/>
          <p:nvPr/>
        </p:nvCxnSpPr>
        <p:spPr>
          <a:xfrm rot="10800000">
            <a:off x="34380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4" name="Google Shape;1824;p74"/>
          <p:cNvSpPr txBox="1"/>
          <p:nvPr/>
        </p:nvSpPr>
        <p:spPr>
          <a:xfrm>
            <a:off x="317932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1825" name="Google Shape;1825;p74"/>
          <p:cNvSpPr txBox="1"/>
          <p:nvPr/>
        </p:nvSpPr>
        <p:spPr>
          <a:xfrm>
            <a:off x="3175688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1826" name="Google Shape;1826;p74"/>
          <p:cNvCxnSpPr/>
          <p:nvPr/>
        </p:nvCxnSpPr>
        <p:spPr>
          <a:xfrm>
            <a:off x="2987275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7" name="Google Shape;1827;p74"/>
          <p:cNvSpPr/>
          <p:nvPr/>
        </p:nvSpPr>
        <p:spPr>
          <a:xfrm>
            <a:off x="2082338" y="29496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74"/>
          <p:cNvSpPr txBox="1"/>
          <p:nvPr/>
        </p:nvSpPr>
        <p:spPr>
          <a:xfrm>
            <a:off x="2072881" y="297462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>
                <a:solidFill>
                  <a:schemeClr val="dk1"/>
                </a:solidFill>
              </a:rPr>
              <a:t>1...</a:t>
            </a:r>
            <a:endParaRPr/>
          </a:p>
        </p:txBody>
      </p:sp>
      <p:sp>
        <p:nvSpPr>
          <p:cNvPr id="1829" name="Google Shape;1829;p74"/>
          <p:cNvSpPr/>
          <p:nvPr/>
        </p:nvSpPr>
        <p:spPr>
          <a:xfrm>
            <a:off x="404071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74"/>
          <p:cNvSpPr/>
          <p:nvPr/>
        </p:nvSpPr>
        <p:spPr>
          <a:xfrm>
            <a:off x="404435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31" name="Google Shape;1831;p74"/>
          <p:cNvCxnSpPr/>
          <p:nvPr/>
        </p:nvCxnSpPr>
        <p:spPr>
          <a:xfrm rot="10800000">
            <a:off x="428976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2" name="Google Shape;1832;p74"/>
          <p:cNvSpPr txBox="1"/>
          <p:nvPr/>
        </p:nvSpPr>
        <p:spPr>
          <a:xfrm>
            <a:off x="403107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sp>
        <p:nvSpPr>
          <p:cNvPr id="1833" name="Google Shape;1833;p74"/>
          <p:cNvSpPr txBox="1"/>
          <p:nvPr/>
        </p:nvSpPr>
        <p:spPr>
          <a:xfrm>
            <a:off x="4027438" y="3902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1834" name="Google Shape;1834;p74"/>
          <p:cNvCxnSpPr/>
          <p:nvPr/>
        </p:nvCxnSpPr>
        <p:spPr>
          <a:xfrm>
            <a:off x="3664225" y="31869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5" name="Google Shape;1835;p74"/>
          <p:cNvSpPr/>
          <p:nvPr/>
        </p:nvSpPr>
        <p:spPr>
          <a:xfrm>
            <a:off x="4892463" y="38983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74"/>
          <p:cNvSpPr/>
          <p:nvPr/>
        </p:nvSpPr>
        <p:spPr>
          <a:xfrm>
            <a:off x="4896100" y="29374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37" name="Google Shape;1837;p74"/>
          <p:cNvCxnSpPr/>
          <p:nvPr/>
        </p:nvCxnSpPr>
        <p:spPr>
          <a:xfrm rot="10800000">
            <a:off x="5141514" y="34053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8" name="Google Shape;1838;p74"/>
          <p:cNvCxnSpPr>
            <a:stCxn id="1836" idx="0"/>
            <a:endCxn id="1839" idx="4"/>
          </p:cNvCxnSpPr>
          <p:nvPr/>
        </p:nvCxnSpPr>
        <p:spPr>
          <a:xfrm flipH="1" rot="10800000">
            <a:off x="5130100" y="2678200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0" name="Google Shape;1840;p74"/>
          <p:cNvSpPr txBox="1"/>
          <p:nvPr/>
        </p:nvSpPr>
        <p:spPr>
          <a:xfrm>
            <a:off x="4882825" y="293662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1841" name="Google Shape;1841;p74"/>
          <p:cNvCxnSpPr/>
          <p:nvPr/>
        </p:nvCxnSpPr>
        <p:spPr>
          <a:xfrm>
            <a:off x="4515975" y="317140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2" name="Google Shape;1842;p74"/>
          <p:cNvSpPr txBox="1"/>
          <p:nvPr/>
        </p:nvSpPr>
        <p:spPr>
          <a:xfrm>
            <a:off x="30509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843" name="Google Shape;1843;p74"/>
          <p:cNvSpPr txBox="1"/>
          <p:nvPr/>
        </p:nvSpPr>
        <p:spPr>
          <a:xfrm>
            <a:off x="3913000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comer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844" name="Google Shape;1844;p74"/>
          <p:cNvSpPr txBox="1"/>
          <p:nvPr/>
        </p:nvSpPr>
        <p:spPr>
          <a:xfrm>
            <a:off x="477502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845" name="Google Shape;1845;p74"/>
          <p:cNvSpPr/>
          <p:nvPr/>
        </p:nvSpPr>
        <p:spPr>
          <a:xfrm>
            <a:off x="1526475" y="3073025"/>
            <a:ext cx="4740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74"/>
          <p:cNvSpPr txBox="1"/>
          <p:nvPr>
            <p:ph type="title"/>
          </p:nvPr>
        </p:nvSpPr>
        <p:spPr>
          <a:xfrm>
            <a:off x="726114" y="402582"/>
            <a:ext cx="7556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Entrenamiento: Backpropagation</a:t>
            </a:r>
            <a:endParaRPr/>
          </a:p>
        </p:txBody>
      </p:sp>
      <p:sp>
        <p:nvSpPr>
          <p:cNvPr id="1847" name="Google Shape;1847;p74"/>
          <p:cNvSpPr txBox="1"/>
          <p:nvPr/>
        </p:nvSpPr>
        <p:spPr>
          <a:xfrm>
            <a:off x="5073508" y="2658721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48" name="Google Shape;1848;p74"/>
          <p:cNvSpPr txBox="1"/>
          <p:nvPr/>
        </p:nvSpPr>
        <p:spPr>
          <a:xfrm>
            <a:off x="2850366" y="27282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49" name="Google Shape;1849;p74"/>
          <p:cNvSpPr txBox="1"/>
          <p:nvPr/>
        </p:nvSpPr>
        <p:spPr>
          <a:xfrm>
            <a:off x="3612366" y="27282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50" name="Google Shape;1850;p74"/>
          <p:cNvSpPr txBox="1"/>
          <p:nvPr/>
        </p:nvSpPr>
        <p:spPr>
          <a:xfrm>
            <a:off x="4500081" y="2728250"/>
            <a:ext cx="3687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51" name="Google Shape;1851;p74"/>
          <p:cNvSpPr txBox="1"/>
          <p:nvPr/>
        </p:nvSpPr>
        <p:spPr>
          <a:xfrm>
            <a:off x="3386582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52" name="Google Shape;1852;p74"/>
          <p:cNvSpPr txBox="1"/>
          <p:nvPr/>
        </p:nvSpPr>
        <p:spPr>
          <a:xfrm>
            <a:off x="4224782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53" name="Google Shape;1853;p74"/>
          <p:cNvSpPr txBox="1"/>
          <p:nvPr/>
        </p:nvSpPr>
        <p:spPr>
          <a:xfrm>
            <a:off x="5096338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854" name="Google Shape;1854;p74"/>
          <p:cNvCxnSpPr/>
          <p:nvPr/>
        </p:nvCxnSpPr>
        <p:spPr>
          <a:xfrm>
            <a:off x="2565794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5" name="Google Shape;1855;p74"/>
          <p:cNvSpPr txBox="1"/>
          <p:nvPr/>
        </p:nvSpPr>
        <p:spPr>
          <a:xfrm>
            <a:off x="2718200" y="2930125"/>
            <a:ext cx="5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...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56" name="Google Shape;1856;p74"/>
          <p:cNvSpPr txBox="1"/>
          <p:nvPr/>
        </p:nvSpPr>
        <p:spPr>
          <a:xfrm>
            <a:off x="2469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57" name="Google Shape;1857;p74"/>
          <p:cNvSpPr/>
          <p:nvPr/>
        </p:nvSpPr>
        <p:spPr>
          <a:xfrm>
            <a:off x="2088806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8" name="Google Shape;1858;p74"/>
          <p:cNvCxnSpPr/>
          <p:nvPr/>
        </p:nvCxnSpPr>
        <p:spPr>
          <a:xfrm rot="10800000">
            <a:off x="2337858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9" name="Google Shape;1859;p74"/>
          <p:cNvSpPr txBox="1"/>
          <p:nvPr/>
        </p:nvSpPr>
        <p:spPr>
          <a:xfrm>
            <a:off x="2075531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1860" name="Google Shape;1860;p74"/>
          <p:cNvSpPr txBox="1"/>
          <p:nvPr/>
        </p:nvSpPr>
        <p:spPr>
          <a:xfrm>
            <a:off x="1759803" y="4424950"/>
            <a:ext cx="1148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darle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861" name="Google Shape;1861;p74"/>
          <p:cNvSpPr txBox="1"/>
          <p:nvPr/>
        </p:nvSpPr>
        <p:spPr>
          <a:xfrm>
            <a:off x="2286426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62" name="Google Shape;1862;p74"/>
          <p:cNvSpPr txBox="1"/>
          <p:nvPr/>
        </p:nvSpPr>
        <p:spPr>
          <a:xfrm>
            <a:off x="620993" y="2556625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63" name="Google Shape;1863;p74"/>
          <p:cNvSpPr txBox="1"/>
          <p:nvPr/>
        </p:nvSpPr>
        <p:spPr>
          <a:xfrm>
            <a:off x="1095900" y="302860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64" name="Google Shape;1864;p74"/>
          <p:cNvSpPr txBox="1"/>
          <p:nvPr/>
        </p:nvSpPr>
        <p:spPr>
          <a:xfrm>
            <a:off x="643382" y="3490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\mathcal{L_i}=- \sum_{w \in V} y^w_i \log(\hat{y}^w_i)" id="1865" name="Google Shape;1865;p74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026" y="990625"/>
            <a:ext cx="2149638" cy="24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6" name="Google Shape;1866;p74"/>
          <p:cNvCxnSpPr/>
          <p:nvPr/>
        </p:nvCxnSpPr>
        <p:spPr>
          <a:xfrm>
            <a:off x="4770961" y="3371830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7" name="Google Shape;1867;p74"/>
          <p:cNvCxnSpPr/>
          <p:nvPr/>
        </p:nvCxnSpPr>
        <p:spPr>
          <a:xfrm>
            <a:off x="4008961" y="3371830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8" name="Google Shape;1868;p74"/>
          <p:cNvCxnSpPr/>
          <p:nvPr/>
        </p:nvCxnSpPr>
        <p:spPr>
          <a:xfrm>
            <a:off x="3170761" y="3371830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9" name="Google Shape;1869;p74"/>
          <p:cNvCxnSpPr/>
          <p:nvPr/>
        </p:nvCxnSpPr>
        <p:spPr>
          <a:xfrm>
            <a:off x="2103961" y="3371830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0" name="Google Shape;1870;p74"/>
          <p:cNvCxnSpPr/>
          <p:nvPr/>
        </p:nvCxnSpPr>
        <p:spPr>
          <a:xfrm>
            <a:off x="46628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1" name="Google Shape;1871;p74"/>
          <p:cNvCxnSpPr/>
          <p:nvPr/>
        </p:nvCxnSpPr>
        <p:spPr>
          <a:xfrm>
            <a:off x="38246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2" name="Google Shape;1872;p74"/>
          <p:cNvCxnSpPr/>
          <p:nvPr/>
        </p:nvCxnSpPr>
        <p:spPr>
          <a:xfrm>
            <a:off x="28340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3" name="Google Shape;1873;p74"/>
          <p:cNvCxnSpPr>
            <a:endCxn id="1874" idx="4"/>
          </p:cNvCxnSpPr>
          <p:nvPr/>
        </p:nvCxnSpPr>
        <p:spPr>
          <a:xfrm flipH="1" rot="10800000">
            <a:off x="4291823" y="2678246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5" name="Google Shape;1875;p74"/>
          <p:cNvSpPr txBox="1"/>
          <p:nvPr/>
        </p:nvSpPr>
        <p:spPr>
          <a:xfrm>
            <a:off x="4235308" y="2658721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876" name="Google Shape;1876;p74"/>
          <p:cNvCxnSpPr>
            <a:endCxn id="1877" idx="4"/>
          </p:cNvCxnSpPr>
          <p:nvPr/>
        </p:nvCxnSpPr>
        <p:spPr>
          <a:xfrm flipH="1" rot="10800000">
            <a:off x="3419789" y="2678246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8" name="Google Shape;1878;p74"/>
          <p:cNvSpPr txBox="1"/>
          <p:nvPr/>
        </p:nvSpPr>
        <p:spPr>
          <a:xfrm>
            <a:off x="3363274" y="2658721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879" name="Google Shape;1879;p74"/>
          <p:cNvCxnSpPr>
            <a:endCxn id="1880" idx="4"/>
          </p:cNvCxnSpPr>
          <p:nvPr/>
        </p:nvCxnSpPr>
        <p:spPr>
          <a:xfrm flipH="1" rot="10800000">
            <a:off x="2312094" y="2678246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1" name="Google Shape;1881;p74"/>
          <p:cNvSpPr txBox="1"/>
          <p:nvPr/>
        </p:nvSpPr>
        <p:spPr>
          <a:xfrm>
            <a:off x="2255579" y="2658721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\mathcal{L}= \sum_{i} \mathcal{L_i}" id="1882" name="Google Shape;1882;p74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4512" y="1316725"/>
            <a:ext cx="95399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3" name="Google Shape;1883;p74"/>
          <p:cNvSpPr txBox="1"/>
          <p:nvPr/>
        </p:nvSpPr>
        <p:spPr>
          <a:xfrm>
            <a:off x="6766625" y="1909719"/>
            <a:ext cx="1690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F00FF"/>
                </a:solidFill>
              </a:rPr>
              <a:t>Backpropagation through time</a:t>
            </a:r>
            <a:endParaRPr b="1">
              <a:solidFill>
                <a:srgbClr val="FF00FF"/>
              </a:solidFill>
            </a:endParaRPr>
          </a:p>
        </p:txBody>
      </p:sp>
      <p:sp>
        <p:nvSpPr>
          <p:cNvPr id="1884" name="Google Shape;1884;p74"/>
          <p:cNvSpPr/>
          <p:nvPr/>
        </p:nvSpPr>
        <p:spPr>
          <a:xfrm>
            <a:off x="4896323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74"/>
          <p:cNvSpPr txBox="1"/>
          <p:nvPr/>
        </p:nvSpPr>
        <p:spPr>
          <a:xfrm>
            <a:off x="4883048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1886" name="Google Shape;1886;p74"/>
          <p:cNvCxnSpPr>
            <a:stCxn id="1884" idx="0"/>
            <a:endCxn id="1887" idx="4"/>
          </p:cNvCxnSpPr>
          <p:nvPr/>
        </p:nvCxnSpPr>
        <p:spPr>
          <a:xfrm rot="10800000">
            <a:off x="5128223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8" name="Google Shape;1888;p74"/>
          <p:cNvSpPr txBox="1"/>
          <p:nvPr/>
        </p:nvSpPr>
        <p:spPr>
          <a:xfrm>
            <a:off x="4813486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74"/>
          <p:cNvSpPr txBox="1"/>
          <p:nvPr/>
        </p:nvSpPr>
        <p:spPr>
          <a:xfrm>
            <a:off x="4714280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74"/>
          <p:cNvSpPr/>
          <p:nvPr/>
        </p:nvSpPr>
        <p:spPr>
          <a:xfrm>
            <a:off x="4894149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74"/>
          <p:cNvSpPr txBox="1"/>
          <p:nvPr/>
        </p:nvSpPr>
        <p:spPr>
          <a:xfrm>
            <a:off x="4896395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1891" name="Google Shape;1891;p74"/>
          <p:cNvCxnSpPr/>
          <p:nvPr/>
        </p:nvCxnSpPr>
        <p:spPr>
          <a:xfrm flipH="1">
            <a:off x="5128149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2" name="Google Shape;1892;p74"/>
          <p:cNvSpPr txBox="1"/>
          <p:nvPr/>
        </p:nvSpPr>
        <p:spPr>
          <a:xfrm>
            <a:off x="4813486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74"/>
          <p:cNvSpPr txBox="1"/>
          <p:nvPr/>
        </p:nvSpPr>
        <p:spPr>
          <a:xfrm>
            <a:off x="4714280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74"/>
          <p:cNvSpPr/>
          <p:nvPr/>
        </p:nvSpPr>
        <p:spPr>
          <a:xfrm>
            <a:off x="4894149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74"/>
          <p:cNvSpPr txBox="1"/>
          <p:nvPr/>
        </p:nvSpPr>
        <p:spPr>
          <a:xfrm>
            <a:off x="4896395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896" name="Google Shape;1896;p74"/>
          <p:cNvCxnSpPr/>
          <p:nvPr/>
        </p:nvCxnSpPr>
        <p:spPr>
          <a:xfrm>
            <a:off x="47052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7" name="Google Shape;1897;p74"/>
          <p:cNvSpPr/>
          <p:nvPr/>
        </p:nvSpPr>
        <p:spPr>
          <a:xfrm>
            <a:off x="4058123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74"/>
          <p:cNvSpPr txBox="1"/>
          <p:nvPr/>
        </p:nvSpPr>
        <p:spPr>
          <a:xfrm>
            <a:off x="4044848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1899" name="Google Shape;1899;p74"/>
          <p:cNvCxnSpPr>
            <a:stCxn id="1897" idx="0"/>
            <a:endCxn id="1900" idx="4"/>
          </p:cNvCxnSpPr>
          <p:nvPr/>
        </p:nvCxnSpPr>
        <p:spPr>
          <a:xfrm rot="10800000">
            <a:off x="4290023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1" name="Google Shape;1901;p74"/>
          <p:cNvSpPr txBox="1"/>
          <p:nvPr/>
        </p:nvSpPr>
        <p:spPr>
          <a:xfrm>
            <a:off x="3975286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74"/>
          <p:cNvSpPr txBox="1"/>
          <p:nvPr/>
        </p:nvSpPr>
        <p:spPr>
          <a:xfrm>
            <a:off x="3876080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74"/>
          <p:cNvSpPr/>
          <p:nvPr/>
        </p:nvSpPr>
        <p:spPr>
          <a:xfrm>
            <a:off x="4055949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74"/>
          <p:cNvSpPr txBox="1"/>
          <p:nvPr/>
        </p:nvSpPr>
        <p:spPr>
          <a:xfrm>
            <a:off x="4058195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1904" name="Google Shape;1904;p74"/>
          <p:cNvCxnSpPr/>
          <p:nvPr/>
        </p:nvCxnSpPr>
        <p:spPr>
          <a:xfrm flipH="1">
            <a:off x="4289949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5" name="Google Shape;1905;p74"/>
          <p:cNvSpPr txBox="1"/>
          <p:nvPr/>
        </p:nvSpPr>
        <p:spPr>
          <a:xfrm>
            <a:off x="3975286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6" name="Google Shape;1906;p74"/>
          <p:cNvSpPr txBox="1"/>
          <p:nvPr/>
        </p:nvSpPr>
        <p:spPr>
          <a:xfrm>
            <a:off x="3876080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7" name="Google Shape;1907;p74"/>
          <p:cNvSpPr/>
          <p:nvPr/>
        </p:nvSpPr>
        <p:spPr>
          <a:xfrm>
            <a:off x="4055949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p74"/>
          <p:cNvSpPr txBox="1"/>
          <p:nvPr/>
        </p:nvSpPr>
        <p:spPr>
          <a:xfrm>
            <a:off x="4058195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9" name="Google Shape;1909;p74"/>
          <p:cNvSpPr/>
          <p:nvPr/>
        </p:nvSpPr>
        <p:spPr>
          <a:xfrm>
            <a:off x="3186089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p74"/>
          <p:cNvSpPr txBox="1"/>
          <p:nvPr/>
        </p:nvSpPr>
        <p:spPr>
          <a:xfrm>
            <a:off x="3172814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1911" name="Google Shape;1911;p74"/>
          <p:cNvCxnSpPr>
            <a:stCxn id="1909" idx="0"/>
            <a:endCxn id="1912" idx="4"/>
          </p:cNvCxnSpPr>
          <p:nvPr/>
        </p:nvCxnSpPr>
        <p:spPr>
          <a:xfrm rot="10800000">
            <a:off x="3417989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3" name="Google Shape;1913;p74"/>
          <p:cNvSpPr txBox="1"/>
          <p:nvPr/>
        </p:nvSpPr>
        <p:spPr>
          <a:xfrm>
            <a:off x="3103252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74"/>
          <p:cNvSpPr txBox="1"/>
          <p:nvPr/>
        </p:nvSpPr>
        <p:spPr>
          <a:xfrm>
            <a:off x="3004046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74"/>
          <p:cNvSpPr/>
          <p:nvPr/>
        </p:nvSpPr>
        <p:spPr>
          <a:xfrm>
            <a:off x="3183915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74"/>
          <p:cNvSpPr txBox="1"/>
          <p:nvPr/>
        </p:nvSpPr>
        <p:spPr>
          <a:xfrm>
            <a:off x="3186161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1916" name="Google Shape;1916;p74"/>
          <p:cNvCxnSpPr/>
          <p:nvPr/>
        </p:nvCxnSpPr>
        <p:spPr>
          <a:xfrm flipH="1">
            <a:off x="3417915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7" name="Google Shape;1917;p74"/>
          <p:cNvSpPr txBox="1"/>
          <p:nvPr/>
        </p:nvSpPr>
        <p:spPr>
          <a:xfrm>
            <a:off x="3103252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74"/>
          <p:cNvSpPr txBox="1"/>
          <p:nvPr/>
        </p:nvSpPr>
        <p:spPr>
          <a:xfrm>
            <a:off x="3004046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74"/>
          <p:cNvSpPr/>
          <p:nvPr/>
        </p:nvSpPr>
        <p:spPr>
          <a:xfrm>
            <a:off x="3183915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74"/>
          <p:cNvSpPr txBox="1"/>
          <p:nvPr/>
        </p:nvSpPr>
        <p:spPr>
          <a:xfrm>
            <a:off x="3186161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21" name="Google Shape;1921;p74"/>
          <p:cNvSpPr/>
          <p:nvPr/>
        </p:nvSpPr>
        <p:spPr>
          <a:xfrm>
            <a:off x="2078394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74"/>
          <p:cNvSpPr txBox="1"/>
          <p:nvPr/>
        </p:nvSpPr>
        <p:spPr>
          <a:xfrm>
            <a:off x="2065119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1923" name="Google Shape;1923;p74"/>
          <p:cNvCxnSpPr>
            <a:stCxn id="1921" idx="0"/>
            <a:endCxn id="1924" idx="4"/>
          </p:cNvCxnSpPr>
          <p:nvPr/>
        </p:nvCxnSpPr>
        <p:spPr>
          <a:xfrm rot="10800000">
            <a:off x="2310294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5" name="Google Shape;1925;p74"/>
          <p:cNvSpPr txBox="1"/>
          <p:nvPr/>
        </p:nvSpPr>
        <p:spPr>
          <a:xfrm>
            <a:off x="1995557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74"/>
          <p:cNvSpPr txBox="1"/>
          <p:nvPr/>
        </p:nvSpPr>
        <p:spPr>
          <a:xfrm>
            <a:off x="1896351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74"/>
          <p:cNvSpPr/>
          <p:nvPr/>
        </p:nvSpPr>
        <p:spPr>
          <a:xfrm>
            <a:off x="2076220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74"/>
          <p:cNvSpPr txBox="1"/>
          <p:nvPr/>
        </p:nvSpPr>
        <p:spPr>
          <a:xfrm>
            <a:off x="2078467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1928" name="Google Shape;1928;p74"/>
          <p:cNvCxnSpPr/>
          <p:nvPr/>
        </p:nvCxnSpPr>
        <p:spPr>
          <a:xfrm flipH="1">
            <a:off x="2310220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9" name="Google Shape;1929;p74"/>
          <p:cNvSpPr txBox="1"/>
          <p:nvPr/>
        </p:nvSpPr>
        <p:spPr>
          <a:xfrm>
            <a:off x="1995557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74"/>
          <p:cNvSpPr txBox="1"/>
          <p:nvPr/>
        </p:nvSpPr>
        <p:spPr>
          <a:xfrm>
            <a:off x="1896351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74"/>
          <p:cNvSpPr/>
          <p:nvPr/>
        </p:nvSpPr>
        <p:spPr>
          <a:xfrm>
            <a:off x="2076220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p74"/>
          <p:cNvSpPr txBox="1"/>
          <p:nvPr/>
        </p:nvSpPr>
        <p:spPr>
          <a:xfrm>
            <a:off x="2078467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933" name="Google Shape;1933;p74"/>
          <p:cNvCxnSpPr/>
          <p:nvPr/>
        </p:nvCxnSpPr>
        <p:spPr>
          <a:xfrm>
            <a:off x="39432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4" name="Google Shape;1934;p74"/>
          <p:cNvCxnSpPr/>
          <p:nvPr/>
        </p:nvCxnSpPr>
        <p:spPr>
          <a:xfrm>
            <a:off x="30288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5" name="Google Shape;1935;p74"/>
          <p:cNvCxnSpPr/>
          <p:nvPr/>
        </p:nvCxnSpPr>
        <p:spPr>
          <a:xfrm>
            <a:off x="19620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75"/>
          <p:cNvSpPr txBox="1"/>
          <p:nvPr/>
        </p:nvSpPr>
        <p:spPr>
          <a:xfrm>
            <a:off x="4879188" y="3900344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1941" name="Google Shape;1941;p75"/>
          <p:cNvSpPr/>
          <p:nvPr/>
        </p:nvSpPr>
        <p:spPr>
          <a:xfrm>
            <a:off x="467588" y="3833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p75"/>
          <p:cNvSpPr/>
          <p:nvPr/>
        </p:nvSpPr>
        <p:spPr>
          <a:xfrm>
            <a:off x="471225" y="28726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3" name="Google Shape;1943;p75"/>
          <p:cNvSpPr/>
          <p:nvPr/>
        </p:nvSpPr>
        <p:spPr>
          <a:xfrm flipH="1">
            <a:off x="769680" y="2831798"/>
            <a:ext cx="706200" cy="679200"/>
          </a:xfrm>
          <a:prstGeom prst="arc">
            <a:avLst>
              <a:gd fmla="val 2258622" name="adj1"/>
              <a:gd fmla="val 18013119" name="adj2"/>
            </a:avLst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1944" name="Google Shape;1944;p75"/>
          <p:cNvCxnSpPr/>
          <p:nvPr/>
        </p:nvCxnSpPr>
        <p:spPr>
          <a:xfrm rot="10800000">
            <a:off x="716639" y="33405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5" name="Google Shape;1945;p75"/>
          <p:cNvCxnSpPr>
            <a:stCxn id="1942" idx="0"/>
          </p:cNvCxnSpPr>
          <p:nvPr/>
        </p:nvCxnSpPr>
        <p:spPr>
          <a:xfrm rot="10800000">
            <a:off x="705225" y="24346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6" name="Google Shape;1946;p75"/>
          <p:cNvSpPr txBox="1"/>
          <p:nvPr/>
        </p:nvSpPr>
        <p:spPr>
          <a:xfrm>
            <a:off x="457950" y="28318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947" name="Google Shape;1947;p75"/>
          <p:cNvSpPr txBox="1"/>
          <p:nvPr/>
        </p:nvSpPr>
        <p:spPr>
          <a:xfrm>
            <a:off x="454313" y="3792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948" name="Google Shape;1948;p75"/>
          <p:cNvSpPr txBox="1"/>
          <p:nvPr/>
        </p:nvSpPr>
        <p:spPr>
          <a:xfrm>
            <a:off x="476000" y="1911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949" name="Google Shape;1949;p75"/>
          <p:cNvSpPr/>
          <p:nvPr/>
        </p:nvSpPr>
        <p:spPr>
          <a:xfrm>
            <a:off x="489275" y="1952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75"/>
          <p:cNvSpPr/>
          <p:nvPr/>
        </p:nvSpPr>
        <p:spPr>
          <a:xfrm>
            <a:off x="31889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75"/>
          <p:cNvSpPr/>
          <p:nvPr/>
        </p:nvSpPr>
        <p:spPr>
          <a:xfrm>
            <a:off x="31926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52" name="Google Shape;1952;p75"/>
          <p:cNvCxnSpPr/>
          <p:nvPr/>
        </p:nvCxnSpPr>
        <p:spPr>
          <a:xfrm rot="10800000">
            <a:off x="34380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3" name="Google Shape;1953;p75"/>
          <p:cNvSpPr txBox="1"/>
          <p:nvPr/>
        </p:nvSpPr>
        <p:spPr>
          <a:xfrm>
            <a:off x="317932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1954" name="Google Shape;1954;p75"/>
          <p:cNvSpPr txBox="1"/>
          <p:nvPr/>
        </p:nvSpPr>
        <p:spPr>
          <a:xfrm>
            <a:off x="3175688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1955" name="Google Shape;1955;p75"/>
          <p:cNvCxnSpPr/>
          <p:nvPr/>
        </p:nvCxnSpPr>
        <p:spPr>
          <a:xfrm>
            <a:off x="2987275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6" name="Google Shape;1956;p75"/>
          <p:cNvSpPr/>
          <p:nvPr/>
        </p:nvSpPr>
        <p:spPr>
          <a:xfrm>
            <a:off x="2082338" y="29496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75"/>
          <p:cNvSpPr txBox="1"/>
          <p:nvPr/>
        </p:nvSpPr>
        <p:spPr>
          <a:xfrm>
            <a:off x="2072881" y="297462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>
                <a:solidFill>
                  <a:schemeClr val="dk1"/>
                </a:solidFill>
              </a:rPr>
              <a:t>1...</a:t>
            </a:r>
            <a:endParaRPr/>
          </a:p>
        </p:txBody>
      </p:sp>
      <p:sp>
        <p:nvSpPr>
          <p:cNvPr id="1958" name="Google Shape;1958;p75"/>
          <p:cNvSpPr/>
          <p:nvPr/>
        </p:nvSpPr>
        <p:spPr>
          <a:xfrm>
            <a:off x="404071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75"/>
          <p:cNvSpPr/>
          <p:nvPr/>
        </p:nvSpPr>
        <p:spPr>
          <a:xfrm>
            <a:off x="404435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0" name="Google Shape;1960;p75"/>
          <p:cNvCxnSpPr/>
          <p:nvPr/>
        </p:nvCxnSpPr>
        <p:spPr>
          <a:xfrm rot="10800000">
            <a:off x="428976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1" name="Google Shape;1961;p75"/>
          <p:cNvSpPr txBox="1"/>
          <p:nvPr/>
        </p:nvSpPr>
        <p:spPr>
          <a:xfrm>
            <a:off x="403107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sp>
        <p:nvSpPr>
          <p:cNvPr id="1962" name="Google Shape;1962;p75"/>
          <p:cNvSpPr txBox="1"/>
          <p:nvPr/>
        </p:nvSpPr>
        <p:spPr>
          <a:xfrm>
            <a:off x="4027438" y="3902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1963" name="Google Shape;1963;p75"/>
          <p:cNvCxnSpPr/>
          <p:nvPr/>
        </p:nvCxnSpPr>
        <p:spPr>
          <a:xfrm>
            <a:off x="3664225" y="31869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4" name="Google Shape;1964;p75"/>
          <p:cNvSpPr/>
          <p:nvPr/>
        </p:nvSpPr>
        <p:spPr>
          <a:xfrm>
            <a:off x="4892463" y="38983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75"/>
          <p:cNvSpPr/>
          <p:nvPr/>
        </p:nvSpPr>
        <p:spPr>
          <a:xfrm>
            <a:off x="4896100" y="29374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6" name="Google Shape;1966;p75"/>
          <p:cNvCxnSpPr/>
          <p:nvPr/>
        </p:nvCxnSpPr>
        <p:spPr>
          <a:xfrm rot="10800000">
            <a:off x="5141514" y="34053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7" name="Google Shape;1967;p75"/>
          <p:cNvCxnSpPr>
            <a:stCxn id="1965" idx="0"/>
            <a:endCxn id="1968" idx="4"/>
          </p:cNvCxnSpPr>
          <p:nvPr/>
        </p:nvCxnSpPr>
        <p:spPr>
          <a:xfrm flipH="1" rot="10800000">
            <a:off x="5130100" y="2678200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9" name="Google Shape;1969;p75"/>
          <p:cNvSpPr txBox="1"/>
          <p:nvPr/>
        </p:nvSpPr>
        <p:spPr>
          <a:xfrm>
            <a:off x="4882825" y="293662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1970" name="Google Shape;1970;p75"/>
          <p:cNvCxnSpPr/>
          <p:nvPr/>
        </p:nvCxnSpPr>
        <p:spPr>
          <a:xfrm>
            <a:off x="4515975" y="317140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1" name="Google Shape;1971;p75"/>
          <p:cNvSpPr txBox="1"/>
          <p:nvPr/>
        </p:nvSpPr>
        <p:spPr>
          <a:xfrm>
            <a:off x="30509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972" name="Google Shape;1972;p75"/>
          <p:cNvSpPr txBox="1"/>
          <p:nvPr/>
        </p:nvSpPr>
        <p:spPr>
          <a:xfrm>
            <a:off x="3913000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comer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973" name="Google Shape;1973;p75"/>
          <p:cNvSpPr txBox="1"/>
          <p:nvPr/>
        </p:nvSpPr>
        <p:spPr>
          <a:xfrm>
            <a:off x="477502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974" name="Google Shape;1974;p75"/>
          <p:cNvSpPr/>
          <p:nvPr/>
        </p:nvSpPr>
        <p:spPr>
          <a:xfrm>
            <a:off x="1526475" y="3073025"/>
            <a:ext cx="4740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75"/>
          <p:cNvSpPr txBox="1"/>
          <p:nvPr>
            <p:ph type="title"/>
          </p:nvPr>
        </p:nvSpPr>
        <p:spPr>
          <a:xfrm>
            <a:off x="726114" y="402582"/>
            <a:ext cx="7556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Entrenamiento: Backpropagation</a:t>
            </a:r>
            <a:endParaRPr/>
          </a:p>
        </p:txBody>
      </p:sp>
      <p:cxnSp>
        <p:nvCxnSpPr>
          <p:cNvPr id="1976" name="Google Shape;1976;p75"/>
          <p:cNvCxnSpPr/>
          <p:nvPr/>
        </p:nvCxnSpPr>
        <p:spPr>
          <a:xfrm>
            <a:off x="2565794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7" name="Google Shape;1977;p75"/>
          <p:cNvSpPr txBox="1"/>
          <p:nvPr/>
        </p:nvSpPr>
        <p:spPr>
          <a:xfrm>
            <a:off x="2718200" y="2930125"/>
            <a:ext cx="5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...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8" name="Google Shape;1978;p75"/>
          <p:cNvSpPr/>
          <p:nvPr/>
        </p:nvSpPr>
        <p:spPr>
          <a:xfrm>
            <a:off x="2088806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79" name="Google Shape;1979;p75"/>
          <p:cNvCxnSpPr/>
          <p:nvPr/>
        </p:nvCxnSpPr>
        <p:spPr>
          <a:xfrm rot="10800000">
            <a:off x="2337858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0" name="Google Shape;1980;p75"/>
          <p:cNvSpPr txBox="1"/>
          <p:nvPr/>
        </p:nvSpPr>
        <p:spPr>
          <a:xfrm>
            <a:off x="2075531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1981" name="Google Shape;1981;p75"/>
          <p:cNvSpPr txBox="1"/>
          <p:nvPr/>
        </p:nvSpPr>
        <p:spPr>
          <a:xfrm>
            <a:off x="1759803" y="4424950"/>
            <a:ext cx="1148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darle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982" name="Google Shape;1982;p75"/>
          <p:cNvSpPr txBox="1"/>
          <p:nvPr/>
        </p:nvSpPr>
        <p:spPr>
          <a:xfrm>
            <a:off x="620993" y="2556625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83" name="Google Shape;1983;p75"/>
          <p:cNvSpPr txBox="1"/>
          <p:nvPr/>
        </p:nvSpPr>
        <p:spPr>
          <a:xfrm>
            <a:off x="1095900" y="302860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84" name="Google Shape;1984;p75"/>
          <p:cNvSpPr txBox="1"/>
          <p:nvPr/>
        </p:nvSpPr>
        <p:spPr>
          <a:xfrm>
            <a:off x="643382" y="3490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\mathcal{L_i}=- \sum_{w \in V} y^w_i \log(\hat{y}^w_i)" id="1985" name="Google Shape;1985;p75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026" y="990625"/>
            <a:ext cx="2149638" cy="2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6" name="Google Shape;1986;p75"/>
          <p:cNvSpPr txBox="1"/>
          <p:nvPr/>
        </p:nvSpPr>
        <p:spPr>
          <a:xfrm>
            <a:off x="6766625" y="1909719"/>
            <a:ext cx="1690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F00FF"/>
                </a:solidFill>
              </a:rPr>
              <a:t>Backpropagation through time</a:t>
            </a:r>
            <a:endParaRPr b="1">
              <a:solidFill>
                <a:srgbClr val="FF00FF"/>
              </a:solidFill>
            </a:endParaRPr>
          </a:p>
        </p:txBody>
      </p:sp>
      <p:pic>
        <p:nvPicPr>
          <p:cNvPr descr="\frac{\partial \mathcal{L}(\theta)}{\partial V} = \sum_{t=1}^T \frac{\partial \mathcal{L}_t(\theta)}{\partial V}&#10;" id="1987" name="Google Shape;1987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9475" y="2663874"/>
            <a:ext cx="2532875" cy="9539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8" name="Google Shape;1988;p75"/>
          <p:cNvCxnSpPr>
            <a:endCxn id="1989" idx="4"/>
          </p:cNvCxnSpPr>
          <p:nvPr/>
        </p:nvCxnSpPr>
        <p:spPr>
          <a:xfrm flipH="1" rot="10800000">
            <a:off x="4291823" y="2678246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0" name="Google Shape;1990;p75"/>
          <p:cNvSpPr txBox="1"/>
          <p:nvPr/>
        </p:nvSpPr>
        <p:spPr>
          <a:xfrm>
            <a:off x="4235308" y="2658721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991" name="Google Shape;1991;p75"/>
          <p:cNvCxnSpPr>
            <a:endCxn id="1992" idx="4"/>
          </p:cNvCxnSpPr>
          <p:nvPr/>
        </p:nvCxnSpPr>
        <p:spPr>
          <a:xfrm flipH="1" rot="10800000">
            <a:off x="3419789" y="2678246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3" name="Google Shape;1993;p75"/>
          <p:cNvSpPr txBox="1"/>
          <p:nvPr/>
        </p:nvSpPr>
        <p:spPr>
          <a:xfrm>
            <a:off x="3363274" y="2658721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994" name="Google Shape;1994;p75"/>
          <p:cNvCxnSpPr>
            <a:endCxn id="1995" idx="4"/>
          </p:cNvCxnSpPr>
          <p:nvPr/>
        </p:nvCxnSpPr>
        <p:spPr>
          <a:xfrm flipH="1" rot="10800000">
            <a:off x="2312094" y="2678246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6" name="Google Shape;1996;p75"/>
          <p:cNvSpPr txBox="1"/>
          <p:nvPr/>
        </p:nvSpPr>
        <p:spPr>
          <a:xfrm>
            <a:off x="2255579" y="2658721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\mathcal{L}= \sum_{i} \mathcal{L_i}" id="1997" name="Google Shape;1997;p75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74512" y="1316725"/>
            <a:ext cx="95399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8" name="Google Shape;1998;p75"/>
          <p:cNvSpPr txBox="1"/>
          <p:nvPr/>
        </p:nvSpPr>
        <p:spPr>
          <a:xfrm>
            <a:off x="5073508" y="2658721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99" name="Google Shape;1999;p75"/>
          <p:cNvSpPr/>
          <p:nvPr/>
        </p:nvSpPr>
        <p:spPr>
          <a:xfrm>
            <a:off x="4896323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75"/>
          <p:cNvSpPr txBox="1"/>
          <p:nvPr/>
        </p:nvSpPr>
        <p:spPr>
          <a:xfrm>
            <a:off x="4883048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2001" name="Google Shape;2001;p75"/>
          <p:cNvCxnSpPr>
            <a:stCxn id="1999" idx="0"/>
            <a:endCxn id="2002" idx="4"/>
          </p:cNvCxnSpPr>
          <p:nvPr/>
        </p:nvCxnSpPr>
        <p:spPr>
          <a:xfrm rot="10800000">
            <a:off x="5128223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3" name="Google Shape;2003;p75"/>
          <p:cNvSpPr txBox="1"/>
          <p:nvPr/>
        </p:nvSpPr>
        <p:spPr>
          <a:xfrm>
            <a:off x="4813486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75"/>
          <p:cNvSpPr txBox="1"/>
          <p:nvPr/>
        </p:nvSpPr>
        <p:spPr>
          <a:xfrm>
            <a:off x="4714280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2" name="Google Shape;2002;p75"/>
          <p:cNvSpPr/>
          <p:nvPr/>
        </p:nvSpPr>
        <p:spPr>
          <a:xfrm>
            <a:off x="4894149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75"/>
          <p:cNvSpPr txBox="1"/>
          <p:nvPr/>
        </p:nvSpPr>
        <p:spPr>
          <a:xfrm>
            <a:off x="4896395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2006" name="Google Shape;2006;p75"/>
          <p:cNvCxnSpPr/>
          <p:nvPr/>
        </p:nvCxnSpPr>
        <p:spPr>
          <a:xfrm flipH="1">
            <a:off x="5128149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7" name="Google Shape;2007;p75"/>
          <p:cNvSpPr txBox="1"/>
          <p:nvPr/>
        </p:nvSpPr>
        <p:spPr>
          <a:xfrm>
            <a:off x="4813486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75"/>
          <p:cNvSpPr txBox="1"/>
          <p:nvPr/>
        </p:nvSpPr>
        <p:spPr>
          <a:xfrm>
            <a:off x="4714280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75"/>
          <p:cNvSpPr/>
          <p:nvPr/>
        </p:nvSpPr>
        <p:spPr>
          <a:xfrm>
            <a:off x="4894149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75"/>
          <p:cNvSpPr txBox="1"/>
          <p:nvPr/>
        </p:nvSpPr>
        <p:spPr>
          <a:xfrm>
            <a:off x="4896395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011" name="Google Shape;2011;p75"/>
          <p:cNvCxnSpPr/>
          <p:nvPr/>
        </p:nvCxnSpPr>
        <p:spPr>
          <a:xfrm>
            <a:off x="47052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2" name="Google Shape;2012;p75"/>
          <p:cNvSpPr/>
          <p:nvPr/>
        </p:nvSpPr>
        <p:spPr>
          <a:xfrm>
            <a:off x="4058123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75"/>
          <p:cNvSpPr txBox="1"/>
          <p:nvPr/>
        </p:nvSpPr>
        <p:spPr>
          <a:xfrm>
            <a:off x="4044848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2014" name="Google Shape;2014;p75"/>
          <p:cNvCxnSpPr>
            <a:stCxn id="2012" idx="0"/>
            <a:endCxn id="2015" idx="4"/>
          </p:cNvCxnSpPr>
          <p:nvPr/>
        </p:nvCxnSpPr>
        <p:spPr>
          <a:xfrm rot="10800000">
            <a:off x="4290023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6" name="Google Shape;2016;p75"/>
          <p:cNvSpPr txBox="1"/>
          <p:nvPr/>
        </p:nvSpPr>
        <p:spPr>
          <a:xfrm>
            <a:off x="3975286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75"/>
          <p:cNvSpPr txBox="1"/>
          <p:nvPr/>
        </p:nvSpPr>
        <p:spPr>
          <a:xfrm>
            <a:off x="3876080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75"/>
          <p:cNvSpPr/>
          <p:nvPr/>
        </p:nvSpPr>
        <p:spPr>
          <a:xfrm>
            <a:off x="4055949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75"/>
          <p:cNvSpPr txBox="1"/>
          <p:nvPr/>
        </p:nvSpPr>
        <p:spPr>
          <a:xfrm>
            <a:off x="4058195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2019" name="Google Shape;2019;p75"/>
          <p:cNvCxnSpPr/>
          <p:nvPr/>
        </p:nvCxnSpPr>
        <p:spPr>
          <a:xfrm flipH="1">
            <a:off x="4289949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0" name="Google Shape;2020;p75"/>
          <p:cNvSpPr txBox="1"/>
          <p:nvPr/>
        </p:nvSpPr>
        <p:spPr>
          <a:xfrm>
            <a:off x="3975286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75"/>
          <p:cNvSpPr txBox="1"/>
          <p:nvPr/>
        </p:nvSpPr>
        <p:spPr>
          <a:xfrm>
            <a:off x="3876080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75"/>
          <p:cNvSpPr/>
          <p:nvPr/>
        </p:nvSpPr>
        <p:spPr>
          <a:xfrm>
            <a:off x="4055949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75"/>
          <p:cNvSpPr txBox="1"/>
          <p:nvPr/>
        </p:nvSpPr>
        <p:spPr>
          <a:xfrm>
            <a:off x="4058195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24" name="Google Shape;2024;p75"/>
          <p:cNvSpPr/>
          <p:nvPr/>
        </p:nvSpPr>
        <p:spPr>
          <a:xfrm>
            <a:off x="3186089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75"/>
          <p:cNvSpPr txBox="1"/>
          <p:nvPr/>
        </p:nvSpPr>
        <p:spPr>
          <a:xfrm>
            <a:off x="3172814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2026" name="Google Shape;2026;p75"/>
          <p:cNvCxnSpPr>
            <a:stCxn id="2024" idx="0"/>
            <a:endCxn id="2027" idx="4"/>
          </p:cNvCxnSpPr>
          <p:nvPr/>
        </p:nvCxnSpPr>
        <p:spPr>
          <a:xfrm rot="10800000">
            <a:off x="3417989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8" name="Google Shape;2028;p75"/>
          <p:cNvSpPr txBox="1"/>
          <p:nvPr/>
        </p:nvSpPr>
        <p:spPr>
          <a:xfrm>
            <a:off x="3103252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9" name="Google Shape;2029;p75"/>
          <p:cNvSpPr txBox="1"/>
          <p:nvPr/>
        </p:nvSpPr>
        <p:spPr>
          <a:xfrm>
            <a:off x="3004046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75"/>
          <p:cNvSpPr/>
          <p:nvPr/>
        </p:nvSpPr>
        <p:spPr>
          <a:xfrm>
            <a:off x="3183915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p75"/>
          <p:cNvSpPr txBox="1"/>
          <p:nvPr/>
        </p:nvSpPr>
        <p:spPr>
          <a:xfrm>
            <a:off x="3186161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2031" name="Google Shape;2031;p75"/>
          <p:cNvCxnSpPr/>
          <p:nvPr/>
        </p:nvCxnSpPr>
        <p:spPr>
          <a:xfrm flipH="1">
            <a:off x="3417915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2" name="Google Shape;2032;p75"/>
          <p:cNvSpPr txBox="1"/>
          <p:nvPr/>
        </p:nvSpPr>
        <p:spPr>
          <a:xfrm>
            <a:off x="3103252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75"/>
          <p:cNvSpPr txBox="1"/>
          <p:nvPr/>
        </p:nvSpPr>
        <p:spPr>
          <a:xfrm>
            <a:off x="3004046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p75"/>
          <p:cNvSpPr/>
          <p:nvPr/>
        </p:nvSpPr>
        <p:spPr>
          <a:xfrm>
            <a:off x="3183915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5" name="Google Shape;2035;p75"/>
          <p:cNvSpPr txBox="1"/>
          <p:nvPr/>
        </p:nvSpPr>
        <p:spPr>
          <a:xfrm>
            <a:off x="3186161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36" name="Google Shape;2036;p75"/>
          <p:cNvSpPr/>
          <p:nvPr/>
        </p:nvSpPr>
        <p:spPr>
          <a:xfrm>
            <a:off x="2078394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p75"/>
          <p:cNvSpPr txBox="1"/>
          <p:nvPr/>
        </p:nvSpPr>
        <p:spPr>
          <a:xfrm>
            <a:off x="2065119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2038" name="Google Shape;2038;p75"/>
          <p:cNvCxnSpPr>
            <a:stCxn id="2036" idx="0"/>
            <a:endCxn id="2039" idx="4"/>
          </p:cNvCxnSpPr>
          <p:nvPr/>
        </p:nvCxnSpPr>
        <p:spPr>
          <a:xfrm rot="10800000">
            <a:off x="2310294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0" name="Google Shape;2040;p75"/>
          <p:cNvSpPr txBox="1"/>
          <p:nvPr/>
        </p:nvSpPr>
        <p:spPr>
          <a:xfrm>
            <a:off x="1995557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75"/>
          <p:cNvSpPr txBox="1"/>
          <p:nvPr/>
        </p:nvSpPr>
        <p:spPr>
          <a:xfrm>
            <a:off x="1896351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75"/>
          <p:cNvSpPr/>
          <p:nvPr/>
        </p:nvSpPr>
        <p:spPr>
          <a:xfrm>
            <a:off x="2076220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75"/>
          <p:cNvSpPr txBox="1"/>
          <p:nvPr/>
        </p:nvSpPr>
        <p:spPr>
          <a:xfrm>
            <a:off x="2078467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2043" name="Google Shape;2043;p75"/>
          <p:cNvCxnSpPr/>
          <p:nvPr/>
        </p:nvCxnSpPr>
        <p:spPr>
          <a:xfrm flipH="1">
            <a:off x="2310220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4" name="Google Shape;2044;p75"/>
          <p:cNvSpPr txBox="1"/>
          <p:nvPr/>
        </p:nvSpPr>
        <p:spPr>
          <a:xfrm>
            <a:off x="1995557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5" name="Google Shape;2045;p75"/>
          <p:cNvSpPr txBox="1"/>
          <p:nvPr/>
        </p:nvSpPr>
        <p:spPr>
          <a:xfrm>
            <a:off x="1896351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75"/>
          <p:cNvSpPr/>
          <p:nvPr/>
        </p:nvSpPr>
        <p:spPr>
          <a:xfrm>
            <a:off x="2076220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75"/>
          <p:cNvSpPr txBox="1"/>
          <p:nvPr/>
        </p:nvSpPr>
        <p:spPr>
          <a:xfrm>
            <a:off x="2078467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048" name="Google Shape;2048;p75"/>
          <p:cNvCxnSpPr/>
          <p:nvPr/>
        </p:nvCxnSpPr>
        <p:spPr>
          <a:xfrm>
            <a:off x="39432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9" name="Google Shape;2049;p75"/>
          <p:cNvCxnSpPr/>
          <p:nvPr/>
        </p:nvCxnSpPr>
        <p:spPr>
          <a:xfrm>
            <a:off x="30288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0" name="Google Shape;2050;p75"/>
          <p:cNvCxnSpPr/>
          <p:nvPr/>
        </p:nvCxnSpPr>
        <p:spPr>
          <a:xfrm>
            <a:off x="19620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p76"/>
          <p:cNvSpPr txBox="1"/>
          <p:nvPr/>
        </p:nvSpPr>
        <p:spPr>
          <a:xfrm>
            <a:off x="4879188" y="3900344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2056" name="Google Shape;2056;p76"/>
          <p:cNvSpPr/>
          <p:nvPr/>
        </p:nvSpPr>
        <p:spPr>
          <a:xfrm>
            <a:off x="467588" y="3833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7" name="Google Shape;2057;p76"/>
          <p:cNvSpPr/>
          <p:nvPr/>
        </p:nvSpPr>
        <p:spPr>
          <a:xfrm>
            <a:off x="471225" y="28726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8" name="Google Shape;2058;p76"/>
          <p:cNvSpPr/>
          <p:nvPr/>
        </p:nvSpPr>
        <p:spPr>
          <a:xfrm flipH="1">
            <a:off x="769680" y="2831798"/>
            <a:ext cx="706200" cy="679200"/>
          </a:xfrm>
          <a:prstGeom prst="arc">
            <a:avLst>
              <a:gd fmla="val 2258622" name="adj1"/>
              <a:gd fmla="val 18013119" name="adj2"/>
            </a:avLst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2059" name="Google Shape;2059;p76"/>
          <p:cNvCxnSpPr/>
          <p:nvPr/>
        </p:nvCxnSpPr>
        <p:spPr>
          <a:xfrm rot="10800000">
            <a:off x="716639" y="33405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0" name="Google Shape;2060;p76"/>
          <p:cNvCxnSpPr>
            <a:stCxn id="2057" idx="0"/>
          </p:cNvCxnSpPr>
          <p:nvPr/>
        </p:nvCxnSpPr>
        <p:spPr>
          <a:xfrm rot="10800000">
            <a:off x="705225" y="24346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1" name="Google Shape;2061;p76"/>
          <p:cNvSpPr txBox="1"/>
          <p:nvPr/>
        </p:nvSpPr>
        <p:spPr>
          <a:xfrm>
            <a:off x="457950" y="28318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2062" name="Google Shape;2062;p76"/>
          <p:cNvSpPr txBox="1"/>
          <p:nvPr/>
        </p:nvSpPr>
        <p:spPr>
          <a:xfrm>
            <a:off x="454313" y="3792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2063" name="Google Shape;2063;p76"/>
          <p:cNvSpPr txBox="1"/>
          <p:nvPr/>
        </p:nvSpPr>
        <p:spPr>
          <a:xfrm>
            <a:off x="476000" y="1911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2064" name="Google Shape;2064;p76"/>
          <p:cNvSpPr/>
          <p:nvPr/>
        </p:nvSpPr>
        <p:spPr>
          <a:xfrm>
            <a:off x="489275" y="1952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5" name="Google Shape;2065;p76"/>
          <p:cNvSpPr/>
          <p:nvPr/>
        </p:nvSpPr>
        <p:spPr>
          <a:xfrm>
            <a:off x="31889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6" name="Google Shape;2066;p76"/>
          <p:cNvSpPr/>
          <p:nvPr/>
        </p:nvSpPr>
        <p:spPr>
          <a:xfrm>
            <a:off x="31926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67" name="Google Shape;2067;p76"/>
          <p:cNvCxnSpPr/>
          <p:nvPr/>
        </p:nvCxnSpPr>
        <p:spPr>
          <a:xfrm rot="10800000">
            <a:off x="34380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8" name="Google Shape;2068;p76"/>
          <p:cNvSpPr txBox="1"/>
          <p:nvPr/>
        </p:nvSpPr>
        <p:spPr>
          <a:xfrm>
            <a:off x="317932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2069" name="Google Shape;2069;p76"/>
          <p:cNvSpPr txBox="1"/>
          <p:nvPr/>
        </p:nvSpPr>
        <p:spPr>
          <a:xfrm>
            <a:off x="3175688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2070" name="Google Shape;2070;p76"/>
          <p:cNvCxnSpPr/>
          <p:nvPr/>
        </p:nvCxnSpPr>
        <p:spPr>
          <a:xfrm>
            <a:off x="2987275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1" name="Google Shape;2071;p76"/>
          <p:cNvSpPr/>
          <p:nvPr/>
        </p:nvSpPr>
        <p:spPr>
          <a:xfrm>
            <a:off x="2082338" y="29496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76"/>
          <p:cNvSpPr txBox="1"/>
          <p:nvPr/>
        </p:nvSpPr>
        <p:spPr>
          <a:xfrm>
            <a:off x="2072881" y="297462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>
                <a:solidFill>
                  <a:schemeClr val="dk1"/>
                </a:solidFill>
              </a:rPr>
              <a:t>1...</a:t>
            </a:r>
            <a:endParaRPr/>
          </a:p>
        </p:txBody>
      </p:sp>
      <p:sp>
        <p:nvSpPr>
          <p:cNvPr id="2073" name="Google Shape;2073;p76"/>
          <p:cNvSpPr/>
          <p:nvPr/>
        </p:nvSpPr>
        <p:spPr>
          <a:xfrm>
            <a:off x="404071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4" name="Google Shape;2074;p76"/>
          <p:cNvSpPr/>
          <p:nvPr/>
        </p:nvSpPr>
        <p:spPr>
          <a:xfrm>
            <a:off x="404435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5" name="Google Shape;2075;p76"/>
          <p:cNvCxnSpPr/>
          <p:nvPr/>
        </p:nvCxnSpPr>
        <p:spPr>
          <a:xfrm rot="10800000">
            <a:off x="428976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6" name="Google Shape;2076;p76"/>
          <p:cNvSpPr txBox="1"/>
          <p:nvPr/>
        </p:nvSpPr>
        <p:spPr>
          <a:xfrm>
            <a:off x="403107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sp>
        <p:nvSpPr>
          <p:cNvPr id="2077" name="Google Shape;2077;p76"/>
          <p:cNvSpPr txBox="1"/>
          <p:nvPr/>
        </p:nvSpPr>
        <p:spPr>
          <a:xfrm>
            <a:off x="4027438" y="3902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2078" name="Google Shape;2078;p76"/>
          <p:cNvCxnSpPr/>
          <p:nvPr/>
        </p:nvCxnSpPr>
        <p:spPr>
          <a:xfrm>
            <a:off x="3664225" y="31869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9" name="Google Shape;2079;p76"/>
          <p:cNvSpPr/>
          <p:nvPr/>
        </p:nvSpPr>
        <p:spPr>
          <a:xfrm>
            <a:off x="4892463" y="38983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0" name="Google Shape;2080;p76"/>
          <p:cNvSpPr/>
          <p:nvPr/>
        </p:nvSpPr>
        <p:spPr>
          <a:xfrm>
            <a:off x="4896100" y="29374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1" name="Google Shape;2081;p76"/>
          <p:cNvCxnSpPr/>
          <p:nvPr/>
        </p:nvCxnSpPr>
        <p:spPr>
          <a:xfrm rot="10800000">
            <a:off x="5141514" y="34053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2" name="Google Shape;2082;p76"/>
          <p:cNvCxnSpPr>
            <a:stCxn id="2080" idx="0"/>
            <a:endCxn id="2083" idx="4"/>
          </p:cNvCxnSpPr>
          <p:nvPr/>
        </p:nvCxnSpPr>
        <p:spPr>
          <a:xfrm flipH="1" rot="10800000">
            <a:off x="5130100" y="2678200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4" name="Google Shape;2084;p76"/>
          <p:cNvSpPr txBox="1"/>
          <p:nvPr/>
        </p:nvSpPr>
        <p:spPr>
          <a:xfrm>
            <a:off x="4882825" y="293662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2085" name="Google Shape;2085;p76"/>
          <p:cNvCxnSpPr/>
          <p:nvPr/>
        </p:nvCxnSpPr>
        <p:spPr>
          <a:xfrm>
            <a:off x="4515975" y="317140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6" name="Google Shape;2086;p76"/>
          <p:cNvSpPr txBox="1"/>
          <p:nvPr/>
        </p:nvSpPr>
        <p:spPr>
          <a:xfrm>
            <a:off x="30509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087" name="Google Shape;2087;p76"/>
          <p:cNvSpPr txBox="1"/>
          <p:nvPr/>
        </p:nvSpPr>
        <p:spPr>
          <a:xfrm>
            <a:off x="3913000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comer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088" name="Google Shape;2088;p76"/>
          <p:cNvSpPr txBox="1"/>
          <p:nvPr/>
        </p:nvSpPr>
        <p:spPr>
          <a:xfrm>
            <a:off x="477502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089" name="Google Shape;2089;p76"/>
          <p:cNvSpPr/>
          <p:nvPr/>
        </p:nvSpPr>
        <p:spPr>
          <a:xfrm>
            <a:off x="1526475" y="3073025"/>
            <a:ext cx="4740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76"/>
          <p:cNvSpPr txBox="1"/>
          <p:nvPr>
            <p:ph type="title"/>
          </p:nvPr>
        </p:nvSpPr>
        <p:spPr>
          <a:xfrm>
            <a:off x="726114" y="402582"/>
            <a:ext cx="7556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Entrenamiento: Backpropagation</a:t>
            </a:r>
            <a:endParaRPr/>
          </a:p>
        </p:txBody>
      </p:sp>
      <p:cxnSp>
        <p:nvCxnSpPr>
          <p:cNvPr id="2091" name="Google Shape;2091;p76"/>
          <p:cNvCxnSpPr/>
          <p:nvPr/>
        </p:nvCxnSpPr>
        <p:spPr>
          <a:xfrm>
            <a:off x="2565794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2" name="Google Shape;2092;p76"/>
          <p:cNvSpPr txBox="1"/>
          <p:nvPr/>
        </p:nvSpPr>
        <p:spPr>
          <a:xfrm>
            <a:off x="2718200" y="2930125"/>
            <a:ext cx="5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...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93" name="Google Shape;2093;p76"/>
          <p:cNvSpPr/>
          <p:nvPr/>
        </p:nvSpPr>
        <p:spPr>
          <a:xfrm>
            <a:off x="2088806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94" name="Google Shape;2094;p76"/>
          <p:cNvCxnSpPr/>
          <p:nvPr/>
        </p:nvCxnSpPr>
        <p:spPr>
          <a:xfrm rot="10800000">
            <a:off x="2337858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5" name="Google Shape;2095;p76"/>
          <p:cNvSpPr txBox="1"/>
          <p:nvPr/>
        </p:nvSpPr>
        <p:spPr>
          <a:xfrm>
            <a:off x="2075531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2096" name="Google Shape;2096;p76"/>
          <p:cNvSpPr txBox="1"/>
          <p:nvPr/>
        </p:nvSpPr>
        <p:spPr>
          <a:xfrm>
            <a:off x="1759803" y="4424950"/>
            <a:ext cx="1148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darle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097" name="Google Shape;2097;p76"/>
          <p:cNvSpPr txBox="1"/>
          <p:nvPr/>
        </p:nvSpPr>
        <p:spPr>
          <a:xfrm>
            <a:off x="620993" y="2556625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98" name="Google Shape;2098;p76"/>
          <p:cNvSpPr txBox="1"/>
          <p:nvPr/>
        </p:nvSpPr>
        <p:spPr>
          <a:xfrm>
            <a:off x="1095900" y="302860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99" name="Google Shape;2099;p76"/>
          <p:cNvSpPr txBox="1"/>
          <p:nvPr/>
        </p:nvSpPr>
        <p:spPr>
          <a:xfrm>
            <a:off x="643382" y="3490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\mathcal{L_i}=- \sum_{w \in V} y^w_i \log(\hat{y}^w_i)" id="2100" name="Google Shape;2100;p76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026" y="990625"/>
            <a:ext cx="2149638" cy="24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1" name="Google Shape;2101;p76"/>
          <p:cNvCxnSpPr/>
          <p:nvPr/>
        </p:nvCxnSpPr>
        <p:spPr>
          <a:xfrm>
            <a:off x="46628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2" name="Google Shape;2102;p76"/>
          <p:cNvCxnSpPr/>
          <p:nvPr/>
        </p:nvCxnSpPr>
        <p:spPr>
          <a:xfrm>
            <a:off x="38246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3" name="Google Shape;2103;p76"/>
          <p:cNvCxnSpPr/>
          <p:nvPr/>
        </p:nvCxnSpPr>
        <p:spPr>
          <a:xfrm>
            <a:off x="28340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4" name="Google Shape;2104;p76"/>
          <p:cNvSpPr txBox="1"/>
          <p:nvPr/>
        </p:nvSpPr>
        <p:spPr>
          <a:xfrm>
            <a:off x="6766625" y="1909719"/>
            <a:ext cx="1690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F00FF"/>
                </a:solidFill>
              </a:rPr>
              <a:t>Backpropagation through time</a:t>
            </a:r>
            <a:endParaRPr b="1">
              <a:solidFill>
                <a:srgbClr val="FF00FF"/>
              </a:solidFill>
            </a:endParaRPr>
          </a:p>
        </p:txBody>
      </p:sp>
      <p:cxnSp>
        <p:nvCxnSpPr>
          <p:cNvPr id="2105" name="Google Shape;2105;p76"/>
          <p:cNvCxnSpPr>
            <a:endCxn id="2106" idx="4"/>
          </p:cNvCxnSpPr>
          <p:nvPr/>
        </p:nvCxnSpPr>
        <p:spPr>
          <a:xfrm flipH="1" rot="10800000">
            <a:off x="4291823" y="2678246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7" name="Google Shape;2107;p76"/>
          <p:cNvCxnSpPr>
            <a:endCxn id="2108" idx="4"/>
          </p:cNvCxnSpPr>
          <p:nvPr/>
        </p:nvCxnSpPr>
        <p:spPr>
          <a:xfrm flipH="1" rot="10800000">
            <a:off x="3419789" y="2678246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9" name="Google Shape;2109;p76"/>
          <p:cNvCxnSpPr>
            <a:endCxn id="2110" idx="4"/>
          </p:cNvCxnSpPr>
          <p:nvPr/>
        </p:nvCxnSpPr>
        <p:spPr>
          <a:xfrm flipH="1" rot="10800000">
            <a:off x="2312094" y="2678246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\mathcal{L}= \sum_{i} \mathcal{L_i}" id="2111" name="Google Shape;2111;p76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4512" y="1316725"/>
            <a:ext cx="95399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2" name="Google Shape;2112;p76"/>
          <p:cNvSpPr txBox="1"/>
          <p:nvPr/>
        </p:nvSpPr>
        <p:spPr>
          <a:xfrm>
            <a:off x="2850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13" name="Google Shape;2113;p76"/>
          <p:cNvSpPr txBox="1"/>
          <p:nvPr/>
        </p:nvSpPr>
        <p:spPr>
          <a:xfrm>
            <a:off x="3612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14" name="Google Shape;2114;p76"/>
          <p:cNvSpPr txBox="1"/>
          <p:nvPr/>
        </p:nvSpPr>
        <p:spPr>
          <a:xfrm>
            <a:off x="4500081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15" name="Google Shape;2115;p76"/>
          <p:cNvSpPr txBox="1"/>
          <p:nvPr/>
        </p:nvSpPr>
        <p:spPr>
          <a:xfrm>
            <a:off x="2469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16" name="Google Shape;2116;p76"/>
          <p:cNvSpPr/>
          <p:nvPr/>
        </p:nvSpPr>
        <p:spPr>
          <a:xfrm>
            <a:off x="4896323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p76"/>
          <p:cNvSpPr txBox="1"/>
          <p:nvPr/>
        </p:nvSpPr>
        <p:spPr>
          <a:xfrm>
            <a:off x="4883048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2118" name="Google Shape;2118;p76"/>
          <p:cNvCxnSpPr>
            <a:stCxn id="2116" idx="0"/>
            <a:endCxn id="2119" idx="4"/>
          </p:cNvCxnSpPr>
          <p:nvPr/>
        </p:nvCxnSpPr>
        <p:spPr>
          <a:xfrm rot="10800000">
            <a:off x="5128223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0" name="Google Shape;2120;p76"/>
          <p:cNvSpPr txBox="1"/>
          <p:nvPr/>
        </p:nvSpPr>
        <p:spPr>
          <a:xfrm>
            <a:off x="4813486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1" name="Google Shape;2121;p76"/>
          <p:cNvSpPr txBox="1"/>
          <p:nvPr/>
        </p:nvSpPr>
        <p:spPr>
          <a:xfrm>
            <a:off x="4714280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9" name="Google Shape;2119;p76"/>
          <p:cNvSpPr/>
          <p:nvPr/>
        </p:nvSpPr>
        <p:spPr>
          <a:xfrm>
            <a:off x="4894149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p76"/>
          <p:cNvSpPr txBox="1"/>
          <p:nvPr/>
        </p:nvSpPr>
        <p:spPr>
          <a:xfrm>
            <a:off x="4896395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2123" name="Google Shape;2123;p76"/>
          <p:cNvCxnSpPr/>
          <p:nvPr/>
        </p:nvCxnSpPr>
        <p:spPr>
          <a:xfrm flipH="1">
            <a:off x="5128149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4" name="Google Shape;2124;p76"/>
          <p:cNvSpPr txBox="1"/>
          <p:nvPr/>
        </p:nvSpPr>
        <p:spPr>
          <a:xfrm>
            <a:off x="4813486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5" name="Google Shape;2125;p76"/>
          <p:cNvSpPr txBox="1"/>
          <p:nvPr/>
        </p:nvSpPr>
        <p:spPr>
          <a:xfrm>
            <a:off x="4714280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76"/>
          <p:cNvSpPr/>
          <p:nvPr/>
        </p:nvSpPr>
        <p:spPr>
          <a:xfrm>
            <a:off x="4894149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76"/>
          <p:cNvSpPr txBox="1"/>
          <p:nvPr/>
        </p:nvSpPr>
        <p:spPr>
          <a:xfrm>
            <a:off x="4896395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128" name="Google Shape;2128;p76"/>
          <p:cNvCxnSpPr/>
          <p:nvPr/>
        </p:nvCxnSpPr>
        <p:spPr>
          <a:xfrm>
            <a:off x="47052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9" name="Google Shape;2129;p76"/>
          <p:cNvSpPr/>
          <p:nvPr/>
        </p:nvSpPr>
        <p:spPr>
          <a:xfrm>
            <a:off x="4058123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76"/>
          <p:cNvSpPr txBox="1"/>
          <p:nvPr/>
        </p:nvSpPr>
        <p:spPr>
          <a:xfrm>
            <a:off x="4044848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2131" name="Google Shape;2131;p76"/>
          <p:cNvCxnSpPr>
            <a:stCxn id="2129" idx="0"/>
            <a:endCxn id="2132" idx="4"/>
          </p:cNvCxnSpPr>
          <p:nvPr/>
        </p:nvCxnSpPr>
        <p:spPr>
          <a:xfrm rot="10800000">
            <a:off x="4290023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3" name="Google Shape;2133;p76"/>
          <p:cNvSpPr txBox="1"/>
          <p:nvPr/>
        </p:nvSpPr>
        <p:spPr>
          <a:xfrm>
            <a:off x="3975286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4" name="Google Shape;2134;p76"/>
          <p:cNvSpPr txBox="1"/>
          <p:nvPr/>
        </p:nvSpPr>
        <p:spPr>
          <a:xfrm>
            <a:off x="3876080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2" name="Google Shape;2132;p76"/>
          <p:cNvSpPr/>
          <p:nvPr/>
        </p:nvSpPr>
        <p:spPr>
          <a:xfrm>
            <a:off x="4055949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76"/>
          <p:cNvSpPr txBox="1"/>
          <p:nvPr/>
        </p:nvSpPr>
        <p:spPr>
          <a:xfrm>
            <a:off x="4058195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2136" name="Google Shape;2136;p76"/>
          <p:cNvCxnSpPr/>
          <p:nvPr/>
        </p:nvCxnSpPr>
        <p:spPr>
          <a:xfrm flipH="1">
            <a:off x="4289949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7" name="Google Shape;2137;p76"/>
          <p:cNvSpPr txBox="1"/>
          <p:nvPr/>
        </p:nvSpPr>
        <p:spPr>
          <a:xfrm>
            <a:off x="3975286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p76"/>
          <p:cNvSpPr txBox="1"/>
          <p:nvPr/>
        </p:nvSpPr>
        <p:spPr>
          <a:xfrm>
            <a:off x="3876080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9" name="Google Shape;2139;p76"/>
          <p:cNvSpPr/>
          <p:nvPr/>
        </p:nvSpPr>
        <p:spPr>
          <a:xfrm>
            <a:off x="4055949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0" name="Google Shape;2140;p76"/>
          <p:cNvSpPr txBox="1"/>
          <p:nvPr/>
        </p:nvSpPr>
        <p:spPr>
          <a:xfrm>
            <a:off x="4058195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41" name="Google Shape;2141;p76"/>
          <p:cNvSpPr/>
          <p:nvPr/>
        </p:nvSpPr>
        <p:spPr>
          <a:xfrm>
            <a:off x="3186089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76"/>
          <p:cNvSpPr txBox="1"/>
          <p:nvPr/>
        </p:nvSpPr>
        <p:spPr>
          <a:xfrm>
            <a:off x="3172814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2143" name="Google Shape;2143;p76"/>
          <p:cNvCxnSpPr>
            <a:stCxn id="2141" idx="0"/>
            <a:endCxn id="2144" idx="4"/>
          </p:cNvCxnSpPr>
          <p:nvPr/>
        </p:nvCxnSpPr>
        <p:spPr>
          <a:xfrm rot="10800000">
            <a:off x="3417989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5" name="Google Shape;2145;p76"/>
          <p:cNvSpPr txBox="1"/>
          <p:nvPr/>
        </p:nvSpPr>
        <p:spPr>
          <a:xfrm>
            <a:off x="3103252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76"/>
          <p:cNvSpPr txBox="1"/>
          <p:nvPr/>
        </p:nvSpPr>
        <p:spPr>
          <a:xfrm>
            <a:off x="3004046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p76"/>
          <p:cNvSpPr/>
          <p:nvPr/>
        </p:nvSpPr>
        <p:spPr>
          <a:xfrm>
            <a:off x="3183915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7" name="Google Shape;2147;p76"/>
          <p:cNvSpPr txBox="1"/>
          <p:nvPr/>
        </p:nvSpPr>
        <p:spPr>
          <a:xfrm>
            <a:off x="3186161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2148" name="Google Shape;2148;p76"/>
          <p:cNvCxnSpPr/>
          <p:nvPr/>
        </p:nvCxnSpPr>
        <p:spPr>
          <a:xfrm flipH="1">
            <a:off x="3417915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9" name="Google Shape;2149;p76"/>
          <p:cNvSpPr txBox="1"/>
          <p:nvPr/>
        </p:nvSpPr>
        <p:spPr>
          <a:xfrm>
            <a:off x="3103252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76"/>
          <p:cNvSpPr txBox="1"/>
          <p:nvPr/>
        </p:nvSpPr>
        <p:spPr>
          <a:xfrm>
            <a:off x="3004046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1" name="Google Shape;2151;p76"/>
          <p:cNvSpPr/>
          <p:nvPr/>
        </p:nvSpPr>
        <p:spPr>
          <a:xfrm>
            <a:off x="3183915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76"/>
          <p:cNvSpPr txBox="1"/>
          <p:nvPr/>
        </p:nvSpPr>
        <p:spPr>
          <a:xfrm>
            <a:off x="3186161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53" name="Google Shape;2153;p76"/>
          <p:cNvSpPr/>
          <p:nvPr/>
        </p:nvSpPr>
        <p:spPr>
          <a:xfrm>
            <a:off x="2078394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76"/>
          <p:cNvSpPr txBox="1"/>
          <p:nvPr/>
        </p:nvSpPr>
        <p:spPr>
          <a:xfrm>
            <a:off x="2065119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2155" name="Google Shape;2155;p76"/>
          <p:cNvCxnSpPr>
            <a:stCxn id="2153" idx="0"/>
            <a:endCxn id="2156" idx="4"/>
          </p:cNvCxnSpPr>
          <p:nvPr/>
        </p:nvCxnSpPr>
        <p:spPr>
          <a:xfrm rot="10800000">
            <a:off x="2310294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7" name="Google Shape;2157;p76"/>
          <p:cNvSpPr txBox="1"/>
          <p:nvPr/>
        </p:nvSpPr>
        <p:spPr>
          <a:xfrm>
            <a:off x="1995557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76"/>
          <p:cNvSpPr txBox="1"/>
          <p:nvPr/>
        </p:nvSpPr>
        <p:spPr>
          <a:xfrm>
            <a:off x="1896351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6" name="Google Shape;2156;p76"/>
          <p:cNvSpPr/>
          <p:nvPr/>
        </p:nvSpPr>
        <p:spPr>
          <a:xfrm>
            <a:off x="2076220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9" name="Google Shape;2159;p76"/>
          <p:cNvSpPr txBox="1"/>
          <p:nvPr/>
        </p:nvSpPr>
        <p:spPr>
          <a:xfrm>
            <a:off x="2078467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2160" name="Google Shape;2160;p76"/>
          <p:cNvCxnSpPr/>
          <p:nvPr/>
        </p:nvCxnSpPr>
        <p:spPr>
          <a:xfrm flipH="1">
            <a:off x="2310220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61" name="Google Shape;2161;p76"/>
          <p:cNvSpPr txBox="1"/>
          <p:nvPr/>
        </p:nvSpPr>
        <p:spPr>
          <a:xfrm>
            <a:off x="1995557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76"/>
          <p:cNvSpPr txBox="1"/>
          <p:nvPr/>
        </p:nvSpPr>
        <p:spPr>
          <a:xfrm>
            <a:off x="1896351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76"/>
          <p:cNvSpPr/>
          <p:nvPr/>
        </p:nvSpPr>
        <p:spPr>
          <a:xfrm>
            <a:off x="2076220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76"/>
          <p:cNvSpPr txBox="1"/>
          <p:nvPr/>
        </p:nvSpPr>
        <p:spPr>
          <a:xfrm>
            <a:off x="2078467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165" name="Google Shape;2165;p76"/>
          <p:cNvCxnSpPr/>
          <p:nvPr/>
        </p:nvCxnSpPr>
        <p:spPr>
          <a:xfrm>
            <a:off x="39432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6" name="Google Shape;2166;p76"/>
          <p:cNvCxnSpPr/>
          <p:nvPr/>
        </p:nvCxnSpPr>
        <p:spPr>
          <a:xfrm>
            <a:off x="30288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7" name="Google Shape;2167;p76"/>
          <p:cNvCxnSpPr/>
          <p:nvPr/>
        </p:nvCxnSpPr>
        <p:spPr>
          <a:xfrm>
            <a:off x="19620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Google Shape;2172;p77"/>
          <p:cNvSpPr txBox="1"/>
          <p:nvPr/>
        </p:nvSpPr>
        <p:spPr>
          <a:xfrm>
            <a:off x="4879188" y="3900344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2173" name="Google Shape;2173;p77"/>
          <p:cNvSpPr/>
          <p:nvPr/>
        </p:nvSpPr>
        <p:spPr>
          <a:xfrm>
            <a:off x="467588" y="3833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77"/>
          <p:cNvSpPr/>
          <p:nvPr/>
        </p:nvSpPr>
        <p:spPr>
          <a:xfrm>
            <a:off x="471225" y="28726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77"/>
          <p:cNvSpPr/>
          <p:nvPr/>
        </p:nvSpPr>
        <p:spPr>
          <a:xfrm flipH="1">
            <a:off x="769680" y="2831798"/>
            <a:ext cx="706200" cy="679200"/>
          </a:xfrm>
          <a:prstGeom prst="arc">
            <a:avLst>
              <a:gd fmla="val 2258622" name="adj1"/>
              <a:gd fmla="val 18013119" name="adj2"/>
            </a:avLst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2176" name="Google Shape;2176;p77"/>
          <p:cNvCxnSpPr/>
          <p:nvPr/>
        </p:nvCxnSpPr>
        <p:spPr>
          <a:xfrm rot="10800000">
            <a:off x="716639" y="33405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7" name="Google Shape;2177;p77"/>
          <p:cNvCxnSpPr>
            <a:stCxn id="2174" idx="0"/>
          </p:cNvCxnSpPr>
          <p:nvPr/>
        </p:nvCxnSpPr>
        <p:spPr>
          <a:xfrm rot="10800000">
            <a:off x="705225" y="24346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8" name="Google Shape;2178;p77"/>
          <p:cNvSpPr txBox="1"/>
          <p:nvPr/>
        </p:nvSpPr>
        <p:spPr>
          <a:xfrm>
            <a:off x="457950" y="28318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2179" name="Google Shape;2179;p77"/>
          <p:cNvSpPr txBox="1"/>
          <p:nvPr/>
        </p:nvSpPr>
        <p:spPr>
          <a:xfrm>
            <a:off x="454313" y="3792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2180" name="Google Shape;2180;p77"/>
          <p:cNvSpPr txBox="1"/>
          <p:nvPr/>
        </p:nvSpPr>
        <p:spPr>
          <a:xfrm>
            <a:off x="476000" y="1911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2181" name="Google Shape;2181;p77"/>
          <p:cNvSpPr/>
          <p:nvPr/>
        </p:nvSpPr>
        <p:spPr>
          <a:xfrm>
            <a:off x="489275" y="1952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77"/>
          <p:cNvSpPr/>
          <p:nvPr/>
        </p:nvSpPr>
        <p:spPr>
          <a:xfrm>
            <a:off x="31889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3" name="Google Shape;2183;p77"/>
          <p:cNvSpPr/>
          <p:nvPr/>
        </p:nvSpPr>
        <p:spPr>
          <a:xfrm>
            <a:off x="31926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84" name="Google Shape;2184;p77"/>
          <p:cNvCxnSpPr/>
          <p:nvPr/>
        </p:nvCxnSpPr>
        <p:spPr>
          <a:xfrm rot="10800000">
            <a:off x="34380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5" name="Google Shape;2185;p77"/>
          <p:cNvSpPr txBox="1"/>
          <p:nvPr/>
        </p:nvSpPr>
        <p:spPr>
          <a:xfrm>
            <a:off x="317932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2186" name="Google Shape;2186;p77"/>
          <p:cNvSpPr txBox="1"/>
          <p:nvPr/>
        </p:nvSpPr>
        <p:spPr>
          <a:xfrm>
            <a:off x="3175688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2187" name="Google Shape;2187;p77"/>
          <p:cNvCxnSpPr/>
          <p:nvPr/>
        </p:nvCxnSpPr>
        <p:spPr>
          <a:xfrm>
            <a:off x="2987275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8" name="Google Shape;2188;p77"/>
          <p:cNvSpPr/>
          <p:nvPr/>
        </p:nvSpPr>
        <p:spPr>
          <a:xfrm>
            <a:off x="2082338" y="29496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9" name="Google Shape;2189;p77"/>
          <p:cNvSpPr txBox="1"/>
          <p:nvPr/>
        </p:nvSpPr>
        <p:spPr>
          <a:xfrm>
            <a:off x="2072881" y="297462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>
                <a:solidFill>
                  <a:schemeClr val="dk1"/>
                </a:solidFill>
              </a:rPr>
              <a:t>1...</a:t>
            </a:r>
            <a:endParaRPr/>
          </a:p>
        </p:txBody>
      </p:sp>
      <p:sp>
        <p:nvSpPr>
          <p:cNvPr id="2190" name="Google Shape;2190;p77"/>
          <p:cNvSpPr/>
          <p:nvPr/>
        </p:nvSpPr>
        <p:spPr>
          <a:xfrm>
            <a:off x="404071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1" name="Google Shape;2191;p77"/>
          <p:cNvSpPr/>
          <p:nvPr/>
        </p:nvSpPr>
        <p:spPr>
          <a:xfrm>
            <a:off x="404435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92" name="Google Shape;2192;p77"/>
          <p:cNvCxnSpPr/>
          <p:nvPr/>
        </p:nvCxnSpPr>
        <p:spPr>
          <a:xfrm rot="10800000">
            <a:off x="428976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3" name="Google Shape;2193;p77"/>
          <p:cNvSpPr txBox="1"/>
          <p:nvPr/>
        </p:nvSpPr>
        <p:spPr>
          <a:xfrm>
            <a:off x="403107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sp>
        <p:nvSpPr>
          <p:cNvPr id="2194" name="Google Shape;2194;p77"/>
          <p:cNvSpPr txBox="1"/>
          <p:nvPr/>
        </p:nvSpPr>
        <p:spPr>
          <a:xfrm>
            <a:off x="4027438" y="3902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2195" name="Google Shape;2195;p77"/>
          <p:cNvCxnSpPr/>
          <p:nvPr/>
        </p:nvCxnSpPr>
        <p:spPr>
          <a:xfrm>
            <a:off x="3664225" y="31869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6" name="Google Shape;2196;p77"/>
          <p:cNvSpPr/>
          <p:nvPr/>
        </p:nvSpPr>
        <p:spPr>
          <a:xfrm>
            <a:off x="4896323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7" name="Google Shape;2197;p77"/>
          <p:cNvSpPr/>
          <p:nvPr/>
        </p:nvSpPr>
        <p:spPr>
          <a:xfrm>
            <a:off x="4892463" y="38983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8" name="Google Shape;2198;p77"/>
          <p:cNvSpPr/>
          <p:nvPr/>
        </p:nvSpPr>
        <p:spPr>
          <a:xfrm>
            <a:off x="4896100" y="29374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99" name="Google Shape;2199;p77"/>
          <p:cNvCxnSpPr/>
          <p:nvPr/>
        </p:nvCxnSpPr>
        <p:spPr>
          <a:xfrm rot="10800000">
            <a:off x="5141514" y="34053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0" name="Google Shape;2200;p77"/>
          <p:cNvCxnSpPr>
            <a:stCxn id="2198" idx="0"/>
            <a:endCxn id="2196" idx="4"/>
          </p:cNvCxnSpPr>
          <p:nvPr/>
        </p:nvCxnSpPr>
        <p:spPr>
          <a:xfrm flipH="1" rot="10800000">
            <a:off x="5130100" y="2678200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1" name="Google Shape;2201;p77"/>
          <p:cNvSpPr txBox="1"/>
          <p:nvPr/>
        </p:nvSpPr>
        <p:spPr>
          <a:xfrm>
            <a:off x="4882825" y="293662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2202" name="Google Shape;2202;p77"/>
          <p:cNvSpPr txBox="1"/>
          <p:nvPr/>
        </p:nvSpPr>
        <p:spPr>
          <a:xfrm>
            <a:off x="4883048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2203" name="Google Shape;2203;p77"/>
          <p:cNvCxnSpPr/>
          <p:nvPr/>
        </p:nvCxnSpPr>
        <p:spPr>
          <a:xfrm>
            <a:off x="4515975" y="317140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4" name="Google Shape;2204;p77"/>
          <p:cNvSpPr txBox="1"/>
          <p:nvPr/>
        </p:nvSpPr>
        <p:spPr>
          <a:xfrm>
            <a:off x="30509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205" name="Google Shape;2205;p77"/>
          <p:cNvSpPr txBox="1"/>
          <p:nvPr/>
        </p:nvSpPr>
        <p:spPr>
          <a:xfrm>
            <a:off x="3913000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comer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206" name="Google Shape;2206;p77"/>
          <p:cNvSpPr txBox="1"/>
          <p:nvPr/>
        </p:nvSpPr>
        <p:spPr>
          <a:xfrm>
            <a:off x="477502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207" name="Google Shape;2207;p77"/>
          <p:cNvSpPr/>
          <p:nvPr/>
        </p:nvSpPr>
        <p:spPr>
          <a:xfrm>
            <a:off x="1526475" y="3073025"/>
            <a:ext cx="4740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08" name="Google Shape;2208;p77"/>
          <p:cNvCxnSpPr>
            <a:stCxn id="2196" idx="0"/>
            <a:endCxn id="2209" idx="4"/>
          </p:cNvCxnSpPr>
          <p:nvPr/>
        </p:nvCxnSpPr>
        <p:spPr>
          <a:xfrm rot="10800000">
            <a:off x="5128223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0" name="Google Shape;2210;p77"/>
          <p:cNvSpPr txBox="1"/>
          <p:nvPr/>
        </p:nvSpPr>
        <p:spPr>
          <a:xfrm>
            <a:off x="4813486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1" name="Google Shape;2211;p77"/>
          <p:cNvSpPr txBox="1"/>
          <p:nvPr/>
        </p:nvSpPr>
        <p:spPr>
          <a:xfrm>
            <a:off x="4714280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9" name="Google Shape;2209;p77"/>
          <p:cNvSpPr/>
          <p:nvPr/>
        </p:nvSpPr>
        <p:spPr>
          <a:xfrm>
            <a:off x="4894149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2" name="Google Shape;2212;p77"/>
          <p:cNvSpPr txBox="1"/>
          <p:nvPr/>
        </p:nvSpPr>
        <p:spPr>
          <a:xfrm>
            <a:off x="4896395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2213" name="Google Shape;2213;p77"/>
          <p:cNvSpPr txBox="1"/>
          <p:nvPr>
            <p:ph type="title"/>
          </p:nvPr>
        </p:nvSpPr>
        <p:spPr>
          <a:xfrm>
            <a:off x="726114" y="402582"/>
            <a:ext cx="7556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Entrenamiento: Backpropagation</a:t>
            </a:r>
            <a:endParaRPr/>
          </a:p>
        </p:txBody>
      </p:sp>
      <p:cxnSp>
        <p:nvCxnSpPr>
          <p:cNvPr id="2214" name="Google Shape;2214;p77"/>
          <p:cNvCxnSpPr/>
          <p:nvPr/>
        </p:nvCxnSpPr>
        <p:spPr>
          <a:xfrm>
            <a:off x="2565794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5" name="Google Shape;2215;p77"/>
          <p:cNvSpPr txBox="1"/>
          <p:nvPr/>
        </p:nvSpPr>
        <p:spPr>
          <a:xfrm>
            <a:off x="2718200" y="2930125"/>
            <a:ext cx="5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...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16" name="Google Shape;2216;p77"/>
          <p:cNvSpPr/>
          <p:nvPr/>
        </p:nvSpPr>
        <p:spPr>
          <a:xfrm>
            <a:off x="2088806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17" name="Google Shape;2217;p77"/>
          <p:cNvCxnSpPr/>
          <p:nvPr/>
        </p:nvCxnSpPr>
        <p:spPr>
          <a:xfrm rot="10800000">
            <a:off x="2337858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8" name="Google Shape;2218;p77"/>
          <p:cNvSpPr txBox="1"/>
          <p:nvPr/>
        </p:nvSpPr>
        <p:spPr>
          <a:xfrm>
            <a:off x="2075531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2219" name="Google Shape;2219;p77"/>
          <p:cNvSpPr txBox="1"/>
          <p:nvPr/>
        </p:nvSpPr>
        <p:spPr>
          <a:xfrm>
            <a:off x="1759803" y="4424950"/>
            <a:ext cx="1148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darle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220" name="Google Shape;2220;p77"/>
          <p:cNvSpPr txBox="1"/>
          <p:nvPr/>
        </p:nvSpPr>
        <p:spPr>
          <a:xfrm>
            <a:off x="620993" y="2556625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21" name="Google Shape;2221;p77"/>
          <p:cNvSpPr txBox="1"/>
          <p:nvPr/>
        </p:nvSpPr>
        <p:spPr>
          <a:xfrm>
            <a:off x="1095900" y="302860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22" name="Google Shape;2222;p77"/>
          <p:cNvSpPr txBox="1"/>
          <p:nvPr/>
        </p:nvSpPr>
        <p:spPr>
          <a:xfrm>
            <a:off x="643382" y="3490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223" name="Google Shape;2223;p77"/>
          <p:cNvCxnSpPr/>
          <p:nvPr/>
        </p:nvCxnSpPr>
        <p:spPr>
          <a:xfrm flipH="1">
            <a:off x="5128149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4" name="Google Shape;2224;p77"/>
          <p:cNvSpPr txBox="1"/>
          <p:nvPr/>
        </p:nvSpPr>
        <p:spPr>
          <a:xfrm>
            <a:off x="4813486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5" name="Google Shape;2225;p77"/>
          <p:cNvSpPr txBox="1"/>
          <p:nvPr/>
        </p:nvSpPr>
        <p:spPr>
          <a:xfrm>
            <a:off x="4714280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6" name="Google Shape;2226;p77"/>
          <p:cNvSpPr/>
          <p:nvPr/>
        </p:nvSpPr>
        <p:spPr>
          <a:xfrm>
            <a:off x="4894149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7" name="Google Shape;2227;p77"/>
          <p:cNvSpPr txBox="1"/>
          <p:nvPr/>
        </p:nvSpPr>
        <p:spPr>
          <a:xfrm>
            <a:off x="4896395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\mathcal{L_i}=- \sum_{w \in V} y^w_i \log(\hat{y}^w_i)" id="2228" name="Google Shape;2228;p77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026" y="990625"/>
            <a:ext cx="2149638" cy="24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9" name="Google Shape;2229;p77"/>
          <p:cNvCxnSpPr/>
          <p:nvPr/>
        </p:nvCxnSpPr>
        <p:spPr>
          <a:xfrm>
            <a:off x="47052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0" name="Google Shape;2230;p77"/>
          <p:cNvCxnSpPr/>
          <p:nvPr/>
        </p:nvCxnSpPr>
        <p:spPr>
          <a:xfrm>
            <a:off x="46628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1" name="Google Shape;2231;p77"/>
          <p:cNvCxnSpPr/>
          <p:nvPr/>
        </p:nvCxnSpPr>
        <p:spPr>
          <a:xfrm>
            <a:off x="38246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2" name="Google Shape;2232;p77"/>
          <p:cNvCxnSpPr/>
          <p:nvPr/>
        </p:nvCxnSpPr>
        <p:spPr>
          <a:xfrm>
            <a:off x="28340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3" name="Google Shape;2233;p77"/>
          <p:cNvSpPr txBox="1"/>
          <p:nvPr/>
        </p:nvSpPr>
        <p:spPr>
          <a:xfrm>
            <a:off x="6766625" y="1909719"/>
            <a:ext cx="1690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F00FF"/>
                </a:solidFill>
              </a:rPr>
              <a:t>Backpropagation through time</a:t>
            </a:r>
            <a:endParaRPr b="1">
              <a:solidFill>
                <a:srgbClr val="FF00FF"/>
              </a:solidFill>
            </a:endParaRPr>
          </a:p>
        </p:txBody>
      </p:sp>
      <p:sp>
        <p:nvSpPr>
          <p:cNvPr id="2234" name="Google Shape;2234;p77"/>
          <p:cNvSpPr/>
          <p:nvPr/>
        </p:nvSpPr>
        <p:spPr>
          <a:xfrm>
            <a:off x="4058123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35" name="Google Shape;2235;p77"/>
          <p:cNvCxnSpPr>
            <a:endCxn id="2234" idx="4"/>
          </p:cNvCxnSpPr>
          <p:nvPr/>
        </p:nvCxnSpPr>
        <p:spPr>
          <a:xfrm flipH="1" rot="10800000">
            <a:off x="4291823" y="2678246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6" name="Google Shape;2236;p77"/>
          <p:cNvSpPr txBox="1"/>
          <p:nvPr/>
        </p:nvSpPr>
        <p:spPr>
          <a:xfrm>
            <a:off x="4044848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2237" name="Google Shape;2237;p77"/>
          <p:cNvCxnSpPr>
            <a:stCxn id="2234" idx="0"/>
            <a:endCxn id="2238" idx="4"/>
          </p:cNvCxnSpPr>
          <p:nvPr/>
        </p:nvCxnSpPr>
        <p:spPr>
          <a:xfrm rot="10800000">
            <a:off x="4290023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9" name="Google Shape;2239;p77"/>
          <p:cNvSpPr txBox="1"/>
          <p:nvPr/>
        </p:nvSpPr>
        <p:spPr>
          <a:xfrm>
            <a:off x="3975286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0" name="Google Shape;2240;p77"/>
          <p:cNvSpPr txBox="1"/>
          <p:nvPr/>
        </p:nvSpPr>
        <p:spPr>
          <a:xfrm>
            <a:off x="3876080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77"/>
          <p:cNvSpPr/>
          <p:nvPr/>
        </p:nvSpPr>
        <p:spPr>
          <a:xfrm>
            <a:off x="4055949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1" name="Google Shape;2241;p77"/>
          <p:cNvSpPr txBox="1"/>
          <p:nvPr/>
        </p:nvSpPr>
        <p:spPr>
          <a:xfrm>
            <a:off x="4058195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2242" name="Google Shape;2242;p77"/>
          <p:cNvCxnSpPr/>
          <p:nvPr/>
        </p:nvCxnSpPr>
        <p:spPr>
          <a:xfrm flipH="1">
            <a:off x="4289949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3" name="Google Shape;2243;p77"/>
          <p:cNvSpPr txBox="1"/>
          <p:nvPr/>
        </p:nvSpPr>
        <p:spPr>
          <a:xfrm>
            <a:off x="3975286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4" name="Google Shape;2244;p77"/>
          <p:cNvSpPr txBox="1"/>
          <p:nvPr/>
        </p:nvSpPr>
        <p:spPr>
          <a:xfrm>
            <a:off x="3876080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5" name="Google Shape;2245;p77"/>
          <p:cNvSpPr/>
          <p:nvPr/>
        </p:nvSpPr>
        <p:spPr>
          <a:xfrm>
            <a:off x="4055949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6" name="Google Shape;2246;p77"/>
          <p:cNvSpPr txBox="1"/>
          <p:nvPr/>
        </p:nvSpPr>
        <p:spPr>
          <a:xfrm>
            <a:off x="4058195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47" name="Google Shape;2247;p77"/>
          <p:cNvSpPr/>
          <p:nvPr/>
        </p:nvSpPr>
        <p:spPr>
          <a:xfrm>
            <a:off x="3186089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48" name="Google Shape;2248;p77"/>
          <p:cNvCxnSpPr>
            <a:endCxn id="2247" idx="4"/>
          </p:cNvCxnSpPr>
          <p:nvPr/>
        </p:nvCxnSpPr>
        <p:spPr>
          <a:xfrm flipH="1" rot="10800000">
            <a:off x="3419789" y="2678246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9" name="Google Shape;2249;p77"/>
          <p:cNvSpPr txBox="1"/>
          <p:nvPr/>
        </p:nvSpPr>
        <p:spPr>
          <a:xfrm>
            <a:off x="3172814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2250" name="Google Shape;2250;p77"/>
          <p:cNvCxnSpPr>
            <a:stCxn id="2247" idx="0"/>
            <a:endCxn id="2251" idx="4"/>
          </p:cNvCxnSpPr>
          <p:nvPr/>
        </p:nvCxnSpPr>
        <p:spPr>
          <a:xfrm rot="10800000">
            <a:off x="3417989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2" name="Google Shape;2252;p77"/>
          <p:cNvSpPr txBox="1"/>
          <p:nvPr/>
        </p:nvSpPr>
        <p:spPr>
          <a:xfrm>
            <a:off x="3103252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3" name="Google Shape;2253;p77"/>
          <p:cNvSpPr txBox="1"/>
          <p:nvPr/>
        </p:nvSpPr>
        <p:spPr>
          <a:xfrm>
            <a:off x="3004046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1" name="Google Shape;2251;p77"/>
          <p:cNvSpPr/>
          <p:nvPr/>
        </p:nvSpPr>
        <p:spPr>
          <a:xfrm>
            <a:off x="3183915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4" name="Google Shape;2254;p77"/>
          <p:cNvSpPr txBox="1"/>
          <p:nvPr/>
        </p:nvSpPr>
        <p:spPr>
          <a:xfrm>
            <a:off x="3186161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2255" name="Google Shape;2255;p77"/>
          <p:cNvCxnSpPr/>
          <p:nvPr/>
        </p:nvCxnSpPr>
        <p:spPr>
          <a:xfrm flipH="1">
            <a:off x="3417915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6" name="Google Shape;2256;p77"/>
          <p:cNvSpPr txBox="1"/>
          <p:nvPr/>
        </p:nvSpPr>
        <p:spPr>
          <a:xfrm>
            <a:off x="3103252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7" name="Google Shape;2257;p77"/>
          <p:cNvSpPr txBox="1"/>
          <p:nvPr/>
        </p:nvSpPr>
        <p:spPr>
          <a:xfrm>
            <a:off x="3004046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8" name="Google Shape;2258;p77"/>
          <p:cNvSpPr/>
          <p:nvPr/>
        </p:nvSpPr>
        <p:spPr>
          <a:xfrm>
            <a:off x="3183915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9" name="Google Shape;2259;p77"/>
          <p:cNvSpPr txBox="1"/>
          <p:nvPr/>
        </p:nvSpPr>
        <p:spPr>
          <a:xfrm>
            <a:off x="3186161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60" name="Google Shape;2260;p77"/>
          <p:cNvSpPr/>
          <p:nvPr/>
        </p:nvSpPr>
        <p:spPr>
          <a:xfrm>
            <a:off x="2078394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61" name="Google Shape;2261;p77"/>
          <p:cNvCxnSpPr>
            <a:endCxn id="2260" idx="4"/>
          </p:cNvCxnSpPr>
          <p:nvPr/>
        </p:nvCxnSpPr>
        <p:spPr>
          <a:xfrm flipH="1" rot="10800000">
            <a:off x="2312094" y="2678246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2" name="Google Shape;2262;p77"/>
          <p:cNvSpPr txBox="1"/>
          <p:nvPr/>
        </p:nvSpPr>
        <p:spPr>
          <a:xfrm>
            <a:off x="2065119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2263" name="Google Shape;2263;p77"/>
          <p:cNvCxnSpPr>
            <a:stCxn id="2260" idx="0"/>
            <a:endCxn id="2264" idx="4"/>
          </p:cNvCxnSpPr>
          <p:nvPr/>
        </p:nvCxnSpPr>
        <p:spPr>
          <a:xfrm rot="10800000">
            <a:off x="2310294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5" name="Google Shape;2265;p77"/>
          <p:cNvSpPr txBox="1"/>
          <p:nvPr/>
        </p:nvSpPr>
        <p:spPr>
          <a:xfrm>
            <a:off x="1995557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6" name="Google Shape;2266;p77"/>
          <p:cNvSpPr txBox="1"/>
          <p:nvPr/>
        </p:nvSpPr>
        <p:spPr>
          <a:xfrm>
            <a:off x="1896351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p77"/>
          <p:cNvSpPr/>
          <p:nvPr/>
        </p:nvSpPr>
        <p:spPr>
          <a:xfrm>
            <a:off x="2076220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7" name="Google Shape;2267;p77"/>
          <p:cNvSpPr txBox="1"/>
          <p:nvPr/>
        </p:nvSpPr>
        <p:spPr>
          <a:xfrm>
            <a:off x="2078467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2268" name="Google Shape;2268;p77"/>
          <p:cNvCxnSpPr/>
          <p:nvPr/>
        </p:nvCxnSpPr>
        <p:spPr>
          <a:xfrm flipH="1">
            <a:off x="2310220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9" name="Google Shape;2269;p77"/>
          <p:cNvSpPr txBox="1"/>
          <p:nvPr/>
        </p:nvSpPr>
        <p:spPr>
          <a:xfrm>
            <a:off x="1995557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0" name="Google Shape;2270;p77"/>
          <p:cNvSpPr txBox="1"/>
          <p:nvPr/>
        </p:nvSpPr>
        <p:spPr>
          <a:xfrm>
            <a:off x="1896351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1" name="Google Shape;2271;p77"/>
          <p:cNvSpPr/>
          <p:nvPr/>
        </p:nvSpPr>
        <p:spPr>
          <a:xfrm>
            <a:off x="2076220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77"/>
          <p:cNvSpPr txBox="1"/>
          <p:nvPr/>
        </p:nvSpPr>
        <p:spPr>
          <a:xfrm>
            <a:off x="2078467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273" name="Google Shape;2273;p77"/>
          <p:cNvCxnSpPr/>
          <p:nvPr/>
        </p:nvCxnSpPr>
        <p:spPr>
          <a:xfrm>
            <a:off x="39432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4" name="Google Shape;2274;p77"/>
          <p:cNvCxnSpPr/>
          <p:nvPr/>
        </p:nvCxnSpPr>
        <p:spPr>
          <a:xfrm>
            <a:off x="30288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5" name="Google Shape;2275;p77"/>
          <p:cNvCxnSpPr/>
          <p:nvPr/>
        </p:nvCxnSpPr>
        <p:spPr>
          <a:xfrm>
            <a:off x="19620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\mathcal{L}= \sum_{i} \mathcal{L_i}" id="2276" name="Google Shape;2276;p77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4512" y="1316725"/>
            <a:ext cx="95399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7" name="Google Shape;2277;p77"/>
          <p:cNvSpPr txBox="1"/>
          <p:nvPr/>
        </p:nvSpPr>
        <p:spPr>
          <a:xfrm>
            <a:off x="2850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78" name="Google Shape;2278;p77"/>
          <p:cNvSpPr txBox="1"/>
          <p:nvPr/>
        </p:nvSpPr>
        <p:spPr>
          <a:xfrm>
            <a:off x="3612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79" name="Google Shape;2279;p77"/>
          <p:cNvSpPr txBox="1"/>
          <p:nvPr/>
        </p:nvSpPr>
        <p:spPr>
          <a:xfrm>
            <a:off x="4500081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80" name="Google Shape;2280;p77"/>
          <p:cNvSpPr txBox="1"/>
          <p:nvPr/>
        </p:nvSpPr>
        <p:spPr>
          <a:xfrm>
            <a:off x="2469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\frac{\partial \mathcal{L}(\theta)}{\partial W} = \sum_{t=1}^T \frac{\partial \mathcal{L}_t(\theta)}{\partial W}&#10;" id="2281" name="Google Shape;2281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0970" y="2646750"/>
            <a:ext cx="2441861" cy="91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5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p78"/>
          <p:cNvSpPr txBox="1"/>
          <p:nvPr/>
        </p:nvSpPr>
        <p:spPr>
          <a:xfrm>
            <a:off x="4879188" y="3900344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2287" name="Google Shape;2287;p78"/>
          <p:cNvSpPr/>
          <p:nvPr/>
        </p:nvSpPr>
        <p:spPr>
          <a:xfrm>
            <a:off x="467588" y="3833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p78"/>
          <p:cNvSpPr/>
          <p:nvPr/>
        </p:nvSpPr>
        <p:spPr>
          <a:xfrm>
            <a:off x="471225" y="28726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9" name="Google Shape;2289;p78"/>
          <p:cNvSpPr/>
          <p:nvPr/>
        </p:nvSpPr>
        <p:spPr>
          <a:xfrm flipH="1">
            <a:off x="769680" y="2831798"/>
            <a:ext cx="706200" cy="679200"/>
          </a:xfrm>
          <a:prstGeom prst="arc">
            <a:avLst>
              <a:gd fmla="val 2258622" name="adj1"/>
              <a:gd fmla="val 18013119" name="adj2"/>
            </a:avLst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2290" name="Google Shape;2290;p78"/>
          <p:cNvCxnSpPr/>
          <p:nvPr/>
        </p:nvCxnSpPr>
        <p:spPr>
          <a:xfrm rot="10800000">
            <a:off x="716639" y="33405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1" name="Google Shape;2291;p78"/>
          <p:cNvCxnSpPr>
            <a:stCxn id="2288" idx="0"/>
          </p:cNvCxnSpPr>
          <p:nvPr/>
        </p:nvCxnSpPr>
        <p:spPr>
          <a:xfrm rot="10800000">
            <a:off x="705225" y="24346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92" name="Google Shape;2292;p78"/>
          <p:cNvSpPr txBox="1"/>
          <p:nvPr/>
        </p:nvSpPr>
        <p:spPr>
          <a:xfrm>
            <a:off x="457950" y="28318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2293" name="Google Shape;2293;p78"/>
          <p:cNvSpPr txBox="1"/>
          <p:nvPr/>
        </p:nvSpPr>
        <p:spPr>
          <a:xfrm>
            <a:off x="454313" y="3792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2294" name="Google Shape;2294;p78"/>
          <p:cNvSpPr txBox="1"/>
          <p:nvPr/>
        </p:nvSpPr>
        <p:spPr>
          <a:xfrm>
            <a:off x="476000" y="1911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2295" name="Google Shape;2295;p78"/>
          <p:cNvSpPr/>
          <p:nvPr/>
        </p:nvSpPr>
        <p:spPr>
          <a:xfrm>
            <a:off x="489275" y="1952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p78"/>
          <p:cNvSpPr/>
          <p:nvPr/>
        </p:nvSpPr>
        <p:spPr>
          <a:xfrm>
            <a:off x="31889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7" name="Google Shape;2297;p78"/>
          <p:cNvSpPr/>
          <p:nvPr/>
        </p:nvSpPr>
        <p:spPr>
          <a:xfrm>
            <a:off x="31926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98" name="Google Shape;2298;p78"/>
          <p:cNvCxnSpPr/>
          <p:nvPr/>
        </p:nvCxnSpPr>
        <p:spPr>
          <a:xfrm rot="10800000">
            <a:off x="34380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99" name="Google Shape;2299;p78"/>
          <p:cNvSpPr txBox="1"/>
          <p:nvPr/>
        </p:nvSpPr>
        <p:spPr>
          <a:xfrm>
            <a:off x="317932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2300" name="Google Shape;2300;p78"/>
          <p:cNvSpPr txBox="1"/>
          <p:nvPr/>
        </p:nvSpPr>
        <p:spPr>
          <a:xfrm>
            <a:off x="3175688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2301" name="Google Shape;2301;p78"/>
          <p:cNvCxnSpPr/>
          <p:nvPr/>
        </p:nvCxnSpPr>
        <p:spPr>
          <a:xfrm>
            <a:off x="2987275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2" name="Google Shape;2302;p78"/>
          <p:cNvSpPr/>
          <p:nvPr/>
        </p:nvSpPr>
        <p:spPr>
          <a:xfrm>
            <a:off x="2082338" y="29496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3" name="Google Shape;2303;p78"/>
          <p:cNvSpPr txBox="1"/>
          <p:nvPr/>
        </p:nvSpPr>
        <p:spPr>
          <a:xfrm>
            <a:off x="2072881" y="297462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>
                <a:solidFill>
                  <a:schemeClr val="dk1"/>
                </a:solidFill>
              </a:rPr>
              <a:t>1...</a:t>
            </a:r>
            <a:endParaRPr/>
          </a:p>
        </p:txBody>
      </p:sp>
      <p:sp>
        <p:nvSpPr>
          <p:cNvPr id="2304" name="Google Shape;2304;p78"/>
          <p:cNvSpPr/>
          <p:nvPr/>
        </p:nvSpPr>
        <p:spPr>
          <a:xfrm>
            <a:off x="404071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p78"/>
          <p:cNvSpPr/>
          <p:nvPr/>
        </p:nvSpPr>
        <p:spPr>
          <a:xfrm>
            <a:off x="404435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06" name="Google Shape;2306;p78"/>
          <p:cNvCxnSpPr/>
          <p:nvPr/>
        </p:nvCxnSpPr>
        <p:spPr>
          <a:xfrm rot="10800000">
            <a:off x="428976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7" name="Google Shape;2307;p78"/>
          <p:cNvSpPr txBox="1"/>
          <p:nvPr/>
        </p:nvSpPr>
        <p:spPr>
          <a:xfrm>
            <a:off x="403107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sp>
        <p:nvSpPr>
          <p:cNvPr id="2308" name="Google Shape;2308;p78"/>
          <p:cNvSpPr txBox="1"/>
          <p:nvPr/>
        </p:nvSpPr>
        <p:spPr>
          <a:xfrm>
            <a:off x="4027438" y="3902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2309" name="Google Shape;2309;p78"/>
          <p:cNvCxnSpPr/>
          <p:nvPr/>
        </p:nvCxnSpPr>
        <p:spPr>
          <a:xfrm>
            <a:off x="3664225" y="31869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0" name="Google Shape;2310;p78"/>
          <p:cNvSpPr/>
          <p:nvPr/>
        </p:nvSpPr>
        <p:spPr>
          <a:xfrm>
            <a:off x="4896323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1" name="Google Shape;2311;p78"/>
          <p:cNvSpPr/>
          <p:nvPr/>
        </p:nvSpPr>
        <p:spPr>
          <a:xfrm>
            <a:off x="4892463" y="38983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2" name="Google Shape;2312;p78"/>
          <p:cNvSpPr/>
          <p:nvPr/>
        </p:nvSpPr>
        <p:spPr>
          <a:xfrm>
            <a:off x="4896100" y="29374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13" name="Google Shape;2313;p78"/>
          <p:cNvCxnSpPr/>
          <p:nvPr/>
        </p:nvCxnSpPr>
        <p:spPr>
          <a:xfrm rot="10800000">
            <a:off x="5141514" y="34053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4" name="Google Shape;2314;p78"/>
          <p:cNvCxnSpPr>
            <a:stCxn id="2312" idx="0"/>
            <a:endCxn id="2310" idx="4"/>
          </p:cNvCxnSpPr>
          <p:nvPr/>
        </p:nvCxnSpPr>
        <p:spPr>
          <a:xfrm flipH="1" rot="10800000">
            <a:off x="5130100" y="2678200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5" name="Google Shape;2315;p78"/>
          <p:cNvSpPr txBox="1"/>
          <p:nvPr/>
        </p:nvSpPr>
        <p:spPr>
          <a:xfrm>
            <a:off x="4882825" y="293662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2316" name="Google Shape;2316;p78"/>
          <p:cNvSpPr txBox="1"/>
          <p:nvPr/>
        </p:nvSpPr>
        <p:spPr>
          <a:xfrm>
            <a:off x="4883048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2317" name="Google Shape;2317;p78"/>
          <p:cNvCxnSpPr/>
          <p:nvPr/>
        </p:nvCxnSpPr>
        <p:spPr>
          <a:xfrm>
            <a:off x="4515975" y="317140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8" name="Google Shape;2318;p78"/>
          <p:cNvSpPr txBox="1"/>
          <p:nvPr/>
        </p:nvSpPr>
        <p:spPr>
          <a:xfrm>
            <a:off x="30509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319" name="Google Shape;2319;p78"/>
          <p:cNvSpPr txBox="1"/>
          <p:nvPr/>
        </p:nvSpPr>
        <p:spPr>
          <a:xfrm>
            <a:off x="3913000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comer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320" name="Google Shape;2320;p78"/>
          <p:cNvSpPr txBox="1"/>
          <p:nvPr/>
        </p:nvSpPr>
        <p:spPr>
          <a:xfrm>
            <a:off x="477502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321" name="Google Shape;2321;p78"/>
          <p:cNvSpPr/>
          <p:nvPr/>
        </p:nvSpPr>
        <p:spPr>
          <a:xfrm>
            <a:off x="1526475" y="3073025"/>
            <a:ext cx="4740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22" name="Google Shape;2322;p78"/>
          <p:cNvCxnSpPr>
            <a:stCxn id="2310" idx="0"/>
            <a:endCxn id="2323" idx="4"/>
          </p:cNvCxnSpPr>
          <p:nvPr/>
        </p:nvCxnSpPr>
        <p:spPr>
          <a:xfrm rot="10800000">
            <a:off x="5128223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4" name="Google Shape;2324;p78"/>
          <p:cNvSpPr txBox="1"/>
          <p:nvPr/>
        </p:nvSpPr>
        <p:spPr>
          <a:xfrm>
            <a:off x="4813486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78"/>
          <p:cNvSpPr txBox="1"/>
          <p:nvPr/>
        </p:nvSpPr>
        <p:spPr>
          <a:xfrm>
            <a:off x="4714280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3" name="Google Shape;2323;p78"/>
          <p:cNvSpPr/>
          <p:nvPr/>
        </p:nvSpPr>
        <p:spPr>
          <a:xfrm>
            <a:off x="4894149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6" name="Google Shape;2326;p78"/>
          <p:cNvSpPr txBox="1"/>
          <p:nvPr/>
        </p:nvSpPr>
        <p:spPr>
          <a:xfrm>
            <a:off x="4896395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2327" name="Google Shape;2327;p78"/>
          <p:cNvSpPr txBox="1"/>
          <p:nvPr>
            <p:ph type="title"/>
          </p:nvPr>
        </p:nvSpPr>
        <p:spPr>
          <a:xfrm>
            <a:off x="726114" y="402582"/>
            <a:ext cx="7556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Entrenamiento: Backpropagation</a:t>
            </a:r>
            <a:endParaRPr/>
          </a:p>
        </p:txBody>
      </p:sp>
      <p:cxnSp>
        <p:nvCxnSpPr>
          <p:cNvPr id="2328" name="Google Shape;2328;p78"/>
          <p:cNvCxnSpPr/>
          <p:nvPr/>
        </p:nvCxnSpPr>
        <p:spPr>
          <a:xfrm>
            <a:off x="2565794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9" name="Google Shape;2329;p78"/>
          <p:cNvSpPr txBox="1"/>
          <p:nvPr/>
        </p:nvSpPr>
        <p:spPr>
          <a:xfrm>
            <a:off x="2718200" y="2930125"/>
            <a:ext cx="5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...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0" name="Google Shape;2330;p78"/>
          <p:cNvSpPr/>
          <p:nvPr/>
        </p:nvSpPr>
        <p:spPr>
          <a:xfrm>
            <a:off x="2088806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1" name="Google Shape;2331;p78"/>
          <p:cNvCxnSpPr/>
          <p:nvPr/>
        </p:nvCxnSpPr>
        <p:spPr>
          <a:xfrm rot="10800000">
            <a:off x="2337858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32" name="Google Shape;2332;p78"/>
          <p:cNvSpPr txBox="1"/>
          <p:nvPr/>
        </p:nvSpPr>
        <p:spPr>
          <a:xfrm>
            <a:off x="2075531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2333" name="Google Shape;2333;p78"/>
          <p:cNvSpPr txBox="1"/>
          <p:nvPr/>
        </p:nvSpPr>
        <p:spPr>
          <a:xfrm>
            <a:off x="1759803" y="4424950"/>
            <a:ext cx="1148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darle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334" name="Google Shape;2334;p78"/>
          <p:cNvSpPr txBox="1"/>
          <p:nvPr/>
        </p:nvSpPr>
        <p:spPr>
          <a:xfrm>
            <a:off x="620993" y="2556625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35" name="Google Shape;2335;p78"/>
          <p:cNvSpPr txBox="1"/>
          <p:nvPr/>
        </p:nvSpPr>
        <p:spPr>
          <a:xfrm>
            <a:off x="1095900" y="302860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36" name="Google Shape;2336;p78"/>
          <p:cNvSpPr txBox="1"/>
          <p:nvPr/>
        </p:nvSpPr>
        <p:spPr>
          <a:xfrm>
            <a:off x="643382" y="3490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337" name="Google Shape;2337;p78"/>
          <p:cNvCxnSpPr/>
          <p:nvPr/>
        </p:nvCxnSpPr>
        <p:spPr>
          <a:xfrm flipH="1">
            <a:off x="5128149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38" name="Google Shape;2338;p78"/>
          <p:cNvSpPr txBox="1"/>
          <p:nvPr/>
        </p:nvSpPr>
        <p:spPr>
          <a:xfrm>
            <a:off x="4813486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78"/>
          <p:cNvSpPr txBox="1"/>
          <p:nvPr/>
        </p:nvSpPr>
        <p:spPr>
          <a:xfrm>
            <a:off x="4714280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0" name="Google Shape;2340;p78"/>
          <p:cNvSpPr/>
          <p:nvPr/>
        </p:nvSpPr>
        <p:spPr>
          <a:xfrm>
            <a:off x="4894149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1" name="Google Shape;2341;p78"/>
          <p:cNvSpPr txBox="1"/>
          <p:nvPr/>
        </p:nvSpPr>
        <p:spPr>
          <a:xfrm>
            <a:off x="4896395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\mathcal{L_i}=- \sum_{w \in V} y^w_i \log(\hat{y}^w_i)" id="2342" name="Google Shape;2342;p78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026" y="990625"/>
            <a:ext cx="2149638" cy="24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3" name="Google Shape;2343;p78"/>
          <p:cNvCxnSpPr/>
          <p:nvPr/>
        </p:nvCxnSpPr>
        <p:spPr>
          <a:xfrm>
            <a:off x="47052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4" name="Google Shape;2344;p78"/>
          <p:cNvCxnSpPr/>
          <p:nvPr/>
        </p:nvCxnSpPr>
        <p:spPr>
          <a:xfrm>
            <a:off x="46628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5" name="Google Shape;2345;p78"/>
          <p:cNvCxnSpPr/>
          <p:nvPr/>
        </p:nvCxnSpPr>
        <p:spPr>
          <a:xfrm>
            <a:off x="38246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6" name="Google Shape;2346;p78"/>
          <p:cNvCxnSpPr/>
          <p:nvPr/>
        </p:nvCxnSpPr>
        <p:spPr>
          <a:xfrm>
            <a:off x="28340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47" name="Google Shape;2347;p78"/>
          <p:cNvSpPr txBox="1"/>
          <p:nvPr/>
        </p:nvSpPr>
        <p:spPr>
          <a:xfrm>
            <a:off x="6766625" y="1909719"/>
            <a:ext cx="1690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F00FF"/>
                </a:solidFill>
              </a:rPr>
              <a:t>Backpropagation through time</a:t>
            </a:r>
            <a:endParaRPr b="1">
              <a:solidFill>
                <a:srgbClr val="FF00FF"/>
              </a:solidFill>
            </a:endParaRPr>
          </a:p>
        </p:txBody>
      </p:sp>
      <p:pic>
        <p:nvPicPr>
          <p:cNvPr descr="\mathcal{L}= \sum_{i} \mathcal{L_i}" id="2348" name="Google Shape;2348;p78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4512" y="1316725"/>
            <a:ext cx="95399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9" name="Google Shape;2349;p78"/>
          <p:cNvSpPr txBox="1"/>
          <p:nvPr/>
        </p:nvSpPr>
        <p:spPr>
          <a:xfrm>
            <a:off x="2850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50" name="Google Shape;2350;p78"/>
          <p:cNvSpPr txBox="1"/>
          <p:nvPr/>
        </p:nvSpPr>
        <p:spPr>
          <a:xfrm>
            <a:off x="3612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51" name="Google Shape;2351;p78"/>
          <p:cNvSpPr txBox="1"/>
          <p:nvPr/>
        </p:nvSpPr>
        <p:spPr>
          <a:xfrm>
            <a:off x="4500081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52" name="Google Shape;2352;p78"/>
          <p:cNvSpPr txBox="1"/>
          <p:nvPr/>
        </p:nvSpPr>
        <p:spPr>
          <a:xfrm>
            <a:off x="2469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53" name="Google Shape;2353;p78"/>
          <p:cNvSpPr txBox="1"/>
          <p:nvPr/>
        </p:nvSpPr>
        <p:spPr>
          <a:xfrm>
            <a:off x="246975" y="-148275"/>
            <a:ext cx="4042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\frac{\partial \mathcal{L}_t(\theta)}{\partial W} = &#10;\frac{\partial \mathcal{L}_t(\theta)}{\partial h_t}&#10;\frac{\partial h_t}{\partial W}&#10;" id="2354" name="Google Shape;2354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6350" y="2668438"/>
            <a:ext cx="2838450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8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p79"/>
          <p:cNvSpPr txBox="1"/>
          <p:nvPr/>
        </p:nvSpPr>
        <p:spPr>
          <a:xfrm>
            <a:off x="4879188" y="3900344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2360" name="Google Shape;2360;p79"/>
          <p:cNvSpPr/>
          <p:nvPr/>
        </p:nvSpPr>
        <p:spPr>
          <a:xfrm>
            <a:off x="467588" y="3833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1" name="Google Shape;2361;p79"/>
          <p:cNvSpPr/>
          <p:nvPr/>
        </p:nvSpPr>
        <p:spPr>
          <a:xfrm>
            <a:off x="471225" y="28726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2" name="Google Shape;2362;p79"/>
          <p:cNvSpPr/>
          <p:nvPr/>
        </p:nvSpPr>
        <p:spPr>
          <a:xfrm flipH="1">
            <a:off x="769680" y="2831798"/>
            <a:ext cx="706200" cy="679200"/>
          </a:xfrm>
          <a:prstGeom prst="arc">
            <a:avLst>
              <a:gd fmla="val 2258622" name="adj1"/>
              <a:gd fmla="val 18013119" name="adj2"/>
            </a:avLst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2363" name="Google Shape;2363;p79"/>
          <p:cNvCxnSpPr/>
          <p:nvPr/>
        </p:nvCxnSpPr>
        <p:spPr>
          <a:xfrm rot="10800000">
            <a:off x="716639" y="33405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4" name="Google Shape;2364;p79"/>
          <p:cNvCxnSpPr>
            <a:stCxn id="2361" idx="0"/>
          </p:cNvCxnSpPr>
          <p:nvPr/>
        </p:nvCxnSpPr>
        <p:spPr>
          <a:xfrm rot="10800000">
            <a:off x="705225" y="24346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5" name="Google Shape;2365;p79"/>
          <p:cNvSpPr txBox="1"/>
          <p:nvPr/>
        </p:nvSpPr>
        <p:spPr>
          <a:xfrm>
            <a:off x="457950" y="28318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2366" name="Google Shape;2366;p79"/>
          <p:cNvSpPr txBox="1"/>
          <p:nvPr/>
        </p:nvSpPr>
        <p:spPr>
          <a:xfrm>
            <a:off x="454313" y="3792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2367" name="Google Shape;2367;p79"/>
          <p:cNvSpPr txBox="1"/>
          <p:nvPr/>
        </p:nvSpPr>
        <p:spPr>
          <a:xfrm>
            <a:off x="476000" y="1911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2368" name="Google Shape;2368;p79"/>
          <p:cNvSpPr/>
          <p:nvPr/>
        </p:nvSpPr>
        <p:spPr>
          <a:xfrm>
            <a:off x="489275" y="1952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9" name="Google Shape;2369;p79"/>
          <p:cNvSpPr/>
          <p:nvPr/>
        </p:nvSpPr>
        <p:spPr>
          <a:xfrm>
            <a:off x="31889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79"/>
          <p:cNvSpPr/>
          <p:nvPr/>
        </p:nvSpPr>
        <p:spPr>
          <a:xfrm>
            <a:off x="31926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71" name="Google Shape;2371;p79"/>
          <p:cNvCxnSpPr/>
          <p:nvPr/>
        </p:nvCxnSpPr>
        <p:spPr>
          <a:xfrm rot="10800000">
            <a:off x="34380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2" name="Google Shape;2372;p79"/>
          <p:cNvSpPr txBox="1"/>
          <p:nvPr/>
        </p:nvSpPr>
        <p:spPr>
          <a:xfrm>
            <a:off x="317932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2373" name="Google Shape;2373;p79"/>
          <p:cNvSpPr txBox="1"/>
          <p:nvPr/>
        </p:nvSpPr>
        <p:spPr>
          <a:xfrm>
            <a:off x="3175688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2374" name="Google Shape;2374;p79"/>
          <p:cNvCxnSpPr/>
          <p:nvPr/>
        </p:nvCxnSpPr>
        <p:spPr>
          <a:xfrm>
            <a:off x="2987275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5" name="Google Shape;2375;p79"/>
          <p:cNvSpPr/>
          <p:nvPr/>
        </p:nvSpPr>
        <p:spPr>
          <a:xfrm>
            <a:off x="2082338" y="29496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6" name="Google Shape;2376;p79"/>
          <p:cNvSpPr txBox="1"/>
          <p:nvPr/>
        </p:nvSpPr>
        <p:spPr>
          <a:xfrm>
            <a:off x="2072881" y="297462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>
                <a:solidFill>
                  <a:schemeClr val="dk1"/>
                </a:solidFill>
              </a:rPr>
              <a:t>1...</a:t>
            </a:r>
            <a:endParaRPr/>
          </a:p>
        </p:txBody>
      </p:sp>
      <p:sp>
        <p:nvSpPr>
          <p:cNvPr id="2377" name="Google Shape;2377;p79"/>
          <p:cNvSpPr/>
          <p:nvPr/>
        </p:nvSpPr>
        <p:spPr>
          <a:xfrm>
            <a:off x="404071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8" name="Google Shape;2378;p79"/>
          <p:cNvSpPr/>
          <p:nvPr/>
        </p:nvSpPr>
        <p:spPr>
          <a:xfrm>
            <a:off x="404435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79" name="Google Shape;2379;p79"/>
          <p:cNvCxnSpPr/>
          <p:nvPr/>
        </p:nvCxnSpPr>
        <p:spPr>
          <a:xfrm rot="10800000">
            <a:off x="428976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0" name="Google Shape;2380;p79"/>
          <p:cNvSpPr txBox="1"/>
          <p:nvPr/>
        </p:nvSpPr>
        <p:spPr>
          <a:xfrm>
            <a:off x="403107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sp>
        <p:nvSpPr>
          <p:cNvPr id="2381" name="Google Shape;2381;p79"/>
          <p:cNvSpPr txBox="1"/>
          <p:nvPr/>
        </p:nvSpPr>
        <p:spPr>
          <a:xfrm>
            <a:off x="4027438" y="3902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2382" name="Google Shape;2382;p79"/>
          <p:cNvCxnSpPr/>
          <p:nvPr/>
        </p:nvCxnSpPr>
        <p:spPr>
          <a:xfrm>
            <a:off x="3664225" y="31869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3" name="Google Shape;2383;p79"/>
          <p:cNvSpPr/>
          <p:nvPr/>
        </p:nvSpPr>
        <p:spPr>
          <a:xfrm>
            <a:off x="4896323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4" name="Google Shape;2384;p79"/>
          <p:cNvSpPr/>
          <p:nvPr/>
        </p:nvSpPr>
        <p:spPr>
          <a:xfrm>
            <a:off x="4892463" y="38983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5" name="Google Shape;2385;p79"/>
          <p:cNvSpPr/>
          <p:nvPr/>
        </p:nvSpPr>
        <p:spPr>
          <a:xfrm>
            <a:off x="4896100" y="29374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86" name="Google Shape;2386;p79"/>
          <p:cNvCxnSpPr/>
          <p:nvPr/>
        </p:nvCxnSpPr>
        <p:spPr>
          <a:xfrm rot="10800000">
            <a:off x="5141514" y="34053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7" name="Google Shape;2387;p79"/>
          <p:cNvCxnSpPr>
            <a:stCxn id="2385" idx="0"/>
            <a:endCxn id="2383" idx="4"/>
          </p:cNvCxnSpPr>
          <p:nvPr/>
        </p:nvCxnSpPr>
        <p:spPr>
          <a:xfrm flipH="1" rot="10800000">
            <a:off x="5130100" y="2678200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8" name="Google Shape;2388;p79"/>
          <p:cNvSpPr txBox="1"/>
          <p:nvPr/>
        </p:nvSpPr>
        <p:spPr>
          <a:xfrm>
            <a:off x="4882825" y="293662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2389" name="Google Shape;2389;p79"/>
          <p:cNvSpPr txBox="1"/>
          <p:nvPr/>
        </p:nvSpPr>
        <p:spPr>
          <a:xfrm>
            <a:off x="4883048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2390" name="Google Shape;2390;p79"/>
          <p:cNvCxnSpPr/>
          <p:nvPr/>
        </p:nvCxnSpPr>
        <p:spPr>
          <a:xfrm>
            <a:off x="4515975" y="317140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91" name="Google Shape;2391;p79"/>
          <p:cNvSpPr txBox="1"/>
          <p:nvPr/>
        </p:nvSpPr>
        <p:spPr>
          <a:xfrm>
            <a:off x="30509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392" name="Google Shape;2392;p79"/>
          <p:cNvSpPr txBox="1"/>
          <p:nvPr/>
        </p:nvSpPr>
        <p:spPr>
          <a:xfrm>
            <a:off x="3913000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comer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393" name="Google Shape;2393;p79"/>
          <p:cNvSpPr txBox="1"/>
          <p:nvPr/>
        </p:nvSpPr>
        <p:spPr>
          <a:xfrm>
            <a:off x="477502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394" name="Google Shape;2394;p79"/>
          <p:cNvSpPr/>
          <p:nvPr/>
        </p:nvSpPr>
        <p:spPr>
          <a:xfrm>
            <a:off x="1526475" y="3073025"/>
            <a:ext cx="4740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95" name="Google Shape;2395;p79"/>
          <p:cNvCxnSpPr>
            <a:stCxn id="2383" idx="0"/>
            <a:endCxn id="2396" idx="4"/>
          </p:cNvCxnSpPr>
          <p:nvPr/>
        </p:nvCxnSpPr>
        <p:spPr>
          <a:xfrm rot="10800000">
            <a:off x="5128223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97" name="Google Shape;2397;p79"/>
          <p:cNvSpPr txBox="1"/>
          <p:nvPr/>
        </p:nvSpPr>
        <p:spPr>
          <a:xfrm>
            <a:off x="4813486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79"/>
          <p:cNvSpPr txBox="1"/>
          <p:nvPr/>
        </p:nvSpPr>
        <p:spPr>
          <a:xfrm>
            <a:off x="4714280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79"/>
          <p:cNvSpPr/>
          <p:nvPr/>
        </p:nvSpPr>
        <p:spPr>
          <a:xfrm>
            <a:off x="4894149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79"/>
          <p:cNvSpPr txBox="1"/>
          <p:nvPr/>
        </p:nvSpPr>
        <p:spPr>
          <a:xfrm>
            <a:off x="4896395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2400" name="Google Shape;2400;p79"/>
          <p:cNvSpPr txBox="1"/>
          <p:nvPr>
            <p:ph type="title"/>
          </p:nvPr>
        </p:nvSpPr>
        <p:spPr>
          <a:xfrm>
            <a:off x="726114" y="402582"/>
            <a:ext cx="7556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Entrenamiento: Backpropagation</a:t>
            </a:r>
            <a:endParaRPr/>
          </a:p>
        </p:txBody>
      </p:sp>
      <p:cxnSp>
        <p:nvCxnSpPr>
          <p:cNvPr id="2401" name="Google Shape;2401;p79"/>
          <p:cNvCxnSpPr/>
          <p:nvPr/>
        </p:nvCxnSpPr>
        <p:spPr>
          <a:xfrm>
            <a:off x="2565794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02" name="Google Shape;2402;p79"/>
          <p:cNvSpPr txBox="1"/>
          <p:nvPr/>
        </p:nvSpPr>
        <p:spPr>
          <a:xfrm>
            <a:off x="2718200" y="2930125"/>
            <a:ext cx="5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...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3" name="Google Shape;2403;p79"/>
          <p:cNvSpPr/>
          <p:nvPr/>
        </p:nvSpPr>
        <p:spPr>
          <a:xfrm>
            <a:off x="2088806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04" name="Google Shape;2404;p79"/>
          <p:cNvCxnSpPr/>
          <p:nvPr/>
        </p:nvCxnSpPr>
        <p:spPr>
          <a:xfrm rot="10800000">
            <a:off x="2337858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05" name="Google Shape;2405;p79"/>
          <p:cNvSpPr txBox="1"/>
          <p:nvPr/>
        </p:nvSpPr>
        <p:spPr>
          <a:xfrm>
            <a:off x="2075531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2406" name="Google Shape;2406;p79"/>
          <p:cNvSpPr txBox="1"/>
          <p:nvPr/>
        </p:nvSpPr>
        <p:spPr>
          <a:xfrm>
            <a:off x="1759803" y="4424950"/>
            <a:ext cx="1148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darle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407" name="Google Shape;2407;p79"/>
          <p:cNvSpPr txBox="1"/>
          <p:nvPr/>
        </p:nvSpPr>
        <p:spPr>
          <a:xfrm>
            <a:off x="620993" y="2556625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08" name="Google Shape;2408;p79"/>
          <p:cNvSpPr txBox="1"/>
          <p:nvPr/>
        </p:nvSpPr>
        <p:spPr>
          <a:xfrm>
            <a:off x="1095900" y="302860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09" name="Google Shape;2409;p79"/>
          <p:cNvSpPr txBox="1"/>
          <p:nvPr/>
        </p:nvSpPr>
        <p:spPr>
          <a:xfrm>
            <a:off x="643382" y="3490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410" name="Google Shape;2410;p79"/>
          <p:cNvCxnSpPr/>
          <p:nvPr/>
        </p:nvCxnSpPr>
        <p:spPr>
          <a:xfrm flipH="1">
            <a:off x="5128149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11" name="Google Shape;2411;p79"/>
          <p:cNvSpPr txBox="1"/>
          <p:nvPr/>
        </p:nvSpPr>
        <p:spPr>
          <a:xfrm>
            <a:off x="4813486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2" name="Google Shape;2412;p79"/>
          <p:cNvSpPr txBox="1"/>
          <p:nvPr/>
        </p:nvSpPr>
        <p:spPr>
          <a:xfrm>
            <a:off x="4714280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3" name="Google Shape;2413;p79"/>
          <p:cNvSpPr/>
          <p:nvPr/>
        </p:nvSpPr>
        <p:spPr>
          <a:xfrm>
            <a:off x="4894149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4" name="Google Shape;2414;p79"/>
          <p:cNvSpPr txBox="1"/>
          <p:nvPr/>
        </p:nvSpPr>
        <p:spPr>
          <a:xfrm>
            <a:off x="4896395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\mathcal{L_i}=- \sum_{w \in V} y^w_i \log(\hat{y}^w_i)" id="2415" name="Google Shape;2415;p79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026" y="990625"/>
            <a:ext cx="2149638" cy="24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16" name="Google Shape;2416;p79"/>
          <p:cNvCxnSpPr/>
          <p:nvPr/>
        </p:nvCxnSpPr>
        <p:spPr>
          <a:xfrm>
            <a:off x="47052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7" name="Google Shape;2417;p79"/>
          <p:cNvCxnSpPr/>
          <p:nvPr/>
        </p:nvCxnSpPr>
        <p:spPr>
          <a:xfrm>
            <a:off x="46628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8" name="Google Shape;2418;p79"/>
          <p:cNvCxnSpPr/>
          <p:nvPr/>
        </p:nvCxnSpPr>
        <p:spPr>
          <a:xfrm>
            <a:off x="38246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9" name="Google Shape;2419;p79"/>
          <p:cNvCxnSpPr/>
          <p:nvPr/>
        </p:nvCxnSpPr>
        <p:spPr>
          <a:xfrm>
            <a:off x="28340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20" name="Google Shape;2420;p79"/>
          <p:cNvSpPr txBox="1"/>
          <p:nvPr/>
        </p:nvSpPr>
        <p:spPr>
          <a:xfrm>
            <a:off x="6766625" y="1909719"/>
            <a:ext cx="1690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F00FF"/>
                </a:solidFill>
              </a:rPr>
              <a:t>Backpropagation through time</a:t>
            </a:r>
            <a:endParaRPr b="1">
              <a:solidFill>
                <a:srgbClr val="FF00FF"/>
              </a:solidFill>
            </a:endParaRPr>
          </a:p>
        </p:txBody>
      </p:sp>
      <p:pic>
        <p:nvPicPr>
          <p:cNvPr descr="\mathcal{L}= \sum_{i} \mathcal{L_i}" id="2421" name="Google Shape;2421;p79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4512" y="1316725"/>
            <a:ext cx="95399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2" name="Google Shape;2422;p79"/>
          <p:cNvSpPr txBox="1"/>
          <p:nvPr/>
        </p:nvSpPr>
        <p:spPr>
          <a:xfrm>
            <a:off x="2850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23" name="Google Shape;2423;p79"/>
          <p:cNvSpPr txBox="1"/>
          <p:nvPr/>
        </p:nvSpPr>
        <p:spPr>
          <a:xfrm>
            <a:off x="3612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24" name="Google Shape;2424;p79"/>
          <p:cNvSpPr txBox="1"/>
          <p:nvPr/>
        </p:nvSpPr>
        <p:spPr>
          <a:xfrm>
            <a:off x="4500081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25" name="Google Shape;2425;p79"/>
          <p:cNvSpPr txBox="1"/>
          <p:nvPr/>
        </p:nvSpPr>
        <p:spPr>
          <a:xfrm>
            <a:off x="2469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26" name="Google Shape;2426;p79"/>
          <p:cNvSpPr txBox="1"/>
          <p:nvPr/>
        </p:nvSpPr>
        <p:spPr>
          <a:xfrm>
            <a:off x="6080825" y="3738525"/>
            <a:ext cx="29784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Pero la activación en h</a:t>
            </a:r>
            <a:r>
              <a:rPr b="1" baseline="-25000" lang="es-419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b="1" lang="es-419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 depende de la activación en h</a:t>
            </a:r>
            <a:r>
              <a:rPr b="1" baseline="-25000" lang="es-419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t-1</a:t>
            </a:r>
            <a:r>
              <a:rPr b="1" lang="es-419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, que también depende de W!</a:t>
            </a:r>
            <a:endParaRPr b="1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27" name="Google Shape;2427;p79"/>
          <p:cNvSpPr txBox="1"/>
          <p:nvPr/>
        </p:nvSpPr>
        <p:spPr>
          <a:xfrm>
            <a:off x="246975" y="-148275"/>
            <a:ext cx="4042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\frac{\partial \mathcal{L}_t(\theta)}{\partial W} = &#10;\frac{\partial \mathcal{L}_t(\theta)}{\partial h_t}&#10;\frac{\partial h_t}{\partial W}&#10;" id="2428" name="Google Shape;2428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6350" y="2668438"/>
            <a:ext cx="2838450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2" name="Shape 2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3" name="Google Shape;2433;p80"/>
          <p:cNvSpPr txBox="1"/>
          <p:nvPr/>
        </p:nvSpPr>
        <p:spPr>
          <a:xfrm>
            <a:off x="4879188" y="3900344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2434" name="Google Shape;2434;p80"/>
          <p:cNvSpPr/>
          <p:nvPr/>
        </p:nvSpPr>
        <p:spPr>
          <a:xfrm>
            <a:off x="467588" y="3833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0"/>
          <p:cNvSpPr/>
          <p:nvPr/>
        </p:nvSpPr>
        <p:spPr>
          <a:xfrm>
            <a:off x="471225" y="28726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6" name="Google Shape;2436;p80"/>
          <p:cNvSpPr/>
          <p:nvPr/>
        </p:nvSpPr>
        <p:spPr>
          <a:xfrm flipH="1">
            <a:off x="769680" y="2831798"/>
            <a:ext cx="706200" cy="679200"/>
          </a:xfrm>
          <a:prstGeom prst="arc">
            <a:avLst>
              <a:gd fmla="val 2258622" name="adj1"/>
              <a:gd fmla="val 18013119" name="adj2"/>
            </a:avLst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2437" name="Google Shape;2437;p80"/>
          <p:cNvCxnSpPr/>
          <p:nvPr/>
        </p:nvCxnSpPr>
        <p:spPr>
          <a:xfrm rot="10800000">
            <a:off x="716639" y="33405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8" name="Google Shape;2438;p80"/>
          <p:cNvCxnSpPr>
            <a:stCxn id="2435" idx="0"/>
          </p:cNvCxnSpPr>
          <p:nvPr/>
        </p:nvCxnSpPr>
        <p:spPr>
          <a:xfrm rot="10800000">
            <a:off x="705225" y="24346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39" name="Google Shape;2439;p80"/>
          <p:cNvSpPr txBox="1"/>
          <p:nvPr/>
        </p:nvSpPr>
        <p:spPr>
          <a:xfrm>
            <a:off x="457950" y="28318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2440" name="Google Shape;2440;p80"/>
          <p:cNvSpPr txBox="1"/>
          <p:nvPr/>
        </p:nvSpPr>
        <p:spPr>
          <a:xfrm>
            <a:off x="454313" y="3792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2441" name="Google Shape;2441;p80"/>
          <p:cNvSpPr txBox="1"/>
          <p:nvPr/>
        </p:nvSpPr>
        <p:spPr>
          <a:xfrm>
            <a:off x="476000" y="1911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2442" name="Google Shape;2442;p80"/>
          <p:cNvSpPr/>
          <p:nvPr/>
        </p:nvSpPr>
        <p:spPr>
          <a:xfrm>
            <a:off x="489275" y="1952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3" name="Google Shape;2443;p80"/>
          <p:cNvSpPr/>
          <p:nvPr/>
        </p:nvSpPr>
        <p:spPr>
          <a:xfrm>
            <a:off x="31889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4" name="Google Shape;2444;p80"/>
          <p:cNvSpPr/>
          <p:nvPr/>
        </p:nvSpPr>
        <p:spPr>
          <a:xfrm>
            <a:off x="31926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45" name="Google Shape;2445;p80"/>
          <p:cNvCxnSpPr/>
          <p:nvPr/>
        </p:nvCxnSpPr>
        <p:spPr>
          <a:xfrm rot="10800000">
            <a:off x="34380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46" name="Google Shape;2446;p80"/>
          <p:cNvSpPr txBox="1"/>
          <p:nvPr/>
        </p:nvSpPr>
        <p:spPr>
          <a:xfrm>
            <a:off x="317932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2447" name="Google Shape;2447;p80"/>
          <p:cNvSpPr txBox="1"/>
          <p:nvPr/>
        </p:nvSpPr>
        <p:spPr>
          <a:xfrm>
            <a:off x="3175688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2448" name="Google Shape;2448;p80"/>
          <p:cNvCxnSpPr/>
          <p:nvPr/>
        </p:nvCxnSpPr>
        <p:spPr>
          <a:xfrm>
            <a:off x="2987275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49" name="Google Shape;2449;p80"/>
          <p:cNvSpPr/>
          <p:nvPr/>
        </p:nvSpPr>
        <p:spPr>
          <a:xfrm>
            <a:off x="2082338" y="29496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0" name="Google Shape;2450;p80"/>
          <p:cNvSpPr txBox="1"/>
          <p:nvPr/>
        </p:nvSpPr>
        <p:spPr>
          <a:xfrm>
            <a:off x="2072881" y="297462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>
                <a:solidFill>
                  <a:schemeClr val="dk1"/>
                </a:solidFill>
              </a:rPr>
              <a:t>1...</a:t>
            </a:r>
            <a:endParaRPr/>
          </a:p>
        </p:txBody>
      </p:sp>
      <p:sp>
        <p:nvSpPr>
          <p:cNvPr id="2451" name="Google Shape;2451;p80"/>
          <p:cNvSpPr/>
          <p:nvPr/>
        </p:nvSpPr>
        <p:spPr>
          <a:xfrm>
            <a:off x="404071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2" name="Google Shape;2452;p80"/>
          <p:cNvSpPr/>
          <p:nvPr/>
        </p:nvSpPr>
        <p:spPr>
          <a:xfrm>
            <a:off x="404435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53" name="Google Shape;2453;p80"/>
          <p:cNvCxnSpPr/>
          <p:nvPr/>
        </p:nvCxnSpPr>
        <p:spPr>
          <a:xfrm rot="10800000">
            <a:off x="428976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54" name="Google Shape;2454;p80"/>
          <p:cNvSpPr txBox="1"/>
          <p:nvPr/>
        </p:nvSpPr>
        <p:spPr>
          <a:xfrm>
            <a:off x="403107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sp>
        <p:nvSpPr>
          <p:cNvPr id="2455" name="Google Shape;2455;p80"/>
          <p:cNvSpPr txBox="1"/>
          <p:nvPr/>
        </p:nvSpPr>
        <p:spPr>
          <a:xfrm>
            <a:off x="4027438" y="3902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2456" name="Google Shape;2456;p80"/>
          <p:cNvCxnSpPr/>
          <p:nvPr/>
        </p:nvCxnSpPr>
        <p:spPr>
          <a:xfrm>
            <a:off x="3664225" y="31869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57" name="Google Shape;2457;p80"/>
          <p:cNvSpPr/>
          <p:nvPr/>
        </p:nvSpPr>
        <p:spPr>
          <a:xfrm>
            <a:off x="4896323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8" name="Google Shape;2458;p80"/>
          <p:cNvSpPr/>
          <p:nvPr/>
        </p:nvSpPr>
        <p:spPr>
          <a:xfrm>
            <a:off x="4892463" y="38983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9" name="Google Shape;2459;p80"/>
          <p:cNvSpPr/>
          <p:nvPr/>
        </p:nvSpPr>
        <p:spPr>
          <a:xfrm>
            <a:off x="4896100" y="29374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60" name="Google Shape;2460;p80"/>
          <p:cNvCxnSpPr/>
          <p:nvPr/>
        </p:nvCxnSpPr>
        <p:spPr>
          <a:xfrm rot="10800000">
            <a:off x="5141514" y="34053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1" name="Google Shape;2461;p80"/>
          <p:cNvCxnSpPr>
            <a:stCxn id="2459" idx="0"/>
            <a:endCxn id="2457" idx="4"/>
          </p:cNvCxnSpPr>
          <p:nvPr/>
        </p:nvCxnSpPr>
        <p:spPr>
          <a:xfrm flipH="1" rot="10800000">
            <a:off x="5130100" y="2678200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62" name="Google Shape;2462;p80"/>
          <p:cNvSpPr txBox="1"/>
          <p:nvPr/>
        </p:nvSpPr>
        <p:spPr>
          <a:xfrm>
            <a:off x="4882825" y="293662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2463" name="Google Shape;2463;p80"/>
          <p:cNvSpPr txBox="1"/>
          <p:nvPr/>
        </p:nvSpPr>
        <p:spPr>
          <a:xfrm>
            <a:off x="4883048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2464" name="Google Shape;2464;p80"/>
          <p:cNvCxnSpPr/>
          <p:nvPr/>
        </p:nvCxnSpPr>
        <p:spPr>
          <a:xfrm>
            <a:off x="4515975" y="317140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65" name="Google Shape;2465;p80"/>
          <p:cNvSpPr txBox="1"/>
          <p:nvPr/>
        </p:nvSpPr>
        <p:spPr>
          <a:xfrm>
            <a:off x="30509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466" name="Google Shape;2466;p80"/>
          <p:cNvSpPr txBox="1"/>
          <p:nvPr/>
        </p:nvSpPr>
        <p:spPr>
          <a:xfrm>
            <a:off x="3913000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comer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467" name="Google Shape;2467;p80"/>
          <p:cNvSpPr txBox="1"/>
          <p:nvPr/>
        </p:nvSpPr>
        <p:spPr>
          <a:xfrm>
            <a:off x="477502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468" name="Google Shape;2468;p80"/>
          <p:cNvSpPr/>
          <p:nvPr/>
        </p:nvSpPr>
        <p:spPr>
          <a:xfrm>
            <a:off x="1526475" y="3073025"/>
            <a:ext cx="4740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69" name="Google Shape;2469;p80"/>
          <p:cNvCxnSpPr>
            <a:stCxn id="2457" idx="0"/>
            <a:endCxn id="2470" idx="4"/>
          </p:cNvCxnSpPr>
          <p:nvPr/>
        </p:nvCxnSpPr>
        <p:spPr>
          <a:xfrm rot="10800000">
            <a:off x="5128223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71" name="Google Shape;2471;p80"/>
          <p:cNvSpPr txBox="1"/>
          <p:nvPr/>
        </p:nvSpPr>
        <p:spPr>
          <a:xfrm>
            <a:off x="4813486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2" name="Google Shape;2472;p80"/>
          <p:cNvSpPr txBox="1"/>
          <p:nvPr/>
        </p:nvSpPr>
        <p:spPr>
          <a:xfrm>
            <a:off x="4714280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0" name="Google Shape;2470;p80"/>
          <p:cNvSpPr/>
          <p:nvPr/>
        </p:nvSpPr>
        <p:spPr>
          <a:xfrm>
            <a:off x="4894149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3" name="Google Shape;2473;p80"/>
          <p:cNvSpPr txBox="1"/>
          <p:nvPr/>
        </p:nvSpPr>
        <p:spPr>
          <a:xfrm>
            <a:off x="4896395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2474" name="Google Shape;2474;p80"/>
          <p:cNvSpPr txBox="1"/>
          <p:nvPr>
            <p:ph type="title"/>
          </p:nvPr>
        </p:nvSpPr>
        <p:spPr>
          <a:xfrm>
            <a:off x="726114" y="402582"/>
            <a:ext cx="7556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Entrenamiento: Backpropagation</a:t>
            </a:r>
            <a:endParaRPr/>
          </a:p>
        </p:txBody>
      </p:sp>
      <p:cxnSp>
        <p:nvCxnSpPr>
          <p:cNvPr id="2475" name="Google Shape;2475;p80"/>
          <p:cNvCxnSpPr/>
          <p:nvPr/>
        </p:nvCxnSpPr>
        <p:spPr>
          <a:xfrm>
            <a:off x="2565794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76" name="Google Shape;2476;p80"/>
          <p:cNvSpPr txBox="1"/>
          <p:nvPr/>
        </p:nvSpPr>
        <p:spPr>
          <a:xfrm>
            <a:off x="2718200" y="2930125"/>
            <a:ext cx="5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...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7" name="Google Shape;2477;p80"/>
          <p:cNvSpPr/>
          <p:nvPr/>
        </p:nvSpPr>
        <p:spPr>
          <a:xfrm>
            <a:off x="2088806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8" name="Google Shape;2478;p80"/>
          <p:cNvCxnSpPr/>
          <p:nvPr/>
        </p:nvCxnSpPr>
        <p:spPr>
          <a:xfrm rot="10800000">
            <a:off x="2337858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79" name="Google Shape;2479;p80"/>
          <p:cNvSpPr txBox="1"/>
          <p:nvPr/>
        </p:nvSpPr>
        <p:spPr>
          <a:xfrm>
            <a:off x="2075531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2480" name="Google Shape;2480;p80"/>
          <p:cNvSpPr txBox="1"/>
          <p:nvPr/>
        </p:nvSpPr>
        <p:spPr>
          <a:xfrm>
            <a:off x="1759803" y="4424950"/>
            <a:ext cx="1148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darle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481" name="Google Shape;2481;p80"/>
          <p:cNvSpPr txBox="1"/>
          <p:nvPr/>
        </p:nvSpPr>
        <p:spPr>
          <a:xfrm>
            <a:off x="620993" y="2556625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82" name="Google Shape;2482;p80"/>
          <p:cNvSpPr txBox="1"/>
          <p:nvPr/>
        </p:nvSpPr>
        <p:spPr>
          <a:xfrm>
            <a:off x="1095900" y="302860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83" name="Google Shape;2483;p80"/>
          <p:cNvSpPr txBox="1"/>
          <p:nvPr/>
        </p:nvSpPr>
        <p:spPr>
          <a:xfrm>
            <a:off x="643382" y="3490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484" name="Google Shape;2484;p80"/>
          <p:cNvCxnSpPr/>
          <p:nvPr/>
        </p:nvCxnSpPr>
        <p:spPr>
          <a:xfrm flipH="1">
            <a:off x="5128149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85" name="Google Shape;2485;p80"/>
          <p:cNvSpPr txBox="1"/>
          <p:nvPr/>
        </p:nvSpPr>
        <p:spPr>
          <a:xfrm>
            <a:off x="4813486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6" name="Google Shape;2486;p80"/>
          <p:cNvSpPr txBox="1"/>
          <p:nvPr/>
        </p:nvSpPr>
        <p:spPr>
          <a:xfrm>
            <a:off x="4714280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7" name="Google Shape;2487;p80"/>
          <p:cNvSpPr/>
          <p:nvPr/>
        </p:nvSpPr>
        <p:spPr>
          <a:xfrm>
            <a:off x="4894149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p80"/>
          <p:cNvSpPr txBox="1"/>
          <p:nvPr/>
        </p:nvSpPr>
        <p:spPr>
          <a:xfrm>
            <a:off x="4896395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\mathcal{L_i}=- \sum_{w \in V} y^w_i \log(\hat{y}^w_i)" id="2489" name="Google Shape;2489;p80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026" y="990625"/>
            <a:ext cx="2149638" cy="24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0" name="Google Shape;2490;p80"/>
          <p:cNvCxnSpPr/>
          <p:nvPr/>
        </p:nvCxnSpPr>
        <p:spPr>
          <a:xfrm>
            <a:off x="47052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1" name="Google Shape;2491;p80"/>
          <p:cNvCxnSpPr/>
          <p:nvPr/>
        </p:nvCxnSpPr>
        <p:spPr>
          <a:xfrm>
            <a:off x="46628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2" name="Google Shape;2492;p80"/>
          <p:cNvCxnSpPr/>
          <p:nvPr/>
        </p:nvCxnSpPr>
        <p:spPr>
          <a:xfrm>
            <a:off x="38246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3" name="Google Shape;2493;p80"/>
          <p:cNvCxnSpPr/>
          <p:nvPr/>
        </p:nvCxnSpPr>
        <p:spPr>
          <a:xfrm>
            <a:off x="28340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94" name="Google Shape;2494;p80"/>
          <p:cNvSpPr txBox="1"/>
          <p:nvPr/>
        </p:nvSpPr>
        <p:spPr>
          <a:xfrm>
            <a:off x="6766625" y="1909719"/>
            <a:ext cx="1690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F00FF"/>
                </a:solidFill>
              </a:rPr>
              <a:t>Backpropagation through time</a:t>
            </a:r>
            <a:endParaRPr b="1">
              <a:solidFill>
                <a:srgbClr val="FF00FF"/>
              </a:solidFill>
            </a:endParaRPr>
          </a:p>
        </p:txBody>
      </p:sp>
      <p:pic>
        <p:nvPicPr>
          <p:cNvPr descr="\mathcal{L}= \sum_{i} \mathcal{L_i}" id="2495" name="Google Shape;2495;p80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4512" y="1316725"/>
            <a:ext cx="95399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6" name="Google Shape;2496;p80"/>
          <p:cNvSpPr txBox="1"/>
          <p:nvPr/>
        </p:nvSpPr>
        <p:spPr>
          <a:xfrm>
            <a:off x="2850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97" name="Google Shape;2497;p80"/>
          <p:cNvSpPr txBox="1"/>
          <p:nvPr/>
        </p:nvSpPr>
        <p:spPr>
          <a:xfrm>
            <a:off x="3612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98" name="Google Shape;2498;p80"/>
          <p:cNvSpPr txBox="1"/>
          <p:nvPr/>
        </p:nvSpPr>
        <p:spPr>
          <a:xfrm>
            <a:off x="4500081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99" name="Google Shape;2499;p80"/>
          <p:cNvSpPr txBox="1"/>
          <p:nvPr/>
        </p:nvSpPr>
        <p:spPr>
          <a:xfrm>
            <a:off x="2469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00" name="Google Shape;2500;p80"/>
          <p:cNvSpPr txBox="1"/>
          <p:nvPr/>
        </p:nvSpPr>
        <p:spPr>
          <a:xfrm>
            <a:off x="246975" y="-148275"/>
            <a:ext cx="4042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\frac{\partial \mathcal{L}_t (\theta)}{\partial W} = \frac{\partial \mathcal{L}_t (\theta)}{\partial h_t} \sum_{k=1}^{t} \frac{\partial h_t}{\partial h_k} \frac{\partial ^+ h_k}{\partial W}" id="2501" name="Google Shape;2501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96023" y="2653515"/>
            <a:ext cx="3238251" cy="783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5" name="Shape 2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6" name="Google Shape;2506;p81"/>
          <p:cNvSpPr txBox="1"/>
          <p:nvPr/>
        </p:nvSpPr>
        <p:spPr>
          <a:xfrm>
            <a:off x="4879188" y="3900344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2507" name="Google Shape;2507;p81"/>
          <p:cNvSpPr/>
          <p:nvPr/>
        </p:nvSpPr>
        <p:spPr>
          <a:xfrm>
            <a:off x="467588" y="3833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8" name="Google Shape;2508;p81"/>
          <p:cNvSpPr/>
          <p:nvPr/>
        </p:nvSpPr>
        <p:spPr>
          <a:xfrm>
            <a:off x="471225" y="28726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9" name="Google Shape;2509;p81"/>
          <p:cNvSpPr/>
          <p:nvPr/>
        </p:nvSpPr>
        <p:spPr>
          <a:xfrm flipH="1">
            <a:off x="769680" y="2831798"/>
            <a:ext cx="706200" cy="679200"/>
          </a:xfrm>
          <a:prstGeom prst="arc">
            <a:avLst>
              <a:gd fmla="val 2258622" name="adj1"/>
              <a:gd fmla="val 18013119" name="adj2"/>
            </a:avLst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2510" name="Google Shape;2510;p81"/>
          <p:cNvCxnSpPr/>
          <p:nvPr/>
        </p:nvCxnSpPr>
        <p:spPr>
          <a:xfrm rot="10800000">
            <a:off x="716639" y="33405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1" name="Google Shape;2511;p81"/>
          <p:cNvCxnSpPr>
            <a:stCxn id="2508" idx="0"/>
          </p:cNvCxnSpPr>
          <p:nvPr/>
        </p:nvCxnSpPr>
        <p:spPr>
          <a:xfrm rot="10800000">
            <a:off x="705225" y="24346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12" name="Google Shape;2512;p81"/>
          <p:cNvSpPr txBox="1"/>
          <p:nvPr/>
        </p:nvSpPr>
        <p:spPr>
          <a:xfrm>
            <a:off x="457950" y="28318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2513" name="Google Shape;2513;p81"/>
          <p:cNvSpPr txBox="1"/>
          <p:nvPr/>
        </p:nvSpPr>
        <p:spPr>
          <a:xfrm>
            <a:off x="454313" y="3792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2514" name="Google Shape;2514;p81"/>
          <p:cNvSpPr txBox="1"/>
          <p:nvPr/>
        </p:nvSpPr>
        <p:spPr>
          <a:xfrm>
            <a:off x="476000" y="1911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2515" name="Google Shape;2515;p81"/>
          <p:cNvSpPr/>
          <p:nvPr/>
        </p:nvSpPr>
        <p:spPr>
          <a:xfrm>
            <a:off x="489275" y="1952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6" name="Google Shape;2516;p81"/>
          <p:cNvSpPr/>
          <p:nvPr/>
        </p:nvSpPr>
        <p:spPr>
          <a:xfrm>
            <a:off x="31889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7" name="Google Shape;2517;p81"/>
          <p:cNvSpPr/>
          <p:nvPr/>
        </p:nvSpPr>
        <p:spPr>
          <a:xfrm>
            <a:off x="31926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18" name="Google Shape;2518;p81"/>
          <p:cNvCxnSpPr/>
          <p:nvPr/>
        </p:nvCxnSpPr>
        <p:spPr>
          <a:xfrm rot="10800000">
            <a:off x="34380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19" name="Google Shape;2519;p81"/>
          <p:cNvSpPr txBox="1"/>
          <p:nvPr/>
        </p:nvSpPr>
        <p:spPr>
          <a:xfrm>
            <a:off x="317932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2520" name="Google Shape;2520;p81"/>
          <p:cNvSpPr txBox="1"/>
          <p:nvPr/>
        </p:nvSpPr>
        <p:spPr>
          <a:xfrm>
            <a:off x="3175688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2521" name="Google Shape;2521;p81"/>
          <p:cNvCxnSpPr/>
          <p:nvPr/>
        </p:nvCxnSpPr>
        <p:spPr>
          <a:xfrm>
            <a:off x="2987275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22" name="Google Shape;2522;p81"/>
          <p:cNvSpPr/>
          <p:nvPr/>
        </p:nvSpPr>
        <p:spPr>
          <a:xfrm>
            <a:off x="2082338" y="29496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3" name="Google Shape;2523;p81"/>
          <p:cNvSpPr txBox="1"/>
          <p:nvPr/>
        </p:nvSpPr>
        <p:spPr>
          <a:xfrm>
            <a:off x="2072881" y="297462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>
                <a:solidFill>
                  <a:schemeClr val="dk1"/>
                </a:solidFill>
              </a:rPr>
              <a:t>1...</a:t>
            </a:r>
            <a:endParaRPr/>
          </a:p>
        </p:txBody>
      </p:sp>
      <p:sp>
        <p:nvSpPr>
          <p:cNvPr id="2524" name="Google Shape;2524;p81"/>
          <p:cNvSpPr/>
          <p:nvPr/>
        </p:nvSpPr>
        <p:spPr>
          <a:xfrm>
            <a:off x="404071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5" name="Google Shape;2525;p81"/>
          <p:cNvSpPr/>
          <p:nvPr/>
        </p:nvSpPr>
        <p:spPr>
          <a:xfrm>
            <a:off x="404435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26" name="Google Shape;2526;p81"/>
          <p:cNvCxnSpPr/>
          <p:nvPr/>
        </p:nvCxnSpPr>
        <p:spPr>
          <a:xfrm rot="10800000">
            <a:off x="428976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27" name="Google Shape;2527;p81"/>
          <p:cNvSpPr txBox="1"/>
          <p:nvPr/>
        </p:nvSpPr>
        <p:spPr>
          <a:xfrm>
            <a:off x="403107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sp>
        <p:nvSpPr>
          <p:cNvPr id="2528" name="Google Shape;2528;p81"/>
          <p:cNvSpPr txBox="1"/>
          <p:nvPr/>
        </p:nvSpPr>
        <p:spPr>
          <a:xfrm>
            <a:off x="4027438" y="3902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2529" name="Google Shape;2529;p81"/>
          <p:cNvCxnSpPr/>
          <p:nvPr/>
        </p:nvCxnSpPr>
        <p:spPr>
          <a:xfrm>
            <a:off x="3664225" y="31869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30" name="Google Shape;2530;p81"/>
          <p:cNvSpPr/>
          <p:nvPr/>
        </p:nvSpPr>
        <p:spPr>
          <a:xfrm>
            <a:off x="4892463" y="38983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1" name="Google Shape;2531;p81"/>
          <p:cNvSpPr/>
          <p:nvPr/>
        </p:nvSpPr>
        <p:spPr>
          <a:xfrm>
            <a:off x="4896100" y="29374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32" name="Google Shape;2532;p81"/>
          <p:cNvCxnSpPr/>
          <p:nvPr/>
        </p:nvCxnSpPr>
        <p:spPr>
          <a:xfrm rot="10800000">
            <a:off x="5141514" y="34053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3" name="Google Shape;2533;p81"/>
          <p:cNvCxnSpPr>
            <a:stCxn id="2531" idx="0"/>
            <a:endCxn id="2534" idx="4"/>
          </p:cNvCxnSpPr>
          <p:nvPr/>
        </p:nvCxnSpPr>
        <p:spPr>
          <a:xfrm flipH="1" rot="10800000">
            <a:off x="5130100" y="2678200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35" name="Google Shape;2535;p81"/>
          <p:cNvSpPr txBox="1"/>
          <p:nvPr/>
        </p:nvSpPr>
        <p:spPr>
          <a:xfrm>
            <a:off x="4882825" y="293662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2536" name="Google Shape;2536;p81"/>
          <p:cNvCxnSpPr/>
          <p:nvPr/>
        </p:nvCxnSpPr>
        <p:spPr>
          <a:xfrm>
            <a:off x="4515975" y="317140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37" name="Google Shape;2537;p81"/>
          <p:cNvSpPr txBox="1"/>
          <p:nvPr/>
        </p:nvSpPr>
        <p:spPr>
          <a:xfrm>
            <a:off x="30509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538" name="Google Shape;2538;p81"/>
          <p:cNvSpPr txBox="1"/>
          <p:nvPr/>
        </p:nvSpPr>
        <p:spPr>
          <a:xfrm>
            <a:off x="3913000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comer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539" name="Google Shape;2539;p81"/>
          <p:cNvSpPr txBox="1"/>
          <p:nvPr/>
        </p:nvSpPr>
        <p:spPr>
          <a:xfrm>
            <a:off x="477502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540" name="Google Shape;2540;p81"/>
          <p:cNvSpPr/>
          <p:nvPr/>
        </p:nvSpPr>
        <p:spPr>
          <a:xfrm>
            <a:off x="1526475" y="3073025"/>
            <a:ext cx="4740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1" name="Google Shape;2541;p81"/>
          <p:cNvSpPr txBox="1"/>
          <p:nvPr>
            <p:ph type="title"/>
          </p:nvPr>
        </p:nvSpPr>
        <p:spPr>
          <a:xfrm>
            <a:off x="726114" y="402582"/>
            <a:ext cx="7556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Entrenamiento: Backpropagation</a:t>
            </a:r>
            <a:endParaRPr/>
          </a:p>
        </p:txBody>
      </p:sp>
      <p:sp>
        <p:nvSpPr>
          <p:cNvPr id="2542" name="Google Shape;2542;p81"/>
          <p:cNvSpPr txBox="1"/>
          <p:nvPr/>
        </p:nvSpPr>
        <p:spPr>
          <a:xfrm>
            <a:off x="3386582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43" name="Google Shape;2543;p81"/>
          <p:cNvSpPr txBox="1"/>
          <p:nvPr/>
        </p:nvSpPr>
        <p:spPr>
          <a:xfrm>
            <a:off x="4224782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44" name="Google Shape;2544;p81"/>
          <p:cNvSpPr txBox="1"/>
          <p:nvPr/>
        </p:nvSpPr>
        <p:spPr>
          <a:xfrm>
            <a:off x="5096338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545" name="Google Shape;2545;p81"/>
          <p:cNvCxnSpPr/>
          <p:nvPr/>
        </p:nvCxnSpPr>
        <p:spPr>
          <a:xfrm>
            <a:off x="2565794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46" name="Google Shape;2546;p81"/>
          <p:cNvSpPr txBox="1"/>
          <p:nvPr/>
        </p:nvSpPr>
        <p:spPr>
          <a:xfrm>
            <a:off x="2718200" y="2930125"/>
            <a:ext cx="5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...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7" name="Google Shape;2547;p81"/>
          <p:cNvSpPr/>
          <p:nvPr/>
        </p:nvSpPr>
        <p:spPr>
          <a:xfrm>
            <a:off x="2088806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8" name="Google Shape;2548;p81"/>
          <p:cNvCxnSpPr/>
          <p:nvPr/>
        </p:nvCxnSpPr>
        <p:spPr>
          <a:xfrm rot="10800000">
            <a:off x="2337858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49" name="Google Shape;2549;p81"/>
          <p:cNvSpPr txBox="1"/>
          <p:nvPr/>
        </p:nvSpPr>
        <p:spPr>
          <a:xfrm>
            <a:off x="2075531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2550" name="Google Shape;2550;p81"/>
          <p:cNvSpPr txBox="1"/>
          <p:nvPr/>
        </p:nvSpPr>
        <p:spPr>
          <a:xfrm>
            <a:off x="1759803" y="4424950"/>
            <a:ext cx="1148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darle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551" name="Google Shape;2551;p81"/>
          <p:cNvSpPr txBox="1"/>
          <p:nvPr/>
        </p:nvSpPr>
        <p:spPr>
          <a:xfrm>
            <a:off x="2286426" y="35664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52" name="Google Shape;2552;p81"/>
          <p:cNvSpPr txBox="1"/>
          <p:nvPr/>
        </p:nvSpPr>
        <p:spPr>
          <a:xfrm>
            <a:off x="620993" y="2556625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53" name="Google Shape;2553;p81"/>
          <p:cNvSpPr txBox="1"/>
          <p:nvPr/>
        </p:nvSpPr>
        <p:spPr>
          <a:xfrm>
            <a:off x="1095900" y="302860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54" name="Google Shape;2554;p81"/>
          <p:cNvSpPr txBox="1"/>
          <p:nvPr/>
        </p:nvSpPr>
        <p:spPr>
          <a:xfrm>
            <a:off x="643382" y="3490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\mathcal{L_i}=- \sum_{w \in V} y^w_i \log(\hat{y}^w_i)" id="2555" name="Google Shape;2555;p8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026" y="990625"/>
            <a:ext cx="2149638" cy="24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6" name="Google Shape;2556;p81"/>
          <p:cNvCxnSpPr/>
          <p:nvPr/>
        </p:nvCxnSpPr>
        <p:spPr>
          <a:xfrm>
            <a:off x="4770961" y="3371830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7" name="Google Shape;2557;p81"/>
          <p:cNvCxnSpPr/>
          <p:nvPr/>
        </p:nvCxnSpPr>
        <p:spPr>
          <a:xfrm>
            <a:off x="4008961" y="3371830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8" name="Google Shape;2558;p81"/>
          <p:cNvCxnSpPr/>
          <p:nvPr/>
        </p:nvCxnSpPr>
        <p:spPr>
          <a:xfrm>
            <a:off x="3170761" y="3371830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9" name="Google Shape;2559;p81"/>
          <p:cNvCxnSpPr/>
          <p:nvPr/>
        </p:nvCxnSpPr>
        <p:spPr>
          <a:xfrm>
            <a:off x="2103961" y="3371830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0" name="Google Shape;2560;p81"/>
          <p:cNvCxnSpPr/>
          <p:nvPr/>
        </p:nvCxnSpPr>
        <p:spPr>
          <a:xfrm>
            <a:off x="46628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1" name="Google Shape;2561;p81"/>
          <p:cNvCxnSpPr/>
          <p:nvPr/>
        </p:nvCxnSpPr>
        <p:spPr>
          <a:xfrm>
            <a:off x="38246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2" name="Google Shape;2562;p81"/>
          <p:cNvCxnSpPr/>
          <p:nvPr/>
        </p:nvCxnSpPr>
        <p:spPr>
          <a:xfrm>
            <a:off x="28340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3" name="Google Shape;2563;p81"/>
          <p:cNvCxnSpPr>
            <a:endCxn id="2564" idx="4"/>
          </p:cNvCxnSpPr>
          <p:nvPr/>
        </p:nvCxnSpPr>
        <p:spPr>
          <a:xfrm flipH="1" rot="10800000">
            <a:off x="4291823" y="2678246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5" name="Google Shape;2565;p81"/>
          <p:cNvCxnSpPr>
            <a:endCxn id="2566" idx="4"/>
          </p:cNvCxnSpPr>
          <p:nvPr/>
        </p:nvCxnSpPr>
        <p:spPr>
          <a:xfrm flipH="1" rot="10800000">
            <a:off x="3419789" y="2678246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7" name="Google Shape;2567;p81"/>
          <p:cNvCxnSpPr>
            <a:endCxn id="2568" idx="4"/>
          </p:cNvCxnSpPr>
          <p:nvPr/>
        </p:nvCxnSpPr>
        <p:spPr>
          <a:xfrm flipH="1" rot="10800000">
            <a:off x="2312094" y="2678246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\mathcal{L}= \sum_{i} \mathcal{L_i}" id="2569" name="Google Shape;2569;p81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4512" y="1316725"/>
            <a:ext cx="95399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0" name="Google Shape;2570;p81"/>
          <p:cNvSpPr txBox="1"/>
          <p:nvPr/>
        </p:nvSpPr>
        <p:spPr>
          <a:xfrm>
            <a:off x="6766625" y="1909719"/>
            <a:ext cx="1690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F00FF"/>
                </a:solidFill>
              </a:rPr>
              <a:t>Backpropagation through time</a:t>
            </a:r>
            <a:endParaRPr b="1">
              <a:solidFill>
                <a:srgbClr val="FF00FF"/>
              </a:solidFill>
            </a:endParaRPr>
          </a:p>
        </p:txBody>
      </p:sp>
      <p:sp>
        <p:nvSpPr>
          <p:cNvPr id="2571" name="Google Shape;2571;p81"/>
          <p:cNvSpPr/>
          <p:nvPr/>
        </p:nvSpPr>
        <p:spPr>
          <a:xfrm>
            <a:off x="4896323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2" name="Google Shape;2572;p81"/>
          <p:cNvSpPr txBox="1"/>
          <p:nvPr/>
        </p:nvSpPr>
        <p:spPr>
          <a:xfrm>
            <a:off x="4883048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2573" name="Google Shape;2573;p81"/>
          <p:cNvCxnSpPr>
            <a:stCxn id="2571" idx="0"/>
            <a:endCxn id="2574" idx="4"/>
          </p:cNvCxnSpPr>
          <p:nvPr/>
        </p:nvCxnSpPr>
        <p:spPr>
          <a:xfrm rot="10800000">
            <a:off x="5128223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5" name="Google Shape;2575;p81"/>
          <p:cNvSpPr txBox="1"/>
          <p:nvPr/>
        </p:nvSpPr>
        <p:spPr>
          <a:xfrm>
            <a:off x="4813486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6" name="Google Shape;2576;p81"/>
          <p:cNvSpPr txBox="1"/>
          <p:nvPr/>
        </p:nvSpPr>
        <p:spPr>
          <a:xfrm>
            <a:off x="4714280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4" name="Google Shape;2574;p81"/>
          <p:cNvSpPr/>
          <p:nvPr/>
        </p:nvSpPr>
        <p:spPr>
          <a:xfrm>
            <a:off x="4894149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7" name="Google Shape;2577;p81"/>
          <p:cNvSpPr txBox="1"/>
          <p:nvPr/>
        </p:nvSpPr>
        <p:spPr>
          <a:xfrm>
            <a:off x="4896395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2578" name="Google Shape;2578;p81"/>
          <p:cNvCxnSpPr/>
          <p:nvPr/>
        </p:nvCxnSpPr>
        <p:spPr>
          <a:xfrm flipH="1">
            <a:off x="5128149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9" name="Google Shape;2579;p81"/>
          <p:cNvSpPr txBox="1"/>
          <p:nvPr/>
        </p:nvSpPr>
        <p:spPr>
          <a:xfrm>
            <a:off x="4813486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0" name="Google Shape;2580;p81"/>
          <p:cNvSpPr txBox="1"/>
          <p:nvPr/>
        </p:nvSpPr>
        <p:spPr>
          <a:xfrm>
            <a:off x="4714280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1" name="Google Shape;2581;p81"/>
          <p:cNvSpPr/>
          <p:nvPr/>
        </p:nvSpPr>
        <p:spPr>
          <a:xfrm>
            <a:off x="4894149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2" name="Google Shape;2582;p81"/>
          <p:cNvSpPr txBox="1"/>
          <p:nvPr/>
        </p:nvSpPr>
        <p:spPr>
          <a:xfrm>
            <a:off x="4896395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583" name="Google Shape;2583;p81"/>
          <p:cNvCxnSpPr/>
          <p:nvPr/>
        </p:nvCxnSpPr>
        <p:spPr>
          <a:xfrm>
            <a:off x="47052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84" name="Google Shape;2584;p81"/>
          <p:cNvSpPr/>
          <p:nvPr/>
        </p:nvSpPr>
        <p:spPr>
          <a:xfrm>
            <a:off x="4058123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5" name="Google Shape;2585;p81"/>
          <p:cNvSpPr txBox="1"/>
          <p:nvPr/>
        </p:nvSpPr>
        <p:spPr>
          <a:xfrm>
            <a:off x="4044848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2586" name="Google Shape;2586;p81"/>
          <p:cNvCxnSpPr>
            <a:stCxn id="2584" idx="0"/>
            <a:endCxn id="2587" idx="4"/>
          </p:cNvCxnSpPr>
          <p:nvPr/>
        </p:nvCxnSpPr>
        <p:spPr>
          <a:xfrm rot="10800000">
            <a:off x="4290023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88" name="Google Shape;2588;p81"/>
          <p:cNvSpPr txBox="1"/>
          <p:nvPr/>
        </p:nvSpPr>
        <p:spPr>
          <a:xfrm>
            <a:off x="3975286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9" name="Google Shape;2589;p81"/>
          <p:cNvSpPr txBox="1"/>
          <p:nvPr/>
        </p:nvSpPr>
        <p:spPr>
          <a:xfrm>
            <a:off x="3876080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7" name="Google Shape;2587;p81"/>
          <p:cNvSpPr/>
          <p:nvPr/>
        </p:nvSpPr>
        <p:spPr>
          <a:xfrm>
            <a:off x="4055949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0" name="Google Shape;2590;p81"/>
          <p:cNvSpPr txBox="1"/>
          <p:nvPr/>
        </p:nvSpPr>
        <p:spPr>
          <a:xfrm>
            <a:off x="4058195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2591" name="Google Shape;2591;p81"/>
          <p:cNvCxnSpPr/>
          <p:nvPr/>
        </p:nvCxnSpPr>
        <p:spPr>
          <a:xfrm flipH="1">
            <a:off x="4289949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92" name="Google Shape;2592;p81"/>
          <p:cNvSpPr txBox="1"/>
          <p:nvPr/>
        </p:nvSpPr>
        <p:spPr>
          <a:xfrm>
            <a:off x="3975286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3" name="Google Shape;2593;p81"/>
          <p:cNvSpPr txBox="1"/>
          <p:nvPr/>
        </p:nvSpPr>
        <p:spPr>
          <a:xfrm>
            <a:off x="3876080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4" name="Google Shape;2594;p81"/>
          <p:cNvSpPr/>
          <p:nvPr/>
        </p:nvSpPr>
        <p:spPr>
          <a:xfrm>
            <a:off x="4055949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5" name="Google Shape;2595;p81"/>
          <p:cNvSpPr txBox="1"/>
          <p:nvPr/>
        </p:nvSpPr>
        <p:spPr>
          <a:xfrm>
            <a:off x="4058195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96" name="Google Shape;2596;p81"/>
          <p:cNvSpPr/>
          <p:nvPr/>
        </p:nvSpPr>
        <p:spPr>
          <a:xfrm>
            <a:off x="3186089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7" name="Google Shape;2597;p81"/>
          <p:cNvSpPr txBox="1"/>
          <p:nvPr/>
        </p:nvSpPr>
        <p:spPr>
          <a:xfrm>
            <a:off x="3172814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2598" name="Google Shape;2598;p81"/>
          <p:cNvCxnSpPr>
            <a:stCxn id="2596" idx="0"/>
            <a:endCxn id="2599" idx="4"/>
          </p:cNvCxnSpPr>
          <p:nvPr/>
        </p:nvCxnSpPr>
        <p:spPr>
          <a:xfrm rot="10800000">
            <a:off x="3417989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00" name="Google Shape;2600;p81"/>
          <p:cNvSpPr txBox="1"/>
          <p:nvPr/>
        </p:nvSpPr>
        <p:spPr>
          <a:xfrm>
            <a:off x="3103252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81"/>
          <p:cNvSpPr txBox="1"/>
          <p:nvPr/>
        </p:nvSpPr>
        <p:spPr>
          <a:xfrm>
            <a:off x="3004046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9" name="Google Shape;2599;p81"/>
          <p:cNvSpPr/>
          <p:nvPr/>
        </p:nvSpPr>
        <p:spPr>
          <a:xfrm>
            <a:off x="3183915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2" name="Google Shape;2602;p81"/>
          <p:cNvSpPr txBox="1"/>
          <p:nvPr/>
        </p:nvSpPr>
        <p:spPr>
          <a:xfrm>
            <a:off x="3186161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2603" name="Google Shape;2603;p81"/>
          <p:cNvCxnSpPr/>
          <p:nvPr/>
        </p:nvCxnSpPr>
        <p:spPr>
          <a:xfrm flipH="1">
            <a:off x="3417915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04" name="Google Shape;2604;p81"/>
          <p:cNvSpPr txBox="1"/>
          <p:nvPr/>
        </p:nvSpPr>
        <p:spPr>
          <a:xfrm>
            <a:off x="3103252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5" name="Google Shape;2605;p81"/>
          <p:cNvSpPr txBox="1"/>
          <p:nvPr/>
        </p:nvSpPr>
        <p:spPr>
          <a:xfrm>
            <a:off x="3004046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6" name="Google Shape;2606;p81"/>
          <p:cNvSpPr/>
          <p:nvPr/>
        </p:nvSpPr>
        <p:spPr>
          <a:xfrm>
            <a:off x="3183915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7" name="Google Shape;2607;p81"/>
          <p:cNvSpPr txBox="1"/>
          <p:nvPr/>
        </p:nvSpPr>
        <p:spPr>
          <a:xfrm>
            <a:off x="3186161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08" name="Google Shape;2608;p81"/>
          <p:cNvSpPr/>
          <p:nvPr/>
        </p:nvSpPr>
        <p:spPr>
          <a:xfrm>
            <a:off x="2078394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9" name="Google Shape;2609;p81"/>
          <p:cNvSpPr txBox="1"/>
          <p:nvPr/>
        </p:nvSpPr>
        <p:spPr>
          <a:xfrm>
            <a:off x="2065119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2610" name="Google Shape;2610;p81"/>
          <p:cNvCxnSpPr>
            <a:stCxn id="2608" idx="0"/>
            <a:endCxn id="2611" idx="4"/>
          </p:cNvCxnSpPr>
          <p:nvPr/>
        </p:nvCxnSpPr>
        <p:spPr>
          <a:xfrm rot="10800000">
            <a:off x="2310294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12" name="Google Shape;2612;p81"/>
          <p:cNvSpPr txBox="1"/>
          <p:nvPr/>
        </p:nvSpPr>
        <p:spPr>
          <a:xfrm>
            <a:off x="1995557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3" name="Google Shape;2613;p81"/>
          <p:cNvSpPr txBox="1"/>
          <p:nvPr/>
        </p:nvSpPr>
        <p:spPr>
          <a:xfrm>
            <a:off x="1896351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1" name="Google Shape;2611;p81"/>
          <p:cNvSpPr/>
          <p:nvPr/>
        </p:nvSpPr>
        <p:spPr>
          <a:xfrm>
            <a:off x="2076220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4" name="Google Shape;2614;p81"/>
          <p:cNvSpPr txBox="1"/>
          <p:nvPr/>
        </p:nvSpPr>
        <p:spPr>
          <a:xfrm>
            <a:off x="2078467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2615" name="Google Shape;2615;p81"/>
          <p:cNvCxnSpPr/>
          <p:nvPr/>
        </p:nvCxnSpPr>
        <p:spPr>
          <a:xfrm flipH="1">
            <a:off x="2310220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16" name="Google Shape;2616;p81"/>
          <p:cNvSpPr txBox="1"/>
          <p:nvPr/>
        </p:nvSpPr>
        <p:spPr>
          <a:xfrm>
            <a:off x="1995557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p81"/>
          <p:cNvSpPr txBox="1"/>
          <p:nvPr/>
        </p:nvSpPr>
        <p:spPr>
          <a:xfrm>
            <a:off x="1896351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8" name="Google Shape;2618;p81"/>
          <p:cNvSpPr/>
          <p:nvPr/>
        </p:nvSpPr>
        <p:spPr>
          <a:xfrm>
            <a:off x="2076220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9" name="Google Shape;2619;p81"/>
          <p:cNvSpPr txBox="1"/>
          <p:nvPr/>
        </p:nvSpPr>
        <p:spPr>
          <a:xfrm>
            <a:off x="2078467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620" name="Google Shape;2620;p81"/>
          <p:cNvCxnSpPr/>
          <p:nvPr/>
        </p:nvCxnSpPr>
        <p:spPr>
          <a:xfrm>
            <a:off x="39432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1" name="Google Shape;2621;p81"/>
          <p:cNvCxnSpPr/>
          <p:nvPr/>
        </p:nvCxnSpPr>
        <p:spPr>
          <a:xfrm>
            <a:off x="30288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2" name="Google Shape;2622;p81"/>
          <p:cNvCxnSpPr/>
          <p:nvPr/>
        </p:nvCxnSpPr>
        <p:spPr>
          <a:xfrm>
            <a:off x="19620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\frac{\partial \mathcal{L}_t(\theta)}{\partial U} " id="2623" name="Google Shape;2623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8925" y="2792575"/>
            <a:ext cx="1333500" cy="100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7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8" name="Google Shape;2628;p82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Exploding y Vanishing gradients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2" name="Shape 2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3" name="Google Shape;2633;p83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Exploding y Vanishing gradients</a:t>
            </a:r>
            <a:endParaRPr/>
          </a:p>
        </p:txBody>
      </p:sp>
      <p:sp>
        <p:nvSpPr>
          <p:cNvPr id="2634" name="Google Shape;2634;p83"/>
          <p:cNvSpPr txBox="1"/>
          <p:nvPr/>
        </p:nvSpPr>
        <p:spPr>
          <a:xfrm>
            <a:off x="5286550" y="1113125"/>
            <a:ext cx="3632400" cy="41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2200" u="sng">
                <a:latin typeface="Raleway"/>
                <a:ea typeface="Raleway"/>
                <a:cs typeface="Raleway"/>
                <a:sym typeface="Raleway"/>
              </a:rPr>
              <a:t>Idea:</a:t>
            </a:r>
            <a:endParaRPr i="1" sz="2200" u="sng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latin typeface="Raleway"/>
                <a:ea typeface="Raleway"/>
                <a:cs typeface="Raleway"/>
                <a:sym typeface="Raleway"/>
              </a:rPr>
              <a:t>El hidden layer del tiempo </a:t>
            </a:r>
            <a:r>
              <a:rPr i="1" lang="es-419" sz="1600">
                <a:latin typeface="Raleway"/>
                <a:ea typeface="Raleway"/>
                <a:cs typeface="Raleway"/>
                <a:sym typeface="Raleway"/>
              </a:rPr>
              <a:t>t </a:t>
            </a:r>
            <a:r>
              <a:rPr lang="es-419" sz="1600">
                <a:latin typeface="Raleway"/>
                <a:ea typeface="Raleway"/>
                <a:cs typeface="Raleway"/>
                <a:sym typeface="Raleway"/>
              </a:rPr>
              <a:t>(h</a:t>
            </a:r>
            <a:r>
              <a:rPr baseline="-25000" lang="es-419" sz="1600"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s-419" sz="1600">
                <a:latin typeface="Raleway"/>
                <a:ea typeface="Raleway"/>
                <a:cs typeface="Raleway"/>
                <a:sym typeface="Raleway"/>
              </a:rPr>
              <a:t>) se alimenta del input del tiempo </a:t>
            </a:r>
            <a:r>
              <a:rPr i="1" lang="es-419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s-419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(x</a:t>
            </a:r>
            <a:r>
              <a:rPr baseline="-25000" lang="es-419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s-419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  <a:r>
              <a:rPr lang="es-419" sz="1600">
                <a:latin typeface="Raleway"/>
                <a:ea typeface="Raleway"/>
                <a:cs typeface="Raleway"/>
                <a:sym typeface="Raleway"/>
              </a:rPr>
              <a:t> y del </a:t>
            </a:r>
            <a:r>
              <a:rPr lang="es-419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hidden layer del tiempo anterior t-1 (h</a:t>
            </a:r>
            <a:r>
              <a:rPr baseline="-25000" lang="es-419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t-1</a:t>
            </a:r>
            <a:r>
              <a:rPr lang="es-419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) </a:t>
            </a:r>
            <a:r>
              <a:rPr lang="es-419" sz="1600">
                <a:latin typeface="Raleway"/>
                <a:ea typeface="Raleway"/>
                <a:cs typeface="Raleway"/>
                <a:sym typeface="Raleway"/>
              </a:rPr>
              <a:t> 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2200" u="sng">
                <a:latin typeface="Raleway"/>
                <a:ea typeface="Raleway"/>
                <a:cs typeface="Raleway"/>
                <a:sym typeface="Raleway"/>
              </a:rPr>
              <a:t>Ventajas:</a:t>
            </a:r>
            <a:endParaRPr i="1" sz="2200" u="sng"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600"/>
              <a:buFont typeface="Raleway"/>
              <a:buChar char="●"/>
            </a:pPr>
            <a:r>
              <a:rPr b="1" lang="es-419" sz="160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En teoría puede usar información de toda la secuencia.</a:t>
            </a:r>
            <a:endParaRPr b="1" sz="1600">
              <a:solidFill>
                <a:srgbClr val="38761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Char char="●"/>
            </a:pPr>
            <a:r>
              <a:rPr lang="es-419" sz="1600">
                <a:latin typeface="Raleway"/>
                <a:ea typeface="Raleway"/>
                <a:cs typeface="Raleway"/>
                <a:sym typeface="Raleway"/>
              </a:rPr>
              <a:t>El tamaño del modelo no depende del largo del input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35" name="Google Shape;2635;p83"/>
          <p:cNvSpPr/>
          <p:nvPr/>
        </p:nvSpPr>
        <p:spPr>
          <a:xfrm flipH="1" rot="748">
            <a:off x="3066675" y="2232842"/>
            <a:ext cx="1377900" cy="1542900"/>
          </a:xfrm>
          <a:prstGeom prst="arc">
            <a:avLst>
              <a:gd fmla="val 2289992" name="adj1"/>
              <a:gd fmla="val 20165109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36" name="Google Shape;2636;p83"/>
          <p:cNvSpPr txBox="1"/>
          <p:nvPr/>
        </p:nvSpPr>
        <p:spPr>
          <a:xfrm>
            <a:off x="558013" y="1400325"/>
            <a:ext cx="1377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Output</a:t>
            </a:r>
            <a:endParaRPr sz="1800"/>
          </a:p>
        </p:txBody>
      </p:sp>
      <p:sp>
        <p:nvSpPr>
          <p:cNvPr id="2637" name="Google Shape;2637;p83"/>
          <p:cNvSpPr txBox="1"/>
          <p:nvPr/>
        </p:nvSpPr>
        <p:spPr>
          <a:xfrm>
            <a:off x="303738" y="2894225"/>
            <a:ext cx="1632300" cy="3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Hidden layer</a:t>
            </a:r>
            <a:endParaRPr sz="1800"/>
          </a:p>
        </p:txBody>
      </p:sp>
      <p:sp>
        <p:nvSpPr>
          <p:cNvPr id="2638" name="Google Shape;2638;p83"/>
          <p:cNvSpPr txBox="1"/>
          <p:nvPr/>
        </p:nvSpPr>
        <p:spPr>
          <a:xfrm>
            <a:off x="558013" y="4430550"/>
            <a:ext cx="1377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Input</a:t>
            </a:r>
            <a:endParaRPr sz="1800"/>
          </a:p>
        </p:txBody>
      </p:sp>
      <p:sp>
        <p:nvSpPr>
          <p:cNvPr id="2639" name="Google Shape;2639;p83"/>
          <p:cNvSpPr/>
          <p:nvPr/>
        </p:nvSpPr>
        <p:spPr>
          <a:xfrm>
            <a:off x="2362163" y="4429225"/>
            <a:ext cx="1424700" cy="447900"/>
          </a:xfrm>
          <a:prstGeom prst="roundRect">
            <a:avLst>
              <a:gd fmla="val 247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x</a:t>
            </a:r>
            <a:r>
              <a:rPr baseline="-25000" lang="es-419" sz="2400"/>
              <a:t>t</a:t>
            </a:r>
            <a:endParaRPr baseline="-25000" sz="2400"/>
          </a:p>
        </p:txBody>
      </p:sp>
      <p:sp>
        <p:nvSpPr>
          <p:cNvPr id="2640" name="Google Shape;2640;p83"/>
          <p:cNvSpPr/>
          <p:nvPr/>
        </p:nvSpPr>
        <p:spPr>
          <a:xfrm>
            <a:off x="2362163" y="2825375"/>
            <a:ext cx="1424700" cy="447900"/>
          </a:xfrm>
          <a:prstGeom prst="roundRect">
            <a:avLst>
              <a:gd fmla="val 23549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</a:t>
            </a:r>
            <a:r>
              <a:rPr baseline="-25000" lang="es-419" sz="2400"/>
              <a:t>t</a:t>
            </a:r>
            <a:endParaRPr baseline="-25000" sz="2400"/>
          </a:p>
        </p:txBody>
      </p:sp>
      <p:sp>
        <p:nvSpPr>
          <p:cNvPr id="2641" name="Google Shape;2641;p83"/>
          <p:cNvSpPr/>
          <p:nvPr/>
        </p:nvSpPr>
        <p:spPr>
          <a:xfrm>
            <a:off x="2362163" y="1331475"/>
            <a:ext cx="1424700" cy="447900"/>
          </a:xfrm>
          <a:prstGeom prst="roundRect">
            <a:avLst>
              <a:gd fmla="val 17638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</a:t>
            </a:r>
            <a:r>
              <a:rPr baseline="-25000" lang="es-419" sz="2400"/>
              <a:t>t</a:t>
            </a:r>
            <a:endParaRPr baseline="-25000" sz="2400"/>
          </a:p>
        </p:txBody>
      </p:sp>
      <p:cxnSp>
        <p:nvCxnSpPr>
          <p:cNvPr id="2642" name="Google Shape;2642;p83"/>
          <p:cNvCxnSpPr/>
          <p:nvPr/>
        </p:nvCxnSpPr>
        <p:spPr>
          <a:xfrm rot="10800000">
            <a:off x="3093813" y="3421100"/>
            <a:ext cx="0" cy="83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3" name="Google Shape;2643;p83"/>
          <p:cNvCxnSpPr/>
          <p:nvPr/>
        </p:nvCxnSpPr>
        <p:spPr>
          <a:xfrm rot="10800000">
            <a:off x="3074463" y="1884475"/>
            <a:ext cx="0" cy="83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7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Google Shape;2648;p84"/>
          <p:cNvSpPr txBox="1"/>
          <p:nvPr/>
        </p:nvSpPr>
        <p:spPr>
          <a:xfrm>
            <a:off x="4879188" y="3900344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2649" name="Google Shape;2649;p84"/>
          <p:cNvSpPr/>
          <p:nvPr/>
        </p:nvSpPr>
        <p:spPr>
          <a:xfrm>
            <a:off x="467588" y="3833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0" name="Google Shape;2650;p84"/>
          <p:cNvSpPr/>
          <p:nvPr/>
        </p:nvSpPr>
        <p:spPr>
          <a:xfrm>
            <a:off x="471225" y="28726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1" name="Google Shape;2651;p84"/>
          <p:cNvSpPr/>
          <p:nvPr/>
        </p:nvSpPr>
        <p:spPr>
          <a:xfrm flipH="1">
            <a:off x="769680" y="2831798"/>
            <a:ext cx="706200" cy="679200"/>
          </a:xfrm>
          <a:prstGeom prst="arc">
            <a:avLst>
              <a:gd fmla="val 2258622" name="adj1"/>
              <a:gd fmla="val 18013119" name="adj2"/>
            </a:avLst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2652" name="Google Shape;2652;p84"/>
          <p:cNvCxnSpPr/>
          <p:nvPr/>
        </p:nvCxnSpPr>
        <p:spPr>
          <a:xfrm rot="10800000">
            <a:off x="716639" y="33405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3" name="Google Shape;2653;p84"/>
          <p:cNvCxnSpPr>
            <a:stCxn id="2650" idx="0"/>
          </p:cNvCxnSpPr>
          <p:nvPr/>
        </p:nvCxnSpPr>
        <p:spPr>
          <a:xfrm rot="10800000">
            <a:off x="705225" y="2434600"/>
            <a:ext cx="0" cy="4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4" name="Google Shape;2654;p84"/>
          <p:cNvSpPr txBox="1"/>
          <p:nvPr/>
        </p:nvSpPr>
        <p:spPr>
          <a:xfrm>
            <a:off x="457950" y="28318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2655" name="Google Shape;2655;p84"/>
          <p:cNvSpPr txBox="1"/>
          <p:nvPr/>
        </p:nvSpPr>
        <p:spPr>
          <a:xfrm>
            <a:off x="454313" y="3792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2656" name="Google Shape;2656;p84"/>
          <p:cNvSpPr txBox="1"/>
          <p:nvPr/>
        </p:nvSpPr>
        <p:spPr>
          <a:xfrm>
            <a:off x="476000" y="191170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2400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2657" name="Google Shape;2657;p84"/>
          <p:cNvSpPr/>
          <p:nvPr/>
        </p:nvSpPr>
        <p:spPr>
          <a:xfrm>
            <a:off x="489275" y="19525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8" name="Google Shape;2658;p84"/>
          <p:cNvSpPr/>
          <p:nvPr/>
        </p:nvSpPr>
        <p:spPr>
          <a:xfrm>
            <a:off x="318896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9" name="Google Shape;2659;p84"/>
          <p:cNvSpPr/>
          <p:nvPr/>
        </p:nvSpPr>
        <p:spPr>
          <a:xfrm>
            <a:off x="319260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60" name="Google Shape;2660;p84"/>
          <p:cNvCxnSpPr/>
          <p:nvPr/>
        </p:nvCxnSpPr>
        <p:spPr>
          <a:xfrm rot="10800000">
            <a:off x="343801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61" name="Google Shape;2661;p84"/>
          <p:cNvSpPr txBox="1"/>
          <p:nvPr/>
        </p:nvSpPr>
        <p:spPr>
          <a:xfrm>
            <a:off x="317932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2662" name="Google Shape;2662;p84"/>
          <p:cNvSpPr txBox="1"/>
          <p:nvPr/>
        </p:nvSpPr>
        <p:spPr>
          <a:xfrm>
            <a:off x="3175688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cxnSp>
        <p:nvCxnSpPr>
          <p:cNvPr id="2663" name="Google Shape;2663;p84"/>
          <p:cNvCxnSpPr/>
          <p:nvPr/>
        </p:nvCxnSpPr>
        <p:spPr>
          <a:xfrm>
            <a:off x="2987275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64" name="Google Shape;2664;p84"/>
          <p:cNvSpPr/>
          <p:nvPr/>
        </p:nvSpPr>
        <p:spPr>
          <a:xfrm>
            <a:off x="2082338" y="29496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5" name="Google Shape;2665;p84"/>
          <p:cNvSpPr txBox="1"/>
          <p:nvPr/>
        </p:nvSpPr>
        <p:spPr>
          <a:xfrm>
            <a:off x="2072881" y="297462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>
                <a:solidFill>
                  <a:schemeClr val="dk1"/>
                </a:solidFill>
              </a:rPr>
              <a:t>1...</a:t>
            </a:r>
            <a:endParaRPr/>
          </a:p>
        </p:txBody>
      </p:sp>
      <p:sp>
        <p:nvSpPr>
          <p:cNvPr id="2666" name="Google Shape;2666;p84"/>
          <p:cNvSpPr/>
          <p:nvPr/>
        </p:nvSpPr>
        <p:spPr>
          <a:xfrm>
            <a:off x="4040713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7" name="Google Shape;2667;p84"/>
          <p:cNvSpPr/>
          <p:nvPr/>
        </p:nvSpPr>
        <p:spPr>
          <a:xfrm>
            <a:off x="4044350" y="29529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68" name="Google Shape;2668;p84"/>
          <p:cNvCxnSpPr/>
          <p:nvPr/>
        </p:nvCxnSpPr>
        <p:spPr>
          <a:xfrm rot="10800000">
            <a:off x="4289764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69" name="Google Shape;2669;p84"/>
          <p:cNvSpPr txBox="1"/>
          <p:nvPr/>
        </p:nvSpPr>
        <p:spPr>
          <a:xfrm>
            <a:off x="4031075" y="2952202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sp>
        <p:nvSpPr>
          <p:cNvPr id="2670" name="Google Shape;2670;p84"/>
          <p:cNvSpPr txBox="1"/>
          <p:nvPr/>
        </p:nvSpPr>
        <p:spPr>
          <a:xfrm>
            <a:off x="4027438" y="3902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i-1</a:t>
            </a:r>
            <a:endParaRPr sz="1800"/>
          </a:p>
        </p:txBody>
      </p:sp>
      <p:cxnSp>
        <p:nvCxnSpPr>
          <p:cNvPr id="2671" name="Google Shape;2671;p84"/>
          <p:cNvCxnSpPr/>
          <p:nvPr/>
        </p:nvCxnSpPr>
        <p:spPr>
          <a:xfrm>
            <a:off x="3664225" y="3186975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2" name="Google Shape;2672;p84"/>
          <p:cNvSpPr/>
          <p:nvPr/>
        </p:nvSpPr>
        <p:spPr>
          <a:xfrm>
            <a:off x="4896323" y="2210246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3" name="Google Shape;2673;p84"/>
          <p:cNvSpPr/>
          <p:nvPr/>
        </p:nvSpPr>
        <p:spPr>
          <a:xfrm>
            <a:off x="4892463" y="38983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4" name="Google Shape;2674;p84"/>
          <p:cNvSpPr/>
          <p:nvPr/>
        </p:nvSpPr>
        <p:spPr>
          <a:xfrm>
            <a:off x="4896100" y="293740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75" name="Google Shape;2675;p84"/>
          <p:cNvCxnSpPr/>
          <p:nvPr/>
        </p:nvCxnSpPr>
        <p:spPr>
          <a:xfrm rot="10800000">
            <a:off x="5141514" y="3405393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6" name="Google Shape;2676;p84"/>
          <p:cNvCxnSpPr>
            <a:stCxn id="2674" idx="0"/>
            <a:endCxn id="2672" idx="4"/>
          </p:cNvCxnSpPr>
          <p:nvPr/>
        </p:nvCxnSpPr>
        <p:spPr>
          <a:xfrm flipH="1" rot="10800000">
            <a:off x="5130100" y="2678200"/>
            <a:ext cx="300" cy="25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7" name="Google Shape;2677;p84"/>
          <p:cNvSpPr txBox="1"/>
          <p:nvPr/>
        </p:nvSpPr>
        <p:spPr>
          <a:xfrm>
            <a:off x="4882825" y="293662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sp>
        <p:nvSpPr>
          <p:cNvPr id="2678" name="Google Shape;2678;p84"/>
          <p:cNvSpPr txBox="1"/>
          <p:nvPr/>
        </p:nvSpPr>
        <p:spPr>
          <a:xfrm>
            <a:off x="4883048" y="220613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o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2679" name="Google Shape;2679;p84"/>
          <p:cNvCxnSpPr/>
          <p:nvPr/>
        </p:nvCxnSpPr>
        <p:spPr>
          <a:xfrm>
            <a:off x="4515975" y="3171400"/>
            <a:ext cx="37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80" name="Google Shape;2680;p84"/>
          <p:cNvSpPr txBox="1"/>
          <p:nvPr/>
        </p:nvSpPr>
        <p:spPr>
          <a:xfrm>
            <a:off x="305097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681" name="Google Shape;2681;p84"/>
          <p:cNvSpPr txBox="1"/>
          <p:nvPr/>
        </p:nvSpPr>
        <p:spPr>
          <a:xfrm>
            <a:off x="3913000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comer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682" name="Google Shape;2682;p84"/>
          <p:cNvSpPr txBox="1"/>
          <p:nvPr/>
        </p:nvSpPr>
        <p:spPr>
          <a:xfrm>
            <a:off x="4775025" y="44249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683" name="Google Shape;2683;p84"/>
          <p:cNvSpPr/>
          <p:nvPr/>
        </p:nvSpPr>
        <p:spPr>
          <a:xfrm>
            <a:off x="1526475" y="3073025"/>
            <a:ext cx="4740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84" name="Google Shape;2684;p84"/>
          <p:cNvCxnSpPr>
            <a:stCxn id="2672" idx="0"/>
            <a:endCxn id="2685" idx="4"/>
          </p:cNvCxnSpPr>
          <p:nvPr/>
        </p:nvCxnSpPr>
        <p:spPr>
          <a:xfrm rot="10800000">
            <a:off x="5128223" y="1996046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86" name="Google Shape;2686;p84"/>
          <p:cNvSpPr txBox="1"/>
          <p:nvPr/>
        </p:nvSpPr>
        <p:spPr>
          <a:xfrm>
            <a:off x="4813486" y="16456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7" name="Google Shape;2687;p84"/>
          <p:cNvSpPr txBox="1"/>
          <p:nvPr/>
        </p:nvSpPr>
        <p:spPr>
          <a:xfrm>
            <a:off x="4714280" y="15766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p84"/>
          <p:cNvSpPr/>
          <p:nvPr/>
        </p:nvSpPr>
        <p:spPr>
          <a:xfrm>
            <a:off x="4894149" y="15279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8" name="Google Shape;2688;p84"/>
          <p:cNvSpPr txBox="1"/>
          <p:nvPr/>
        </p:nvSpPr>
        <p:spPr>
          <a:xfrm>
            <a:off x="4896395" y="15265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 sz="1800"/>
          </a:p>
        </p:txBody>
      </p:sp>
      <p:cxnSp>
        <p:nvCxnSpPr>
          <p:cNvPr id="2689" name="Google Shape;2689;p84"/>
          <p:cNvCxnSpPr/>
          <p:nvPr/>
        </p:nvCxnSpPr>
        <p:spPr>
          <a:xfrm>
            <a:off x="2565794" y="3182550"/>
            <a:ext cx="2016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0" name="Google Shape;2690;p84"/>
          <p:cNvSpPr txBox="1"/>
          <p:nvPr/>
        </p:nvSpPr>
        <p:spPr>
          <a:xfrm>
            <a:off x="2718200" y="2930125"/>
            <a:ext cx="5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...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91" name="Google Shape;2691;p84"/>
          <p:cNvSpPr/>
          <p:nvPr/>
        </p:nvSpPr>
        <p:spPr>
          <a:xfrm>
            <a:off x="2088806" y="39138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92" name="Google Shape;2692;p84"/>
          <p:cNvCxnSpPr/>
          <p:nvPr/>
        </p:nvCxnSpPr>
        <p:spPr>
          <a:xfrm rot="10800000">
            <a:off x="2337858" y="3420968"/>
            <a:ext cx="0" cy="4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3" name="Google Shape;2693;p84"/>
          <p:cNvSpPr txBox="1"/>
          <p:nvPr/>
        </p:nvSpPr>
        <p:spPr>
          <a:xfrm>
            <a:off x="2075531" y="389590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i-2</a:t>
            </a:r>
            <a:endParaRPr sz="1800"/>
          </a:p>
        </p:txBody>
      </p:sp>
      <p:sp>
        <p:nvSpPr>
          <p:cNvPr id="2694" name="Google Shape;2694;p84"/>
          <p:cNvSpPr txBox="1"/>
          <p:nvPr/>
        </p:nvSpPr>
        <p:spPr>
          <a:xfrm>
            <a:off x="1759803" y="4424950"/>
            <a:ext cx="1148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Cuando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695" name="Google Shape;2695;p84"/>
          <p:cNvSpPr txBox="1"/>
          <p:nvPr/>
        </p:nvSpPr>
        <p:spPr>
          <a:xfrm>
            <a:off x="620993" y="2556625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96" name="Google Shape;2696;p84"/>
          <p:cNvSpPr txBox="1"/>
          <p:nvPr/>
        </p:nvSpPr>
        <p:spPr>
          <a:xfrm>
            <a:off x="1095900" y="302860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97" name="Google Shape;2697;p84"/>
          <p:cNvSpPr txBox="1"/>
          <p:nvPr/>
        </p:nvSpPr>
        <p:spPr>
          <a:xfrm>
            <a:off x="643382" y="3490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698" name="Google Shape;2698;p84"/>
          <p:cNvCxnSpPr/>
          <p:nvPr/>
        </p:nvCxnSpPr>
        <p:spPr>
          <a:xfrm flipH="1">
            <a:off x="5128149" y="1310130"/>
            <a:ext cx="2100" cy="2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9" name="Google Shape;2699;p84"/>
          <p:cNvSpPr txBox="1"/>
          <p:nvPr/>
        </p:nvSpPr>
        <p:spPr>
          <a:xfrm>
            <a:off x="4813486" y="959805"/>
            <a:ext cx="732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0" name="Google Shape;2700;p84"/>
          <p:cNvSpPr txBox="1"/>
          <p:nvPr/>
        </p:nvSpPr>
        <p:spPr>
          <a:xfrm>
            <a:off x="4714280" y="890880"/>
            <a:ext cx="468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1" name="Google Shape;2701;p84"/>
          <p:cNvSpPr/>
          <p:nvPr/>
        </p:nvSpPr>
        <p:spPr>
          <a:xfrm>
            <a:off x="4894149" y="84213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2" name="Google Shape;2702;p84"/>
          <p:cNvSpPr txBox="1"/>
          <p:nvPr/>
        </p:nvSpPr>
        <p:spPr>
          <a:xfrm>
            <a:off x="4896395" y="840777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</a:t>
            </a:r>
            <a:r>
              <a:rPr baseline="-25000" lang="es-419" sz="1800">
                <a:solidFill>
                  <a:schemeClr val="dk1"/>
                </a:solidFill>
              </a:rPr>
              <a:t>i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\mathcal{L_i}=- \sum_{w \in V} y^w_i \log(\hat{y}^w_i)" id="2703" name="Google Shape;2703;p84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026" y="990625"/>
            <a:ext cx="2149638" cy="24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04" name="Google Shape;2704;p84"/>
          <p:cNvCxnSpPr/>
          <p:nvPr/>
        </p:nvCxnSpPr>
        <p:spPr>
          <a:xfrm>
            <a:off x="4705274" y="1310130"/>
            <a:ext cx="0" cy="1291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5" name="Google Shape;2705;p84"/>
          <p:cNvCxnSpPr/>
          <p:nvPr/>
        </p:nvCxnSpPr>
        <p:spPr>
          <a:xfrm>
            <a:off x="46628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6" name="Google Shape;2706;p84"/>
          <p:cNvCxnSpPr/>
          <p:nvPr/>
        </p:nvCxnSpPr>
        <p:spPr>
          <a:xfrm>
            <a:off x="38246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7" name="Google Shape;2707;p84"/>
          <p:cNvCxnSpPr/>
          <p:nvPr/>
        </p:nvCxnSpPr>
        <p:spPr>
          <a:xfrm>
            <a:off x="2834099" y="2451105"/>
            <a:ext cx="0" cy="55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08" name="Google Shape;2708;p84"/>
          <p:cNvSpPr txBox="1"/>
          <p:nvPr/>
        </p:nvSpPr>
        <p:spPr>
          <a:xfrm>
            <a:off x="6766625" y="1909719"/>
            <a:ext cx="1690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F00FF"/>
                </a:solidFill>
              </a:rPr>
              <a:t>Backpropagation through time</a:t>
            </a:r>
            <a:endParaRPr b="1">
              <a:solidFill>
                <a:srgbClr val="FF00FF"/>
              </a:solidFill>
            </a:endParaRPr>
          </a:p>
        </p:txBody>
      </p:sp>
      <p:pic>
        <p:nvPicPr>
          <p:cNvPr descr="\mathcal{L}= \sum_{i} \mathcal{L_i}" id="2709" name="Google Shape;2709;p84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4512" y="1316725"/>
            <a:ext cx="95399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0" name="Google Shape;2710;p84"/>
          <p:cNvSpPr txBox="1"/>
          <p:nvPr/>
        </p:nvSpPr>
        <p:spPr>
          <a:xfrm>
            <a:off x="2850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11" name="Google Shape;2711;p84"/>
          <p:cNvSpPr txBox="1"/>
          <p:nvPr/>
        </p:nvSpPr>
        <p:spPr>
          <a:xfrm>
            <a:off x="3612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12" name="Google Shape;2712;p84"/>
          <p:cNvSpPr txBox="1"/>
          <p:nvPr/>
        </p:nvSpPr>
        <p:spPr>
          <a:xfrm>
            <a:off x="4500081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13" name="Google Shape;2713;p84"/>
          <p:cNvSpPr txBox="1"/>
          <p:nvPr/>
        </p:nvSpPr>
        <p:spPr>
          <a:xfrm>
            <a:off x="2469366" y="2728250"/>
            <a:ext cx="368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\frac{\partial \mathcal{L}_t(\theta)}{\partial W} = &#10; \frac{\partial \mathcal{L}_t(\theta)}{\partial h_t}&#10;\sum_{t=1}^T \frac{\partial h_t}{\partial h_k} \frac{\partial^+ h_k}{\partial W} " id="2714" name="Google Shape;2714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6153" y="2690800"/>
            <a:ext cx="3095722" cy="6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5" name="Google Shape;2715;p84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Exploding y Vanishing gradients</a:t>
            </a:r>
            <a:endParaRPr/>
          </a:p>
        </p:txBody>
      </p:sp>
      <p:sp>
        <p:nvSpPr>
          <p:cNvPr id="2716" name="Google Shape;2716;p84"/>
          <p:cNvSpPr txBox="1"/>
          <p:nvPr/>
        </p:nvSpPr>
        <p:spPr>
          <a:xfrm>
            <a:off x="7645925" y="2434842"/>
            <a:ext cx="2217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>
                <a:latin typeface="Lato"/>
                <a:ea typeface="Lato"/>
                <a:cs typeface="Lato"/>
                <a:sym typeface="Lato"/>
              </a:rPr>
              <a:t>t</a:t>
            </a:r>
            <a:endParaRPr i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0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p85"/>
          <p:cNvSpPr txBox="1"/>
          <p:nvPr/>
        </p:nvSpPr>
        <p:spPr>
          <a:xfrm>
            <a:off x="354575" y="1500744"/>
            <a:ext cx="1690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F00FF"/>
                </a:solidFill>
              </a:rPr>
              <a:t>Backpropagation through time</a:t>
            </a:r>
            <a:endParaRPr b="1">
              <a:solidFill>
                <a:srgbClr val="FF00FF"/>
              </a:solidFill>
            </a:endParaRPr>
          </a:p>
        </p:txBody>
      </p:sp>
      <p:pic>
        <p:nvPicPr>
          <p:cNvPr descr="\frac{\partial \mathcal{L}_t(\theta)}{\partial W} = &#10; \frac{\partial \mathcal{L}_t(\theta)}{\partial h_t}&#10;\sum_{t=1}^T \frac{\partial h_t}{\partial h_k} \frac{\partial^+ h_k}{\partial W} " id="2722" name="Google Shape;272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5428" y="1478700"/>
            <a:ext cx="3095722" cy="6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3" name="Google Shape;2723;p85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Exploding y Vanishing gradients</a:t>
            </a:r>
            <a:endParaRPr/>
          </a:p>
        </p:txBody>
      </p:sp>
      <p:sp>
        <p:nvSpPr>
          <p:cNvPr id="2724" name="Google Shape;2724;p85"/>
          <p:cNvSpPr txBox="1"/>
          <p:nvPr/>
        </p:nvSpPr>
        <p:spPr>
          <a:xfrm>
            <a:off x="5298975" y="1207892"/>
            <a:ext cx="2217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>
                <a:latin typeface="Lato"/>
                <a:ea typeface="Lato"/>
                <a:cs typeface="Lato"/>
                <a:sym typeface="Lato"/>
              </a:rPr>
              <a:t>t</a:t>
            </a:r>
            <a:endParaRPr i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8" name="Shape 2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Google Shape;2729;p86"/>
          <p:cNvSpPr txBox="1"/>
          <p:nvPr/>
        </p:nvSpPr>
        <p:spPr>
          <a:xfrm>
            <a:off x="354575" y="1500744"/>
            <a:ext cx="1690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F00FF"/>
                </a:solidFill>
              </a:rPr>
              <a:t>Backpropagation through time</a:t>
            </a:r>
            <a:endParaRPr b="1">
              <a:solidFill>
                <a:srgbClr val="FF00FF"/>
              </a:solidFill>
            </a:endParaRPr>
          </a:p>
        </p:txBody>
      </p:sp>
      <p:pic>
        <p:nvPicPr>
          <p:cNvPr descr="\frac{\partial \mathcal{L}_t(\theta)}{\partial W} = &#10; \frac{\partial \mathcal{L}_t(\theta)}{\partial h_t}&#10;\sum_{t=1}^T \frac{\partial h_t}{\partial h_k} \frac{\partial^+ h_k}{\partial W} " id="2730" name="Google Shape;2730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5428" y="1478700"/>
            <a:ext cx="3095722" cy="6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1" name="Google Shape;2731;p86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Exploding y Vanishing gradients</a:t>
            </a:r>
            <a:endParaRPr/>
          </a:p>
        </p:txBody>
      </p:sp>
      <p:cxnSp>
        <p:nvCxnSpPr>
          <p:cNvPr id="2732" name="Google Shape;2732;p86"/>
          <p:cNvCxnSpPr>
            <a:stCxn id="2733" idx="3"/>
          </p:cNvCxnSpPr>
          <p:nvPr/>
        </p:nvCxnSpPr>
        <p:spPr>
          <a:xfrm flipH="1">
            <a:off x="5112068" y="2195009"/>
            <a:ext cx="186900" cy="184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34" name="Google Shape;2734;p86"/>
          <p:cNvSpPr txBox="1"/>
          <p:nvPr/>
        </p:nvSpPr>
        <p:spPr>
          <a:xfrm>
            <a:off x="5298975" y="1207892"/>
            <a:ext cx="2217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>
                <a:latin typeface="Lato"/>
                <a:ea typeface="Lato"/>
                <a:cs typeface="Lato"/>
                <a:sym typeface="Lato"/>
              </a:rPr>
              <a:t>t</a:t>
            </a:r>
            <a:endParaRPr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33" name="Google Shape;2733;p86"/>
          <p:cNvSpPr/>
          <p:nvPr/>
        </p:nvSpPr>
        <p:spPr>
          <a:xfrm>
            <a:off x="5178150" y="1372525"/>
            <a:ext cx="825000" cy="963600"/>
          </a:xfrm>
          <a:prstGeom prst="ellipse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\frac{d \mathcal{L}}{dh_0}=\frac{d \mathcal{L}}{dh_6}\frac{dh_6}{dh_5}\frac{dh_5}{dh_4}\frac{dh_4}{dh_3}\frac{dh_3}{dh_2}\frac{dh_2}{dh_1}\frac{dh_1}{dh_0}" id="2735" name="Google Shape;2735;p86" title="MathEquation,#000000"/>
          <p:cNvPicPr preferRelativeResize="0"/>
          <p:nvPr/>
        </p:nvPicPr>
        <p:blipFill rotWithShape="1">
          <a:blip r:embed="rId4">
            <a:alphaModFix/>
          </a:blip>
          <a:srcRect b="0" l="32871" r="10523" t="0"/>
          <a:stretch/>
        </p:blipFill>
        <p:spPr>
          <a:xfrm>
            <a:off x="3087525" y="2429381"/>
            <a:ext cx="2610526" cy="622575"/>
          </a:xfrm>
          <a:prstGeom prst="rect">
            <a:avLst/>
          </a:prstGeom>
          <a:noFill/>
          <a:ln>
            <a:noFill/>
          </a:ln>
        </p:spPr>
      </p:pic>
      <p:sp>
        <p:nvSpPr>
          <p:cNvPr id="2736" name="Google Shape;2736;p86"/>
          <p:cNvSpPr txBox="1"/>
          <p:nvPr/>
        </p:nvSpPr>
        <p:spPr>
          <a:xfrm>
            <a:off x="1711458" y="2536831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Dado t=6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37" name="Google Shape;2737;p86"/>
          <p:cNvCxnSpPr>
            <a:stCxn id="2736" idx="3"/>
            <a:endCxn id="2735" idx="1"/>
          </p:cNvCxnSpPr>
          <p:nvPr/>
        </p:nvCxnSpPr>
        <p:spPr>
          <a:xfrm>
            <a:off x="2737458" y="2736931"/>
            <a:ext cx="3501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1" name="Shape 2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2" name="Google Shape;2742;p87"/>
          <p:cNvSpPr txBox="1"/>
          <p:nvPr/>
        </p:nvSpPr>
        <p:spPr>
          <a:xfrm>
            <a:off x="354575" y="1500744"/>
            <a:ext cx="1690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F00FF"/>
                </a:solidFill>
              </a:rPr>
              <a:t>Backpropagation through time</a:t>
            </a:r>
            <a:endParaRPr b="1">
              <a:solidFill>
                <a:srgbClr val="FF00FF"/>
              </a:solidFill>
            </a:endParaRPr>
          </a:p>
        </p:txBody>
      </p:sp>
      <p:pic>
        <p:nvPicPr>
          <p:cNvPr descr="\frac{\partial \mathcal{L}_t(\theta)}{\partial W} = &#10; \frac{\partial \mathcal{L}_t(\theta)}{\partial h_t}&#10;\sum_{t=1}^T \frac{\partial h_t}{\partial h_k} \frac{\partial^+ h_k}{\partial W} " id="2743" name="Google Shape;2743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5428" y="1478700"/>
            <a:ext cx="3095722" cy="6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4" name="Google Shape;2744;p87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Exploding y Vanishing gradients</a:t>
            </a:r>
            <a:endParaRPr/>
          </a:p>
        </p:txBody>
      </p:sp>
      <p:cxnSp>
        <p:nvCxnSpPr>
          <p:cNvPr id="2745" name="Google Shape;2745;p87"/>
          <p:cNvCxnSpPr>
            <a:stCxn id="2746" idx="3"/>
          </p:cNvCxnSpPr>
          <p:nvPr/>
        </p:nvCxnSpPr>
        <p:spPr>
          <a:xfrm flipH="1">
            <a:off x="5112068" y="2195009"/>
            <a:ext cx="186900" cy="184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47" name="Google Shape;2747;p87"/>
          <p:cNvSpPr txBox="1"/>
          <p:nvPr/>
        </p:nvSpPr>
        <p:spPr>
          <a:xfrm>
            <a:off x="5298975" y="1207892"/>
            <a:ext cx="2217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>
                <a:latin typeface="Lato"/>
                <a:ea typeface="Lato"/>
                <a:cs typeface="Lato"/>
                <a:sym typeface="Lato"/>
              </a:rPr>
              <a:t>t</a:t>
            </a:r>
            <a:endParaRPr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6" name="Google Shape;2746;p87"/>
          <p:cNvSpPr/>
          <p:nvPr/>
        </p:nvSpPr>
        <p:spPr>
          <a:xfrm>
            <a:off x="5178150" y="1372525"/>
            <a:ext cx="825000" cy="963600"/>
          </a:xfrm>
          <a:prstGeom prst="ellipse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\frac{d \mathcal{L}}{dh_0}=\frac{d \mathcal{L}}{dh_6}\frac{dh_6}{dh_5}\frac{dh_5}{dh_4}\frac{dh_4}{dh_3}\frac{dh_3}{dh_2}\frac{dh_2}{dh_1}\frac{dh_1}{dh_0}" id="2748" name="Google Shape;2748;p87" title="MathEquation,#000000"/>
          <p:cNvPicPr preferRelativeResize="0"/>
          <p:nvPr/>
        </p:nvPicPr>
        <p:blipFill rotWithShape="1">
          <a:blip r:embed="rId4">
            <a:alphaModFix/>
          </a:blip>
          <a:srcRect b="0" l="32871" r="10523" t="0"/>
          <a:stretch/>
        </p:blipFill>
        <p:spPr>
          <a:xfrm>
            <a:off x="3087525" y="2429381"/>
            <a:ext cx="2610526" cy="622575"/>
          </a:xfrm>
          <a:prstGeom prst="rect">
            <a:avLst/>
          </a:prstGeom>
          <a:noFill/>
          <a:ln>
            <a:noFill/>
          </a:ln>
        </p:spPr>
      </p:pic>
      <p:sp>
        <p:nvSpPr>
          <p:cNvPr id="2749" name="Google Shape;2749;p87"/>
          <p:cNvSpPr txBox="1"/>
          <p:nvPr/>
        </p:nvSpPr>
        <p:spPr>
          <a:xfrm>
            <a:off x="1711458" y="2536831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Dado t=6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50" name="Google Shape;2750;p87"/>
          <p:cNvCxnSpPr>
            <a:stCxn id="2749" idx="3"/>
            <a:endCxn id="2748" idx="1"/>
          </p:cNvCxnSpPr>
          <p:nvPr/>
        </p:nvCxnSpPr>
        <p:spPr>
          <a:xfrm>
            <a:off x="2737458" y="2736931"/>
            <a:ext cx="3501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1" name="Google Shape;2751;p87"/>
          <p:cNvCxnSpPr/>
          <p:nvPr/>
        </p:nvCxnSpPr>
        <p:spPr>
          <a:xfrm flipH="1" rot="10800000">
            <a:off x="3284700" y="3150642"/>
            <a:ext cx="94800" cy="71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2" name="Google Shape;2752;p87"/>
          <p:cNvCxnSpPr/>
          <p:nvPr/>
        </p:nvCxnSpPr>
        <p:spPr>
          <a:xfrm flipH="1" rot="10800000">
            <a:off x="3293325" y="3114296"/>
            <a:ext cx="1621500" cy="7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3" name="Google Shape;2753;p87"/>
          <p:cNvCxnSpPr/>
          <p:nvPr/>
        </p:nvCxnSpPr>
        <p:spPr>
          <a:xfrm flipH="1" rot="10800000">
            <a:off x="3284675" y="3101973"/>
            <a:ext cx="745200" cy="77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4" name="Google Shape;2754;p87"/>
          <p:cNvCxnSpPr/>
          <p:nvPr/>
        </p:nvCxnSpPr>
        <p:spPr>
          <a:xfrm flipH="1" rot="10800000">
            <a:off x="3276075" y="3211750"/>
            <a:ext cx="987000" cy="68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55" name="Google Shape;2755;p87"/>
          <p:cNvSpPr txBox="1"/>
          <p:nvPr/>
        </p:nvSpPr>
        <p:spPr>
          <a:xfrm>
            <a:off x="544608" y="3879088"/>
            <a:ext cx="4343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aleway"/>
              <a:buChar char="-"/>
            </a:pPr>
            <a:r>
              <a:rPr lang="es-419" sz="1600">
                <a:latin typeface="Raleway"/>
                <a:ea typeface="Raleway"/>
                <a:cs typeface="Raleway"/>
                <a:sym typeface="Raleway"/>
              </a:rPr>
              <a:t>Si son </a:t>
            </a:r>
            <a:r>
              <a:rPr lang="es-419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chicos</a:t>
            </a:r>
            <a:r>
              <a:rPr lang="es-419" sz="1600">
                <a:latin typeface="Raleway"/>
                <a:ea typeface="Raleway"/>
                <a:cs typeface="Raleway"/>
                <a:sym typeface="Raleway"/>
              </a:rPr>
              <a:t>:	   vanishing gradient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aleway"/>
              <a:buChar char="-"/>
            </a:pPr>
            <a:r>
              <a:rPr lang="es-419" sz="1600">
                <a:latin typeface="Raleway"/>
                <a:ea typeface="Raleway"/>
                <a:cs typeface="Raleway"/>
                <a:sym typeface="Raleway"/>
              </a:rPr>
              <a:t>Si son</a:t>
            </a:r>
            <a:r>
              <a:rPr lang="es-419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grandes</a:t>
            </a:r>
            <a:r>
              <a:rPr lang="es-419" sz="1600">
                <a:latin typeface="Raleway"/>
                <a:ea typeface="Raleway"/>
                <a:cs typeface="Raleway"/>
                <a:sym typeface="Raleway"/>
              </a:rPr>
              <a:t>:  exploding gradient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756" name="Google Shape;2756;p87"/>
          <p:cNvCxnSpPr/>
          <p:nvPr/>
        </p:nvCxnSpPr>
        <p:spPr>
          <a:xfrm flipH="1" rot="10800000">
            <a:off x="3293325" y="3169796"/>
            <a:ext cx="2085900" cy="70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57" name="Google Shape;2757;p87"/>
          <p:cNvSpPr/>
          <p:nvPr/>
        </p:nvSpPr>
        <p:spPr>
          <a:xfrm>
            <a:off x="4555825" y="3860904"/>
            <a:ext cx="94800" cy="713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8" name="Google Shape;2758;p87"/>
          <p:cNvSpPr txBox="1"/>
          <p:nvPr/>
        </p:nvSpPr>
        <p:spPr>
          <a:xfrm>
            <a:off x="5918725" y="3753824"/>
            <a:ext cx="29784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1C232"/>
                </a:solidFill>
                <a:latin typeface="Raleway"/>
                <a:ea typeface="Raleway"/>
                <a:cs typeface="Raleway"/>
                <a:sym typeface="Raleway"/>
              </a:rPr>
              <a:t>Si el gradiente tiende a cero, no vamos a actualizar W</a:t>
            </a:r>
            <a:endParaRPr b="1">
              <a:solidFill>
                <a:srgbClr val="F1C23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1C23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1C232"/>
                </a:solidFill>
                <a:latin typeface="Raleway"/>
                <a:ea typeface="Raleway"/>
                <a:cs typeface="Raleway"/>
                <a:sym typeface="Raleway"/>
              </a:rPr>
              <a:t>Si el gradiente explota, vamos a actualizar demasiado</a:t>
            </a:r>
            <a:endParaRPr b="1">
              <a:solidFill>
                <a:srgbClr val="F1C23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W' = W - \eta \nabla \mathcal{L}" id="2759" name="Google Shape;2759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3574" y="3287950"/>
            <a:ext cx="2456296" cy="3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3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" name="Google Shape;2764;p88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Exploding gradient: Gradient clipping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' = W - \eta \nabla \mathcal{L}" id="2765" name="Google Shape;2765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3474" y="1400209"/>
            <a:ext cx="1857049" cy="3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6" name="Google Shape;2766;p88"/>
          <p:cNvPicPr preferRelativeResize="0"/>
          <p:nvPr/>
        </p:nvPicPr>
        <p:blipFill rotWithShape="1">
          <a:blip r:embed="rId4">
            <a:alphaModFix/>
          </a:blip>
          <a:srcRect b="0" l="0" r="51208" t="0"/>
          <a:stretch/>
        </p:blipFill>
        <p:spPr>
          <a:xfrm>
            <a:off x="2687625" y="2676125"/>
            <a:ext cx="2191522" cy="2204651"/>
          </a:xfrm>
          <a:prstGeom prst="rect">
            <a:avLst/>
          </a:prstGeom>
          <a:noFill/>
          <a:ln>
            <a:noFill/>
          </a:ln>
        </p:spPr>
      </p:pic>
      <p:sp>
        <p:nvSpPr>
          <p:cNvPr id="2767" name="Google Shape;2767;p88"/>
          <p:cNvSpPr txBox="1"/>
          <p:nvPr/>
        </p:nvSpPr>
        <p:spPr>
          <a:xfrm>
            <a:off x="89325" y="3110650"/>
            <a:ext cx="25983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C0000"/>
                </a:solidFill>
              </a:rPr>
              <a:t>La primera pendiente abrupta (a la derecha del mínimo) permite subir por el “acantilado” para luego dar un paso muy largo</a:t>
            </a:r>
            <a:endParaRPr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</p:txBody>
      </p:sp>
      <p:cxnSp>
        <p:nvCxnSpPr>
          <p:cNvPr id="2768" name="Google Shape;2768;p88"/>
          <p:cNvCxnSpPr/>
          <p:nvPr/>
        </p:nvCxnSpPr>
        <p:spPr>
          <a:xfrm rot="10800000">
            <a:off x="3643375" y="4134600"/>
            <a:ext cx="614400" cy="772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69" name="Google Shape;2769;p88"/>
          <p:cNvSpPr txBox="1"/>
          <p:nvPr/>
        </p:nvSpPr>
        <p:spPr>
          <a:xfrm>
            <a:off x="4022950" y="4840025"/>
            <a:ext cx="13617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Starting point</a:t>
            </a:r>
            <a:endParaRPr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3" name="Shape 2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4" name="Google Shape;2774;p89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Exploding gradient: Gradient clipping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' = W - \eta \nabla \mathcal{L}" id="2775" name="Google Shape;277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3474" y="1400209"/>
            <a:ext cx="1857049" cy="30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f ||\nabla \mathcal{L}|| &gt; v_{max} : \nabla \mathcal{L} \rightarrow \frac{\nabla \mathcal{L}}{||\nabla \mathcal{L}||} v_{max}&#10;" id="2776" name="Google Shape;2776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2550" y="1742875"/>
            <a:ext cx="4338901" cy="6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7" name="Google Shape;2777;p89"/>
          <p:cNvPicPr preferRelativeResize="0"/>
          <p:nvPr/>
        </p:nvPicPr>
        <p:blipFill rotWithShape="1">
          <a:blip r:embed="rId5">
            <a:alphaModFix/>
          </a:blip>
          <a:srcRect b="0" l="0" r="51208" t="0"/>
          <a:stretch/>
        </p:blipFill>
        <p:spPr>
          <a:xfrm>
            <a:off x="2687625" y="2676125"/>
            <a:ext cx="2191522" cy="22046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8" name="Google Shape;2778;p89"/>
          <p:cNvCxnSpPr/>
          <p:nvPr/>
        </p:nvCxnSpPr>
        <p:spPr>
          <a:xfrm rot="10800000">
            <a:off x="3643375" y="4134600"/>
            <a:ext cx="614400" cy="772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9" name="Google Shape;2779;p89"/>
          <p:cNvSpPr txBox="1"/>
          <p:nvPr/>
        </p:nvSpPr>
        <p:spPr>
          <a:xfrm>
            <a:off x="4022950" y="4840025"/>
            <a:ext cx="13617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Starting point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2780" name="Google Shape;2780;p89"/>
          <p:cNvSpPr txBox="1"/>
          <p:nvPr/>
        </p:nvSpPr>
        <p:spPr>
          <a:xfrm>
            <a:off x="89325" y="3110650"/>
            <a:ext cx="25983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C0000"/>
                </a:solidFill>
              </a:rPr>
              <a:t>La primera pendiente abrupta (a la derecha del mínimo) permite subir por el “acantilado” para luego dar un paso muy largo</a:t>
            </a:r>
            <a:endParaRPr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4" name="Shape 2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" name="Google Shape;2785;p90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Exploding gradient: Gradient clipping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' = W - \eta \nabla \mathcal{L}" id="2786" name="Google Shape;278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3474" y="1400209"/>
            <a:ext cx="1857049" cy="30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f ||\nabla \mathcal{L}|| &gt; v_{max} : \nabla \mathcal{L} \rightarrow \frac{\nabla \mathcal{L}}{||\nabla \mathcal{L}||} v_{max}&#10;" id="2787" name="Google Shape;2787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2550" y="1742875"/>
            <a:ext cx="4338901" cy="6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8" name="Google Shape;2788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87625" y="2676125"/>
            <a:ext cx="4491497" cy="22046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9" name="Google Shape;2789;p90"/>
          <p:cNvCxnSpPr/>
          <p:nvPr/>
        </p:nvCxnSpPr>
        <p:spPr>
          <a:xfrm rot="10800000">
            <a:off x="3643375" y="4134600"/>
            <a:ext cx="614400" cy="772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90" name="Google Shape;2790;p90"/>
          <p:cNvSpPr txBox="1"/>
          <p:nvPr/>
        </p:nvSpPr>
        <p:spPr>
          <a:xfrm>
            <a:off x="4022950" y="4840025"/>
            <a:ext cx="13617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Starting point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2791" name="Google Shape;2791;p90"/>
          <p:cNvSpPr txBox="1"/>
          <p:nvPr/>
        </p:nvSpPr>
        <p:spPr>
          <a:xfrm>
            <a:off x="89325" y="3110650"/>
            <a:ext cx="25983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C0000"/>
                </a:solidFill>
              </a:rPr>
              <a:t>La primera pendiente abrupta (a la derecha del mínimo) permite subir por el “acantilado” para luego dar un paso muy largo</a:t>
            </a:r>
            <a:endParaRPr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2792" name="Google Shape;2792;p90"/>
          <p:cNvSpPr txBox="1"/>
          <p:nvPr/>
        </p:nvSpPr>
        <p:spPr>
          <a:xfrm>
            <a:off x="6952200" y="3261525"/>
            <a:ext cx="22680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8761D"/>
                </a:solidFill>
              </a:rPr>
              <a:t>El </a:t>
            </a:r>
            <a:r>
              <a:rPr i="1" lang="es-419">
                <a:solidFill>
                  <a:srgbClr val="38761D"/>
                </a:solidFill>
              </a:rPr>
              <a:t>gradient clipping</a:t>
            </a:r>
            <a:r>
              <a:rPr lang="es-419">
                <a:solidFill>
                  <a:srgbClr val="38761D"/>
                </a:solidFill>
              </a:rPr>
              <a:t> acota los pasos, por lo que no sube el “acantilado”</a:t>
            </a:r>
            <a:endParaRPr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6" name="Shape 2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7" name="Google Shape;2797;p91"/>
          <p:cNvSpPr txBox="1"/>
          <p:nvPr/>
        </p:nvSpPr>
        <p:spPr>
          <a:xfrm>
            <a:off x="354575" y="1500744"/>
            <a:ext cx="1690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F00FF"/>
                </a:solidFill>
              </a:rPr>
              <a:t>Backpropagation through time</a:t>
            </a:r>
            <a:endParaRPr b="1">
              <a:solidFill>
                <a:srgbClr val="FF00FF"/>
              </a:solidFill>
            </a:endParaRPr>
          </a:p>
        </p:txBody>
      </p:sp>
      <p:pic>
        <p:nvPicPr>
          <p:cNvPr descr="\frac{\partial \mathcal{L}_t(\theta)}{\partial W} = &#10; \frac{\partial \mathcal{L}_t(\theta)}{\partial h_t}&#10;\sum_{t=1}^T \frac{\partial h_t}{\partial h_k} \frac{\partial^+ h_k}{\partial W} " id="2798" name="Google Shape;279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5428" y="1478700"/>
            <a:ext cx="3095722" cy="6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9" name="Google Shape;2799;p91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Vanishing gradients</a:t>
            </a:r>
            <a:endParaRPr/>
          </a:p>
        </p:txBody>
      </p:sp>
      <p:cxnSp>
        <p:nvCxnSpPr>
          <p:cNvPr id="2800" name="Google Shape;2800;p91"/>
          <p:cNvCxnSpPr>
            <a:stCxn id="2801" idx="3"/>
          </p:cNvCxnSpPr>
          <p:nvPr/>
        </p:nvCxnSpPr>
        <p:spPr>
          <a:xfrm flipH="1">
            <a:off x="5112068" y="2195009"/>
            <a:ext cx="186900" cy="184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02" name="Google Shape;2802;p91"/>
          <p:cNvSpPr txBox="1"/>
          <p:nvPr/>
        </p:nvSpPr>
        <p:spPr>
          <a:xfrm>
            <a:off x="5298975" y="1207892"/>
            <a:ext cx="2217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>
                <a:latin typeface="Lato"/>
                <a:ea typeface="Lato"/>
                <a:cs typeface="Lato"/>
                <a:sym typeface="Lato"/>
              </a:rPr>
              <a:t>t</a:t>
            </a:r>
            <a:endParaRPr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01" name="Google Shape;2801;p91"/>
          <p:cNvSpPr/>
          <p:nvPr/>
        </p:nvSpPr>
        <p:spPr>
          <a:xfrm>
            <a:off x="5178150" y="1372525"/>
            <a:ext cx="825000" cy="963600"/>
          </a:xfrm>
          <a:prstGeom prst="ellipse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\frac{d \mathcal{L}}{dh_0}=\frac{d \mathcal{L}}{dh_6}\frac{dh_6}{dh_5}\frac{dh_5}{dh_4}\frac{dh_4}{dh_3}\frac{dh_3}{dh_2}\frac{dh_2}{dh_1}\frac{dh_1}{dh_0}" id="2803" name="Google Shape;2803;p91" title="MathEquation,#000000"/>
          <p:cNvPicPr preferRelativeResize="0"/>
          <p:nvPr/>
        </p:nvPicPr>
        <p:blipFill rotWithShape="1">
          <a:blip r:embed="rId4">
            <a:alphaModFix/>
          </a:blip>
          <a:srcRect b="0" l="32871" r="10523" t="0"/>
          <a:stretch/>
        </p:blipFill>
        <p:spPr>
          <a:xfrm>
            <a:off x="3087525" y="2429381"/>
            <a:ext cx="2610526" cy="622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4" name="Google Shape;2804;p91"/>
          <p:cNvSpPr txBox="1"/>
          <p:nvPr/>
        </p:nvSpPr>
        <p:spPr>
          <a:xfrm>
            <a:off x="1711458" y="2536831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Dado t=6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05" name="Google Shape;2805;p91"/>
          <p:cNvCxnSpPr>
            <a:stCxn id="2804" idx="3"/>
            <a:endCxn id="2803" idx="1"/>
          </p:cNvCxnSpPr>
          <p:nvPr/>
        </p:nvCxnSpPr>
        <p:spPr>
          <a:xfrm>
            <a:off x="2737458" y="2736931"/>
            <a:ext cx="3501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9" name="Shape 2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0" name="Google Shape;2810;p92"/>
          <p:cNvSpPr txBox="1"/>
          <p:nvPr/>
        </p:nvSpPr>
        <p:spPr>
          <a:xfrm>
            <a:off x="354575" y="1500744"/>
            <a:ext cx="1690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F00FF"/>
                </a:solidFill>
              </a:rPr>
              <a:t>Backpropagation through time</a:t>
            </a:r>
            <a:endParaRPr b="1">
              <a:solidFill>
                <a:srgbClr val="FF00FF"/>
              </a:solidFill>
            </a:endParaRPr>
          </a:p>
        </p:txBody>
      </p:sp>
      <p:pic>
        <p:nvPicPr>
          <p:cNvPr descr="\frac{\partial \mathcal{L}_t(\theta)}{\partial W} = &#10; \frac{\partial \mathcal{L}_t(\theta)}{\partial h_t}&#10;\sum_{t=1}^T \frac{\partial h_t}{\partial h_k} \frac{\partial^+ h_k}{\partial W} " id="2811" name="Google Shape;2811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5428" y="1478700"/>
            <a:ext cx="3095722" cy="6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2" name="Google Shape;2812;p92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Vanishing gradients</a:t>
            </a:r>
            <a:endParaRPr/>
          </a:p>
        </p:txBody>
      </p:sp>
      <p:cxnSp>
        <p:nvCxnSpPr>
          <p:cNvPr id="2813" name="Google Shape;2813;p92"/>
          <p:cNvCxnSpPr>
            <a:stCxn id="2814" idx="3"/>
          </p:cNvCxnSpPr>
          <p:nvPr/>
        </p:nvCxnSpPr>
        <p:spPr>
          <a:xfrm flipH="1">
            <a:off x="5112068" y="2195009"/>
            <a:ext cx="186900" cy="184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15" name="Google Shape;2815;p92"/>
          <p:cNvSpPr txBox="1"/>
          <p:nvPr/>
        </p:nvSpPr>
        <p:spPr>
          <a:xfrm>
            <a:off x="5298975" y="1207892"/>
            <a:ext cx="2217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>
                <a:latin typeface="Lato"/>
                <a:ea typeface="Lato"/>
                <a:cs typeface="Lato"/>
                <a:sym typeface="Lato"/>
              </a:rPr>
              <a:t>t</a:t>
            </a:r>
            <a:endParaRPr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4" name="Google Shape;2814;p92"/>
          <p:cNvSpPr/>
          <p:nvPr/>
        </p:nvSpPr>
        <p:spPr>
          <a:xfrm>
            <a:off x="5178150" y="1372525"/>
            <a:ext cx="825000" cy="963600"/>
          </a:xfrm>
          <a:prstGeom prst="ellipse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\frac{d \mathcal{L}}{dh_0}=\frac{d \mathcal{L}}{dh_6}\frac{dh_6}{dh_5}\frac{dh_5}{dh_4}\frac{dh_4}{dh_3}\frac{dh_3}{dh_2}\frac{dh_2}{dh_1}\frac{dh_1}{dh_0}" id="2816" name="Google Shape;2816;p92" title="MathEquation,#000000"/>
          <p:cNvPicPr preferRelativeResize="0"/>
          <p:nvPr/>
        </p:nvPicPr>
        <p:blipFill rotWithShape="1">
          <a:blip r:embed="rId4">
            <a:alphaModFix/>
          </a:blip>
          <a:srcRect b="0" l="32871" r="10523" t="0"/>
          <a:stretch/>
        </p:blipFill>
        <p:spPr>
          <a:xfrm>
            <a:off x="3087525" y="2429381"/>
            <a:ext cx="2610526" cy="622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7" name="Google Shape;2817;p92"/>
          <p:cNvSpPr txBox="1"/>
          <p:nvPr/>
        </p:nvSpPr>
        <p:spPr>
          <a:xfrm>
            <a:off x="1711458" y="2536831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Dado t=6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18" name="Google Shape;2818;p92"/>
          <p:cNvCxnSpPr>
            <a:stCxn id="2817" idx="3"/>
            <a:endCxn id="2816" idx="1"/>
          </p:cNvCxnSpPr>
          <p:nvPr/>
        </p:nvCxnSpPr>
        <p:spPr>
          <a:xfrm>
            <a:off x="2737458" y="2736931"/>
            <a:ext cx="3501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19" name="Google Shape;2819;p92"/>
          <p:cNvSpPr/>
          <p:nvPr/>
        </p:nvSpPr>
        <p:spPr>
          <a:xfrm>
            <a:off x="4646150" y="2420575"/>
            <a:ext cx="1026000" cy="622500"/>
          </a:xfrm>
          <a:prstGeom prst="rect">
            <a:avLst/>
          </a:prstGeom>
          <a:solidFill>
            <a:srgbClr val="E9EDEE">
              <a:alpha val="5418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0" name="Google Shape;2820;p92"/>
          <p:cNvSpPr txBox="1"/>
          <p:nvPr/>
        </p:nvSpPr>
        <p:spPr>
          <a:xfrm>
            <a:off x="6821225" y="2500469"/>
            <a:ext cx="1690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1C232"/>
                </a:solidFill>
              </a:rPr>
              <a:t>Calculemos el gradiente sin tener en cuenta desde el principio</a:t>
            </a:r>
            <a:endParaRPr b="1">
              <a:solidFill>
                <a:srgbClr val="F1C232"/>
              </a:solidFill>
            </a:endParaRPr>
          </a:p>
        </p:txBody>
      </p:sp>
      <p:cxnSp>
        <p:nvCxnSpPr>
          <p:cNvPr id="2821" name="Google Shape;2821;p92"/>
          <p:cNvCxnSpPr/>
          <p:nvPr/>
        </p:nvCxnSpPr>
        <p:spPr>
          <a:xfrm>
            <a:off x="5562600" y="2215675"/>
            <a:ext cx="1327500" cy="8544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5" name="Shape 2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" name="Google Shape;2826;p93"/>
          <p:cNvSpPr txBox="1"/>
          <p:nvPr/>
        </p:nvSpPr>
        <p:spPr>
          <a:xfrm>
            <a:off x="354575" y="1500744"/>
            <a:ext cx="1690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F00FF"/>
                </a:solidFill>
              </a:rPr>
              <a:t>Backpropagation through time</a:t>
            </a:r>
            <a:endParaRPr b="1">
              <a:solidFill>
                <a:srgbClr val="FF00FF"/>
              </a:solidFill>
            </a:endParaRPr>
          </a:p>
        </p:txBody>
      </p:sp>
      <p:pic>
        <p:nvPicPr>
          <p:cNvPr descr="\frac{\partial \mathcal{L}_t(\theta)}{\partial W} = &#10; \frac{\partial \mathcal{L}_t(\theta)}{\partial h_t}&#10;\sum_{t=1}^T \frac{\partial h_t}{\partial h_k} \frac{\partial^+ h_k}{\partial W} " id="2827" name="Google Shape;2827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5428" y="1478700"/>
            <a:ext cx="3095722" cy="6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8" name="Google Shape;2828;p93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Vanishing gradients</a:t>
            </a:r>
            <a:endParaRPr/>
          </a:p>
        </p:txBody>
      </p:sp>
      <p:cxnSp>
        <p:nvCxnSpPr>
          <p:cNvPr id="2829" name="Google Shape;2829;p93"/>
          <p:cNvCxnSpPr>
            <a:stCxn id="2830" idx="3"/>
          </p:cNvCxnSpPr>
          <p:nvPr/>
        </p:nvCxnSpPr>
        <p:spPr>
          <a:xfrm flipH="1">
            <a:off x="5112068" y="2195009"/>
            <a:ext cx="186900" cy="184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1" name="Google Shape;2831;p93"/>
          <p:cNvSpPr txBox="1"/>
          <p:nvPr/>
        </p:nvSpPr>
        <p:spPr>
          <a:xfrm>
            <a:off x="5298975" y="1207892"/>
            <a:ext cx="2217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>
                <a:latin typeface="Lato"/>
                <a:ea typeface="Lato"/>
                <a:cs typeface="Lato"/>
                <a:sym typeface="Lato"/>
              </a:rPr>
              <a:t>t</a:t>
            </a:r>
            <a:endParaRPr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30" name="Google Shape;2830;p93"/>
          <p:cNvSpPr/>
          <p:nvPr/>
        </p:nvSpPr>
        <p:spPr>
          <a:xfrm>
            <a:off x="5178150" y="1372525"/>
            <a:ext cx="825000" cy="963600"/>
          </a:xfrm>
          <a:prstGeom prst="ellipse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\frac{d \mathcal{L}}{dh_0}=\frac{d \mathcal{L}}{dh_6}\frac{dh_6}{dh_5}\frac{dh_5}{dh_4}\frac{dh_4}{dh_3}\frac{dh_3}{dh_2}\frac{dh_2}{dh_1}\frac{dh_1}{dh_0}" id="2832" name="Google Shape;2832;p93" title="MathEquation,#000000"/>
          <p:cNvPicPr preferRelativeResize="0"/>
          <p:nvPr/>
        </p:nvPicPr>
        <p:blipFill rotWithShape="1">
          <a:blip r:embed="rId4">
            <a:alphaModFix/>
          </a:blip>
          <a:srcRect b="0" l="32871" r="10523" t="0"/>
          <a:stretch/>
        </p:blipFill>
        <p:spPr>
          <a:xfrm>
            <a:off x="3087525" y="2429381"/>
            <a:ext cx="2610526" cy="622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3" name="Google Shape;2833;p93"/>
          <p:cNvSpPr txBox="1"/>
          <p:nvPr/>
        </p:nvSpPr>
        <p:spPr>
          <a:xfrm>
            <a:off x="1711458" y="2536831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Dado t=6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34" name="Google Shape;2834;p93"/>
          <p:cNvCxnSpPr>
            <a:stCxn id="2833" idx="3"/>
            <a:endCxn id="2832" idx="1"/>
          </p:cNvCxnSpPr>
          <p:nvPr/>
        </p:nvCxnSpPr>
        <p:spPr>
          <a:xfrm>
            <a:off x="2737458" y="2736931"/>
            <a:ext cx="3501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5" name="Google Shape;2835;p93"/>
          <p:cNvSpPr/>
          <p:nvPr/>
        </p:nvSpPr>
        <p:spPr>
          <a:xfrm>
            <a:off x="4646150" y="2420575"/>
            <a:ext cx="1026000" cy="622500"/>
          </a:xfrm>
          <a:prstGeom prst="rect">
            <a:avLst/>
          </a:prstGeom>
          <a:solidFill>
            <a:srgbClr val="E9EDEE">
              <a:alpha val="5418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6" name="Google Shape;2836;p93"/>
          <p:cNvSpPr txBox="1"/>
          <p:nvPr/>
        </p:nvSpPr>
        <p:spPr>
          <a:xfrm>
            <a:off x="6821225" y="2500469"/>
            <a:ext cx="1690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1C232"/>
                </a:solidFill>
              </a:rPr>
              <a:t>Calculemos el gradiente sin tener en cuenta desde el principio</a:t>
            </a:r>
            <a:endParaRPr b="1">
              <a:solidFill>
                <a:srgbClr val="F1C232"/>
              </a:solidFill>
            </a:endParaRPr>
          </a:p>
        </p:txBody>
      </p:sp>
      <p:cxnSp>
        <p:nvCxnSpPr>
          <p:cNvPr id="2837" name="Google Shape;2837;p93"/>
          <p:cNvCxnSpPr/>
          <p:nvPr/>
        </p:nvCxnSpPr>
        <p:spPr>
          <a:xfrm>
            <a:off x="5562600" y="2215675"/>
            <a:ext cx="1327500" cy="8544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8" name="Google Shape;2838;p93"/>
          <p:cNvSpPr txBox="1"/>
          <p:nvPr/>
        </p:nvSpPr>
        <p:spPr>
          <a:xfrm>
            <a:off x="2921125" y="3796725"/>
            <a:ext cx="41643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rgbClr val="CC0000"/>
                </a:solidFill>
              </a:rPr>
              <a:t>Vamos a perder las dependencias de largo alcance de nuevo</a:t>
            </a:r>
            <a:endParaRPr b="1" sz="21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2" name="Shape 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Google Shape;2843;p94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LSTMs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7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95"/>
          <p:cNvSpPr txBox="1"/>
          <p:nvPr/>
        </p:nvSpPr>
        <p:spPr>
          <a:xfrm>
            <a:off x="352200" y="4685750"/>
            <a:ext cx="8791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2849" name="Google Shape;284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9613" y="1744850"/>
            <a:ext cx="3470049" cy="130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0" name="Google Shape;2850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1125" y="3251600"/>
            <a:ext cx="2363550" cy="44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1" name="Google Shape;2851;p95"/>
          <p:cNvSpPr txBox="1"/>
          <p:nvPr/>
        </p:nvSpPr>
        <p:spPr>
          <a:xfrm>
            <a:off x="168625" y="1410200"/>
            <a:ext cx="52410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●"/>
            </a:pPr>
            <a:r>
              <a:rPr lang="es-419">
                <a:solidFill>
                  <a:srgbClr val="666666"/>
                </a:solidFill>
              </a:rPr>
              <a:t>Diseñadas especialmente para evitar problemas de dependencia a largo plazo.</a:t>
            </a:r>
            <a:endParaRPr>
              <a:solidFill>
                <a:srgbClr val="666666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●"/>
            </a:pPr>
            <a:r>
              <a:rPr lang="es-419">
                <a:solidFill>
                  <a:srgbClr val="666666"/>
                </a:solidFill>
              </a:rPr>
              <a:t>Pueden recordar información por períodos más largos.</a:t>
            </a:r>
            <a:endParaRPr>
              <a:solidFill>
                <a:srgbClr val="666666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●"/>
            </a:pPr>
            <a:r>
              <a:rPr lang="es-419">
                <a:solidFill>
                  <a:srgbClr val="666666"/>
                </a:solidFill>
              </a:rPr>
              <a:t>Muy utilizadas en problemas de predicción de secuencias.</a:t>
            </a:r>
            <a:endParaRPr>
              <a:solidFill>
                <a:srgbClr val="666666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●"/>
            </a:pPr>
            <a:r>
              <a:rPr lang="es-419">
                <a:solidFill>
                  <a:srgbClr val="666666"/>
                </a:solidFill>
              </a:rPr>
              <a:t>Ademas de estado oculto hi , el LSTM guarda información de largo alcance en otra unidad llamada cell state ci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2852" name="Google Shape;2852;p95"/>
          <p:cNvSpPr txBox="1"/>
          <p:nvPr/>
        </p:nvSpPr>
        <p:spPr>
          <a:xfrm>
            <a:off x="5411125" y="4625425"/>
            <a:ext cx="3604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666666"/>
                </a:solidFill>
              </a:rPr>
              <a:t>S Hochreiter, J Schmidhube, 1997 Long short-term memory</a:t>
            </a:r>
            <a:endParaRPr sz="1000">
              <a:solidFill>
                <a:srgbClr val="666666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666666"/>
                </a:solidFill>
              </a:rPr>
              <a:t>http://colah.github.io/posts/2015-08-Understanding-LSTMs/</a:t>
            </a:r>
            <a:endParaRPr sz="1000">
              <a:solidFill>
                <a:srgbClr val="666666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</a:endParaRPr>
          </a:p>
        </p:txBody>
      </p:sp>
      <p:sp>
        <p:nvSpPr>
          <p:cNvPr id="2853" name="Google Shape;2853;p95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Long short-term memory (LSTM)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7" name="Shape 2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bold{c^{(t)}}=\bold{f}^{t}\, \circ \,\bold{c}^{(t-1)} + \bold{i}^{(t)}\; \circ  \; \bold{\tilde{c}}^{(t)}\\&#10;&#10;\bold{\tilde{c}}^{(t)}=\sigma(\bold{b}_c+\bold{W}_c\bold{h}^{(t-1)} + \bold{U}_c \bold{x}^{(t)})\\&#10;\bold{h}^{(t)}=\bold{o}^{t}\; \circ  \; \tanh(\bold{c^{(t)}})" id="2858" name="Google Shape;2858;p96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75" y="5327524"/>
            <a:ext cx="4309700" cy="134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9" name="Google Shape;2859;p96"/>
          <p:cNvPicPr preferRelativeResize="0"/>
          <p:nvPr/>
        </p:nvPicPr>
        <p:blipFill rotWithShape="1">
          <a:blip r:embed="rId4">
            <a:alphaModFix/>
          </a:blip>
          <a:srcRect b="0" l="30135" r="33496" t="0"/>
          <a:stretch/>
        </p:blipFill>
        <p:spPr>
          <a:xfrm>
            <a:off x="5075325" y="1205875"/>
            <a:ext cx="3596749" cy="3715874"/>
          </a:xfrm>
          <a:prstGeom prst="rect">
            <a:avLst/>
          </a:prstGeom>
          <a:noFill/>
          <a:ln>
            <a:noFill/>
          </a:ln>
        </p:spPr>
      </p:pic>
      <p:sp>
        <p:nvSpPr>
          <p:cNvPr id="2860" name="Google Shape;2860;p96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Long short-term memory (LSTM)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1" name="Google Shape;2861;p96"/>
          <p:cNvSpPr txBox="1"/>
          <p:nvPr/>
        </p:nvSpPr>
        <p:spPr>
          <a:xfrm>
            <a:off x="145975" y="1710825"/>
            <a:ext cx="4530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666666"/>
                </a:solidFill>
              </a:rPr>
              <a:t>Forget Gate</a:t>
            </a:r>
            <a:r>
              <a:rPr lang="es-419">
                <a:solidFill>
                  <a:srgbClr val="666666"/>
                </a:solidFill>
              </a:rPr>
              <a:t>: Decide qué información descartar.</a:t>
            </a:r>
            <a:endParaRPr>
              <a:solidFill>
                <a:srgbClr val="6666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666666"/>
                </a:solidFill>
              </a:rPr>
              <a:t>Input Gate:</a:t>
            </a:r>
            <a:r>
              <a:rPr lang="es-419">
                <a:solidFill>
                  <a:srgbClr val="666666"/>
                </a:solidFill>
              </a:rPr>
              <a:t> Actualiza el estado de la celda con nueva información.</a:t>
            </a:r>
            <a:endParaRPr>
              <a:solidFill>
                <a:srgbClr val="6666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666666"/>
                </a:solidFill>
              </a:rPr>
              <a:t>Output Gate:</a:t>
            </a:r>
            <a:r>
              <a:rPr lang="es-419">
                <a:solidFill>
                  <a:srgbClr val="666666"/>
                </a:solidFill>
              </a:rPr>
              <a:t> Decide la salida basándose en el estado de la celda.</a:t>
            </a:r>
            <a:endParaRPr>
              <a:solidFill>
                <a:srgbClr val="6666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666666"/>
                </a:solidFill>
              </a:rPr>
              <a:t>Cell State:</a:t>
            </a:r>
            <a:r>
              <a:rPr lang="es-419">
                <a:solidFill>
                  <a:srgbClr val="666666"/>
                </a:solidFill>
              </a:rPr>
              <a:t> La "memoria" del LSTM.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5" name="Shape 2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6" name="Google Shape;2866;p97"/>
          <p:cNvSpPr txBox="1"/>
          <p:nvPr/>
        </p:nvSpPr>
        <p:spPr>
          <a:xfrm>
            <a:off x="4005975" y="1952125"/>
            <a:ext cx="14652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new cell content</a:t>
            </a:r>
            <a:endParaRPr>
              <a:solidFill>
                <a:srgbClr val="4A86E8"/>
              </a:solidFill>
            </a:endParaRPr>
          </a:p>
        </p:txBody>
      </p:sp>
      <p:cxnSp>
        <p:nvCxnSpPr>
          <p:cNvPr id="2867" name="Google Shape;2867;p97"/>
          <p:cNvCxnSpPr/>
          <p:nvPr/>
        </p:nvCxnSpPr>
        <p:spPr>
          <a:xfrm flipH="1">
            <a:off x="3891125" y="2339050"/>
            <a:ext cx="379200" cy="2412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68" name="Google Shape;2868;p97"/>
          <p:cNvSpPr txBox="1"/>
          <p:nvPr/>
        </p:nvSpPr>
        <p:spPr>
          <a:xfrm>
            <a:off x="2698475" y="1780163"/>
            <a:ext cx="993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input gate</a:t>
            </a:r>
            <a:endParaRPr>
              <a:solidFill>
                <a:srgbClr val="4A86E8"/>
              </a:solidFill>
            </a:endParaRPr>
          </a:p>
        </p:txBody>
      </p:sp>
      <p:cxnSp>
        <p:nvCxnSpPr>
          <p:cNvPr id="2869" name="Google Shape;2869;p97"/>
          <p:cNvCxnSpPr/>
          <p:nvPr/>
        </p:nvCxnSpPr>
        <p:spPr>
          <a:xfrm flipH="1">
            <a:off x="2801175" y="2141975"/>
            <a:ext cx="166200" cy="430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0" name="Google Shape;2870;p97"/>
          <p:cNvCxnSpPr/>
          <p:nvPr/>
        </p:nvCxnSpPr>
        <p:spPr>
          <a:xfrm flipH="1">
            <a:off x="1253050" y="1862125"/>
            <a:ext cx="126000" cy="7509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71" name="Google Shape;2871;p97"/>
          <p:cNvSpPr txBox="1"/>
          <p:nvPr/>
        </p:nvSpPr>
        <p:spPr>
          <a:xfrm>
            <a:off x="1051550" y="1507975"/>
            <a:ext cx="10860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forget gate</a:t>
            </a:r>
            <a:endParaRPr>
              <a:solidFill>
                <a:srgbClr val="4A86E8"/>
              </a:solidFill>
            </a:endParaRPr>
          </a:p>
        </p:txBody>
      </p:sp>
      <p:cxnSp>
        <p:nvCxnSpPr>
          <p:cNvPr id="2872" name="Google Shape;2872;p97"/>
          <p:cNvCxnSpPr>
            <a:stCxn id="2873" idx="2"/>
          </p:cNvCxnSpPr>
          <p:nvPr/>
        </p:nvCxnSpPr>
        <p:spPr>
          <a:xfrm flipH="1">
            <a:off x="568975" y="1810025"/>
            <a:ext cx="44400" cy="7329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73" name="Google Shape;2873;p97"/>
          <p:cNvSpPr txBox="1"/>
          <p:nvPr/>
        </p:nvSpPr>
        <p:spPr>
          <a:xfrm>
            <a:off x="70375" y="1474025"/>
            <a:ext cx="10860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cell state</a:t>
            </a:r>
            <a:endParaRPr>
              <a:solidFill>
                <a:srgbClr val="4A86E8"/>
              </a:solidFill>
            </a:endParaRPr>
          </a:p>
        </p:txBody>
      </p:sp>
      <p:pic>
        <p:nvPicPr>
          <p:cNvPr id="2874" name="Google Shape;2874;p97"/>
          <p:cNvPicPr preferRelativeResize="0"/>
          <p:nvPr/>
        </p:nvPicPr>
        <p:blipFill rotWithShape="1">
          <a:blip r:embed="rId3">
            <a:alphaModFix/>
          </a:blip>
          <a:srcRect b="0" l="0" r="50833" t="0"/>
          <a:stretch/>
        </p:blipFill>
        <p:spPr>
          <a:xfrm>
            <a:off x="4839150" y="2176875"/>
            <a:ext cx="3680303" cy="231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old{f}^{(t)}=\sigma(\bold{b}_f+\bold{W}_f\bold{h}^{(t-1)}+\bold{U}_f\bold{x}^{(t)})\\&#10;\bold{i}^{(t)}=\sigma(\bold{b}_i+\bold{W}_i\bold{h}^{(t-1)}+\bold{U}_i\bold{x}^{(t)})\\&#10;\bold{o}^{(t)}=\sigma(\bold{b}_o+\bold{W}_o\bold{h}^{(t-1)}+\bold{U}_o\bold{x}^{(t)})\\" id="2875" name="Google Shape;2875;p97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2041" y="5224625"/>
            <a:ext cx="3277420" cy="127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old{c^{(t)}}=\bold{f}^{t}\, \circ \,\bold{c}^{(t-1)} + \bold{i}^{(t)}\; \circ  \; \bold{\tilde{c}}^{(t)}\\&#10;&#10;\bold{\tilde{c}}^{(t)}=\sigma(\bold{b}_c+\bold{W}_c\bold{h}^{(t-1)} + \bold{U}_c \bold{x}^{(t)})\\&#10;\bold{h}^{(t)}=\bold{o}^{t}\; \circ  \; \tanh(\bold{c^{(t)}})" id="2876" name="Google Shape;2876;p97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075" y="5327524"/>
            <a:ext cx="4309700" cy="134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old{c^{(t)}}=\bold{f}^{t}\, \circ \,\bold{c}^{(t-1)} + \bold{i}^{(t)}\; \circ  \; \bold{\tilde{c}}^{(t)}\\&#10;&#10;\bold{\tilde{c}}^{(t)}=\sigma(\bold{b}_c+\bold{W}_c\bold{h}^{(t-1)} + \bold{U}_c \bold{x}^{(t)})\\&#10;\bold{h}^{(t)}=\bold{o}^{t}\; \circ  \; \tanh(\bold{c^{(t)}})" id="2877" name="Google Shape;2877;p97" title="MathEquation,#000000"/>
          <p:cNvPicPr preferRelativeResize="0"/>
          <p:nvPr/>
        </p:nvPicPr>
        <p:blipFill rotWithShape="1">
          <a:blip r:embed="rId5">
            <a:alphaModFix/>
          </a:blip>
          <a:srcRect b="35002" l="0" r="0" t="0"/>
          <a:stretch/>
        </p:blipFill>
        <p:spPr>
          <a:xfrm>
            <a:off x="363500" y="2631175"/>
            <a:ext cx="3963000" cy="80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8" name="Google Shape;2878;p97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Long short-term memory (LSTM)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2" name="Shape 2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3" name="Google Shape;2883;p98"/>
          <p:cNvSpPr txBox="1"/>
          <p:nvPr/>
        </p:nvSpPr>
        <p:spPr>
          <a:xfrm>
            <a:off x="3945650" y="1780175"/>
            <a:ext cx="14652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new cell content</a:t>
            </a:r>
            <a:endParaRPr>
              <a:solidFill>
                <a:srgbClr val="4A86E8"/>
              </a:solidFill>
            </a:endParaRPr>
          </a:p>
        </p:txBody>
      </p:sp>
      <p:cxnSp>
        <p:nvCxnSpPr>
          <p:cNvPr id="2884" name="Google Shape;2884;p98"/>
          <p:cNvCxnSpPr/>
          <p:nvPr/>
        </p:nvCxnSpPr>
        <p:spPr>
          <a:xfrm flipH="1">
            <a:off x="3878200" y="2155125"/>
            <a:ext cx="396600" cy="370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85" name="Google Shape;2885;p98"/>
          <p:cNvSpPr txBox="1"/>
          <p:nvPr/>
        </p:nvSpPr>
        <p:spPr>
          <a:xfrm>
            <a:off x="2698475" y="1780163"/>
            <a:ext cx="993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input gate</a:t>
            </a:r>
            <a:endParaRPr>
              <a:solidFill>
                <a:srgbClr val="4A86E8"/>
              </a:solidFill>
            </a:endParaRPr>
          </a:p>
        </p:txBody>
      </p:sp>
      <p:cxnSp>
        <p:nvCxnSpPr>
          <p:cNvPr id="2886" name="Google Shape;2886;p98"/>
          <p:cNvCxnSpPr/>
          <p:nvPr/>
        </p:nvCxnSpPr>
        <p:spPr>
          <a:xfrm flipH="1">
            <a:off x="2801175" y="2141975"/>
            <a:ext cx="166200" cy="430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7" name="Google Shape;2887;p98"/>
          <p:cNvCxnSpPr/>
          <p:nvPr/>
        </p:nvCxnSpPr>
        <p:spPr>
          <a:xfrm flipH="1">
            <a:off x="1253050" y="1862125"/>
            <a:ext cx="126000" cy="7509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88" name="Google Shape;2888;p98"/>
          <p:cNvSpPr txBox="1"/>
          <p:nvPr/>
        </p:nvSpPr>
        <p:spPr>
          <a:xfrm>
            <a:off x="1051550" y="1507975"/>
            <a:ext cx="10860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forget gate</a:t>
            </a:r>
            <a:endParaRPr>
              <a:solidFill>
                <a:srgbClr val="4A86E8"/>
              </a:solidFill>
            </a:endParaRPr>
          </a:p>
        </p:txBody>
      </p:sp>
      <p:cxnSp>
        <p:nvCxnSpPr>
          <p:cNvPr id="2889" name="Google Shape;2889;p98"/>
          <p:cNvCxnSpPr>
            <a:stCxn id="2890" idx="2"/>
          </p:cNvCxnSpPr>
          <p:nvPr/>
        </p:nvCxnSpPr>
        <p:spPr>
          <a:xfrm flipH="1">
            <a:off x="568975" y="1810025"/>
            <a:ext cx="44400" cy="7329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90" name="Google Shape;2890;p98"/>
          <p:cNvSpPr txBox="1"/>
          <p:nvPr/>
        </p:nvSpPr>
        <p:spPr>
          <a:xfrm>
            <a:off x="70375" y="1474025"/>
            <a:ext cx="10860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cell state</a:t>
            </a:r>
            <a:endParaRPr>
              <a:solidFill>
                <a:srgbClr val="4A86E8"/>
              </a:solidFill>
            </a:endParaRPr>
          </a:p>
        </p:txBody>
      </p:sp>
      <p:pic>
        <p:nvPicPr>
          <p:cNvPr descr="\bold{f}^{(t)}=\sigma(\bold{b}_f+\bold{W}_f\bold{h}^{(t-1)}+\bold{U}_f\bold{x}^{(t)})\\&#10;\bold{i}^{(t)}=\sigma(\bold{b}_i+\bold{W}_i\bold{h}^{(t-1)}+\bold{U}_i\bold{x}^{(t)})\\&#10;\bold{o}^{(t)}=\sigma(\bold{b}_o+\bold{W}_o\bold{h}^{(t-1)}+\bold{U}_o\bold{x}^{(t)})\\" id="2891" name="Google Shape;2891;p98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041" y="5224625"/>
            <a:ext cx="3277420" cy="127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old{c^{(t)}}=\bold{f}^{t}\, \circ \,\bold{c}^{(t-1)} + \bold{i}^{(t)}\; \circ  \; \bold{\tilde{c}}^{(t)}\\&#10;&#10;\bold{\tilde{c}}^{(t)}=\sigma(\bold{b}_c+\bold{W}_c\bold{h}^{(t-1)} + \bold{U}_c \bold{x}^{(t)})\\&#10;\bold{h}^{(t)}=\bold{o}^{t}\; \circ  \; \tanh(\bold{c^{(t)}})" id="2892" name="Google Shape;2892;p98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075" y="5327524"/>
            <a:ext cx="4309700" cy="134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old{c^{(t)}}=\bold{f}^{t}\, \circ \,\bold{c}^{(t-1)} + \bold{i}^{(t)}\; \circ  \; \bold{\tilde{c}}^{(t)}\\&#10;&#10;\bold{\tilde{c}}^{(t)}=\sigma(\bold{b}_c+\bold{W}_c\bold{h}^{(t-1)} + \bold{U}_c \bold{x}^{(t)})\\&#10;\bold{h}^{(t)}=\bold{o}^{t}\; \circ  \; \tanh(\bold{c^{(t)}})" id="2893" name="Google Shape;2893;p98" title="MathEquation,#0000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500" y="2631175"/>
            <a:ext cx="3963000" cy="12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4" name="Google Shape;2894;p98"/>
          <p:cNvPicPr preferRelativeResize="0"/>
          <p:nvPr/>
        </p:nvPicPr>
        <p:blipFill rotWithShape="1">
          <a:blip r:embed="rId5">
            <a:alphaModFix/>
          </a:blip>
          <a:srcRect b="0" l="0" r="50107" t="0"/>
          <a:stretch/>
        </p:blipFill>
        <p:spPr>
          <a:xfrm>
            <a:off x="4967475" y="2184725"/>
            <a:ext cx="3508874" cy="2172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95" name="Google Shape;2895;p98"/>
          <p:cNvCxnSpPr>
            <a:stCxn id="2896" idx="1"/>
          </p:cNvCxnSpPr>
          <p:nvPr/>
        </p:nvCxnSpPr>
        <p:spPr>
          <a:xfrm rot="10800000">
            <a:off x="1422250" y="3861600"/>
            <a:ext cx="678000" cy="229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96" name="Google Shape;2896;p98"/>
          <p:cNvSpPr txBox="1"/>
          <p:nvPr/>
        </p:nvSpPr>
        <p:spPr>
          <a:xfrm>
            <a:off x="2100250" y="3923100"/>
            <a:ext cx="10860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output</a:t>
            </a:r>
            <a:r>
              <a:rPr lang="es-419">
                <a:solidFill>
                  <a:srgbClr val="4A86E8"/>
                </a:solidFill>
              </a:rPr>
              <a:t> gate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2897" name="Google Shape;2897;p98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Long short-term memory (LSTM)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1" name="Shape 2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bold{f}^{(t)}=\sigma(\bold{b}_f+\bold{W}_f\bold{h}^{(t-1)}+\bold{U}_f\bold{x}^{(t)})\\&#10;\bold{i}^{(t)}=\sigma(\bold{b}_i+\bold{W}_i\bold{h}^{(t-1)}+\bold{U}_i\bold{x}^{(t)})\\&#10;\bold{o}^{(t)}=\sigma(\bold{b}_o+\bold{W}_o\bold{h}^{(t-1)}+\bold{U}_o\bold{x}^{(t)})\\" id="2902" name="Google Shape;2902;p99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151050"/>
            <a:ext cx="3461656" cy="134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old{c^{(t)}}=\bold{f}^{t}\, \circ \,\bold{c}^{(t-1)} + \bold{i}^{(t)}\; \circ  \; \bold{\tilde{c}}^{(t)}\\&#10;&#10;\bold{\tilde{c}}^{(t)}=\sigma(\bold{b}_c+\bold{W}_c\bold{h}^{(t-1)} + \bold{U}_c \bold{x}^{(t)})\\&#10;\bold{h}^{(t)}=\bold{o}^{t}\; \circ  \; \tanh(\bold{c^{(t)}})" id="2903" name="Google Shape;2903;p99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075" y="5327524"/>
            <a:ext cx="4309700" cy="134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old{c^{(t)}}=\bold{f}^{t}\, \circ \,\bold{c}^{(t-1)} + \bold{i}^{(t)}\; \circ  \; \bold{\tilde{c}}^{(t)}\\&#10;&#10;\bold{\tilde{c}}^{(t)}=\sigma(\bold{b}_c+\bold{W}_c\bold{h}^{(t-1)} + \bold{U}_c \bold{x}^{(t)})\\&#10;\bold{h}^{(t)}=\bold{o}^{t}\; \circ  \; \tanh(\bold{c^{(t)}})" id="2904" name="Google Shape;2904;p99" title="MathEquation,#0000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050" y="1515325"/>
            <a:ext cx="3963000" cy="12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5" name="Google Shape;2905;p99"/>
          <p:cNvPicPr preferRelativeResize="0"/>
          <p:nvPr/>
        </p:nvPicPr>
        <p:blipFill rotWithShape="1">
          <a:blip r:embed="rId5">
            <a:alphaModFix/>
          </a:blip>
          <a:srcRect b="0" l="30135" r="33496" t="0"/>
          <a:stretch/>
        </p:blipFill>
        <p:spPr>
          <a:xfrm>
            <a:off x="5111550" y="1744350"/>
            <a:ext cx="3058724" cy="3160024"/>
          </a:xfrm>
          <a:prstGeom prst="rect">
            <a:avLst/>
          </a:prstGeom>
          <a:noFill/>
          <a:ln>
            <a:noFill/>
          </a:ln>
        </p:spPr>
      </p:pic>
      <p:sp>
        <p:nvSpPr>
          <p:cNvPr id="2906" name="Google Shape;2906;p99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Long short-term memory (LSTM)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07" name="Google Shape;2907;p99"/>
          <p:cNvGrpSpPr/>
          <p:nvPr/>
        </p:nvGrpSpPr>
        <p:grpSpPr>
          <a:xfrm>
            <a:off x="1524725" y="1908225"/>
            <a:ext cx="3058800" cy="426438"/>
            <a:chOff x="5012625" y="973938"/>
            <a:chExt cx="3058800" cy="426438"/>
          </a:xfrm>
        </p:grpSpPr>
        <p:sp>
          <p:nvSpPr>
            <p:cNvPr id="2908" name="Google Shape;2908;p99"/>
            <p:cNvSpPr/>
            <p:nvPr/>
          </p:nvSpPr>
          <p:spPr>
            <a:xfrm>
              <a:off x="5012625" y="981575"/>
              <a:ext cx="3058800" cy="418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\bold{c^{(t)}}=\bold{f}^{t}\, \circ \,\bold{c}^{(t-1)} + \bold{i}^{(t)}\; \circ  \; \bold{\tilde{c}}^{(t)}\\&#10;&#10;\bold{\tilde{c}}^{(t)}=\sigma(\bold{b}_c+\bold{W}_c\bold{h}^{(t-1)} + \bold{U}_c \bold{x}^{(t)})\\&#10;\bold{h}^{(t)}=\bold{o}^{t}\; \circ  \; \tanh(\bold{c^{(t)}})" id="2909" name="Google Shape;2909;p99" title="MathEquation,#000000"/>
            <p:cNvPicPr preferRelativeResize="0"/>
            <p:nvPr/>
          </p:nvPicPr>
          <p:blipFill rotWithShape="1">
            <a:blip r:embed="rId4">
              <a:alphaModFix/>
            </a:blip>
            <a:srcRect b="34901" l="23524" r="0" t="30768"/>
            <a:stretch/>
          </p:blipFill>
          <p:spPr>
            <a:xfrm>
              <a:off x="5017275" y="973938"/>
              <a:ext cx="3030850" cy="423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10" name="Google Shape;2910;p99"/>
          <p:cNvGrpSpPr/>
          <p:nvPr/>
        </p:nvGrpSpPr>
        <p:grpSpPr>
          <a:xfrm>
            <a:off x="929225" y="1916100"/>
            <a:ext cx="595500" cy="410700"/>
            <a:chOff x="6589675" y="1091850"/>
            <a:chExt cx="595500" cy="410700"/>
          </a:xfrm>
        </p:grpSpPr>
        <p:sp>
          <p:nvSpPr>
            <p:cNvPr id="2911" name="Google Shape;2911;p99"/>
            <p:cNvSpPr/>
            <p:nvPr/>
          </p:nvSpPr>
          <p:spPr>
            <a:xfrm>
              <a:off x="6589675" y="1091850"/>
              <a:ext cx="595500" cy="410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\bold{c^{(t)}}=\bold{f}^{t}\, \circ \,\bold{c}^{(t-1)} + \bold{i}^{(t)}\; \circ  \; \bold{\tilde{c}}^{(t)}\\&#10;&#10;\bold{\tilde{c}}^{(t)}=\sigma(\bold{b}_c+\bold{W}_c\bold{h}^{(t-1)} + \bold{U}_c \bold{x}^{(t)})\\&#10;\bold{h}^{(t)}=\bold{o}^{t}\; \circ  \; \tanh(\bold{c^{(t)}})" id="2912" name="Google Shape;2912;p99" title="MathEquation,#000000"/>
            <p:cNvPicPr preferRelativeResize="0"/>
            <p:nvPr/>
          </p:nvPicPr>
          <p:blipFill rotWithShape="1">
            <a:blip r:embed="rId4">
              <a:alphaModFix/>
            </a:blip>
            <a:srcRect b="0" l="35742" r="50057" t="67984"/>
            <a:stretch/>
          </p:blipFill>
          <p:spPr>
            <a:xfrm>
              <a:off x="6606025" y="1099738"/>
              <a:ext cx="562800" cy="3949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6" name="Shape 2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7" name="Google Shape;2917;p100"/>
          <p:cNvSpPr txBox="1"/>
          <p:nvPr/>
        </p:nvSpPr>
        <p:spPr>
          <a:xfrm>
            <a:off x="0" y="1210950"/>
            <a:ext cx="9016500" cy="29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aleway"/>
              <a:buChar char="●"/>
            </a:pP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Procesan desde desde el principio al final y desde el final al principio.</a:t>
            </a:r>
            <a:endParaRPr baseline="-25000"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aleway"/>
              <a:buChar char="●"/>
            </a:pP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Consta de dos redes, los outputs de cada capa se concatenan</a:t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aleway"/>
              <a:buChar char="●"/>
            </a:pP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Se suele usar LSTM por defecto y luego ver si una GRU mejora</a:t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aleway"/>
              <a:buChar char="●"/>
            </a:pP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Captura contexto pasado y futuro.</a:t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aleway"/>
              <a:buChar char="●"/>
            </a:pP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Efectivo para tareas de traducción, etiquetado o clasificación que ya tiene la secuencia dada</a:t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18" name="Google Shape;2918;p100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RNR Bidireccionales</a:t>
            </a:r>
            <a:endParaRPr b="0" sz="1700">
              <a:solidFill>
                <a:srgbClr val="666666"/>
              </a:solidFill>
            </a:endParaRPr>
          </a:p>
        </p:txBody>
      </p:sp>
      <p:pic>
        <p:nvPicPr>
          <p:cNvPr id="2919" name="Google Shape;291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3825" y="3416654"/>
            <a:ext cx="4907890" cy="172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3" name="Shape 2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bold{c^{(t)}}=\bold{f}^{t}\, \circ \,\bold{c}^{(t-1)} + \bold{i}^{(t)}\; \circ  \; \bold{\tilde{c}}^{(t)}\\&#10;&#10;\bold{\tilde{c}}^{(t)}=\sigma(\bold{b}_c+\bold{W}_c\bold{h}^{(t-1)} + \bold{U}_c \bold{x}^{(t)})\\&#10;\bold{h}^{(t)}=\bold{o}^{t}\; \circ  \; \tanh(\bold{c^{(t)}})" id="2924" name="Google Shape;2924;p10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75" y="5327524"/>
            <a:ext cx="4309700" cy="13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5" name="Google Shape;2925;p101"/>
          <p:cNvSpPr txBox="1"/>
          <p:nvPr/>
        </p:nvSpPr>
        <p:spPr>
          <a:xfrm>
            <a:off x="1741600" y="4781988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&lt;start&gt;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926" name="Google Shape;2926;p101"/>
          <p:cNvSpPr txBox="1"/>
          <p:nvPr/>
        </p:nvSpPr>
        <p:spPr>
          <a:xfrm>
            <a:off x="2396975" y="4781988"/>
            <a:ext cx="1266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La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927" name="Google Shape;2927;p101"/>
          <p:cNvSpPr txBox="1"/>
          <p:nvPr/>
        </p:nvSpPr>
        <p:spPr>
          <a:xfrm>
            <a:off x="3465650" y="4781988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estrella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928" name="Google Shape;2928;p101"/>
          <p:cNvSpPr txBox="1"/>
          <p:nvPr/>
        </p:nvSpPr>
        <p:spPr>
          <a:xfrm>
            <a:off x="4327675" y="4809225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929" name="Google Shape;2929;p101"/>
          <p:cNvSpPr txBox="1"/>
          <p:nvPr/>
        </p:nvSpPr>
        <p:spPr>
          <a:xfrm>
            <a:off x="5179425" y="4808550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930" name="Google Shape;2930;p101"/>
          <p:cNvSpPr txBox="1"/>
          <p:nvPr/>
        </p:nvSpPr>
        <p:spPr>
          <a:xfrm>
            <a:off x="5946225" y="4808563"/>
            <a:ext cx="930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vía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931" name="Google Shape;2931;p101"/>
          <p:cNvSpPr txBox="1"/>
          <p:nvPr/>
        </p:nvSpPr>
        <p:spPr>
          <a:xfrm>
            <a:off x="6882925" y="4808988"/>
            <a:ext cx="766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láctea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2932" name="Google Shape;2932;p101"/>
          <p:cNvSpPr/>
          <p:nvPr/>
        </p:nvSpPr>
        <p:spPr>
          <a:xfrm>
            <a:off x="3620188" y="428717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3" name="Google Shape;2933;p101"/>
          <p:cNvSpPr txBox="1"/>
          <p:nvPr/>
        </p:nvSpPr>
        <p:spPr>
          <a:xfrm>
            <a:off x="3606913" y="432257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2</a:t>
            </a:r>
            <a:endParaRPr sz="1800"/>
          </a:p>
        </p:txBody>
      </p:sp>
      <p:sp>
        <p:nvSpPr>
          <p:cNvPr id="2934" name="Google Shape;2934;p101"/>
          <p:cNvSpPr/>
          <p:nvPr/>
        </p:nvSpPr>
        <p:spPr>
          <a:xfrm>
            <a:off x="1916688" y="43027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5" name="Google Shape;2935;p101"/>
          <p:cNvSpPr/>
          <p:nvPr/>
        </p:nvSpPr>
        <p:spPr>
          <a:xfrm>
            <a:off x="2124113" y="3103663"/>
            <a:ext cx="468000" cy="468000"/>
          </a:xfrm>
          <a:prstGeom prst="ellipse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6" name="Google Shape;2936;p101"/>
          <p:cNvSpPr txBox="1"/>
          <p:nvPr/>
        </p:nvSpPr>
        <p:spPr>
          <a:xfrm>
            <a:off x="1903413" y="43381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0</a:t>
            </a:r>
            <a:endParaRPr sz="1800"/>
          </a:p>
        </p:txBody>
      </p:sp>
      <p:sp>
        <p:nvSpPr>
          <p:cNvPr id="2937" name="Google Shape;2937;p101"/>
          <p:cNvSpPr/>
          <p:nvPr/>
        </p:nvSpPr>
        <p:spPr>
          <a:xfrm>
            <a:off x="2768438" y="4302750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8" name="Google Shape;2938;p101"/>
          <p:cNvSpPr/>
          <p:nvPr/>
        </p:nvSpPr>
        <p:spPr>
          <a:xfrm>
            <a:off x="2975863" y="3103663"/>
            <a:ext cx="468000" cy="468000"/>
          </a:xfrm>
          <a:prstGeom prst="ellipse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9" name="Google Shape;2939;p101"/>
          <p:cNvSpPr txBox="1"/>
          <p:nvPr/>
        </p:nvSpPr>
        <p:spPr>
          <a:xfrm>
            <a:off x="2755163" y="4338150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1</a:t>
            </a:r>
            <a:endParaRPr sz="1800"/>
          </a:p>
        </p:txBody>
      </p:sp>
      <p:cxnSp>
        <p:nvCxnSpPr>
          <p:cNvPr id="2940" name="Google Shape;2940;p101"/>
          <p:cNvCxnSpPr/>
          <p:nvPr/>
        </p:nvCxnSpPr>
        <p:spPr>
          <a:xfrm rot="10794522">
            <a:off x="2595510" y="3337637"/>
            <a:ext cx="3765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41" name="Google Shape;2941;p101"/>
          <p:cNvSpPr/>
          <p:nvPr/>
        </p:nvSpPr>
        <p:spPr>
          <a:xfrm>
            <a:off x="3827613" y="3088088"/>
            <a:ext cx="468000" cy="468000"/>
          </a:xfrm>
          <a:prstGeom prst="ellipse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2" name="Google Shape;2942;p101"/>
          <p:cNvCxnSpPr/>
          <p:nvPr/>
        </p:nvCxnSpPr>
        <p:spPr>
          <a:xfrm rot="10800000">
            <a:off x="6854488" y="3322088"/>
            <a:ext cx="3765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43" name="Google Shape;2943;p101"/>
          <p:cNvSpPr/>
          <p:nvPr/>
        </p:nvSpPr>
        <p:spPr>
          <a:xfrm>
            <a:off x="4471938" y="4313963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4" name="Google Shape;2944;p101"/>
          <p:cNvSpPr txBox="1"/>
          <p:nvPr/>
        </p:nvSpPr>
        <p:spPr>
          <a:xfrm>
            <a:off x="4458663" y="4349363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3</a:t>
            </a:r>
            <a:endParaRPr sz="1800"/>
          </a:p>
        </p:txBody>
      </p:sp>
      <p:sp>
        <p:nvSpPr>
          <p:cNvPr id="2945" name="Google Shape;2945;p101"/>
          <p:cNvSpPr/>
          <p:nvPr/>
        </p:nvSpPr>
        <p:spPr>
          <a:xfrm>
            <a:off x="4679363" y="3114875"/>
            <a:ext cx="468000" cy="468000"/>
          </a:xfrm>
          <a:prstGeom prst="ellipse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6" name="Google Shape;2946;p101"/>
          <p:cNvCxnSpPr/>
          <p:nvPr/>
        </p:nvCxnSpPr>
        <p:spPr>
          <a:xfrm rot="10800000">
            <a:off x="6002738" y="3348875"/>
            <a:ext cx="3765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47" name="Google Shape;2947;p101"/>
          <p:cNvSpPr/>
          <p:nvPr/>
        </p:nvSpPr>
        <p:spPr>
          <a:xfrm>
            <a:off x="5323688" y="43132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8" name="Google Shape;2948;p101"/>
          <p:cNvSpPr txBox="1"/>
          <p:nvPr/>
        </p:nvSpPr>
        <p:spPr>
          <a:xfrm>
            <a:off x="5310413" y="434868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4</a:t>
            </a:r>
            <a:endParaRPr sz="1800"/>
          </a:p>
        </p:txBody>
      </p:sp>
      <p:sp>
        <p:nvSpPr>
          <p:cNvPr id="2949" name="Google Shape;2949;p101"/>
          <p:cNvSpPr/>
          <p:nvPr/>
        </p:nvSpPr>
        <p:spPr>
          <a:xfrm>
            <a:off x="5531113" y="3114200"/>
            <a:ext cx="468000" cy="468000"/>
          </a:xfrm>
          <a:prstGeom prst="ellipse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50" name="Google Shape;2950;p101"/>
          <p:cNvCxnSpPr/>
          <p:nvPr/>
        </p:nvCxnSpPr>
        <p:spPr>
          <a:xfrm rot="10800000">
            <a:off x="5150988" y="3348200"/>
            <a:ext cx="3765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51" name="Google Shape;2951;p101"/>
          <p:cNvSpPr/>
          <p:nvPr/>
        </p:nvSpPr>
        <p:spPr>
          <a:xfrm>
            <a:off x="6175438" y="4313288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2" name="Google Shape;2952;p101"/>
          <p:cNvSpPr txBox="1"/>
          <p:nvPr/>
        </p:nvSpPr>
        <p:spPr>
          <a:xfrm>
            <a:off x="6162163" y="4348688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5</a:t>
            </a:r>
            <a:endParaRPr sz="1800"/>
          </a:p>
        </p:txBody>
      </p:sp>
      <p:sp>
        <p:nvSpPr>
          <p:cNvPr id="2953" name="Google Shape;2953;p101"/>
          <p:cNvSpPr/>
          <p:nvPr/>
        </p:nvSpPr>
        <p:spPr>
          <a:xfrm>
            <a:off x="6382863" y="3114200"/>
            <a:ext cx="468000" cy="468000"/>
          </a:xfrm>
          <a:prstGeom prst="ellipse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54" name="Google Shape;2954;p101"/>
          <p:cNvCxnSpPr/>
          <p:nvPr/>
        </p:nvCxnSpPr>
        <p:spPr>
          <a:xfrm rot="10800000">
            <a:off x="4299238" y="3348200"/>
            <a:ext cx="3765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55" name="Google Shape;2955;p101"/>
          <p:cNvSpPr/>
          <p:nvPr/>
        </p:nvSpPr>
        <p:spPr>
          <a:xfrm>
            <a:off x="7027188" y="4313725"/>
            <a:ext cx="468000" cy="468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6" name="Google Shape;2956;p101"/>
          <p:cNvSpPr txBox="1"/>
          <p:nvPr/>
        </p:nvSpPr>
        <p:spPr>
          <a:xfrm>
            <a:off x="7013913" y="4349125"/>
            <a:ext cx="4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x</a:t>
            </a:r>
            <a:r>
              <a:rPr baseline="-25000" lang="es-419" sz="1800">
                <a:solidFill>
                  <a:schemeClr val="dk1"/>
                </a:solidFill>
              </a:rPr>
              <a:t>6</a:t>
            </a:r>
            <a:endParaRPr sz="1800"/>
          </a:p>
        </p:txBody>
      </p:sp>
      <p:sp>
        <p:nvSpPr>
          <p:cNvPr id="2957" name="Google Shape;2957;p101"/>
          <p:cNvSpPr/>
          <p:nvPr/>
        </p:nvSpPr>
        <p:spPr>
          <a:xfrm>
            <a:off x="7234613" y="3114638"/>
            <a:ext cx="468000" cy="468000"/>
          </a:xfrm>
          <a:prstGeom prst="ellipse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58" name="Google Shape;2958;p101"/>
          <p:cNvCxnSpPr/>
          <p:nvPr/>
        </p:nvCxnSpPr>
        <p:spPr>
          <a:xfrm rot="10800000">
            <a:off x="3447488" y="3348638"/>
            <a:ext cx="3765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59" name="Google Shape;2959;p101"/>
          <p:cNvSpPr txBox="1"/>
          <p:nvPr/>
        </p:nvSpPr>
        <p:spPr>
          <a:xfrm>
            <a:off x="4642973" y="-366387"/>
            <a:ext cx="3765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endParaRPr sz="1800"/>
          </a:p>
        </p:txBody>
      </p:sp>
      <p:sp>
        <p:nvSpPr>
          <p:cNvPr id="2960" name="Google Shape;2960;p101"/>
          <p:cNvSpPr txBox="1"/>
          <p:nvPr>
            <p:ph type="title"/>
          </p:nvPr>
        </p:nvSpPr>
        <p:spPr>
          <a:xfrm>
            <a:off x="714525" y="719950"/>
            <a:ext cx="330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lang="es-419"/>
              <a:t>Bidirectional RNNs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1" name="Google Shape;2961;p101"/>
          <p:cNvSpPr/>
          <p:nvPr/>
        </p:nvSpPr>
        <p:spPr>
          <a:xfrm>
            <a:off x="1652500" y="3676313"/>
            <a:ext cx="468000" cy="468000"/>
          </a:xfrm>
          <a:prstGeom prst="ellipse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2" name="Google Shape;2962;p101"/>
          <p:cNvSpPr/>
          <p:nvPr/>
        </p:nvSpPr>
        <p:spPr>
          <a:xfrm>
            <a:off x="2504250" y="3676313"/>
            <a:ext cx="468000" cy="468000"/>
          </a:xfrm>
          <a:prstGeom prst="ellipse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63" name="Google Shape;2963;p101"/>
          <p:cNvCxnSpPr/>
          <p:nvPr/>
        </p:nvCxnSpPr>
        <p:spPr>
          <a:xfrm>
            <a:off x="2124125" y="3910313"/>
            <a:ext cx="3765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64" name="Google Shape;2964;p101"/>
          <p:cNvSpPr/>
          <p:nvPr/>
        </p:nvSpPr>
        <p:spPr>
          <a:xfrm>
            <a:off x="3356000" y="3660738"/>
            <a:ext cx="468000" cy="468000"/>
          </a:xfrm>
          <a:prstGeom prst="ellipse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65" name="Google Shape;2965;p101"/>
          <p:cNvCxnSpPr/>
          <p:nvPr/>
        </p:nvCxnSpPr>
        <p:spPr>
          <a:xfrm>
            <a:off x="2975875" y="3894738"/>
            <a:ext cx="3765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66" name="Google Shape;2966;p101"/>
          <p:cNvSpPr/>
          <p:nvPr/>
        </p:nvSpPr>
        <p:spPr>
          <a:xfrm>
            <a:off x="4207750" y="3687525"/>
            <a:ext cx="468000" cy="468000"/>
          </a:xfrm>
          <a:prstGeom prst="ellipse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67" name="Google Shape;2967;p101"/>
          <p:cNvCxnSpPr/>
          <p:nvPr/>
        </p:nvCxnSpPr>
        <p:spPr>
          <a:xfrm>
            <a:off x="3827625" y="3921525"/>
            <a:ext cx="3765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68" name="Google Shape;2968;p101"/>
          <p:cNvSpPr/>
          <p:nvPr/>
        </p:nvSpPr>
        <p:spPr>
          <a:xfrm>
            <a:off x="5059500" y="3686850"/>
            <a:ext cx="468000" cy="468000"/>
          </a:xfrm>
          <a:prstGeom prst="ellipse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69" name="Google Shape;2969;p101"/>
          <p:cNvCxnSpPr/>
          <p:nvPr/>
        </p:nvCxnSpPr>
        <p:spPr>
          <a:xfrm>
            <a:off x="4679375" y="3920850"/>
            <a:ext cx="3765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70" name="Google Shape;2970;p101"/>
          <p:cNvSpPr/>
          <p:nvPr/>
        </p:nvSpPr>
        <p:spPr>
          <a:xfrm>
            <a:off x="5911250" y="3686850"/>
            <a:ext cx="468000" cy="468000"/>
          </a:xfrm>
          <a:prstGeom prst="ellipse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71" name="Google Shape;2971;p101"/>
          <p:cNvCxnSpPr/>
          <p:nvPr/>
        </p:nvCxnSpPr>
        <p:spPr>
          <a:xfrm>
            <a:off x="5531125" y="3920850"/>
            <a:ext cx="3765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72" name="Google Shape;2972;p101"/>
          <p:cNvSpPr/>
          <p:nvPr/>
        </p:nvSpPr>
        <p:spPr>
          <a:xfrm>
            <a:off x="6763000" y="3687288"/>
            <a:ext cx="468000" cy="468000"/>
          </a:xfrm>
          <a:prstGeom prst="ellipse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73" name="Google Shape;2973;p101"/>
          <p:cNvCxnSpPr/>
          <p:nvPr/>
        </p:nvCxnSpPr>
        <p:spPr>
          <a:xfrm>
            <a:off x="6382875" y="3921288"/>
            <a:ext cx="3765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4" name="Google Shape;2974;p101"/>
          <p:cNvCxnSpPr>
            <a:endCxn id="2961" idx="4"/>
          </p:cNvCxnSpPr>
          <p:nvPr/>
        </p:nvCxnSpPr>
        <p:spPr>
          <a:xfrm rot="10800000">
            <a:off x="1886500" y="4144313"/>
            <a:ext cx="283500" cy="146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5" name="Google Shape;2975;p101"/>
          <p:cNvCxnSpPr/>
          <p:nvPr/>
        </p:nvCxnSpPr>
        <p:spPr>
          <a:xfrm rot="10800000">
            <a:off x="2688500" y="4150175"/>
            <a:ext cx="283500" cy="146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6" name="Google Shape;2976;p101"/>
          <p:cNvCxnSpPr>
            <a:endCxn id="2964" idx="4"/>
          </p:cNvCxnSpPr>
          <p:nvPr/>
        </p:nvCxnSpPr>
        <p:spPr>
          <a:xfrm rot="10800000">
            <a:off x="3590000" y="4128738"/>
            <a:ext cx="234000" cy="152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7" name="Google Shape;2977;p101"/>
          <p:cNvCxnSpPr>
            <a:stCxn id="2944" idx="0"/>
            <a:endCxn id="2966" idx="4"/>
          </p:cNvCxnSpPr>
          <p:nvPr/>
        </p:nvCxnSpPr>
        <p:spPr>
          <a:xfrm rot="10800000">
            <a:off x="4441863" y="4155563"/>
            <a:ext cx="253800" cy="1938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8" name="Google Shape;2978;p101"/>
          <p:cNvCxnSpPr>
            <a:stCxn id="2948" idx="0"/>
          </p:cNvCxnSpPr>
          <p:nvPr/>
        </p:nvCxnSpPr>
        <p:spPr>
          <a:xfrm rot="10800000">
            <a:off x="5308613" y="4155488"/>
            <a:ext cx="238800" cy="1932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9" name="Google Shape;2979;p101"/>
          <p:cNvCxnSpPr>
            <a:stCxn id="2952" idx="0"/>
          </p:cNvCxnSpPr>
          <p:nvPr/>
        </p:nvCxnSpPr>
        <p:spPr>
          <a:xfrm rot="10800000">
            <a:off x="6150463" y="4155488"/>
            <a:ext cx="248700" cy="1932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0" name="Google Shape;2980;p101"/>
          <p:cNvCxnSpPr>
            <a:stCxn id="2956" idx="0"/>
          </p:cNvCxnSpPr>
          <p:nvPr/>
        </p:nvCxnSpPr>
        <p:spPr>
          <a:xfrm rot="10800000">
            <a:off x="7027113" y="4155925"/>
            <a:ext cx="223800" cy="1932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1" name="Google Shape;2981;p101"/>
          <p:cNvCxnSpPr>
            <a:stCxn id="2956" idx="0"/>
            <a:endCxn id="2957" idx="4"/>
          </p:cNvCxnSpPr>
          <p:nvPr/>
        </p:nvCxnSpPr>
        <p:spPr>
          <a:xfrm flipH="1" rot="10800000">
            <a:off x="7250913" y="3582625"/>
            <a:ext cx="217800" cy="766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2" name="Google Shape;2982;p101"/>
          <p:cNvCxnSpPr>
            <a:endCxn id="2953" idx="4"/>
          </p:cNvCxnSpPr>
          <p:nvPr/>
        </p:nvCxnSpPr>
        <p:spPr>
          <a:xfrm flipH="1" rot="10800000">
            <a:off x="6404163" y="3582200"/>
            <a:ext cx="212700" cy="722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3" name="Google Shape;2983;p101"/>
          <p:cNvCxnSpPr>
            <a:endCxn id="2949" idx="4"/>
          </p:cNvCxnSpPr>
          <p:nvPr/>
        </p:nvCxnSpPr>
        <p:spPr>
          <a:xfrm flipH="1" rot="10800000">
            <a:off x="5565613" y="3582200"/>
            <a:ext cx="199500" cy="744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4" name="Google Shape;2984;p101"/>
          <p:cNvCxnSpPr>
            <a:stCxn id="2944" idx="0"/>
          </p:cNvCxnSpPr>
          <p:nvPr/>
        </p:nvCxnSpPr>
        <p:spPr>
          <a:xfrm flipH="1" rot="10800000">
            <a:off x="4695663" y="3595163"/>
            <a:ext cx="214200" cy="7542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5" name="Google Shape;2985;p101"/>
          <p:cNvCxnSpPr>
            <a:stCxn id="2933" idx="0"/>
            <a:endCxn id="2941" idx="4"/>
          </p:cNvCxnSpPr>
          <p:nvPr/>
        </p:nvCxnSpPr>
        <p:spPr>
          <a:xfrm flipH="1" rot="10800000">
            <a:off x="3843913" y="3556075"/>
            <a:ext cx="217800" cy="766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6" name="Google Shape;2986;p101"/>
          <p:cNvCxnSpPr/>
          <p:nvPr/>
        </p:nvCxnSpPr>
        <p:spPr>
          <a:xfrm flipH="1" rot="10800000">
            <a:off x="2982150" y="3569500"/>
            <a:ext cx="217800" cy="766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7" name="Google Shape;2987;p101"/>
          <p:cNvCxnSpPr>
            <a:endCxn id="2935" idx="4"/>
          </p:cNvCxnSpPr>
          <p:nvPr/>
        </p:nvCxnSpPr>
        <p:spPr>
          <a:xfrm flipH="1" rot="10800000">
            <a:off x="2167013" y="3571663"/>
            <a:ext cx="191100" cy="719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88" name="Google Shape;2988;p101"/>
          <p:cNvSpPr/>
          <p:nvPr/>
        </p:nvSpPr>
        <p:spPr>
          <a:xfrm>
            <a:off x="1852884" y="2087759"/>
            <a:ext cx="297000" cy="297000"/>
          </a:xfrm>
          <a:prstGeom prst="ellipse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9" name="Google Shape;2989;p101"/>
          <p:cNvSpPr/>
          <p:nvPr/>
        </p:nvSpPr>
        <p:spPr>
          <a:xfrm>
            <a:off x="2151522" y="2087759"/>
            <a:ext cx="297000" cy="297000"/>
          </a:xfrm>
          <a:prstGeom prst="ellipse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0" name="Google Shape;2990;p101"/>
          <p:cNvSpPr/>
          <p:nvPr/>
        </p:nvSpPr>
        <p:spPr>
          <a:xfrm>
            <a:off x="2694351" y="2087763"/>
            <a:ext cx="297000" cy="297000"/>
          </a:xfrm>
          <a:prstGeom prst="ellipse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1" name="Google Shape;2991;p101"/>
          <p:cNvSpPr/>
          <p:nvPr/>
        </p:nvSpPr>
        <p:spPr>
          <a:xfrm>
            <a:off x="2992989" y="2087763"/>
            <a:ext cx="297000" cy="297000"/>
          </a:xfrm>
          <a:prstGeom prst="ellipse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2" name="Google Shape;2992;p101"/>
          <p:cNvSpPr/>
          <p:nvPr/>
        </p:nvSpPr>
        <p:spPr>
          <a:xfrm>
            <a:off x="3546101" y="2113125"/>
            <a:ext cx="297000" cy="297000"/>
          </a:xfrm>
          <a:prstGeom prst="ellipse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3" name="Google Shape;2993;p101"/>
          <p:cNvSpPr/>
          <p:nvPr/>
        </p:nvSpPr>
        <p:spPr>
          <a:xfrm>
            <a:off x="3844739" y="2113125"/>
            <a:ext cx="297000" cy="297000"/>
          </a:xfrm>
          <a:prstGeom prst="ellipse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4" name="Google Shape;2994;p101"/>
          <p:cNvSpPr/>
          <p:nvPr/>
        </p:nvSpPr>
        <p:spPr>
          <a:xfrm>
            <a:off x="4397847" y="2116422"/>
            <a:ext cx="297000" cy="297000"/>
          </a:xfrm>
          <a:prstGeom prst="ellipse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5" name="Google Shape;2995;p101"/>
          <p:cNvSpPr/>
          <p:nvPr/>
        </p:nvSpPr>
        <p:spPr>
          <a:xfrm>
            <a:off x="4696485" y="2116422"/>
            <a:ext cx="297000" cy="297000"/>
          </a:xfrm>
          <a:prstGeom prst="ellipse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6" name="Google Shape;2996;p101"/>
          <p:cNvSpPr/>
          <p:nvPr/>
        </p:nvSpPr>
        <p:spPr>
          <a:xfrm>
            <a:off x="5239314" y="2116425"/>
            <a:ext cx="297000" cy="297000"/>
          </a:xfrm>
          <a:prstGeom prst="ellipse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7" name="Google Shape;2997;p101"/>
          <p:cNvSpPr/>
          <p:nvPr/>
        </p:nvSpPr>
        <p:spPr>
          <a:xfrm>
            <a:off x="5537952" y="2116425"/>
            <a:ext cx="297000" cy="297000"/>
          </a:xfrm>
          <a:prstGeom prst="ellipse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8" name="Google Shape;2998;p101"/>
          <p:cNvSpPr/>
          <p:nvPr/>
        </p:nvSpPr>
        <p:spPr>
          <a:xfrm>
            <a:off x="6091064" y="2141788"/>
            <a:ext cx="297000" cy="297000"/>
          </a:xfrm>
          <a:prstGeom prst="ellipse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9" name="Google Shape;2999;p101"/>
          <p:cNvSpPr/>
          <p:nvPr/>
        </p:nvSpPr>
        <p:spPr>
          <a:xfrm>
            <a:off x="6389702" y="2141788"/>
            <a:ext cx="297000" cy="297000"/>
          </a:xfrm>
          <a:prstGeom prst="ellipse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0" name="Google Shape;3000;p101"/>
          <p:cNvSpPr/>
          <p:nvPr/>
        </p:nvSpPr>
        <p:spPr>
          <a:xfrm>
            <a:off x="6942814" y="2129325"/>
            <a:ext cx="297000" cy="297000"/>
          </a:xfrm>
          <a:prstGeom prst="ellipse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1" name="Google Shape;3001;p101"/>
          <p:cNvSpPr/>
          <p:nvPr/>
        </p:nvSpPr>
        <p:spPr>
          <a:xfrm>
            <a:off x="7241452" y="2129325"/>
            <a:ext cx="297000" cy="297000"/>
          </a:xfrm>
          <a:prstGeom prst="ellipse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02" name="Google Shape;3002;p101"/>
          <p:cNvCxnSpPr/>
          <p:nvPr/>
        </p:nvCxnSpPr>
        <p:spPr>
          <a:xfrm flipH="1" rot="10800000">
            <a:off x="1886488" y="2508088"/>
            <a:ext cx="258600" cy="1195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3" name="Google Shape;3003;p101"/>
          <p:cNvCxnSpPr>
            <a:stCxn id="2935" idx="0"/>
          </p:cNvCxnSpPr>
          <p:nvPr/>
        </p:nvCxnSpPr>
        <p:spPr>
          <a:xfrm rot="10800000">
            <a:off x="2120813" y="2508163"/>
            <a:ext cx="237300" cy="595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4" name="Google Shape;3004;p101"/>
          <p:cNvCxnSpPr/>
          <p:nvPr/>
        </p:nvCxnSpPr>
        <p:spPr>
          <a:xfrm flipH="1" rot="10800000">
            <a:off x="2738238" y="2477663"/>
            <a:ext cx="258600" cy="1195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5" name="Google Shape;3005;p101"/>
          <p:cNvCxnSpPr/>
          <p:nvPr/>
        </p:nvCxnSpPr>
        <p:spPr>
          <a:xfrm rot="10800000">
            <a:off x="2972563" y="2477738"/>
            <a:ext cx="237300" cy="595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6" name="Google Shape;3006;p101"/>
          <p:cNvCxnSpPr/>
          <p:nvPr/>
        </p:nvCxnSpPr>
        <p:spPr>
          <a:xfrm flipH="1" rot="10800000">
            <a:off x="3589863" y="2477663"/>
            <a:ext cx="258600" cy="1195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7" name="Google Shape;3007;p101"/>
          <p:cNvCxnSpPr/>
          <p:nvPr/>
        </p:nvCxnSpPr>
        <p:spPr>
          <a:xfrm rot="10800000">
            <a:off x="3824188" y="2477738"/>
            <a:ext cx="237300" cy="595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8" name="Google Shape;3008;p101"/>
          <p:cNvCxnSpPr/>
          <p:nvPr/>
        </p:nvCxnSpPr>
        <p:spPr>
          <a:xfrm flipH="1" rot="10800000">
            <a:off x="4397850" y="2485075"/>
            <a:ext cx="258600" cy="1195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9" name="Google Shape;3009;p101"/>
          <p:cNvCxnSpPr/>
          <p:nvPr/>
        </p:nvCxnSpPr>
        <p:spPr>
          <a:xfrm rot="10800000">
            <a:off x="4632175" y="2485150"/>
            <a:ext cx="237300" cy="595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0" name="Google Shape;3010;p101"/>
          <p:cNvCxnSpPr/>
          <p:nvPr/>
        </p:nvCxnSpPr>
        <p:spPr>
          <a:xfrm flipH="1" rot="10800000">
            <a:off x="5293500" y="2490700"/>
            <a:ext cx="258600" cy="1195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1" name="Google Shape;3011;p101"/>
          <p:cNvCxnSpPr/>
          <p:nvPr/>
        </p:nvCxnSpPr>
        <p:spPr>
          <a:xfrm rot="10800000">
            <a:off x="5527825" y="2490775"/>
            <a:ext cx="237300" cy="595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2" name="Google Shape;3012;p101"/>
          <p:cNvCxnSpPr/>
          <p:nvPr/>
        </p:nvCxnSpPr>
        <p:spPr>
          <a:xfrm flipH="1" rot="10800000">
            <a:off x="6145250" y="2527050"/>
            <a:ext cx="258600" cy="1195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3" name="Google Shape;3013;p101"/>
          <p:cNvCxnSpPr/>
          <p:nvPr/>
        </p:nvCxnSpPr>
        <p:spPr>
          <a:xfrm rot="10800000">
            <a:off x="6379575" y="2527125"/>
            <a:ext cx="237300" cy="595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4" name="Google Shape;3014;p101"/>
          <p:cNvCxnSpPr/>
          <p:nvPr/>
        </p:nvCxnSpPr>
        <p:spPr>
          <a:xfrm flipH="1" rot="10800000">
            <a:off x="6997000" y="2527263"/>
            <a:ext cx="258600" cy="1195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5" name="Google Shape;3015;p101"/>
          <p:cNvCxnSpPr/>
          <p:nvPr/>
        </p:nvCxnSpPr>
        <p:spPr>
          <a:xfrm rot="10800000">
            <a:off x="7231325" y="2527338"/>
            <a:ext cx="237300" cy="595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16" name="Google Shape;3016;p101"/>
          <p:cNvSpPr/>
          <p:nvPr/>
        </p:nvSpPr>
        <p:spPr>
          <a:xfrm>
            <a:off x="4344800" y="1049275"/>
            <a:ext cx="468000" cy="468000"/>
          </a:xfrm>
          <a:prstGeom prst="ellipse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cxnSp>
        <p:nvCxnSpPr>
          <p:cNvPr id="3017" name="Google Shape;3017;p101"/>
          <p:cNvCxnSpPr>
            <a:endCxn id="3016" idx="2"/>
          </p:cNvCxnSpPr>
          <p:nvPr/>
        </p:nvCxnSpPr>
        <p:spPr>
          <a:xfrm flipH="1" rot="10800000">
            <a:off x="2221400" y="1283275"/>
            <a:ext cx="2123400" cy="73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8" name="Google Shape;3018;p101"/>
          <p:cNvCxnSpPr>
            <a:endCxn id="3016" idx="6"/>
          </p:cNvCxnSpPr>
          <p:nvPr/>
        </p:nvCxnSpPr>
        <p:spPr>
          <a:xfrm rot="10800000">
            <a:off x="4812800" y="1283275"/>
            <a:ext cx="2106300" cy="762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9" name="Google Shape;3019;p101"/>
          <p:cNvCxnSpPr>
            <a:endCxn id="3016" idx="3"/>
          </p:cNvCxnSpPr>
          <p:nvPr/>
        </p:nvCxnSpPr>
        <p:spPr>
          <a:xfrm flipH="1" rot="10800000">
            <a:off x="3135637" y="1448738"/>
            <a:ext cx="1277700" cy="570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0" name="Google Shape;3020;p101"/>
          <p:cNvCxnSpPr>
            <a:endCxn id="3016" idx="4"/>
          </p:cNvCxnSpPr>
          <p:nvPr/>
        </p:nvCxnSpPr>
        <p:spPr>
          <a:xfrm flipH="1" rot="10800000">
            <a:off x="3987500" y="1517275"/>
            <a:ext cx="591300" cy="528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1" name="Google Shape;3021;p101"/>
          <p:cNvCxnSpPr>
            <a:endCxn id="3016" idx="4"/>
          </p:cNvCxnSpPr>
          <p:nvPr/>
        </p:nvCxnSpPr>
        <p:spPr>
          <a:xfrm flipH="1" rot="10800000">
            <a:off x="4557200" y="1517275"/>
            <a:ext cx="21600" cy="528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2" name="Google Shape;3022;p101"/>
          <p:cNvCxnSpPr>
            <a:endCxn id="3016" idx="4"/>
          </p:cNvCxnSpPr>
          <p:nvPr/>
        </p:nvCxnSpPr>
        <p:spPr>
          <a:xfrm rot="10800000">
            <a:off x="4578800" y="1517275"/>
            <a:ext cx="636900" cy="527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3" name="Google Shape;3023;p101"/>
          <p:cNvCxnSpPr>
            <a:endCxn id="3016" idx="5"/>
          </p:cNvCxnSpPr>
          <p:nvPr/>
        </p:nvCxnSpPr>
        <p:spPr>
          <a:xfrm rot="10800000">
            <a:off x="4744263" y="1448738"/>
            <a:ext cx="1323000" cy="596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24" name="Google Shape;3024;p101"/>
          <p:cNvSpPr txBox="1"/>
          <p:nvPr/>
        </p:nvSpPr>
        <p:spPr>
          <a:xfrm>
            <a:off x="4390498" y="1105238"/>
            <a:ext cx="3765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h</a:t>
            </a:r>
            <a:endParaRPr sz="1800"/>
          </a:p>
        </p:txBody>
      </p:sp>
      <p:sp>
        <p:nvSpPr>
          <p:cNvPr id="3025" name="Google Shape;3025;p101"/>
          <p:cNvSpPr txBox="1"/>
          <p:nvPr/>
        </p:nvSpPr>
        <p:spPr>
          <a:xfrm>
            <a:off x="6067400" y="1419425"/>
            <a:ext cx="28266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666666"/>
                </a:solidFill>
              </a:rPr>
              <a:t>element-wise mean/max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3026" name="Google Shape;3026;p101"/>
          <p:cNvSpPr txBox="1"/>
          <p:nvPr/>
        </p:nvSpPr>
        <p:spPr>
          <a:xfrm>
            <a:off x="4841150" y="948100"/>
            <a:ext cx="28266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Sentence representation</a:t>
            </a:r>
            <a:endParaRPr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0" name="Shape 3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bold{c^{(t)}}=\bold{f}^{t}\, \circ \,\bold{c}^{(t-1)} + \bold{i}^{(t)}\; \circ  \; \bold{\tilde{c}}^{(t)}\\&#10;&#10;\bold{\tilde{c}}^{(t)}=\sigma(\bold{b}_c+\bold{W}_c\bold{h}^{(t-1)} + \bold{U}_c \bold{x}^{(t)})\\&#10;\bold{h}^{(t)}=\bold{o}^{t}\; \circ  \; \tanh(\bold{c^{(t)}})" id="3031" name="Google Shape;3031;p102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75" y="5327524"/>
            <a:ext cx="4309700" cy="13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2" name="Google Shape;3032;p102"/>
          <p:cNvSpPr txBox="1"/>
          <p:nvPr/>
        </p:nvSpPr>
        <p:spPr>
          <a:xfrm>
            <a:off x="4642973" y="-366387"/>
            <a:ext cx="3765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ŷ</a:t>
            </a:r>
            <a:endParaRPr sz="1800"/>
          </a:p>
        </p:txBody>
      </p:sp>
      <p:pic>
        <p:nvPicPr>
          <p:cNvPr id="3033" name="Google Shape;3033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500" y="1493575"/>
            <a:ext cx="5216624" cy="3275051"/>
          </a:xfrm>
          <a:prstGeom prst="rect">
            <a:avLst/>
          </a:prstGeom>
          <a:noFill/>
          <a:ln>
            <a:noFill/>
          </a:ln>
        </p:spPr>
      </p:pic>
      <p:sp>
        <p:nvSpPr>
          <p:cNvPr id="3034" name="Google Shape;3034;p102"/>
          <p:cNvSpPr txBox="1"/>
          <p:nvPr>
            <p:ph type="title"/>
          </p:nvPr>
        </p:nvSpPr>
        <p:spPr>
          <a:xfrm>
            <a:off x="714525" y="719950"/>
            <a:ext cx="330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lang="es-419"/>
              <a:t>Bidirectional RNNs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5" name="Google Shape;3035;p102"/>
          <p:cNvSpPr txBox="1"/>
          <p:nvPr/>
        </p:nvSpPr>
        <p:spPr>
          <a:xfrm>
            <a:off x="6125650" y="1466500"/>
            <a:ext cx="28008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¡Ojo! 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Esto ya no sirve para modelo de lenguaje, porque vamos a tener información de más (de la derecha)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Pero nos va a servir para muchas otras tareas</a:t>
            </a:r>
            <a:endParaRPr b="1" sz="1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9" name="Shape 3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0" name="Google Shape;3040;p103"/>
          <p:cNvSpPr txBox="1"/>
          <p:nvPr/>
        </p:nvSpPr>
        <p:spPr>
          <a:xfrm>
            <a:off x="0" y="1210950"/>
            <a:ext cx="9016500" cy="29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aleway"/>
              <a:buChar char="●"/>
            </a:pPr>
            <a:r>
              <a:rPr b="1"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Aceleración y Generalización con Embeddings Preentrenados:</a:t>
            </a: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Al emplear embeddings preentren</a:t>
            </a: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dos en la inicialización de token embeddings se logra una convergencia más rápida y mejor generalización.</a:t>
            </a:r>
            <a:endParaRPr sz="1500">
              <a:solidFill>
                <a:srgbClr val="37415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aleway"/>
              <a:buChar char="●"/>
            </a:pPr>
            <a:r>
              <a:rPr b="1"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Dominio de las Arquitecturas Bi-LSTM:</a:t>
            </a: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La arquitectura Bi-LSTM se convirtió en la más popular, debido a su eficacia y capacidad para capturar información contextual en ambas direcciones del texto</a:t>
            </a:r>
            <a:endParaRPr sz="1500">
              <a:solidFill>
                <a:srgbClr val="37415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aleway"/>
              <a:buChar char="●"/>
            </a:pP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Pérdida</a:t>
            </a: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de importancia de </a:t>
            </a:r>
            <a:r>
              <a:rPr b="1"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ingeniería de atributos</a:t>
            </a: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(feature engineering).</a:t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041" name="Google Shape;3041;p103"/>
          <p:cNvSpPr txBox="1"/>
          <p:nvPr>
            <p:ph type="title"/>
          </p:nvPr>
        </p:nvSpPr>
        <p:spPr>
          <a:xfrm>
            <a:off x="36025" y="517875"/>
            <a:ext cx="9144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140"/>
              <a:t>La Revolución del Deep Learning en NLP: El Auge de las Bi-LSTM</a:t>
            </a:r>
            <a:endParaRPr sz="2140"/>
          </a:p>
        </p:txBody>
      </p:sp>
      <p:pic>
        <p:nvPicPr>
          <p:cNvPr id="3042" name="Google Shape;3042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1173" y="3630998"/>
            <a:ext cx="1834650" cy="14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3" name="Google Shape;3043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7663" y="3631000"/>
            <a:ext cx="2657887" cy="144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7" name="Shape 3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8" name="Google Shape;3048;p104"/>
          <p:cNvSpPr txBox="1"/>
          <p:nvPr>
            <p:ph type="title"/>
          </p:nvPr>
        </p:nvSpPr>
        <p:spPr>
          <a:xfrm>
            <a:off x="729450" y="864300"/>
            <a:ext cx="79815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ELMO y Embeddings Contextuales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2" name="Shape 3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3" name="Google Shape;3053;p105"/>
          <p:cNvSpPr txBox="1"/>
          <p:nvPr>
            <p:ph idx="1" type="body"/>
          </p:nvPr>
        </p:nvSpPr>
        <p:spPr>
          <a:xfrm>
            <a:off x="369971" y="718502"/>
            <a:ext cx="8563500" cy="3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s-419"/>
              <a:t> </a:t>
            </a:r>
            <a:endParaRPr/>
          </a:p>
          <a:p>
            <a:pPr indent="0" lvl="0" marL="63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Large Language Models: A New Moore's Law?" id="3054" name="Google Shape;3054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175" y="106856"/>
            <a:ext cx="7567969" cy="4491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8" name="Shape 3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9" name="Google Shape;3059;p106"/>
          <p:cNvSpPr txBox="1"/>
          <p:nvPr/>
        </p:nvSpPr>
        <p:spPr>
          <a:xfrm>
            <a:off x="0" y="1210950"/>
            <a:ext cx="9016500" cy="29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aleway"/>
              <a:buChar char="●"/>
            </a:pP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Embeddings no específicos a una palabra aislada sino en contexto.</a:t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aleway"/>
              <a:buChar char="○"/>
            </a:pP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Saqué dinero del banco</a:t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aleway"/>
              <a:buChar char="○"/>
            </a:pP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Me siento en el banco</a:t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aleway"/>
              <a:buChar char="●"/>
            </a:pP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Generan representaciones dinámicas basadas en el contexto específico de la  palabra.</a:t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060" name="Google Shape;3060;p106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Embeddings Contextuales</a:t>
            </a:r>
            <a:endParaRPr b="0" sz="1700">
              <a:solidFill>
                <a:srgbClr val="666666"/>
              </a:solidFill>
            </a:endParaRPr>
          </a:p>
        </p:txBody>
      </p:sp>
      <p:pic>
        <p:nvPicPr>
          <p:cNvPr id="3061" name="Google Shape;3061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8856" y="3073906"/>
            <a:ext cx="4995850" cy="203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5" name="Shape 3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6" name="Google Shape;3066;p107"/>
          <p:cNvSpPr txBox="1"/>
          <p:nvPr/>
        </p:nvSpPr>
        <p:spPr>
          <a:xfrm>
            <a:off x="0" y="1210950"/>
            <a:ext cx="9016500" cy="29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aleway"/>
              <a:buChar char="●"/>
            </a:pP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Es un modelo de lenguaje bidireccional que genera embeddings contextuales</a:t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aleway"/>
              <a:buChar char="●"/>
            </a:pP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Es una red neuronal de varias capas</a:t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aleway"/>
              <a:buChar char="●"/>
            </a:pP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El input son embeddings estáticos y el output embeddings contextuales</a:t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aleway"/>
              <a:buChar char="●"/>
            </a:pP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Modelo </a:t>
            </a: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pre entrenado</a:t>
            </a: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puede ser fine-tuneado para tareas específicas</a:t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067" name="Google Shape;3067;p107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ELMO</a:t>
            </a:r>
            <a:endParaRPr b="0" sz="1700">
              <a:solidFill>
                <a:srgbClr val="666666"/>
              </a:solidFill>
            </a:endParaRPr>
          </a:p>
        </p:txBody>
      </p:sp>
      <p:pic>
        <p:nvPicPr>
          <p:cNvPr id="3068" name="Google Shape;3068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0825" y="3072975"/>
            <a:ext cx="3429550" cy="194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2" name="Shape 3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Google Shape;3073;p108"/>
          <p:cNvSpPr txBox="1"/>
          <p:nvPr/>
        </p:nvSpPr>
        <p:spPr>
          <a:xfrm>
            <a:off x="0" y="1210950"/>
            <a:ext cx="9016500" cy="29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aleway"/>
              <a:buChar char="●"/>
            </a:pPr>
            <a:r>
              <a:rPr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Modelo </a:t>
            </a:r>
            <a:r>
              <a:rPr b="1"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LSTM bidireccional</a:t>
            </a:r>
            <a:r>
              <a:rPr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: character-based embeddings (CNN). 2 capas, 4096 hd, 512 od</a:t>
            </a:r>
            <a:endParaRPr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aleway"/>
              <a:buChar char="●"/>
            </a:pPr>
            <a:r>
              <a:rPr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Es una red neuronal de varias capas, con </a:t>
            </a:r>
            <a:r>
              <a:rPr b="1"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conexiones residuales</a:t>
            </a:r>
            <a:endParaRPr b="1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aleway"/>
              <a:buChar char="●"/>
            </a:pPr>
            <a:r>
              <a:rPr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El input son embeddings estáticos y el output </a:t>
            </a:r>
            <a:r>
              <a:rPr b="1"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embeddings contextuales</a:t>
            </a:r>
            <a:endParaRPr b="1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aleway"/>
              <a:buChar char="●"/>
            </a:pPr>
            <a:r>
              <a:rPr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Modelo pre entrenado puede ser fine-tuneado para tareas específicas</a:t>
            </a:r>
            <a:endParaRPr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aleway"/>
              <a:buChar char="●"/>
            </a:pPr>
            <a:r>
              <a:rPr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Capas Inferiores (Sintaxis): Las capas más bajas de las LSTMs tienden a centrarse en aspectos sintácticos del texto, como la gramática y la estructura de las oraciones.</a:t>
            </a:r>
            <a:endParaRPr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aleway"/>
              <a:buChar char="●"/>
            </a:pPr>
            <a:r>
              <a:rPr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Capas Superiores (Semántica): Las capas más altas capturan más información semántica, como el significado y las relaciones entre palabras.</a:t>
            </a:r>
            <a:endParaRPr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074" name="Google Shape;3074;p108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ELMO Arquitectura</a:t>
            </a:r>
            <a:endParaRPr b="0" sz="1700">
              <a:solidFill>
                <a:srgbClr val="666666"/>
              </a:solidFill>
            </a:endParaRPr>
          </a:p>
        </p:txBody>
      </p:sp>
      <p:pic>
        <p:nvPicPr>
          <p:cNvPr id="3075" name="Google Shape;3075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75" y="4660850"/>
            <a:ext cx="2763155" cy="25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6" name="Google Shape;3076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4637" y="3822238"/>
            <a:ext cx="2685674" cy="125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7" name="Google Shape;3077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24925" y="3812413"/>
            <a:ext cx="1279175" cy="127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1" name="Shape 3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Google Shape;3082;p109"/>
          <p:cNvSpPr txBox="1"/>
          <p:nvPr/>
        </p:nvSpPr>
        <p:spPr>
          <a:xfrm>
            <a:off x="0" y="1210950"/>
            <a:ext cx="9016500" cy="29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aleway"/>
              <a:buChar char="●"/>
            </a:pPr>
            <a:r>
              <a:rPr b="1"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Preentrenamiento</a:t>
            </a:r>
            <a:r>
              <a:rPr b="1"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r>
              <a:rPr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ELMo se entrena para predecir la siguiente palabra en una secuencia, aprovechando la estructura inherente y las relaciones en grandes cantidades de texto.</a:t>
            </a:r>
            <a:endParaRPr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aleway"/>
              <a:buChar char="●"/>
            </a:pPr>
            <a:r>
              <a:rPr b="1"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Grandes Corpus de Texto:</a:t>
            </a:r>
            <a:r>
              <a:rPr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Utilizando grandes conjuntos de datos, como Wikipedia y otros corpus de gran escala, ELMo aprende representaciones ricas que capturan una amplia gama de contextos y estilos lingüísticos.</a:t>
            </a:r>
            <a:endParaRPr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aleway"/>
              <a:buChar char="●"/>
            </a:pPr>
            <a:r>
              <a:rPr b="1"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Beneficios del Preentrenamiento:</a:t>
            </a:r>
            <a:r>
              <a:rPr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Al entrenarse en grandes volúmenes de texto, ELMo adquiere un conocimiento general del lenguaje, desde estructuras gramaticales hasta nuances semánticas. </a:t>
            </a:r>
            <a:endParaRPr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aleway"/>
              <a:buChar char="●"/>
            </a:pPr>
            <a:r>
              <a:rPr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10 epochs, 10B word Benchmark</a:t>
            </a:r>
            <a:endParaRPr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083" name="Google Shape;3083;p109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Preentrenamiento de ELMO</a:t>
            </a:r>
            <a:endParaRPr b="0" sz="1700">
              <a:solidFill>
                <a:srgbClr val="666666"/>
              </a:solidFill>
            </a:endParaRPr>
          </a:p>
        </p:txBody>
      </p:sp>
      <p:pic>
        <p:nvPicPr>
          <p:cNvPr id="3084" name="Google Shape;3084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7787" y="3466825"/>
            <a:ext cx="1780926" cy="160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8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Google Shape;3089;p110"/>
          <p:cNvSpPr txBox="1"/>
          <p:nvPr/>
        </p:nvSpPr>
        <p:spPr>
          <a:xfrm>
            <a:off x="0" y="1210950"/>
            <a:ext cx="9016500" cy="29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aleway"/>
              <a:buChar char="●"/>
            </a:pPr>
            <a:r>
              <a:rPr b="1"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Ajuste</a:t>
            </a:r>
            <a:r>
              <a:rPr b="1"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r>
              <a:rPr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El modelo</a:t>
            </a:r>
            <a:r>
              <a:rPr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preentrenado se puede "afinar" en un conjunto de datos más pequeño y específico para adaptarse a tareas particulares.</a:t>
            </a:r>
            <a:endParaRPr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aleway"/>
              <a:buChar char="●"/>
            </a:pPr>
            <a:r>
              <a:rPr b="1"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Adaptación</a:t>
            </a:r>
            <a:r>
              <a:rPr b="1"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r>
              <a:rPr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El objetivo del fine-tuning es que el modelo aprenda detalles y particularidades relevantes para una tarea específica, aprovechando el conocimiento previamente adquirido.</a:t>
            </a:r>
            <a:endParaRPr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aleway"/>
              <a:buChar char="●"/>
            </a:pPr>
            <a:r>
              <a:rPr b="1"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Proceso the Fine-tuning</a:t>
            </a:r>
            <a:endParaRPr b="1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aleway"/>
              <a:buAutoNum type="arabicPeriod"/>
            </a:pPr>
            <a:r>
              <a:rPr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Proceso de datos específicos</a:t>
            </a:r>
            <a:endParaRPr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aleway"/>
              <a:buAutoNum type="arabicPeriod"/>
            </a:pPr>
            <a:r>
              <a:rPr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Adaptar el modelo pre-entrenado en función del output (sequence classification, labeling, etc.)</a:t>
            </a:r>
            <a:endParaRPr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aleway"/>
              <a:buAutoNum type="arabicPeriod"/>
            </a:pPr>
            <a:r>
              <a:rPr lang="es-419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Entrenamiento y hyper-parameter tuning</a:t>
            </a:r>
            <a:endParaRPr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090" name="Google Shape;3090;p110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Fine-Tuning</a:t>
            </a:r>
            <a:endParaRPr b="0" sz="1700">
              <a:solidFill>
                <a:srgbClr val="666666"/>
              </a:solidFill>
            </a:endParaRPr>
          </a:p>
        </p:txBody>
      </p:sp>
      <p:pic>
        <p:nvPicPr>
          <p:cNvPr id="3091" name="Google Shape;3091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0800" y="59688"/>
            <a:ext cx="356235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2" name="Google Shape;3092;p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1450" y="3734337"/>
            <a:ext cx="2895700" cy="141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3" name="Google Shape;3093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0824" y="3638025"/>
            <a:ext cx="1979623" cy="144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4" name="Google Shape;3094;p1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4421" y="3809546"/>
            <a:ext cx="1782050" cy="126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8" name="Shape 3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9" name="Google Shape;3099;p111"/>
          <p:cNvSpPr txBox="1"/>
          <p:nvPr>
            <p:ph type="title"/>
          </p:nvPr>
        </p:nvSpPr>
        <p:spPr>
          <a:xfrm>
            <a:off x="727650" y="583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SQuAD</a:t>
            </a:r>
            <a:endParaRPr/>
          </a:p>
        </p:txBody>
      </p:sp>
      <p:sp>
        <p:nvSpPr>
          <p:cNvPr id="3100" name="Google Shape;3100;p111"/>
          <p:cNvSpPr txBox="1"/>
          <p:nvPr>
            <p:ph idx="1" type="body"/>
          </p:nvPr>
        </p:nvSpPr>
        <p:spPr>
          <a:xfrm>
            <a:off x="729450" y="1425775"/>
            <a:ext cx="7688700" cy="2914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Diseñado para entrenar y evaluar sistemas de comprensión de comprensión lectora (reading comprehension).</a:t>
            </a:r>
            <a:endParaRPr sz="11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Contiene preguntas formuladas por humanos en una serie de artículos de Wikipedia.</a:t>
            </a:r>
            <a:endParaRPr sz="11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Ejemplo:</a:t>
            </a:r>
            <a:endParaRPr sz="11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Raleway"/>
              <a:buChar char="●"/>
            </a:pPr>
            <a:r>
              <a:rPr lang="es-419" sz="11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Pasaje: "The Norman conquest of England was a military invasion of England by William, the Duke of Normandy, in 1066."</a:t>
            </a:r>
            <a:endParaRPr sz="11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Raleway"/>
              <a:buChar char="●"/>
            </a:pPr>
            <a:r>
              <a:rPr lang="es-419" sz="11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Pregunta: "Who invaded England in 1066?"</a:t>
            </a:r>
            <a:endParaRPr sz="11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Raleway"/>
              <a:buChar char="●"/>
            </a:pPr>
            <a:r>
              <a:rPr lang="es-419" sz="11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Respuesta: "William, the Duke of Normandy"</a:t>
            </a:r>
            <a:endParaRPr sz="9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01" name="Google Shape;3101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6900" y="2666675"/>
            <a:ext cx="4796825" cy="206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5" name="Shape 3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6" name="Google Shape;3106;p112"/>
          <p:cNvSpPr txBox="1"/>
          <p:nvPr>
            <p:ph type="title"/>
          </p:nvPr>
        </p:nvSpPr>
        <p:spPr>
          <a:xfrm>
            <a:off x="727650" y="583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SNLI</a:t>
            </a:r>
            <a:endParaRPr/>
          </a:p>
        </p:txBody>
      </p:sp>
      <p:sp>
        <p:nvSpPr>
          <p:cNvPr id="3107" name="Google Shape;3107;p112"/>
          <p:cNvSpPr txBox="1"/>
          <p:nvPr>
            <p:ph idx="1" type="body"/>
          </p:nvPr>
        </p:nvSpPr>
        <p:spPr>
          <a:xfrm>
            <a:off x="729450" y="1425775"/>
            <a:ext cx="7688700" cy="2914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Compuesto por pares de oraciones: una oración base y una hipótesis.</a:t>
            </a:r>
            <a:endParaRPr sz="11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Cada par se etiqueta como una de tres categorías: Entailment (Implicación), Contradiction (Contradicción) o Neutral.</a:t>
            </a:r>
            <a:endParaRPr sz="11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Ejemplo</a:t>
            </a:r>
            <a:endParaRPr sz="11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Raleway"/>
              <a:buChar char="●"/>
            </a:pPr>
            <a:r>
              <a:rPr lang="es-419" sz="11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Oración Base: "Un hombre está tocando un piano."</a:t>
            </a:r>
            <a:endParaRPr sz="11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Raleway"/>
              <a:buChar char="●"/>
            </a:pPr>
            <a:r>
              <a:rPr lang="es-419" sz="11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Hipótesis: "Un hombre está tocando un instrumento musical."</a:t>
            </a:r>
            <a:endParaRPr sz="11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Raleway"/>
              <a:buChar char="●"/>
            </a:pPr>
            <a:r>
              <a:rPr lang="es-419" sz="11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Etiqueta: Entailment (Implicación)</a:t>
            </a:r>
            <a:endParaRPr sz="11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108" name="Google Shape;3108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9600" y="2708400"/>
            <a:ext cx="5320876" cy="22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2" name="Shape 3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Google Shape;3113;p113"/>
          <p:cNvSpPr txBox="1"/>
          <p:nvPr>
            <p:ph type="title"/>
          </p:nvPr>
        </p:nvSpPr>
        <p:spPr>
          <a:xfrm>
            <a:off x="727650" y="583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SRL</a:t>
            </a:r>
            <a:endParaRPr/>
          </a:p>
        </p:txBody>
      </p:sp>
      <p:sp>
        <p:nvSpPr>
          <p:cNvPr id="3114" name="Google Shape;3114;p113"/>
          <p:cNvSpPr txBox="1"/>
          <p:nvPr>
            <p:ph idx="1" type="body"/>
          </p:nvPr>
        </p:nvSpPr>
        <p:spPr>
          <a:xfrm>
            <a:off x="729450" y="1425775"/>
            <a:ext cx="7688700" cy="2914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58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Entender las relaciones semánticas entre un verbo y las palabras asociadas en una oración.</a:t>
            </a:r>
            <a:endParaRPr sz="5258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5258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Las oraciones son etiquetadas con roles como: Agente, Paciente, Instrumento, Lugar, etc.</a:t>
            </a:r>
            <a:endParaRPr sz="5258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5258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Ejemplo:</a:t>
            </a:r>
            <a:endParaRPr sz="5258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2066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Raleway"/>
              <a:buChar char="●"/>
            </a:pPr>
            <a:r>
              <a:rPr lang="es-419" sz="5258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Oración: "El niño rompió la ventana con una piedra."</a:t>
            </a:r>
            <a:endParaRPr sz="5258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206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Raleway"/>
              <a:buChar char="●"/>
            </a:pPr>
            <a:r>
              <a:rPr lang="es-419" sz="5258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Verb: "rompió"</a:t>
            </a:r>
            <a:endParaRPr sz="5258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206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Raleway"/>
              <a:buChar char="●"/>
            </a:pPr>
            <a:r>
              <a:rPr lang="es-419" sz="5258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Roles:</a:t>
            </a:r>
            <a:endParaRPr sz="5258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2066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Raleway"/>
              <a:buChar char="○"/>
            </a:pPr>
            <a:r>
              <a:rPr lang="es-419" sz="5258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s-419" sz="5258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gente: El niño</a:t>
            </a:r>
            <a:endParaRPr sz="5258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2066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Raleway"/>
              <a:buChar char="○"/>
            </a:pPr>
            <a:r>
              <a:rPr lang="es-419" sz="5258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Paciente: la ventana</a:t>
            </a:r>
            <a:endParaRPr sz="5258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2066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Raleway"/>
              <a:buChar char="○"/>
            </a:pPr>
            <a:r>
              <a:rPr lang="es-419" sz="5258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Instrumento: una piedra</a:t>
            </a:r>
            <a:endParaRPr sz="5358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115" name="Google Shape;3115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3925" y="2800225"/>
            <a:ext cx="5028925" cy="216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9" name="Shape 3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0" name="Google Shape;3120;p114"/>
          <p:cNvSpPr txBox="1"/>
          <p:nvPr>
            <p:ph type="title"/>
          </p:nvPr>
        </p:nvSpPr>
        <p:spPr>
          <a:xfrm>
            <a:off x="727650" y="583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NER</a:t>
            </a:r>
            <a:endParaRPr/>
          </a:p>
        </p:txBody>
      </p:sp>
      <p:sp>
        <p:nvSpPr>
          <p:cNvPr id="3121" name="Google Shape;3121;p114"/>
          <p:cNvSpPr txBox="1"/>
          <p:nvPr>
            <p:ph idx="1" type="body"/>
          </p:nvPr>
        </p:nvSpPr>
        <p:spPr>
          <a:xfrm>
            <a:off x="647200" y="1425775"/>
            <a:ext cx="7990200" cy="2914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Reconocimiento de Entidades Nombradas identifica y clasifica nombres propios en texto en categorías como personas, organizaciones, lugares, etc.</a:t>
            </a:r>
            <a:endParaRPr sz="14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Las oraciones o fragmentos de texto se etiquetan con las entidades que contienen.</a:t>
            </a:r>
            <a:endParaRPr sz="14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Los etiquetas comunes incluyen: PER (persona), ORG (organización), LOC (localización), DATE (fecha), entre otros.</a:t>
            </a:r>
            <a:endParaRPr sz="14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Ejemplo:</a:t>
            </a:r>
            <a:endParaRPr sz="14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84163" lvl="0" marL="457200" rtl="0" algn="l">
              <a:spcBef>
                <a:spcPts val="15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Raleway"/>
              <a:buChar char="●"/>
            </a:pPr>
            <a:r>
              <a:rPr lang="es-419" sz="1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Texto: "Barcelona es una ciudad en España."</a:t>
            </a:r>
            <a:endParaRPr sz="14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84163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Raleway"/>
              <a:buChar char="●"/>
            </a:pPr>
            <a:r>
              <a:rPr lang="es-419" sz="1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Entidades:</a:t>
            </a:r>
            <a:endParaRPr sz="14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84163" lvl="1" marL="9144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Raleway"/>
              <a:buChar char="○"/>
            </a:pPr>
            <a:r>
              <a:rPr lang="es-419" sz="1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Barcelona: LOC</a:t>
            </a:r>
            <a:endParaRPr sz="14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84163" lvl="1" marL="9144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Raleway"/>
              <a:buChar char="○"/>
            </a:pPr>
            <a:r>
              <a:rPr lang="es-419" sz="1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España: LOC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sz="5258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122" name="Google Shape;3122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3925" y="2681250"/>
            <a:ext cx="5304876" cy="228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6" name="Shape 3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Google Shape;3127;p115"/>
          <p:cNvSpPr txBox="1"/>
          <p:nvPr>
            <p:ph type="title"/>
          </p:nvPr>
        </p:nvSpPr>
        <p:spPr>
          <a:xfrm>
            <a:off x="727650" y="583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WSD y POS tagging</a:t>
            </a:r>
            <a:endParaRPr/>
          </a:p>
        </p:txBody>
      </p:sp>
      <p:sp>
        <p:nvSpPr>
          <p:cNvPr id="3128" name="Google Shape;3128;p115"/>
          <p:cNvSpPr txBox="1"/>
          <p:nvPr>
            <p:ph idx="1" type="body"/>
          </p:nvPr>
        </p:nvSpPr>
        <p:spPr>
          <a:xfrm>
            <a:off x="729450" y="1425775"/>
            <a:ext cx="7688700" cy="29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29" name="Google Shape;3129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1875" y="1406796"/>
            <a:ext cx="3019550" cy="232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0" name="Google Shape;3130;p1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3749" y="1659449"/>
            <a:ext cx="2427750" cy="18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4" name="Shape 3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5" name="Google Shape;3135;p116"/>
          <p:cNvSpPr txBox="1"/>
          <p:nvPr>
            <p:ph type="title"/>
          </p:nvPr>
        </p:nvSpPr>
        <p:spPr>
          <a:xfrm>
            <a:off x="727650" y="583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Embeddings Contextuales</a:t>
            </a:r>
            <a:endParaRPr/>
          </a:p>
        </p:txBody>
      </p:sp>
      <p:pic>
        <p:nvPicPr>
          <p:cNvPr id="3136" name="Google Shape;3136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825" y="1527975"/>
            <a:ext cx="6319275" cy="238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0" name="Shape 3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1" name="Google Shape;3141;p117"/>
          <p:cNvSpPr txBox="1"/>
          <p:nvPr>
            <p:ph type="title"/>
          </p:nvPr>
        </p:nvSpPr>
        <p:spPr>
          <a:xfrm>
            <a:off x="727650" y="583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Modelos preentrenados requieren menos datos</a:t>
            </a:r>
            <a:endParaRPr/>
          </a:p>
        </p:txBody>
      </p:sp>
      <p:pic>
        <p:nvPicPr>
          <p:cNvPr id="3142" name="Google Shape;3142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4725" y="1354125"/>
            <a:ext cx="4691075" cy="365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6" name="Shape 3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7" name="Google Shape;3147;p118"/>
          <p:cNvSpPr txBox="1"/>
          <p:nvPr/>
        </p:nvSpPr>
        <p:spPr>
          <a:xfrm>
            <a:off x="921725" y="1977575"/>
            <a:ext cx="7144200" cy="14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6000"/>
              <a:t>FIN</a:t>
            </a:r>
            <a:endParaRPr b="1" sz="60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1" name="Shape 3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2" name="Google Shape;3152;p119"/>
          <p:cNvSpPr txBox="1"/>
          <p:nvPr>
            <p:ph type="title"/>
          </p:nvPr>
        </p:nvSpPr>
        <p:spPr>
          <a:xfrm>
            <a:off x="729450" y="603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Reading List</a:t>
            </a:r>
            <a:endParaRPr/>
          </a:p>
        </p:txBody>
      </p:sp>
      <p:sp>
        <p:nvSpPr>
          <p:cNvPr id="3153" name="Google Shape;3153;p119"/>
          <p:cNvSpPr txBox="1"/>
          <p:nvPr>
            <p:ph idx="1" type="body"/>
          </p:nvPr>
        </p:nvSpPr>
        <p:spPr>
          <a:xfrm>
            <a:off x="729450" y="1443150"/>
            <a:ext cx="7688700" cy="28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Deep contextualized word representations, 2018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Contextual String Embeddings for Sequence Labeling, Akbik, 2018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Neural Architectures for Named Entity Recognition, Lampe et al. 2016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uFill>
                  <a:noFill/>
                </a:uFill>
                <a:hlinkClick r:id="rId3"/>
              </a:rPr>
              <a:t>Stanford Neural Machine Translation Systems for Spoken Language Domains</a:t>
            </a:r>
            <a:r>
              <a:rPr lang="es-419"/>
              <a:t>, Luong et al., 2015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>
                <a:uFill>
                  <a:noFill/>
                </a:uFill>
                <a:hlinkClick r:id="rId4"/>
              </a:rPr>
              <a:t>A Primer on Neural Network Models for Natural Language Processing</a:t>
            </a:r>
            <a:r>
              <a:rPr lang="es-419"/>
              <a:t>, Goldberg, 2015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7" name="Shape 3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bold{c^{(t)}}=\bold{f}^{t}\, \circ \,\bold{c}^{(t-1)} + \bold{i}^{(t)}\; \circ  \; \bold{\tilde{c}}^{(t)}\\&#10;&#10;\bold{\tilde{c}}^{(t)}=\sigma(\bold{b}_c+\bold{W}_c\bold{h}^{(t-1)} + \bold{U}_c \bold{x}^{(t)})\\&#10;\bold{h}^{(t)}=\bold{o}^{t}\; \circ  \; \tanh(\bold{c^{(t)}})" id="3158" name="Google Shape;3158;p120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75" y="5327524"/>
            <a:ext cx="4309700" cy="13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9" name="Google Shape;3159;p120"/>
          <p:cNvSpPr txBox="1"/>
          <p:nvPr/>
        </p:nvSpPr>
        <p:spPr>
          <a:xfrm>
            <a:off x="225075" y="4689263"/>
            <a:ext cx="8832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</a:rPr>
              <a:t>Cho et al (2014) Learning Phrase Representations using RNN Encoder-Decoder for Statistical Machine Translation</a:t>
            </a:r>
            <a:endParaRPr sz="1000">
              <a:solidFill>
                <a:srgbClr val="999999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</a:rPr>
              <a:t>http://colah.github.io/posts/2015-08-Understanding-LSTMs/</a:t>
            </a:r>
            <a:endParaRPr sz="1000">
              <a:solidFill>
                <a:srgbClr val="999999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999999"/>
              </a:solidFill>
            </a:endParaRPr>
          </a:p>
        </p:txBody>
      </p:sp>
      <p:pic>
        <p:nvPicPr>
          <p:cNvPr id="3160" name="Google Shape;3160;p1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4525" y="1374425"/>
            <a:ext cx="3740351" cy="1399706"/>
          </a:xfrm>
          <a:prstGeom prst="rect">
            <a:avLst/>
          </a:prstGeom>
          <a:noFill/>
          <a:ln>
            <a:noFill/>
          </a:ln>
        </p:spPr>
      </p:pic>
      <p:sp>
        <p:nvSpPr>
          <p:cNvPr id="3161" name="Google Shape;3161;p120"/>
          <p:cNvSpPr txBox="1"/>
          <p:nvPr/>
        </p:nvSpPr>
        <p:spPr>
          <a:xfrm>
            <a:off x="5196925" y="1017725"/>
            <a:ext cx="3421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666666"/>
                </a:solidFill>
              </a:rPr>
              <a:t>Vanilla RNN</a:t>
            </a:r>
            <a:endParaRPr b="1" sz="1800">
              <a:solidFill>
                <a:srgbClr val="666666"/>
              </a:solidFill>
            </a:endParaRPr>
          </a:p>
        </p:txBody>
      </p:sp>
      <p:sp>
        <p:nvSpPr>
          <p:cNvPr id="3162" name="Google Shape;3162;p120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Gated Recurrent Units (GRU)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6" name="Shape 3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bold{c^{(t)}}=\bold{f}^{t}\, \circ \,\bold{c}^{(t-1)} + \bold{i}^{(t)}\; \circ  \; \bold{\tilde{c}}^{(t)}\\&#10;&#10;\bold{\tilde{c}}^{(t)}=\sigma(\bold{b}_c+\bold{W}_c\bold{h}^{(t-1)} + \bold{U}_c \bold{x}^{(t)})\\&#10;\bold{h}^{(t)}=\bold{o}^{t}\; \circ  \; \tanh(\bold{c^{(t)}})" id="3167" name="Google Shape;3167;p12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75" y="5327524"/>
            <a:ext cx="4309700" cy="13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8" name="Google Shape;3168;p121"/>
          <p:cNvSpPr txBox="1"/>
          <p:nvPr/>
        </p:nvSpPr>
        <p:spPr>
          <a:xfrm>
            <a:off x="225075" y="4689263"/>
            <a:ext cx="8832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</a:rPr>
              <a:t>Cho et al (2014) Learning Phrase Representations using RNN Encoder-Decoder for Statistical Machine Translation</a:t>
            </a:r>
            <a:endParaRPr sz="1000">
              <a:solidFill>
                <a:srgbClr val="999999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</a:rPr>
              <a:t>http://colah.github.io/posts/2015-08-Understanding-LSTMs/</a:t>
            </a:r>
            <a:endParaRPr sz="1000">
              <a:solidFill>
                <a:srgbClr val="999999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999999"/>
              </a:solidFill>
            </a:endParaRPr>
          </a:p>
        </p:txBody>
      </p:sp>
      <p:pic>
        <p:nvPicPr>
          <p:cNvPr id="3169" name="Google Shape;3169;p1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4525" y="1374425"/>
            <a:ext cx="3740351" cy="1399706"/>
          </a:xfrm>
          <a:prstGeom prst="rect">
            <a:avLst/>
          </a:prstGeom>
          <a:noFill/>
          <a:ln>
            <a:noFill/>
          </a:ln>
        </p:spPr>
      </p:pic>
      <p:sp>
        <p:nvSpPr>
          <p:cNvPr id="3170" name="Google Shape;3170;p121"/>
          <p:cNvSpPr txBox="1"/>
          <p:nvPr/>
        </p:nvSpPr>
        <p:spPr>
          <a:xfrm>
            <a:off x="5196925" y="1017725"/>
            <a:ext cx="3421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666666"/>
                </a:solidFill>
              </a:rPr>
              <a:t>Vanilla RNN</a:t>
            </a:r>
            <a:endParaRPr b="1" sz="1800">
              <a:solidFill>
                <a:srgbClr val="666666"/>
              </a:solidFill>
            </a:endParaRPr>
          </a:p>
        </p:txBody>
      </p:sp>
      <p:sp>
        <p:nvSpPr>
          <p:cNvPr id="3171" name="Google Shape;3171;p121"/>
          <p:cNvSpPr txBox="1"/>
          <p:nvPr/>
        </p:nvSpPr>
        <p:spPr>
          <a:xfrm>
            <a:off x="189625" y="1346800"/>
            <a:ext cx="43098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Idea: </a:t>
            </a:r>
            <a:endParaRPr sz="23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aleway"/>
              <a:buChar char="●"/>
            </a:pPr>
            <a:r>
              <a:rPr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Facilitar la retención de información de largo alcance</a:t>
            </a:r>
            <a:endParaRPr baseline="-25000" sz="13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aleway"/>
              <a:buChar char="●"/>
            </a:pPr>
            <a:r>
              <a:rPr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Los estados ocultos </a:t>
            </a:r>
            <a:r>
              <a:rPr i="1"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h</a:t>
            </a:r>
            <a:r>
              <a:rPr baseline="-25000" i="1"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pueden ser actualizados o no en cada iteración</a:t>
            </a:r>
            <a:endParaRPr sz="13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aleway"/>
              <a:buChar char="●"/>
            </a:pPr>
            <a:r>
              <a:rPr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La actualización de los estados se controlan con </a:t>
            </a:r>
            <a:r>
              <a:rPr i="1"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gates. </a:t>
            </a:r>
            <a:r>
              <a:rPr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los </a:t>
            </a:r>
            <a:r>
              <a:rPr i="1"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gates</a:t>
            </a:r>
            <a:r>
              <a:rPr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toman valores entre 0 (cerrado) y 1 (abierto).</a:t>
            </a:r>
            <a:endParaRPr sz="13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666666"/>
              </a:buClr>
              <a:buSzPts val="1300"/>
              <a:buFont typeface="Raleway"/>
              <a:buChar char="●"/>
            </a:pPr>
            <a:r>
              <a:rPr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Tanto el contenido de la actualización como los </a:t>
            </a:r>
            <a:r>
              <a:rPr i="1"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gates</a:t>
            </a:r>
            <a:r>
              <a:rPr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están determinados tanto por el estado anterior como por el input.</a:t>
            </a:r>
            <a:endParaRPr sz="13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72" name="Google Shape;3172;p121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Gated Recurrent Units (GRU)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6" name="Shape 3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bold{c^{(t)}}=\bold{f}^{t}\, \circ \,\bold{c}^{(t-1)} + \bold{i}^{(t)}\; \circ  \; \bold{\tilde{c}}^{(t)}\\&#10;&#10;\bold{\tilde{c}}^{(t)}=\sigma(\bold{b}_c+\bold{W}_c\bold{h}^{(t-1)} + \bold{U}_c \bold{x}^{(t)})\\&#10;\bold{h}^{(t)}=\bold{o}^{t}\; \circ  \; \tanh(\bold{c^{(t)}})" id="3177" name="Google Shape;3177;p122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75" y="5327524"/>
            <a:ext cx="4309700" cy="13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8" name="Google Shape;3178;p122"/>
          <p:cNvSpPr txBox="1"/>
          <p:nvPr/>
        </p:nvSpPr>
        <p:spPr>
          <a:xfrm>
            <a:off x="5196925" y="1017725"/>
            <a:ext cx="3421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666666"/>
                </a:solidFill>
              </a:rPr>
              <a:t>Vanilla RNN</a:t>
            </a:r>
            <a:endParaRPr b="1" sz="1800">
              <a:solidFill>
                <a:srgbClr val="666666"/>
              </a:solidFill>
            </a:endParaRPr>
          </a:p>
        </p:txBody>
      </p:sp>
      <p:pic>
        <p:nvPicPr>
          <p:cNvPr id="3179" name="Google Shape;3179;p122"/>
          <p:cNvPicPr preferRelativeResize="0"/>
          <p:nvPr/>
        </p:nvPicPr>
        <p:blipFill rotWithShape="1">
          <a:blip r:embed="rId4">
            <a:alphaModFix/>
          </a:blip>
          <a:srcRect b="0" l="0" r="54539" t="0"/>
          <a:stretch/>
        </p:blipFill>
        <p:spPr>
          <a:xfrm>
            <a:off x="5482250" y="2842750"/>
            <a:ext cx="2743825" cy="1864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0" name="Google Shape;3180;p122"/>
          <p:cNvSpPr txBox="1"/>
          <p:nvPr/>
        </p:nvSpPr>
        <p:spPr>
          <a:xfrm>
            <a:off x="225075" y="4689263"/>
            <a:ext cx="8832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</a:rPr>
              <a:t>Cho et al (2014) Learning Phrase Representations using RNN Encoder-Decoder for Statistical Machine Translation</a:t>
            </a:r>
            <a:endParaRPr sz="1000">
              <a:solidFill>
                <a:srgbClr val="999999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</a:rPr>
              <a:t>http://colah.github.io/posts/2015-08-Understanding-LSTMs/</a:t>
            </a:r>
            <a:endParaRPr sz="1000">
              <a:solidFill>
                <a:srgbClr val="999999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999999"/>
              </a:solidFill>
            </a:endParaRPr>
          </a:p>
        </p:txBody>
      </p:sp>
      <p:pic>
        <p:nvPicPr>
          <p:cNvPr id="3181" name="Google Shape;3181;p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4525" y="1374425"/>
            <a:ext cx="3740351" cy="1399706"/>
          </a:xfrm>
          <a:prstGeom prst="rect">
            <a:avLst/>
          </a:prstGeom>
          <a:noFill/>
          <a:ln>
            <a:noFill/>
          </a:ln>
        </p:spPr>
      </p:pic>
      <p:sp>
        <p:nvSpPr>
          <p:cNvPr id="3182" name="Google Shape;3182;p122"/>
          <p:cNvSpPr txBox="1"/>
          <p:nvPr/>
        </p:nvSpPr>
        <p:spPr>
          <a:xfrm>
            <a:off x="189625" y="1346800"/>
            <a:ext cx="43098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Idea: </a:t>
            </a:r>
            <a:endParaRPr sz="23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aleway"/>
              <a:buChar char="●"/>
            </a:pPr>
            <a:r>
              <a:rPr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Facilitar la retención de información de largo alcance</a:t>
            </a:r>
            <a:endParaRPr baseline="-25000" sz="13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aleway"/>
              <a:buChar char="●"/>
            </a:pPr>
            <a:r>
              <a:rPr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Los estados ocultos </a:t>
            </a:r>
            <a:r>
              <a:rPr i="1"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h</a:t>
            </a:r>
            <a:r>
              <a:rPr baseline="-25000" i="1"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pueden ser actualizados o no en cada iteración</a:t>
            </a:r>
            <a:endParaRPr sz="13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aleway"/>
              <a:buChar char="●"/>
            </a:pPr>
            <a:r>
              <a:rPr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La actualización de los estados se controlan con </a:t>
            </a:r>
            <a:r>
              <a:rPr i="1"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gates. </a:t>
            </a:r>
            <a:r>
              <a:rPr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Los </a:t>
            </a:r>
            <a:r>
              <a:rPr i="1"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gates</a:t>
            </a:r>
            <a:r>
              <a:rPr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toman valores entre 0 (cerrado) y 1 (abierto).</a:t>
            </a:r>
            <a:endParaRPr sz="13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666666"/>
              </a:buClr>
              <a:buSzPts val="1300"/>
              <a:buFont typeface="Raleway"/>
              <a:buChar char="●"/>
            </a:pPr>
            <a:r>
              <a:rPr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Tanto el contenido de la actualización como los </a:t>
            </a:r>
            <a:r>
              <a:rPr i="1"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gates</a:t>
            </a:r>
            <a:r>
              <a:rPr lang="es-419" sz="1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están determinados tanto por el estado anterior como por el input.</a:t>
            </a:r>
            <a:endParaRPr sz="13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83" name="Google Shape;3183;p122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Gated Recurrent Units (GRU)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7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bold{c^{(t)}}=\bold{f}^{t}\, \circ \,\bold{c}^{(t-1)} + \bold{i}^{(t)}\; \circ  \; \bold{\tilde{c}}^{(t)}\\&#10;&#10;\bold{\tilde{c}}^{(t)}=\sigma(\bold{b}_c+\bold{W}_c\bold{h}^{(t-1)} + \bold{U}_c \bold{x}^{(t)})\\&#10;\bold{h}^{(t)}=\bold{o}^{t}\; \circ  \; \tanh(\bold{c^{(t)}})" id="3188" name="Google Shape;3188;p123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75" y="5327524"/>
            <a:ext cx="4309700" cy="134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9" name="Google Shape;3189;p123"/>
          <p:cNvPicPr preferRelativeResize="0"/>
          <p:nvPr/>
        </p:nvPicPr>
        <p:blipFill rotWithShape="1">
          <a:blip r:embed="rId4">
            <a:alphaModFix/>
          </a:blip>
          <a:srcRect b="0" l="0" r="54539" t="0"/>
          <a:stretch/>
        </p:blipFill>
        <p:spPr>
          <a:xfrm>
            <a:off x="5458925" y="1581375"/>
            <a:ext cx="3373375" cy="2291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90" name="Google Shape;3190;p123"/>
          <p:cNvCxnSpPr/>
          <p:nvPr/>
        </p:nvCxnSpPr>
        <p:spPr>
          <a:xfrm flipH="1">
            <a:off x="2874725" y="1975900"/>
            <a:ext cx="145800" cy="2802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91" name="Google Shape;3191;p123"/>
          <p:cNvSpPr txBox="1"/>
          <p:nvPr/>
        </p:nvSpPr>
        <p:spPr>
          <a:xfrm>
            <a:off x="2779200" y="1619750"/>
            <a:ext cx="24822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reset gate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3192" name="Google Shape;3192;p123"/>
          <p:cNvSpPr txBox="1"/>
          <p:nvPr/>
        </p:nvSpPr>
        <p:spPr>
          <a:xfrm>
            <a:off x="225075" y="4784300"/>
            <a:ext cx="8832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</a:rPr>
              <a:t>Cho et al (2014) Learning Phrase Representations using RNN Encoder-Decoder for Statistical Machine Translation</a:t>
            </a:r>
            <a:endParaRPr sz="10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193" name="Google Shape;3193;p123"/>
          <p:cNvSpPr txBox="1"/>
          <p:nvPr/>
        </p:nvSpPr>
        <p:spPr>
          <a:xfrm>
            <a:off x="119025" y="1357950"/>
            <a:ext cx="14652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new hidden state content</a:t>
            </a:r>
            <a:endParaRPr>
              <a:solidFill>
                <a:srgbClr val="4A86E8"/>
              </a:solidFill>
            </a:endParaRPr>
          </a:p>
        </p:txBody>
      </p:sp>
      <p:cxnSp>
        <p:nvCxnSpPr>
          <p:cNvPr id="3194" name="Google Shape;3194;p123"/>
          <p:cNvCxnSpPr/>
          <p:nvPr/>
        </p:nvCxnSpPr>
        <p:spPr>
          <a:xfrm flipH="1">
            <a:off x="590450" y="1960150"/>
            <a:ext cx="19800" cy="2754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\bold{h^{(t)}}=(1- \bold{z}^{t})\, \circ \,\bold{h}^{(t-1)} + \bold{z}^{(t)}\; \circ  \; \bold{\tilde{h}}^{(t)}\\&#10;&#10;\bold{\tilde{h}}^{(t)}=\tanh(\bold{b}_h + \bold{W}_h (\bold{r}^{(t)} \circ \bold{h}^{(t-1)}) + \bold{U}_h \bold{x}^{(t)})\\&#10;&#10;" id="3195" name="Google Shape;3195;p123" title="MathEquation,#000000"/>
          <p:cNvPicPr preferRelativeResize="0"/>
          <p:nvPr/>
        </p:nvPicPr>
        <p:blipFill rotWithShape="1">
          <a:blip r:embed="rId5">
            <a:alphaModFix/>
          </a:blip>
          <a:srcRect b="0" l="0" r="0" t="37869"/>
          <a:stretch/>
        </p:blipFill>
        <p:spPr>
          <a:xfrm>
            <a:off x="419375" y="2210067"/>
            <a:ext cx="4306950" cy="615475"/>
          </a:xfrm>
          <a:prstGeom prst="rect">
            <a:avLst/>
          </a:prstGeom>
          <a:noFill/>
          <a:ln>
            <a:noFill/>
          </a:ln>
        </p:spPr>
      </p:pic>
      <p:sp>
        <p:nvSpPr>
          <p:cNvPr id="3196" name="Google Shape;3196;p123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Gated Recurrent Units (GRU)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0" name="Shape 3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bold{c^{(t)}}=\bold{f}^{t}\, \circ \,\bold{c}^{(t-1)} + \bold{i}^{(t)}\; \circ  \; \bold{\tilde{c}}^{(t)}\\&#10;&#10;\bold{\tilde{c}}^{(t)}=\sigma(\bold{b}_c+\bold{W}_c\bold{h}^{(t-1)} + \bold{U}_c \bold{x}^{(t)})\\&#10;\bold{h}^{(t)}=\bold{o}^{t}\; \circ  \; \tanh(\bold{c^{(t)}})" id="3201" name="Google Shape;3201;p124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75" y="5327524"/>
            <a:ext cx="4309700" cy="134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2" name="Google Shape;3202;p124"/>
          <p:cNvPicPr preferRelativeResize="0"/>
          <p:nvPr/>
        </p:nvPicPr>
        <p:blipFill rotWithShape="1">
          <a:blip r:embed="rId4">
            <a:alphaModFix/>
          </a:blip>
          <a:srcRect b="0" l="0" r="54539" t="0"/>
          <a:stretch/>
        </p:blipFill>
        <p:spPr>
          <a:xfrm>
            <a:off x="5458925" y="1581375"/>
            <a:ext cx="3373375" cy="229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old{h^{(t)}}=(1- \bold{z}^{t})\, \circ \,\bold{h}^{(t-1)} + \bold{z}^{(t)}\; \circ  \; \bold{\tilde{h}}^{(t)}\\&#10;&#10;\bold{\tilde{h}}^{(t)}=\tanh(\bold{b}_h + \bold{W}_h (\bold{r}^{(t)} \circ \bold{h}^{(t-1)}) + \bold{U}_h \bold{x}^{(t)})\\&#10;&#10;" id="3203" name="Google Shape;3203;p124" title="MathEquation,#000000"/>
          <p:cNvPicPr preferRelativeResize="0"/>
          <p:nvPr/>
        </p:nvPicPr>
        <p:blipFill rotWithShape="1">
          <a:blip r:embed="rId5">
            <a:alphaModFix/>
          </a:blip>
          <a:srcRect b="61720" l="0" r="0" t="0"/>
          <a:stretch/>
        </p:blipFill>
        <p:spPr>
          <a:xfrm>
            <a:off x="419375" y="2724375"/>
            <a:ext cx="4306950" cy="37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04" name="Google Shape;3204;p124"/>
          <p:cNvCxnSpPr/>
          <p:nvPr/>
        </p:nvCxnSpPr>
        <p:spPr>
          <a:xfrm flipH="1" rot="10800000">
            <a:off x="2509250" y="3107950"/>
            <a:ext cx="341400" cy="238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5" name="Google Shape;3205;p124"/>
          <p:cNvCxnSpPr/>
          <p:nvPr/>
        </p:nvCxnSpPr>
        <p:spPr>
          <a:xfrm rot="10800000">
            <a:off x="1768700" y="3110050"/>
            <a:ext cx="354600" cy="2679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06" name="Google Shape;3206;p124"/>
          <p:cNvSpPr txBox="1"/>
          <p:nvPr/>
        </p:nvSpPr>
        <p:spPr>
          <a:xfrm>
            <a:off x="1745775" y="3381050"/>
            <a:ext cx="24822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update gate</a:t>
            </a:r>
            <a:endParaRPr>
              <a:solidFill>
                <a:srgbClr val="4A86E8"/>
              </a:solidFill>
            </a:endParaRPr>
          </a:p>
        </p:txBody>
      </p:sp>
      <p:cxnSp>
        <p:nvCxnSpPr>
          <p:cNvPr id="3207" name="Google Shape;3207;p124"/>
          <p:cNvCxnSpPr/>
          <p:nvPr/>
        </p:nvCxnSpPr>
        <p:spPr>
          <a:xfrm flipH="1">
            <a:off x="2874725" y="1975900"/>
            <a:ext cx="145800" cy="2802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08" name="Google Shape;3208;p124"/>
          <p:cNvSpPr txBox="1"/>
          <p:nvPr/>
        </p:nvSpPr>
        <p:spPr>
          <a:xfrm>
            <a:off x="2779200" y="1619750"/>
            <a:ext cx="24822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reset gate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3209" name="Google Shape;3209;p124"/>
          <p:cNvSpPr txBox="1"/>
          <p:nvPr/>
        </p:nvSpPr>
        <p:spPr>
          <a:xfrm>
            <a:off x="225075" y="4784300"/>
            <a:ext cx="8832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</a:rPr>
              <a:t>Cho et al (2014) Learning Phrase Representations using RNN Encoder-Decoder for Statistical Machine Translation</a:t>
            </a:r>
            <a:endParaRPr sz="10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210" name="Google Shape;3210;p124"/>
          <p:cNvSpPr txBox="1"/>
          <p:nvPr/>
        </p:nvSpPr>
        <p:spPr>
          <a:xfrm>
            <a:off x="119025" y="1357950"/>
            <a:ext cx="14652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new hidden state content</a:t>
            </a:r>
            <a:endParaRPr>
              <a:solidFill>
                <a:srgbClr val="4A86E8"/>
              </a:solidFill>
            </a:endParaRPr>
          </a:p>
        </p:txBody>
      </p:sp>
      <p:cxnSp>
        <p:nvCxnSpPr>
          <p:cNvPr id="3211" name="Google Shape;3211;p124"/>
          <p:cNvCxnSpPr/>
          <p:nvPr/>
        </p:nvCxnSpPr>
        <p:spPr>
          <a:xfrm flipH="1">
            <a:off x="590450" y="1960150"/>
            <a:ext cx="19800" cy="2754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\bold{h^{(t)}}=(1- \bold{z}^{t})\, \circ \,\bold{h}^{(t-1)} + \bold{z}^{(t)}\; \circ  \; \bold{\tilde{h}}^{(t)}\\&#10;&#10;\bold{\tilde{h}}^{(t)}=\tanh(\bold{b}_h + \bold{W}_h (\bold{r}^{(t)} \circ \bold{h}^{(t-1)}) + \bold{U}_h \bold{x}^{(t)})\\&#10;&#10;" id="3212" name="Google Shape;3212;p124" title="MathEquation,#000000"/>
          <p:cNvPicPr preferRelativeResize="0"/>
          <p:nvPr/>
        </p:nvPicPr>
        <p:blipFill rotWithShape="1">
          <a:blip r:embed="rId5">
            <a:alphaModFix/>
          </a:blip>
          <a:srcRect b="0" l="0" r="0" t="37869"/>
          <a:stretch/>
        </p:blipFill>
        <p:spPr>
          <a:xfrm>
            <a:off x="419375" y="2210067"/>
            <a:ext cx="4306950" cy="615475"/>
          </a:xfrm>
          <a:prstGeom prst="rect">
            <a:avLst/>
          </a:prstGeom>
          <a:noFill/>
          <a:ln>
            <a:noFill/>
          </a:ln>
        </p:spPr>
      </p:pic>
      <p:sp>
        <p:nvSpPr>
          <p:cNvPr id="3213" name="Google Shape;3213;p124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Gated Recurrent Units (GRU)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7" name="Shape 3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bold{c^{(t)}}=\bold{f}^{t}\, \circ \,\bold{c}^{(t-1)} + \bold{i}^{(t)}\; \circ  \; \bold{\tilde{c}}^{(t)}\\&#10;&#10;\bold{\tilde{c}}^{(t)}=\sigma(\bold{b}_c+\bold{W}_c\bold{h}^{(t-1)} + \bold{U}_c \bold{x}^{(t)})\\&#10;\bold{h}^{(t)}=\bold{o}^{t}\; \circ  \; \tanh(\bold{c^{(t)}})" id="3218" name="Google Shape;3218;p125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75" y="5327524"/>
            <a:ext cx="4309700" cy="134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9" name="Google Shape;3219;p125"/>
          <p:cNvPicPr preferRelativeResize="0"/>
          <p:nvPr/>
        </p:nvPicPr>
        <p:blipFill rotWithShape="1">
          <a:blip r:embed="rId4">
            <a:alphaModFix/>
          </a:blip>
          <a:srcRect b="0" l="0" r="54539" t="0"/>
          <a:stretch/>
        </p:blipFill>
        <p:spPr>
          <a:xfrm>
            <a:off x="5458925" y="1581375"/>
            <a:ext cx="3373375" cy="229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old{h^{(t)}}=(1- \bold{z}^{t})\, \circ \,\bold{h}^{(t-1)} + \bold{z}^{(t)}\; \circ  \; \bold{\tilde{h}}^{(t)}\\&#10;&#10;\bold{\tilde{h}}^{(t)}=\tanh(\bold{b}_h + \bold{W}_h (\bold{r}^{(t)} \circ \bold{h}^{(t-1)}) + \bold{U}_h \bold{x}^{(t)})\\&#10;&#10;" id="3220" name="Google Shape;3220;p125" title="MathEquation,#000000"/>
          <p:cNvPicPr preferRelativeResize="0"/>
          <p:nvPr/>
        </p:nvPicPr>
        <p:blipFill rotWithShape="1">
          <a:blip r:embed="rId5">
            <a:alphaModFix/>
          </a:blip>
          <a:srcRect b="61720" l="0" r="0" t="0"/>
          <a:stretch/>
        </p:blipFill>
        <p:spPr>
          <a:xfrm>
            <a:off x="419375" y="2724375"/>
            <a:ext cx="4306950" cy="37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old{z}^{(t)}=\sigma(\bold{b}_u+\bold{W}_u\bold{h}^{(t-1)}+\bold{U}_u\bold{x}^{(t)})\\&#10;\bold{r}^{(t)}=\sigma(\bold{b}_r+\bold{W}_r\bold{h}^{(t-1)}+\bold{U}_r\bold{x}^{(t)})\\" id="3221" name="Google Shape;3221;p125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980" y="3941525"/>
            <a:ext cx="3668888" cy="990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22" name="Google Shape;3222;p125"/>
          <p:cNvCxnSpPr/>
          <p:nvPr/>
        </p:nvCxnSpPr>
        <p:spPr>
          <a:xfrm flipH="1" rot="10800000">
            <a:off x="2509250" y="3107950"/>
            <a:ext cx="341400" cy="2385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3" name="Google Shape;3223;p125"/>
          <p:cNvCxnSpPr/>
          <p:nvPr/>
        </p:nvCxnSpPr>
        <p:spPr>
          <a:xfrm rot="10800000">
            <a:off x="1768700" y="3110050"/>
            <a:ext cx="354600" cy="2679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24" name="Google Shape;3224;p125"/>
          <p:cNvSpPr txBox="1"/>
          <p:nvPr/>
        </p:nvSpPr>
        <p:spPr>
          <a:xfrm>
            <a:off x="1745775" y="3381050"/>
            <a:ext cx="24822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update gate</a:t>
            </a:r>
            <a:endParaRPr>
              <a:solidFill>
                <a:srgbClr val="4A86E8"/>
              </a:solidFill>
            </a:endParaRPr>
          </a:p>
        </p:txBody>
      </p:sp>
      <p:cxnSp>
        <p:nvCxnSpPr>
          <p:cNvPr id="3225" name="Google Shape;3225;p125"/>
          <p:cNvCxnSpPr/>
          <p:nvPr/>
        </p:nvCxnSpPr>
        <p:spPr>
          <a:xfrm flipH="1">
            <a:off x="2874725" y="1975900"/>
            <a:ext cx="145800" cy="2802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26" name="Google Shape;3226;p125"/>
          <p:cNvSpPr txBox="1"/>
          <p:nvPr/>
        </p:nvSpPr>
        <p:spPr>
          <a:xfrm>
            <a:off x="2779200" y="1619750"/>
            <a:ext cx="24822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reset gate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3227" name="Google Shape;3227;p125"/>
          <p:cNvSpPr txBox="1"/>
          <p:nvPr/>
        </p:nvSpPr>
        <p:spPr>
          <a:xfrm>
            <a:off x="225075" y="4784300"/>
            <a:ext cx="8832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999999"/>
                </a:solidFill>
              </a:rPr>
              <a:t>Cho et al (2014) Learning Phrase Representations using RNN Encoder-Decoder for Statistical Machine Translation</a:t>
            </a:r>
            <a:endParaRPr sz="10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228" name="Google Shape;3228;p125"/>
          <p:cNvSpPr txBox="1"/>
          <p:nvPr/>
        </p:nvSpPr>
        <p:spPr>
          <a:xfrm>
            <a:off x="119025" y="1357950"/>
            <a:ext cx="14652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new hidden state content</a:t>
            </a:r>
            <a:endParaRPr>
              <a:solidFill>
                <a:srgbClr val="4A86E8"/>
              </a:solidFill>
            </a:endParaRPr>
          </a:p>
        </p:txBody>
      </p:sp>
      <p:cxnSp>
        <p:nvCxnSpPr>
          <p:cNvPr id="3229" name="Google Shape;3229;p125"/>
          <p:cNvCxnSpPr/>
          <p:nvPr/>
        </p:nvCxnSpPr>
        <p:spPr>
          <a:xfrm flipH="1">
            <a:off x="590450" y="1960150"/>
            <a:ext cx="19800" cy="2754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\bold{h^{(t)}}=(1- \bold{z}^{t})\, \circ \,\bold{h}^{(t-1)} + \bold{z}^{(t)}\; \circ  \; \bold{\tilde{h}}^{(t)}\\&#10;&#10;\bold{\tilde{h}}^{(t)}=\tanh(\bold{b}_h + \bold{W}_h (\bold{r}^{(t)} \circ \bold{h}^{(t-1)}) + \bold{U}_h \bold{x}^{(t)})\\&#10;&#10;" id="3230" name="Google Shape;3230;p125" title="MathEquation,#000000"/>
          <p:cNvPicPr preferRelativeResize="0"/>
          <p:nvPr/>
        </p:nvPicPr>
        <p:blipFill rotWithShape="1">
          <a:blip r:embed="rId5">
            <a:alphaModFix/>
          </a:blip>
          <a:srcRect b="0" l="0" r="0" t="37869"/>
          <a:stretch/>
        </p:blipFill>
        <p:spPr>
          <a:xfrm>
            <a:off x="419375" y="2210067"/>
            <a:ext cx="4306950" cy="615475"/>
          </a:xfrm>
          <a:prstGeom prst="rect">
            <a:avLst/>
          </a:prstGeom>
          <a:noFill/>
          <a:ln>
            <a:noFill/>
          </a:ln>
        </p:spPr>
      </p:pic>
      <p:sp>
        <p:nvSpPr>
          <p:cNvPr id="3231" name="Google Shape;3231;p125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Gated Recurrent Units (GRU)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5" name="Shape 3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bold{c^{(t)}}=\bold{f}^{t}\, \circ \,\bold{c}^{(t-1)} + \bold{i}^{(t)}\; \circ  \; \bold{\tilde{c}}^{(t)}\\&#10;&#10;\bold{\tilde{c}}^{(t)}=\sigma(\bold{b}_c+\bold{W}_c\bold{h}^{(t-1)} + \bold{U}_c \bold{x}^{(t)})\\&#10;\bold{h}^{(t)}=\bold{o}^{t}\; \circ  \; \tanh(\bold{c^{(t)}})" id="3236" name="Google Shape;3236;p126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75" y="5327524"/>
            <a:ext cx="4309700" cy="13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7" name="Google Shape;3237;p126"/>
          <p:cNvSpPr txBox="1"/>
          <p:nvPr/>
        </p:nvSpPr>
        <p:spPr>
          <a:xfrm>
            <a:off x="822075" y="1418650"/>
            <a:ext cx="7224600" cy="29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aleway"/>
              <a:buChar char="●"/>
            </a:pP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No hay evidencias fuertes de que consistentemente un modelo sea mejor a otro (entre LSTM y GRU) </a:t>
            </a:r>
            <a:endParaRPr baseline="-25000"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aleway"/>
              <a:buChar char="●"/>
            </a:pP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Dado que GRU tiene menos parámetros, es más eficiente computacionalmente </a:t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aleway"/>
              <a:buChar char="●"/>
            </a:pP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Se suele usar LSTM por defecto y luego ver si una GRU mejora</a:t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aleway"/>
              <a:buChar char="●"/>
            </a:pPr>
            <a:r>
              <a:rPr lang="es-419" sz="17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Sobretodo si tenemos un corpus en el que creemos que son importantes las dependencias de largo término</a:t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238" name="Google Shape;3238;p126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LSTM vs GRU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2" name="Shape 3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3" name="Google Shape;3243;p127"/>
          <p:cNvSpPr txBox="1"/>
          <p:nvPr>
            <p:ph type="title"/>
          </p:nvPr>
        </p:nvSpPr>
        <p:spPr>
          <a:xfrm>
            <a:off x="692700" y="64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Seq2seq model: </a:t>
            </a:r>
            <a:r>
              <a:rPr lang="es-419" sz="2400">
                <a:solidFill>
                  <a:srgbClr val="666666"/>
                </a:solidFill>
              </a:rPr>
              <a:t>Traducción español -&gt; inglés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3244" name="Google Shape;3244;p127"/>
          <p:cNvSpPr txBox="1"/>
          <p:nvPr>
            <p:ph type="title"/>
          </p:nvPr>
        </p:nvSpPr>
        <p:spPr>
          <a:xfrm>
            <a:off x="540300" y="1329550"/>
            <a:ext cx="234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-419" sz="1900">
                <a:solidFill>
                  <a:srgbClr val="434343"/>
                </a:solidFill>
              </a:rPr>
              <a:t>Entrenamiento</a:t>
            </a:r>
            <a:endParaRPr b="0" sz="136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16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8" name="Shape 3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9" name="Google Shape;3249;p128"/>
          <p:cNvSpPr txBox="1"/>
          <p:nvPr>
            <p:ph type="title"/>
          </p:nvPr>
        </p:nvSpPr>
        <p:spPr>
          <a:xfrm>
            <a:off x="692700" y="64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Seq2seq model: </a:t>
            </a:r>
            <a:r>
              <a:rPr lang="es-419" sz="2400">
                <a:solidFill>
                  <a:srgbClr val="666666"/>
                </a:solidFill>
              </a:rPr>
              <a:t>Traducción español -&gt; inglés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3250" name="Google Shape;3250;p128"/>
          <p:cNvSpPr txBox="1"/>
          <p:nvPr/>
        </p:nvSpPr>
        <p:spPr>
          <a:xfrm>
            <a:off x="1391740" y="406944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251" name="Google Shape;3251;p128"/>
          <p:cNvSpPr txBox="1"/>
          <p:nvPr/>
        </p:nvSpPr>
        <p:spPr>
          <a:xfrm>
            <a:off x="2177570" y="4092395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252" name="Google Shape;3252;p128"/>
          <p:cNvSpPr txBox="1"/>
          <p:nvPr/>
        </p:nvSpPr>
        <p:spPr>
          <a:xfrm>
            <a:off x="2954033" y="409182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253" name="Google Shape;3253;p128"/>
          <p:cNvSpPr txBox="1"/>
          <p:nvPr/>
        </p:nvSpPr>
        <p:spPr>
          <a:xfrm>
            <a:off x="3653056" y="409183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254" name="Google Shape;3254;p128"/>
          <p:cNvSpPr/>
          <p:nvPr/>
        </p:nvSpPr>
        <p:spPr>
          <a:xfrm>
            <a:off x="1532617" y="365254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5" name="Google Shape;3255;p128"/>
          <p:cNvSpPr/>
          <p:nvPr/>
        </p:nvSpPr>
        <p:spPr>
          <a:xfrm>
            <a:off x="756154" y="366567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6" name="Google Shape;3256;p128"/>
          <p:cNvSpPr/>
          <p:nvPr/>
        </p:nvSpPr>
        <p:spPr>
          <a:xfrm>
            <a:off x="759470" y="2856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57" name="Google Shape;3257;p128"/>
          <p:cNvCxnSpPr/>
          <p:nvPr/>
        </p:nvCxnSpPr>
        <p:spPr>
          <a:xfrm rot="10800000">
            <a:off x="983192" y="3250464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8" name="Google Shape;3258;p128"/>
          <p:cNvSpPr/>
          <p:nvPr/>
        </p:nvSpPr>
        <p:spPr>
          <a:xfrm>
            <a:off x="1535933" y="2842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59" name="Google Shape;3259;p128"/>
          <p:cNvCxnSpPr/>
          <p:nvPr/>
        </p:nvCxnSpPr>
        <p:spPr>
          <a:xfrm rot="10800000">
            <a:off x="1759656" y="323734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0" name="Google Shape;3260;p128"/>
          <p:cNvCxnSpPr/>
          <p:nvPr/>
        </p:nvCxnSpPr>
        <p:spPr>
          <a:xfrm>
            <a:off x="1189408" y="3040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1" name="Google Shape;3261;p128"/>
          <p:cNvSpPr/>
          <p:nvPr/>
        </p:nvSpPr>
        <p:spPr>
          <a:xfrm>
            <a:off x="2309081" y="367511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2" name="Google Shape;3262;p128"/>
          <p:cNvSpPr/>
          <p:nvPr/>
        </p:nvSpPr>
        <p:spPr>
          <a:xfrm>
            <a:off x="2312397" y="2865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63" name="Google Shape;3263;p128"/>
          <p:cNvCxnSpPr/>
          <p:nvPr/>
        </p:nvCxnSpPr>
        <p:spPr>
          <a:xfrm rot="10800000">
            <a:off x="2536119" y="325991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4" name="Google Shape;3264;p128"/>
          <p:cNvCxnSpPr/>
          <p:nvPr/>
        </p:nvCxnSpPr>
        <p:spPr>
          <a:xfrm>
            <a:off x="1965871" y="3062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5" name="Google Shape;3265;p128"/>
          <p:cNvSpPr/>
          <p:nvPr/>
        </p:nvSpPr>
        <p:spPr>
          <a:xfrm>
            <a:off x="3085544" y="36745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6" name="Google Shape;3266;p128"/>
          <p:cNvSpPr/>
          <p:nvPr/>
        </p:nvSpPr>
        <p:spPr>
          <a:xfrm>
            <a:off x="3088860" y="2864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67" name="Google Shape;3267;p128"/>
          <p:cNvCxnSpPr/>
          <p:nvPr/>
        </p:nvCxnSpPr>
        <p:spPr>
          <a:xfrm rot="10800000">
            <a:off x="3312582" y="32593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8" name="Google Shape;3268;p128"/>
          <p:cNvCxnSpPr/>
          <p:nvPr/>
        </p:nvCxnSpPr>
        <p:spPr>
          <a:xfrm>
            <a:off x="2742335" y="306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9" name="Google Shape;3269;p128"/>
          <p:cNvSpPr/>
          <p:nvPr/>
        </p:nvSpPr>
        <p:spPr>
          <a:xfrm>
            <a:off x="3862008" y="36745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0" name="Google Shape;3270;p128"/>
          <p:cNvSpPr/>
          <p:nvPr/>
        </p:nvSpPr>
        <p:spPr>
          <a:xfrm>
            <a:off x="3865324" y="2864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</p:txBody>
      </p:sp>
      <p:cxnSp>
        <p:nvCxnSpPr>
          <p:cNvPr id="3271" name="Google Shape;3271;p128"/>
          <p:cNvCxnSpPr/>
          <p:nvPr/>
        </p:nvCxnSpPr>
        <p:spPr>
          <a:xfrm rot="10800000">
            <a:off x="4089046" y="32593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2" name="Google Shape;3272;p128"/>
          <p:cNvCxnSpPr/>
          <p:nvPr/>
        </p:nvCxnSpPr>
        <p:spPr>
          <a:xfrm>
            <a:off x="3518798" y="306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73" name="Google Shape;3273;p128"/>
          <p:cNvSpPr txBox="1"/>
          <p:nvPr/>
        </p:nvSpPr>
        <p:spPr>
          <a:xfrm rot="-5400000">
            <a:off x="-870750" y="284190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3274" name="Google Shape;3274;p128"/>
          <p:cNvSpPr/>
          <p:nvPr/>
        </p:nvSpPr>
        <p:spPr>
          <a:xfrm>
            <a:off x="4638471" y="366324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5" name="Google Shape;3275;p128"/>
          <p:cNvSpPr/>
          <p:nvPr/>
        </p:nvSpPr>
        <p:spPr>
          <a:xfrm>
            <a:off x="4641787" y="2853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76" name="Google Shape;3276;p128"/>
          <p:cNvCxnSpPr/>
          <p:nvPr/>
        </p:nvCxnSpPr>
        <p:spPr>
          <a:xfrm rot="10800000">
            <a:off x="4865509" y="324804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7" name="Google Shape;3277;p128"/>
          <p:cNvCxnSpPr/>
          <p:nvPr/>
        </p:nvCxnSpPr>
        <p:spPr>
          <a:xfrm>
            <a:off x="4295262" y="30508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78" name="Google Shape;3278;p128"/>
          <p:cNvSpPr/>
          <p:nvPr/>
        </p:nvSpPr>
        <p:spPr>
          <a:xfrm>
            <a:off x="5414935" y="368581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9" name="Google Shape;3279;p128"/>
          <p:cNvSpPr/>
          <p:nvPr/>
        </p:nvSpPr>
        <p:spPr>
          <a:xfrm>
            <a:off x="5418251" y="28762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80" name="Google Shape;3280;p128"/>
          <p:cNvCxnSpPr/>
          <p:nvPr/>
        </p:nvCxnSpPr>
        <p:spPr>
          <a:xfrm rot="10800000">
            <a:off x="5641973" y="327061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1" name="Google Shape;3281;p128"/>
          <p:cNvCxnSpPr/>
          <p:nvPr/>
        </p:nvCxnSpPr>
        <p:spPr>
          <a:xfrm>
            <a:off x="5071725" y="30733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82" name="Google Shape;3282;p128"/>
          <p:cNvSpPr/>
          <p:nvPr/>
        </p:nvSpPr>
        <p:spPr>
          <a:xfrm>
            <a:off x="6191398" y="36852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3" name="Google Shape;3283;p128"/>
          <p:cNvSpPr/>
          <p:nvPr/>
        </p:nvSpPr>
        <p:spPr>
          <a:xfrm>
            <a:off x="6194714" y="28756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84" name="Google Shape;3284;p128"/>
          <p:cNvCxnSpPr/>
          <p:nvPr/>
        </p:nvCxnSpPr>
        <p:spPr>
          <a:xfrm rot="10800000">
            <a:off x="6418436" y="32700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5" name="Google Shape;3285;p128"/>
          <p:cNvCxnSpPr/>
          <p:nvPr/>
        </p:nvCxnSpPr>
        <p:spPr>
          <a:xfrm>
            <a:off x="5848189" y="3072806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86" name="Google Shape;3286;p128"/>
          <p:cNvSpPr/>
          <p:nvPr/>
        </p:nvSpPr>
        <p:spPr>
          <a:xfrm>
            <a:off x="6967862" y="36852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7" name="Google Shape;3287;p128"/>
          <p:cNvSpPr/>
          <p:nvPr/>
        </p:nvSpPr>
        <p:spPr>
          <a:xfrm>
            <a:off x="6971178" y="28756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  <p:cxnSp>
        <p:nvCxnSpPr>
          <p:cNvPr id="3288" name="Google Shape;3288;p128"/>
          <p:cNvCxnSpPr/>
          <p:nvPr/>
        </p:nvCxnSpPr>
        <p:spPr>
          <a:xfrm>
            <a:off x="6624652" y="3072806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9" name="Google Shape;3289;p128"/>
          <p:cNvCxnSpPr/>
          <p:nvPr/>
        </p:nvCxnSpPr>
        <p:spPr>
          <a:xfrm rot="10800000">
            <a:off x="7181180" y="327061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90" name="Google Shape;3290;p128"/>
          <p:cNvSpPr/>
          <p:nvPr/>
        </p:nvSpPr>
        <p:spPr>
          <a:xfrm>
            <a:off x="7744325" y="3685796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1" name="Google Shape;3291;p128"/>
          <p:cNvSpPr/>
          <p:nvPr/>
        </p:nvSpPr>
        <p:spPr>
          <a:xfrm>
            <a:off x="7747641" y="2876199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  <p:cxnSp>
        <p:nvCxnSpPr>
          <p:cNvPr id="3292" name="Google Shape;3292;p128"/>
          <p:cNvCxnSpPr/>
          <p:nvPr/>
        </p:nvCxnSpPr>
        <p:spPr>
          <a:xfrm>
            <a:off x="7401116" y="3073353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3" name="Google Shape;3293;p128"/>
          <p:cNvCxnSpPr/>
          <p:nvPr/>
        </p:nvCxnSpPr>
        <p:spPr>
          <a:xfrm rot="10800000">
            <a:off x="7957644" y="3271159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94" name="Google Shape;3294;p128"/>
          <p:cNvSpPr txBox="1"/>
          <p:nvPr/>
        </p:nvSpPr>
        <p:spPr>
          <a:xfrm>
            <a:off x="4295262" y="4092153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&lt;START&gt; 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3295" name="Google Shape;3295;p128"/>
          <p:cNvSpPr txBox="1"/>
          <p:nvPr/>
        </p:nvSpPr>
        <p:spPr>
          <a:xfrm>
            <a:off x="5269476" y="4092153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Let’s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3296" name="Google Shape;3296;p128"/>
          <p:cNvSpPr txBox="1"/>
          <p:nvPr/>
        </p:nvSpPr>
        <p:spPr>
          <a:xfrm>
            <a:off x="6055306" y="41151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go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3297" name="Google Shape;3297;p128"/>
          <p:cNvSpPr txBox="1"/>
          <p:nvPr/>
        </p:nvSpPr>
        <p:spPr>
          <a:xfrm>
            <a:off x="6831770" y="4114533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to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3298" name="Google Shape;3298;p128"/>
          <p:cNvSpPr txBox="1"/>
          <p:nvPr/>
        </p:nvSpPr>
        <p:spPr>
          <a:xfrm>
            <a:off x="7530792" y="4114544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Raúl’s</a:t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3299" name="Google Shape;3299;p128"/>
          <p:cNvCxnSpPr/>
          <p:nvPr/>
        </p:nvCxnSpPr>
        <p:spPr>
          <a:xfrm rot="10800000">
            <a:off x="4858650" y="2571850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0" name="Google Shape;3300;p128"/>
          <p:cNvCxnSpPr/>
          <p:nvPr/>
        </p:nvCxnSpPr>
        <p:spPr>
          <a:xfrm rot="10800000">
            <a:off x="5635111" y="2586907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1" name="Google Shape;3301;p128"/>
          <p:cNvCxnSpPr/>
          <p:nvPr/>
        </p:nvCxnSpPr>
        <p:spPr>
          <a:xfrm rot="10800000">
            <a:off x="6411572" y="2586528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2" name="Google Shape;3302;p128"/>
          <p:cNvCxnSpPr/>
          <p:nvPr/>
        </p:nvCxnSpPr>
        <p:spPr>
          <a:xfrm rot="10800000">
            <a:off x="7174314" y="2586907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3" name="Google Shape;3303;p128"/>
          <p:cNvCxnSpPr/>
          <p:nvPr/>
        </p:nvCxnSpPr>
        <p:spPr>
          <a:xfrm rot="10800000">
            <a:off x="7950775" y="2587272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04" name="Google Shape;3304;p128"/>
          <p:cNvSpPr txBox="1"/>
          <p:nvPr/>
        </p:nvSpPr>
        <p:spPr>
          <a:xfrm>
            <a:off x="4501126" y="22374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ŷ</a:t>
            </a:r>
            <a:r>
              <a:rPr baseline="-25000" lang="es-419">
                <a:solidFill>
                  <a:srgbClr val="274E13"/>
                </a:solidFill>
              </a:rPr>
              <a:t>1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305" name="Google Shape;3305;p128"/>
          <p:cNvSpPr txBox="1"/>
          <p:nvPr/>
        </p:nvSpPr>
        <p:spPr>
          <a:xfrm>
            <a:off x="417525" y="406944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306" name="Google Shape;3306;p128"/>
          <p:cNvSpPr txBox="1"/>
          <p:nvPr/>
        </p:nvSpPr>
        <p:spPr>
          <a:xfrm rot="5400000">
            <a:off x="7742717" y="323735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  <p:sp>
        <p:nvSpPr>
          <p:cNvPr id="3307" name="Google Shape;3307;p128"/>
          <p:cNvSpPr txBox="1"/>
          <p:nvPr>
            <p:ph type="title"/>
          </p:nvPr>
        </p:nvSpPr>
        <p:spPr>
          <a:xfrm>
            <a:off x="540300" y="1329550"/>
            <a:ext cx="234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-419" sz="1900">
                <a:solidFill>
                  <a:srgbClr val="434343"/>
                </a:solidFill>
              </a:rPr>
              <a:t>Entrenamiento</a:t>
            </a:r>
            <a:endParaRPr b="0" sz="136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160">
              <a:solidFill>
                <a:srgbClr val="434343"/>
              </a:solidFill>
            </a:endParaRPr>
          </a:p>
        </p:txBody>
      </p:sp>
      <p:sp>
        <p:nvSpPr>
          <p:cNvPr id="3308" name="Google Shape;3308;p128"/>
          <p:cNvSpPr txBox="1"/>
          <p:nvPr/>
        </p:nvSpPr>
        <p:spPr>
          <a:xfrm>
            <a:off x="5263126" y="22374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ŷ</a:t>
            </a:r>
            <a:r>
              <a:rPr baseline="-25000" lang="es-419">
                <a:solidFill>
                  <a:srgbClr val="274E13"/>
                </a:solidFill>
              </a:rPr>
              <a:t>2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309" name="Google Shape;3309;p128"/>
          <p:cNvSpPr txBox="1"/>
          <p:nvPr/>
        </p:nvSpPr>
        <p:spPr>
          <a:xfrm>
            <a:off x="6101326" y="22374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ŷ</a:t>
            </a:r>
            <a:r>
              <a:rPr baseline="-25000" lang="es-419">
                <a:solidFill>
                  <a:srgbClr val="274E13"/>
                </a:solidFill>
              </a:rPr>
              <a:t>3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310" name="Google Shape;3310;p128"/>
          <p:cNvSpPr txBox="1"/>
          <p:nvPr/>
        </p:nvSpPr>
        <p:spPr>
          <a:xfrm>
            <a:off x="6787126" y="22374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ŷ</a:t>
            </a:r>
            <a:r>
              <a:rPr baseline="-25000" lang="es-419">
                <a:solidFill>
                  <a:srgbClr val="274E13"/>
                </a:solidFill>
              </a:rPr>
              <a:t>4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311" name="Google Shape;3311;p128"/>
          <p:cNvSpPr txBox="1"/>
          <p:nvPr/>
        </p:nvSpPr>
        <p:spPr>
          <a:xfrm>
            <a:off x="7625326" y="22374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ŷ</a:t>
            </a:r>
            <a:r>
              <a:rPr baseline="-25000" lang="es-419">
                <a:solidFill>
                  <a:srgbClr val="274E13"/>
                </a:solidFill>
              </a:rPr>
              <a:t>5</a:t>
            </a:r>
            <a:endParaRPr baseline="-25000">
              <a:solidFill>
                <a:srgbClr val="274E13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5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6" name="Google Shape;3316;p129"/>
          <p:cNvSpPr txBox="1"/>
          <p:nvPr>
            <p:ph type="title"/>
          </p:nvPr>
        </p:nvSpPr>
        <p:spPr>
          <a:xfrm>
            <a:off x="692700" y="64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Seq2seq model: </a:t>
            </a:r>
            <a:r>
              <a:rPr lang="es-419" sz="2400">
                <a:solidFill>
                  <a:srgbClr val="666666"/>
                </a:solidFill>
              </a:rPr>
              <a:t>Traducción español -&gt; inglés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3317" name="Google Shape;3317;p129"/>
          <p:cNvSpPr txBox="1"/>
          <p:nvPr/>
        </p:nvSpPr>
        <p:spPr>
          <a:xfrm>
            <a:off x="1391740" y="406944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318" name="Google Shape;3318;p129"/>
          <p:cNvSpPr txBox="1"/>
          <p:nvPr/>
        </p:nvSpPr>
        <p:spPr>
          <a:xfrm>
            <a:off x="2177570" y="4092395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319" name="Google Shape;3319;p129"/>
          <p:cNvSpPr txBox="1"/>
          <p:nvPr/>
        </p:nvSpPr>
        <p:spPr>
          <a:xfrm>
            <a:off x="2954033" y="409182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320" name="Google Shape;3320;p129"/>
          <p:cNvSpPr txBox="1"/>
          <p:nvPr/>
        </p:nvSpPr>
        <p:spPr>
          <a:xfrm>
            <a:off x="3653056" y="409183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321" name="Google Shape;3321;p129"/>
          <p:cNvSpPr/>
          <p:nvPr/>
        </p:nvSpPr>
        <p:spPr>
          <a:xfrm>
            <a:off x="1532617" y="365254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2" name="Google Shape;3322;p129"/>
          <p:cNvSpPr/>
          <p:nvPr/>
        </p:nvSpPr>
        <p:spPr>
          <a:xfrm>
            <a:off x="756154" y="366567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3" name="Google Shape;3323;p129"/>
          <p:cNvSpPr/>
          <p:nvPr/>
        </p:nvSpPr>
        <p:spPr>
          <a:xfrm>
            <a:off x="759470" y="2856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24" name="Google Shape;3324;p129"/>
          <p:cNvCxnSpPr/>
          <p:nvPr/>
        </p:nvCxnSpPr>
        <p:spPr>
          <a:xfrm rot="10800000">
            <a:off x="983192" y="3250464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25" name="Google Shape;3325;p129"/>
          <p:cNvSpPr/>
          <p:nvPr/>
        </p:nvSpPr>
        <p:spPr>
          <a:xfrm>
            <a:off x="1535933" y="2842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26" name="Google Shape;3326;p129"/>
          <p:cNvCxnSpPr/>
          <p:nvPr/>
        </p:nvCxnSpPr>
        <p:spPr>
          <a:xfrm rot="10800000">
            <a:off x="1759656" y="323734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7" name="Google Shape;3327;p129"/>
          <p:cNvCxnSpPr/>
          <p:nvPr/>
        </p:nvCxnSpPr>
        <p:spPr>
          <a:xfrm>
            <a:off x="1189408" y="3040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28" name="Google Shape;3328;p129"/>
          <p:cNvSpPr/>
          <p:nvPr/>
        </p:nvSpPr>
        <p:spPr>
          <a:xfrm>
            <a:off x="2309081" y="367511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9" name="Google Shape;3329;p129"/>
          <p:cNvSpPr/>
          <p:nvPr/>
        </p:nvSpPr>
        <p:spPr>
          <a:xfrm>
            <a:off x="2312397" y="2865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30" name="Google Shape;3330;p129"/>
          <p:cNvCxnSpPr/>
          <p:nvPr/>
        </p:nvCxnSpPr>
        <p:spPr>
          <a:xfrm rot="10800000">
            <a:off x="2536119" y="325991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1" name="Google Shape;3331;p129"/>
          <p:cNvCxnSpPr/>
          <p:nvPr/>
        </p:nvCxnSpPr>
        <p:spPr>
          <a:xfrm>
            <a:off x="1965871" y="3062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32" name="Google Shape;3332;p129"/>
          <p:cNvSpPr/>
          <p:nvPr/>
        </p:nvSpPr>
        <p:spPr>
          <a:xfrm>
            <a:off x="3085544" y="36745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3" name="Google Shape;3333;p129"/>
          <p:cNvSpPr/>
          <p:nvPr/>
        </p:nvSpPr>
        <p:spPr>
          <a:xfrm>
            <a:off x="3088860" y="2864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34" name="Google Shape;3334;p129"/>
          <p:cNvCxnSpPr/>
          <p:nvPr/>
        </p:nvCxnSpPr>
        <p:spPr>
          <a:xfrm rot="10800000">
            <a:off x="3312582" y="32593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5" name="Google Shape;3335;p129"/>
          <p:cNvCxnSpPr/>
          <p:nvPr/>
        </p:nvCxnSpPr>
        <p:spPr>
          <a:xfrm>
            <a:off x="2742335" y="306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36" name="Google Shape;3336;p129"/>
          <p:cNvSpPr/>
          <p:nvPr/>
        </p:nvSpPr>
        <p:spPr>
          <a:xfrm>
            <a:off x="3862008" y="36745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7" name="Google Shape;3337;p129"/>
          <p:cNvSpPr/>
          <p:nvPr/>
        </p:nvSpPr>
        <p:spPr>
          <a:xfrm>
            <a:off x="3865324" y="2864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</p:txBody>
      </p:sp>
      <p:cxnSp>
        <p:nvCxnSpPr>
          <p:cNvPr id="3338" name="Google Shape;3338;p129"/>
          <p:cNvCxnSpPr/>
          <p:nvPr/>
        </p:nvCxnSpPr>
        <p:spPr>
          <a:xfrm rot="10800000">
            <a:off x="4089046" y="32593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9" name="Google Shape;3339;p129"/>
          <p:cNvCxnSpPr/>
          <p:nvPr/>
        </p:nvCxnSpPr>
        <p:spPr>
          <a:xfrm>
            <a:off x="3518798" y="306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40" name="Google Shape;3340;p129"/>
          <p:cNvSpPr txBox="1"/>
          <p:nvPr/>
        </p:nvSpPr>
        <p:spPr>
          <a:xfrm rot="-5400000">
            <a:off x="-870750" y="284190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3341" name="Google Shape;3341;p129"/>
          <p:cNvSpPr/>
          <p:nvPr/>
        </p:nvSpPr>
        <p:spPr>
          <a:xfrm>
            <a:off x="4638471" y="366324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2" name="Google Shape;3342;p129"/>
          <p:cNvSpPr/>
          <p:nvPr/>
        </p:nvSpPr>
        <p:spPr>
          <a:xfrm>
            <a:off x="4641787" y="2853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43" name="Google Shape;3343;p129"/>
          <p:cNvCxnSpPr/>
          <p:nvPr/>
        </p:nvCxnSpPr>
        <p:spPr>
          <a:xfrm rot="10800000">
            <a:off x="4865509" y="324804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4" name="Google Shape;3344;p129"/>
          <p:cNvCxnSpPr/>
          <p:nvPr/>
        </p:nvCxnSpPr>
        <p:spPr>
          <a:xfrm>
            <a:off x="4295262" y="30508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45" name="Google Shape;3345;p129"/>
          <p:cNvSpPr/>
          <p:nvPr/>
        </p:nvSpPr>
        <p:spPr>
          <a:xfrm>
            <a:off x="5414935" y="368581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6" name="Google Shape;3346;p129"/>
          <p:cNvSpPr/>
          <p:nvPr/>
        </p:nvSpPr>
        <p:spPr>
          <a:xfrm>
            <a:off x="5418251" y="28762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47" name="Google Shape;3347;p129"/>
          <p:cNvCxnSpPr/>
          <p:nvPr/>
        </p:nvCxnSpPr>
        <p:spPr>
          <a:xfrm rot="10800000">
            <a:off x="5641973" y="327061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8" name="Google Shape;3348;p129"/>
          <p:cNvCxnSpPr/>
          <p:nvPr/>
        </p:nvCxnSpPr>
        <p:spPr>
          <a:xfrm>
            <a:off x="5071725" y="30733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49" name="Google Shape;3349;p129"/>
          <p:cNvSpPr/>
          <p:nvPr/>
        </p:nvSpPr>
        <p:spPr>
          <a:xfrm>
            <a:off x="6191398" y="36852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0" name="Google Shape;3350;p129"/>
          <p:cNvSpPr/>
          <p:nvPr/>
        </p:nvSpPr>
        <p:spPr>
          <a:xfrm>
            <a:off x="6194714" y="28756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51" name="Google Shape;3351;p129"/>
          <p:cNvCxnSpPr/>
          <p:nvPr/>
        </p:nvCxnSpPr>
        <p:spPr>
          <a:xfrm rot="10800000">
            <a:off x="6418436" y="32700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2" name="Google Shape;3352;p129"/>
          <p:cNvCxnSpPr/>
          <p:nvPr/>
        </p:nvCxnSpPr>
        <p:spPr>
          <a:xfrm>
            <a:off x="5848189" y="3072806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53" name="Google Shape;3353;p129"/>
          <p:cNvSpPr/>
          <p:nvPr/>
        </p:nvSpPr>
        <p:spPr>
          <a:xfrm>
            <a:off x="6967862" y="36852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4" name="Google Shape;3354;p129"/>
          <p:cNvSpPr/>
          <p:nvPr/>
        </p:nvSpPr>
        <p:spPr>
          <a:xfrm>
            <a:off x="6971178" y="28756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  <p:cxnSp>
        <p:nvCxnSpPr>
          <p:cNvPr id="3355" name="Google Shape;3355;p129"/>
          <p:cNvCxnSpPr/>
          <p:nvPr/>
        </p:nvCxnSpPr>
        <p:spPr>
          <a:xfrm>
            <a:off x="6624652" y="3072806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6" name="Google Shape;3356;p129"/>
          <p:cNvCxnSpPr/>
          <p:nvPr/>
        </p:nvCxnSpPr>
        <p:spPr>
          <a:xfrm rot="10800000">
            <a:off x="7181180" y="327061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57" name="Google Shape;3357;p129"/>
          <p:cNvSpPr/>
          <p:nvPr/>
        </p:nvSpPr>
        <p:spPr>
          <a:xfrm>
            <a:off x="7744325" y="3685796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8" name="Google Shape;3358;p129"/>
          <p:cNvSpPr/>
          <p:nvPr/>
        </p:nvSpPr>
        <p:spPr>
          <a:xfrm>
            <a:off x="7747641" y="2876199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  <p:cxnSp>
        <p:nvCxnSpPr>
          <p:cNvPr id="3359" name="Google Shape;3359;p129"/>
          <p:cNvCxnSpPr/>
          <p:nvPr/>
        </p:nvCxnSpPr>
        <p:spPr>
          <a:xfrm>
            <a:off x="7401116" y="3073353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0" name="Google Shape;3360;p129"/>
          <p:cNvCxnSpPr/>
          <p:nvPr/>
        </p:nvCxnSpPr>
        <p:spPr>
          <a:xfrm rot="10800000">
            <a:off x="7957644" y="3271159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61" name="Google Shape;3361;p129"/>
          <p:cNvSpPr txBox="1"/>
          <p:nvPr/>
        </p:nvSpPr>
        <p:spPr>
          <a:xfrm>
            <a:off x="4295262" y="4092153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&lt;START&gt; 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3362" name="Google Shape;3362;p129"/>
          <p:cNvSpPr txBox="1"/>
          <p:nvPr/>
        </p:nvSpPr>
        <p:spPr>
          <a:xfrm>
            <a:off x="5269476" y="4092153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Let’s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3363" name="Google Shape;3363;p129"/>
          <p:cNvSpPr txBox="1"/>
          <p:nvPr/>
        </p:nvSpPr>
        <p:spPr>
          <a:xfrm>
            <a:off x="6055306" y="41151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go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3364" name="Google Shape;3364;p129"/>
          <p:cNvSpPr txBox="1"/>
          <p:nvPr/>
        </p:nvSpPr>
        <p:spPr>
          <a:xfrm>
            <a:off x="6831770" y="4114533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to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3365" name="Google Shape;3365;p129"/>
          <p:cNvSpPr txBox="1"/>
          <p:nvPr/>
        </p:nvSpPr>
        <p:spPr>
          <a:xfrm>
            <a:off x="7530792" y="4114544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Raúl’s</a:t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3366" name="Google Shape;3366;p129"/>
          <p:cNvCxnSpPr/>
          <p:nvPr/>
        </p:nvCxnSpPr>
        <p:spPr>
          <a:xfrm rot="10800000">
            <a:off x="4858650" y="2571850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7" name="Google Shape;3367;p129"/>
          <p:cNvCxnSpPr/>
          <p:nvPr/>
        </p:nvCxnSpPr>
        <p:spPr>
          <a:xfrm rot="10800000">
            <a:off x="5635111" y="2586907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8" name="Google Shape;3368;p129"/>
          <p:cNvCxnSpPr/>
          <p:nvPr/>
        </p:nvCxnSpPr>
        <p:spPr>
          <a:xfrm rot="10800000">
            <a:off x="6411572" y="2586528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9" name="Google Shape;3369;p129"/>
          <p:cNvCxnSpPr/>
          <p:nvPr/>
        </p:nvCxnSpPr>
        <p:spPr>
          <a:xfrm rot="10800000">
            <a:off x="7174314" y="2586907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0" name="Google Shape;3370;p129"/>
          <p:cNvCxnSpPr/>
          <p:nvPr/>
        </p:nvCxnSpPr>
        <p:spPr>
          <a:xfrm rot="10800000">
            <a:off x="7950775" y="2587272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71" name="Google Shape;3371;p129"/>
          <p:cNvSpPr txBox="1"/>
          <p:nvPr/>
        </p:nvSpPr>
        <p:spPr>
          <a:xfrm>
            <a:off x="4501126" y="22374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ŷ</a:t>
            </a:r>
            <a:r>
              <a:rPr baseline="-25000" lang="es-419">
                <a:solidFill>
                  <a:srgbClr val="274E13"/>
                </a:solidFill>
              </a:rPr>
              <a:t>1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372" name="Google Shape;3372;p129"/>
          <p:cNvSpPr txBox="1"/>
          <p:nvPr/>
        </p:nvSpPr>
        <p:spPr>
          <a:xfrm>
            <a:off x="417525" y="406944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373" name="Google Shape;3373;p129"/>
          <p:cNvSpPr txBox="1"/>
          <p:nvPr/>
        </p:nvSpPr>
        <p:spPr>
          <a:xfrm rot="5400000">
            <a:off x="7742717" y="323735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  <p:sp>
        <p:nvSpPr>
          <p:cNvPr id="3374" name="Google Shape;3374;p129"/>
          <p:cNvSpPr txBox="1"/>
          <p:nvPr>
            <p:ph type="title"/>
          </p:nvPr>
        </p:nvSpPr>
        <p:spPr>
          <a:xfrm>
            <a:off x="540300" y="1329550"/>
            <a:ext cx="234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-419" sz="1900">
                <a:solidFill>
                  <a:srgbClr val="434343"/>
                </a:solidFill>
              </a:rPr>
              <a:t>Entrenamiento</a:t>
            </a:r>
            <a:endParaRPr b="0" sz="136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160">
              <a:solidFill>
                <a:srgbClr val="434343"/>
              </a:solidFill>
            </a:endParaRPr>
          </a:p>
        </p:txBody>
      </p:sp>
      <p:sp>
        <p:nvSpPr>
          <p:cNvPr id="3375" name="Google Shape;3375;p129"/>
          <p:cNvSpPr txBox="1"/>
          <p:nvPr/>
        </p:nvSpPr>
        <p:spPr>
          <a:xfrm>
            <a:off x="5263126" y="22374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ŷ</a:t>
            </a:r>
            <a:r>
              <a:rPr baseline="-25000" lang="es-419">
                <a:solidFill>
                  <a:srgbClr val="274E13"/>
                </a:solidFill>
              </a:rPr>
              <a:t>2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376" name="Google Shape;3376;p129"/>
          <p:cNvSpPr txBox="1"/>
          <p:nvPr/>
        </p:nvSpPr>
        <p:spPr>
          <a:xfrm>
            <a:off x="6101326" y="22374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ŷ</a:t>
            </a:r>
            <a:r>
              <a:rPr baseline="-25000" lang="es-419">
                <a:solidFill>
                  <a:srgbClr val="274E13"/>
                </a:solidFill>
              </a:rPr>
              <a:t>3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377" name="Google Shape;3377;p129"/>
          <p:cNvSpPr txBox="1"/>
          <p:nvPr/>
        </p:nvSpPr>
        <p:spPr>
          <a:xfrm>
            <a:off x="6787126" y="22374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ŷ</a:t>
            </a:r>
            <a:r>
              <a:rPr baseline="-25000" lang="es-419">
                <a:solidFill>
                  <a:srgbClr val="274E13"/>
                </a:solidFill>
              </a:rPr>
              <a:t>4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378" name="Google Shape;3378;p129"/>
          <p:cNvSpPr txBox="1"/>
          <p:nvPr/>
        </p:nvSpPr>
        <p:spPr>
          <a:xfrm>
            <a:off x="7625326" y="22374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ŷ</a:t>
            </a:r>
            <a:r>
              <a:rPr baseline="-25000" lang="es-419">
                <a:solidFill>
                  <a:srgbClr val="274E13"/>
                </a:solidFill>
              </a:rPr>
              <a:t>5</a:t>
            </a:r>
            <a:endParaRPr baseline="-25000">
              <a:solidFill>
                <a:srgbClr val="274E13"/>
              </a:solidFill>
            </a:endParaRPr>
          </a:p>
        </p:txBody>
      </p:sp>
      <p:cxnSp>
        <p:nvCxnSpPr>
          <p:cNvPr id="3379" name="Google Shape;3379;p129"/>
          <p:cNvCxnSpPr/>
          <p:nvPr/>
        </p:nvCxnSpPr>
        <p:spPr>
          <a:xfrm>
            <a:off x="4858650" y="1901472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80" name="Google Shape;3380;p129"/>
          <p:cNvCxnSpPr/>
          <p:nvPr/>
        </p:nvCxnSpPr>
        <p:spPr>
          <a:xfrm>
            <a:off x="5635111" y="1886415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81" name="Google Shape;3381;p129"/>
          <p:cNvCxnSpPr/>
          <p:nvPr/>
        </p:nvCxnSpPr>
        <p:spPr>
          <a:xfrm>
            <a:off x="6411572" y="1886794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82" name="Google Shape;3382;p129"/>
          <p:cNvCxnSpPr/>
          <p:nvPr/>
        </p:nvCxnSpPr>
        <p:spPr>
          <a:xfrm>
            <a:off x="7174314" y="1886415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83" name="Google Shape;3383;p129"/>
          <p:cNvCxnSpPr/>
          <p:nvPr/>
        </p:nvCxnSpPr>
        <p:spPr>
          <a:xfrm>
            <a:off x="7950775" y="1886050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4" name="Google Shape;3384;p129"/>
          <p:cNvSpPr txBox="1"/>
          <p:nvPr/>
        </p:nvSpPr>
        <p:spPr>
          <a:xfrm>
            <a:off x="4501126" y="15807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</a:t>
            </a:r>
            <a:r>
              <a:rPr baseline="-25000" lang="es-419">
                <a:solidFill>
                  <a:srgbClr val="274E13"/>
                </a:solidFill>
              </a:rPr>
              <a:t>1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385" name="Google Shape;3385;p129"/>
          <p:cNvSpPr txBox="1"/>
          <p:nvPr/>
        </p:nvSpPr>
        <p:spPr>
          <a:xfrm>
            <a:off x="5263126" y="15807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</a:t>
            </a:r>
            <a:r>
              <a:rPr baseline="-25000" lang="es-419">
                <a:solidFill>
                  <a:srgbClr val="274E13"/>
                </a:solidFill>
              </a:rPr>
              <a:t>2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386" name="Google Shape;3386;p129"/>
          <p:cNvSpPr txBox="1"/>
          <p:nvPr/>
        </p:nvSpPr>
        <p:spPr>
          <a:xfrm>
            <a:off x="6101326" y="15807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</a:t>
            </a:r>
            <a:r>
              <a:rPr baseline="-25000" lang="es-419">
                <a:solidFill>
                  <a:srgbClr val="274E13"/>
                </a:solidFill>
              </a:rPr>
              <a:t>3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387" name="Google Shape;3387;p129"/>
          <p:cNvSpPr txBox="1"/>
          <p:nvPr/>
        </p:nvSpPr>
        <p:spPr>
          <a:xfrm>
            <a:off x="6787126" y="15807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</a:t>
            </a:r>
            <a:r>
              <a:rPr baseline="-25000" lang="es-419">
                <a:solidFill>
                  <a:srgbClr val="274E13"/>
                </a:solidFill>
              </a:rPr>
              <a:t>4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388" name="Google Shape;3388;p129"/>
          <p:cNvSpPr txBox="1"/>
          <p:nvPr/>
        </p:nvSpPr>
        <p:spPr>
          <a:xfrm>
            <a:off x="7625326" y="15807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</a:t>
            </a:r>
            <a:r>
              <a:rPr baseline="-25000" lang="es-419">
                <a:solidFill>
                  <a:srgbClr val="274E13"/>
                </a:solidFill>
              </a:rPr>
              <a:t>5</a:t>
            </a:r>
            <a:endParaRPr baseline="-25000">
              <a:solidFill>
                <a:srgbClr val="274E13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2" name="Shape 3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3" name="Google Shape;3393;p130"/>
          <p:cNvSpPr txBox="1"/>
          <p:nvPr>
            <p:ph type="title"/>
          </p:nvPr>
        </p:nvSpPr>
        <p:spPr>
          <a:xfrm>
            <a:off x="692700" y="64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Seq2seq model: </a:t>
            </a:r>
            <a:r>
              <a:rPr lang="es-419" sz="2400">
                <a:solidFill>
                  <a:srgbClr val="666666"/>
                </a:solidFill>
              </a:rPr>
              <a:t>Traducción español -&gt; inglés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3394" name="Google Shape;3394;p130"/>
          <p:cNvSpPr txBox="1"/>
          <p:nvPr/>
        </p:nvSpPr>
        <p:spPr>
          <a:xfrm>
            <a:off x="1391740" y="406944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a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395" name="Google Shape;3395;p130"/>
          <p:cNvSpPr txBox="1"/>
          <p:nvPr/>
        </p:nvSpPr>
        <p:spPr>
          <a:xfrm>
            <a:off x="2177570" y="4092395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396" name="Google Shape;3396;p130"/>
          <p:cNvSpPr txBox="1"/>
          <p:nvPr/>
        </p:nvSpPr>
        <p:spPr>
          <a:xfrm>
            <a:off x="2954033" y="4091827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de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397" name="Google Shape;3397;p130"/>
          <p:cNvSpPr txBox="1"/>
          <p:nvPr/>
        </p:nvSpPr>
        <p:spPr>
          <a:xfrm>
            <a:off x="3653056" y="4091837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Raúl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398" name="Google Shape;3398;p130"/>
          <p:cNvSpPr/>
          <p:nvPr/>
        </p:nvSpPr>
        <p:spPr>
          <a:xfrm>
            <a:off x="1532617" y="365254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9" name="Google Shape;3399;p130"/>
          <p:cNvSpPr/>
          <p:nvPr/>
        </p:nvSpPr>
        <p:spPr>
          <a:xfrm>
            <a:off x="756154" y="366567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0" name="Google Shape;3400;p130"/>
          <p:cNvSpPr/>
          <p:nvPr/>
        </p:nvSpPr>
        <p:spPr>
          <a:xfrm>
            <a:off x="759470" y="2856073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01" name="Google Shape;3401;p130"/>
          <p:cNvCxnSpPr/>
          <p:nvPr/>
        </p:nvCxnSpPr>
        <p:spPr>
          <a:xfrm rot="10800000">
            <a:off x="983192" y="3250464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02" name="Google Shape;3402;p130"/>
          <p:cNvSpPr/>
          <p:nvPr/>
        </p:nvSpPr>
        <p:spPr>
          <a:xfrm>
            <a:off x="1535933" y="28429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03" name="Google Shape;3403;p130"/>
          <p:cNvCxnSpPr/>
          <p:nvPr/>
        </p:nvCxnSpPr>
        <p:spPr>
          <a:xfrm rot="10800000">
            <a:off x="1759656" y="323734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4" name="Google Shape;3404;p130"/>
          <p:cNvCxnSpPr/>
          <p:nvPr/>
        </p:nvCxnSpPr>
        <p:spPr>
          <a:xfrm>
            <a:off x="1189408" y="3040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05" name="Google Shape;3405;p130"/>
          <p:cNvSpPr/>
          <p:nvPr/>
        </p:nvSpPr>
        <p:spPr>
          <a:xfrm>
            <a:off x="2309081" y="367511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6" name="Google Shape;3406;p130"/>
          <p:cNvSpPr/>
          <p:nvPr/>
        </p:nvSpPr>
        <p:spPr>
          <a:xfrm>
            <a:off x="2312397" y="28655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07" name="Google Shape;3407;p130"/>
          <p:cNvCxnSpPr/>
          <p:nvPr/>
        </p:nvCxnSpPr>
        <p:spPr>
          <a:xfrm rot="10800000">
            <a:off x="2536119" y="325991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8" name="Google Shape;3408;p130"/>
          <p:cNvCxnSpPr/>
          <p:nvPr/>
        </p:nvCxnSpPr>
        <p:spPr>
          <a:xfrm>
            <a:off x="1965871" y="30626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09" name="Google Shape;3409;p130"/>
          <p:cNvSpPr/>
          <p:nvPr/>
        </p:nvSpPr>
        <p:spPr>
          <a:xfrm>
            <a:off x="3085544" y="36745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0" name="Google Shape;3410;p130"/>
          <p:cNvSpPr/>
          <p:nvPr/>
        </p:nvSpPr>
        <p:spPr>
          <a:xfrm>
            <a:off x="3088860" y="28649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11" name="Google Shape;3411;p130"/>
          <p:cNvCxnSpPr/>
          <p:nvPr/>
        </p:nvCxnSpPr>
        <p:spPr>
          <a:xfrm rot="10800000">
            <a:off x="3312582" y="32593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2" name="Google Shape;3412;p130"/>
          <p:cNvCxnSpPr/>
          <p:nvPr/>
        </p:nvCxnSpPr>
        <p:spPr>
          <a:xfrm>
            <a:off x="2742335" y="306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13" name="Google Shape;3413;p130"/>
          <p:cNvSpPr/>
          <p:nvPr/>
        </p:nvSpPr>
        <p:spPr>
          <a:xfrm>
            <a:off x="3862008" y="36745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4" name="Google Shape;3414;p130"/>
          <p:cNvSpPr/>
          <p:nvPr/>
        </p:nvSpPr>
        <p:spPr>
          <a:xfrm>
            <a:off x="3865324" y="2864951"/>
            <a:ext cx="426600" cy="394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5818E"/>
              </a:solidFill>
            </a:endParaRPr>
          </a:p>
        </p:txBody>
      </p:sp>
      <p:cxnSp>
        <p:nvCxnSpPr>
          <p:cNvPr id="3415" name="Google Shape;3415;p130"/>
          <p:cNvCxnSpPr/>
          <p:nvPr/>
        </p:nvCxnSpPr>
        <p:spPr>
          <a:xfrm rot="10800000">
            <a:off x="4089046" y="32593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6" name="Google Shape;3416;p130"/>
          <p:cNvCxnSpPr/>
          <p:nvPr/>
        </p:nvCxnSpPr>
        <p:spPr>
          <a:xfrm>
            <a:off x="3518798" y="30621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17" name="Google Shape;3417;p130"/>
          <p:cNvSpPr txBox="1"/>
          <p:nvPr/>
        </p:nvSpPr>
        <p:spPr>
          <a:xfrm rot="-5400000">
            <a:off x="-870750" y="2841900"/>
            <a:ext cx="2333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4A86E8"/>
                </a:solidFill>
              </a:rPr>
              <a:t>Encoder</a:t>
            </a:r>
            <a:r>
              <a:rPr lang="es-419" sz="1800">
                <a:solidFill>
                  <a:srgbClr val="4A86E8"/>
                </a:solidFill>
              </a:rPr>
              <a:t> RNN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3418" name="Google Shape;3418;p130"/>
          <p:cNvSpPr/>
          <p:nvPr/>
        </p:nvSpPr>
        <p:spPr>
          <a:xfrm>
            <a:off x="4638471" y="366324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9" name="Google Shape;3419;p130"/>
          <p:cNvSpPr/>
          <p:nvPr/>
        </p:nvSpPr>
        <p:spPr>
          <a:xfrm>
            <a:off x="4641787" y="285365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20" name="Google Shape;3420;p130"/>
          <p:cNvCxnSpPr/>
          <p:nvPr/>
        </p:nvCxnSpPr>
        <p:spPr>
          <a:xfrm rot="10800000">
            <a:off x="4865509" y="324804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1" name="Google Shape;3421;p130"/>
          <p:cNvCxnSpPr/>
          <p:nvPr/>
        </p:nvCxnSpPr>
        <p:spPr>
          <a:xfrm>
            <a:off x="4295262" y="3050805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22" name="Google Shape;3422;p130"/>
          <p:cNvSpPr/>
          <p:nvPr/>
        </p:nvSpPr>
        <p:spPr>
          <a:xfrm>
            <a:off x="5414935" y="3685817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3" name="Google Shape;3423;p130"/>
          <p:cNvSpPr/>
          <p:nvPr/>
        </p:nvSpPr>
        <p:spPr>
          <a:xfrm>
            <a:off x="5418251" y="2876220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24" name="Google Shape;3424;p130"/>
          <p:cNvCxnSpPr/>
          <p:nvPr/>
        </p:nvCxnSpPr>
        <p:spPr>
          <a:xfrm rot="10800000">
            <a:off x="5641973" y="327061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5" name="Google Shape;3425;p130"/>
          <p:cNvCxnSpPr/>
          <p:nvPr/>
        </p:nvCxnSpPr>
        <p:spPr>
          <a:xfrm>
            <a:off x="5071725" y="3073374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26" name="Google Shape;3426;p130"/>
          <p:cNvSpPr/>
          <p:nvPr/>
        </p:nvSpPr>
        <p:spPr>
          <a:xfrm>
            <a:off x="6191398" y="36852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7" name="Google Shape;3427;p130"/>
          <p:cNvSpPr/>
          <p:nvPr/>
        </p:nvSpPr>
        <p:spPr>
          <a:xfrm>
            <a:off x="6194714" y="28756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28" name="Google Shape;3428;p130"/>
          <p:cNvCxnSpPr/>
          <p:nvPr/>
        </p:nvCxnSpPr>
        <p:spPr>
          <a:xfrm rot="10800000">
            <a:off x="6418436" y="3270042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9" name="Google Shape;3429;p130"/>
          <p:cNvCxnSpPr/>
          <p:nvPr/>
        </p:nvCxnSpPr>
        <p:spPr>
          <a:xfrm>
            <a:off x="5848189" y="3072806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30" name="Google Shape;3430;p130"/>
          <p:cNvSpPr/>
          <p:nvPr/>
        </p:nvSpPr>
        <p:spPr>
          <a:xfrm>
            <a:off x="6967862" y="3685248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1" name="Google Shape;3431;p130"/>
          <p:cNvSpPr/>
          <p:nvPr/>
        </p:nvSpPr>
        <p:spPr>
          <a:xfrm>
            <a:off x="6971178" y="2875651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  <p:cxnSp>
        <p:nvCxnSpPr>
          <p:cNvPr id="3432" name="Google Shape;3432;p130"/>
          <p:cNvCxnSpPr/>
          <p:nvPr/>
        </p:nvCxnSpPr>
        <p:spPr>
          <a:xfrm>
            <a:off x="6624652" y="3072806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3" name="Google Shape;3433;p130"/>
          <p:cNvCxnSpPr/>
          <p:nvPr/>
        </p:nvCxnSpPr>
        <p:spPr>
          <a:xfrm rot="10800000">
            <a:off x="7181180" y="3270611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34" name="Google Shape;3434;p130"/>
          <p:cNvSpPr/>
          <p:nvPr/>
        </p:nvSpPr>
        <p:spPr>
          <a:xfrm>
            <a:off x="7744325" y="3685796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5" name="Google Shape;3435;p130"/>
          <p:cNvSpPr/>
          <p:nvPr/>
        </p:nvSpPr>
        <p:spPr>
          <a:xfrm>
            <a:off x="7747641" y="2876199"/>
            <a:ext cx="426600" cy="3942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  <p:cxnSp>
        <p:nvCxnSpPr>
          <p:cNvPr id="3436" name="Google Shape;3436;p130"/>
          <p:cNvCxnSpPr/>
          <p:nvPr/>
        </p:nvCxnSpPr>
        <p:spPr>
          <a:xfrm>
            <a:off x="7401116" y="3073353"/>
            <a:ext cx="3432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7" name="Google Shape;3437;p130"/>
          <p:cNvCxnSpPr/>
          <p:nvPr/>
        </p:nvCxnSpPr>
        <p:spPr>
          <a:xfrm rot="10800000">
            <a:off x="7957644" y="3271159"/>
            <a:ext cx="0" cy="41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38" name="Google Shape;3438;p130"/>
          <p:cNvSpPr txBox="1"/>
          <p:nvPr/>
        </p:nvSpPr>
        <p:spPr>
          <a:xfrm>
            <a:off x="4295262" y="4092153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&lt;START&gt; 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3439" name="Google Shape;3439;p130"/>
          <p:cNvSpPr txBox="1"/>
          <p:nvPr/>
        </p:nvSpPr>
        <p:spPr>
          <a:xfrm>
            <a:off x="5269476" y="4092153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Let’s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3440" name="Google Shape;3440;p130"/>
          <p:cNvSpPr txBox="1"/>
          <p:nvPr/>
        </p:nvSpPr>
        <p:spPr>
          <a:xfrm>
            <a:off x="6055306" y="41151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go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3441" name="Google Shape;3441;p130"/>
          <p:cNvSpPr txBox="1"/>
          <p:nvPr/>
        </p:nvSpPr>
        <p:spPr>
          <a:xfrm>
            <a:off x="6831770" y="4114533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to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3442" name="Google Shape;3442;p130"/>
          <p:cNvSpPr txBox="1"/>
          <p:nvPr/>
        </p:nvSpPr>
        <p:spPr>
          <a:xfrm>
            <a:off x="7530792" y="4114544"/>
            <a:ext cx="8481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Raúl’s</a:t>
            </a:r>
            <a:endParaRPr>
              <a:solidFill>
                <a:srgbClr val="274E13"/>
              </a:solidFill>
            </a:endParaRPr>
          </a:p>
        </p:txBody>
      </p:sp>
      <p:cxnSp>
        <p:nvCxnSpPr>
          <p:cNvPr id="3443" name="Google Shape;3443;p130"/>
          <p:cNvCxnSpPr/>
          <p:nvPr/>
        </p:nvCxnSpPr>
        <p:spPr>
          <a:xfrm rot="10800000">
            <a:off x="4858650" y="2571850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4" name="Google Shape;3444;p130"/>
          <p:cNvCxnSpPr/>
          <p:nvPr/>
        </p:nvCxnSpPr>
        <p:spPr>
          <a:xfrm rot="10800000">
            <a:off x="5635111" y="2586907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5" name="Google Shape;3445;p130"/>
          <p:cNvCxnSpPr/>
          <p:nvPr/>
        </p:nvCxnSpPr>
        <p:spPr>
          <a:xfrm rot="10800000">
            <a:off x="6411572" y="2586528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6" name="Google Shape;3446;p130"/>
          <p:cNvCxnSpPr/>
          <p:nvPr/>
        </p:nvCxnSpPr>
        <p:spPr>
          <a:xfrm rot="10800000">
            <a:off x="7174314" y="2586907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7" name="Google Shape;3447;p130"/>
          <p:cNvCxnSpPr/>
          <p:nvPr/>
        </p:nvCxnSpPr>
        <p:spPr>
          <a:xfrm rot="10800000">
            <a:off x="7950775" y="2587272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48" name="Google Shape;3448;p130"/>
          <p:cNvSpPr txBox="1"/>
          <p:nvPr/>
        </p:nvSpPr>
        <p:spPr>
          <a:xfrm>
            <a:off x="4501126" y="22374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ŷ</a:t>
            </a:r>
            <a:r>
              <a:rPr baseline="-25000" lang="es-419">
                <a:solidFill>
                  <a:srgbClr val="274E13"/>
                </a:solidFill>
              </a:rPr>
              <a:t>1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449" name="Google Shape;3449;p130"/>
          <p:cNvSpPr txBox="1"/>
          <p:nvPr/>
        </p:nvSpPr>
        <p:spPr>
          <a:xfrm>
            <a:off x="417525" y="4069447"/>
            <a:ext cx="1154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C4587"/>
                </a:solidFill>
              </a:rPr>
              <a:t>Vamos 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3450" name="Google Shape;3450;p130"/>
          <p:cNvSpPr txBox="1"/>
          <p:nvPr/>
        </p:nvSpPr>
        <p:spPr>
          <a:xfrm rot="5400000">
            <a:off x="7742717" y="3237350"/>
            <a:ext cx="2127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6AA84F"/>
                </a:solidFill>
              </a:rPr>
              <a:t>Decoder</a:t>
            </a:r>
            <a:r>
              <a:rPr lang="es-419" sz="1600">
                <a:solidFill>
                  <a:srgbClr val="6AA84F"/>
                </a:solidFill>
              </a:rPr>
              <a:t> RNN</a:t>
            </a:r>
            <a:endParaRPr sz="1600">
              <a:solidFill>
                <a:srgbClr val="6AA84F"/>
              </a:solidFill>
            </a:endParaRPr>
          </a:p>
        </p:txBody>
      </p:sp>
      <p:sp>
        <p:nvSpPr>
          <p:cNvPr id="3451" name="Google Shape;3451;p130"/>
          <p:cNvSpPr txBox="1"/>
          <p:nvPr>
            <p:ph type="title"/>
          </p:nvPr>
        </p:nvSpPr>
        <p:spPr>
          <a:xfrm>
            <a:off x="540300" y="1329550"/>
            <a:ext cx="234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-419" sz="1900">
                <a:solidFill>
                  <a:srgbClr val="434343"/>
                </a:solidFill>
              </a:rPr>
              <a:t>Entrenamiento</a:t>
            </a:r>
            <a:endParaRPr b="0" sz="136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160">
              <a:solidFill>
                <a:srgbClr val="434343"/>
              </a:solidFill>
            </a:endParaRPr>
          </a:p>
        </p:txBody>
      </p:sp>
      <p:sp>
        <p:nvSpPr>
          <p:cNvPr id="3452" name="Google Shape;3452;p130"/>
          <p:cNvSpPr txBox="1"/>
          <p:nvPr/>
        </p:nvSpPr>
        <p:spPr>
          <a:xfrm>
            <a:off x="5263126" y="22374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ŷ</a:t>
            </a:r>
            <a:r>
              <a:rPr baseline="-25000" lang="es-419">
                <a:solidFill>
                  <a:srgbClr val="274E13"/>
                </a:solidFill>
              </a:rPr>
              <a:t>2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453" name="Google Shape;3453;p130"/>
          <p:cNvSpPr txBox="1"/>
          <p:nvPr/>
        </p:nvSpPr>
        <p:spPr>
          <a:xfrm>
            <a:off x="6101326" y="22374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ŷ</a:t>
            </a:r>
            <a:r>
              <a:rPr baseline="-25000" lang="es-419">
                <a:solidFill>
                  <a:srgbClr val="274E13"/>
                </a:solidFill>
              </a:rPr>
              <a:t>3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454" name="Google Shape;3454;p130"/>
          <p:cNvSpPr txBox="1"/>
          <p:nvPr/>
        </p:nvSpPr>
        <p:spPr>
          <a:xfrm>
            <a:off x="6787126" y="22374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ŷ</a:t>
            </a:r>
            <a:r>
              <a:rPr baseline="-25000" lang="es-419">
                <a:solidFill>
                  <a:srgbClr val="274E13"/>
                </a:solidFill>
              </a:rPr>
              <a:t>4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455" name="Google Shape;3455;p130"/>
          <p:cNvSpPr txBox="1"/>
          <p:nvPr/>
        </p:nvSpPr>
        <p:spPr>
          <a:xfrm>
            <a:off x="7625326" y="22374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ŷ</a:t>
            </a:r>
            <a:r>
              <a:rPr baseline="-25000" lang="es-419">
                <a:solidFill>
                  <a:srgbClr val="274E13"/>
                </a:solidFill>
              </a:rPr>
              <a:t>5</a:t>
            </a:r>
            <a:endParaRPr baseline="-25000">
              <a:solidFill>
                <a:srgbClr val="274E13"/>
              </a:solidFill>
            </a:endParaRPr>
          </a:p>
        </p:txBody>
      </p:sp>
      <p:cxnSp>
        <p:nvCxnSpPr>
          <p:cNvPr id="3456" name="Google Shape;3456;p130"/>
          <p:cNvCxnSpPr/>
          <p:nvPr/>
        </p:nvCxnSpPr>
        <p:spPr>
          <a:xfrm>
            <a:off x="4858650" y="1901472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7" name="Google Shape;3457;p130"/>
          <p:cNvCxnSpPr/>
          <p:nvPr/>
        </p:nvCxnSpPr>
        <p:spPr>
          <a:xfrm>
            <a:off x="5635111" y="1886415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8" name="Google Shape;3458;p130"/>
          <p:cNvCxnSpPr/>
          <p:nvPr/>
        </p:nvCxnSpPr>
        <p:spPr>
          <a:xfrm>
            <a:off x="6411572" y="1886794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9" name="Google Shape;3459;p130"/>
          <p:cNvCxnSpPr/>
          <p:nvPr/>
        </p:nvCxnSpPr>
        <p:spPr>
          <a:xfrm>
            <a:off x="7174314" y="1886415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0" name="Google Shape;3460;p130"/>
          <p:cNvCxnSpPr/>
          <p:nvPr/>
        </p:nvCxnSpPr>
        <p:spPr>
          <a:xfrm>
            <a:off x="7950775" y="1886050"/>
            <a:ext cx="0" cy="276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61" name="Google Shape;3461;p130"/>
          <p:cNvSpPr txBox="1"/>
          <p:nvPr/>
        </p:nvSpPr>
        <p:spPr>
          <a:xfrm>
            <a:off x="4501126" y="15807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</a:t>
            </a:r>
            <a:r>
              <a:rPr baseline="-25000" lang="es-419">
                <a:solidFill>
                  <a:srgbClr val="274E13"/>
                </a:solidFill>
              </a:rPr>
              <a:t>1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462" name="Google Shape;3462;p130"/>
          <p:cNvSpPr txBox="1"/>
          <p:nvPr/>
        </p:nvSpPr>
        <p:spPr>
          <a:xfrm>
            <a:off x="5263126" y="15807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</a:t>
            </a:r>
            <a:r>
              <a:rPr baseline="-25000" lang="es-419">
                <a:solidFill>
                  <a:srgbClr val="274E13"/>
                </a:solidFill>
              </a:rPr>
              <a:t>2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463" name="Google Shape;3463;p130"/>
          <p:cNvSpPr txBox="1"/>
          <p:nvPr/>
        </p:nvSpPr>
        <p:spPr>
          <a:xfrm>
            <a:off x="6101326" y="15807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</a:t>
            </a:r>
            <a:r>
              <a:rPr baseline="-25000" lang="es-419">
                <a:solidFill>
                  <a:srgbClr val="274E13"/>
                </a:solidFill>
              </a:rPr>
              <a:t>3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464" name="Google Shape;3464;p130"/>
          <p:cNvSpPr txBox="1"/>
          <p:nvPr/>
        </p:nvSpPr>
        <p:spPr>
          <a:xfrm>
            <a:off x="6787126" y="15807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</a:t>
            </a:r>
            <a:r>
              <a:rPr baseline="-25000" lang="es-419">
                <a:solidFill>
                  <a:srgbClr val="274E13"/>
                </a:solidFill>
              </a:rPr>
              <a:t>4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465" name="Google Shape;3465;p130"/>
          <p:cNvSpPr txBox="1"/>
          <p:nvPr/>
        </p:nvSpPr>
        <p:spPr>
          <a:xfrm>
            <a:off x="7625326" y="15807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L</a:t>
            </a:r>
            <a:r>
              <a:rPr baseline="-25000" lang="es-419">
                <a:solidFill>
                  <a:srgbClr val="274E13"/>
                </a:solidFill>
              </a:rPr>
              <a:t>5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466" name="Google Shape;3466;p130"/>
          <p:cNvSpPr txBox="1"/>
          <p:nvPr/>
        </p:nvSpPr>
        <p:spPr>
          <a:xfrm>
            <a:off x="4882126" y="15807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+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467" name="Google Shape;3467;p130"/>
          <p:cNvSpPr txBox="1"/>
          <p:nvPr/>
        </p:nvSpPr>
        <p:spPr>
          <a:xfrm>
            <a:off x="5720326" y="15807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+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468" name="Google Shape;3468;p130"/>
          <p:cNvSpPr txBox="1"/>
          <p:nvPr/>
        </p:nvSpPr>
        <p:spPr>
          <a:xfrm>
            <a:off x="6406126" y="15807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+</a:t>
            </a:r>
            <a:endParaRPr baseline="-25000">
              <a:solidFill>
                <a:srgbClr val="274E13"/>
              </a:solidFill>
            </a:endParaRPr>
          </a:p>
        </p:txBody>
      </p:sp>
      <p:sp>
        <p:nvSpPr>
          <p:cNvPr id="3469" name="Google Shape;3469;p130"/>
          <p:cNvSpPr txBox="1"/>
          <p:nvPr/>
        </p:nvSpPr>
        <p:spPr>
          <a:xfrm>
            <a:off x="7168126" y="1580702"/>
            <a:ext cx="6990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74E13"/>
                </a:solidFill>
              </a:rPr>
              <a:t>+</a:t>
            </a:r>
            <a:endParaRPr baseline="-25000">
              <a:solidFill>
                <a:srgbClr val="274E13"/>
              </a:solidFill>
            </a:endParaRPr>
          </a:p>
        </p:txBody>
      </p:sp>
      <p:cxnSp>
        <p:nvCxnSpPr>
          <p:cNvPr id="3470" name="Google Shape;3470;p130"/>
          <p:cNvCxnSpPr/>
          <p:nvPr/>
        </p:nvCxnSpPr>
        <p:spPr>
          <a:xfrm>
            <a:off x="6918896" y="1900258"/>
            <a:ext cx="3600" cy="835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1" name="Google Shape;3471;p130"/>
          <p:cNvCxnSpPr/>
          <p:nvPr/>
        </p:nvCxnSpPr>
        <p:spPr>
          <a:xfrm rot="10800000">
            <a:off x="1047650" y="2735900"/>
            <a:ext cx="6685800" cy="14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2" name="Google Shape;3472;p130"/>
          <p:cNvSpPr txBox="1"/>
          <p:nvPr/>
        </p:nvSpPr>
        <p:spPr>
          <a:xfrm>
            <a:off x="1372898" y="1989875"/>
            <a:ext cx="28995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741B47"/>
                </a:solidFill>
              </a:rPr>
              <a:t>Back propagation</a:t>
            </a:r>
            <a:endParaRPr b="1" sz="1800">
              <a:solidFill>
                <a:srgbClr val="741B4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741B47"/>
                </a:solidFill>
              </a:rPr>
              <a:t>(end to end)</a:t>
            </a:r>
            <a:endParaRPr b="1" sz="1800">
              <a:solidFill>
                <a:srgbClr val="741B47"/>
              </a:solidFill>
            </a:endParaRPr>
          </a:p>
        </p:txBody>
      </p:sp>
      <p:cxnSp>
        <p:nvCxnSpPr>
          <p:cNvPr id="3473" name="Google Shape;3473;p130"/>
          <p:cNvCxnSpPr/>
          <p:nvPr/>
        </p:nvCxnSpPr>
        <p:spPr>
          <a:xfrm>
            <a:off x="7757096" y="1900258"/>
            <a:ext cx="3600" cy="835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4" name="Google Shape;3474;p130"/>
          <p:cNvCxnSpPr/>
          <p:nvPr/>
        </p:nvCxnSpPr>
        <p:spPr>
          <a:xfrm>
            <a:off x="6233096" y="1900258"/>
            <a:ext cx="3600" cy="835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5" name="Google Shape;3475;p130"/>
          <p:cNvCxnSpPr/>
          <p:nvPr/>
        </p:nvCxnSpPr>
        <p:spPr>
          <a:xfrm>
            <a:off x="5471096" y="1900258"/>
            <a:ext cx="3600" cy="835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6" name="Google Shape;3476;p130"/>
          <p:cNvCxnSpPr/>
          <p:nvPr/>
        </p:nvCxnSpPr>
        <p:spPr>
          <a:xfrm>
            <a:off x="4632896" y="1900258"/>
            <a:ext cx="3600" cy="835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0" name="Shape 3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" name="Google Shape;3481;p131"/>
          <p:cNvSpPr txBox="1"/>
          <p:nvPr>
            <p:ph type="title"/>
          </p:nvPr>
        </p:nvSpPr>
        <p:spPr>
          <a:xfrm>
            <a:off x="692700" y="1405750"/>
            <a:ext cx="409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s-419" sz="1960">
                <a:solidFill>
                  <a:srgbClr val="666666"/>
                </a:solidFill>
              </a:rPr>
              <a:t>Algunas a</a:t>
            </a:r>
            <a:r>
              <a:rPr lang="es-419" sz="1960">
                <a:solidFill>
                  <a:srgbClr val="666666"/>
                </a:solidFill>
              </a:rPr>
              <a:t>plicaciones en NLP:</a:t>
            </a:r>
            <a:endParaRPr sz="1960">
              <a:solidFill>
                <a:srgbClr val="666666"/>
              </a:solidFill>
            </a:endParaRPr>
          </a:p>
          <a:p>
            <a:pPr indent="-353060" lvl="0" marL="914400" rtl="0" algn="l"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960"/>
              <a:buChar char="-"/>
            </a:pPr>
            <a:r>
              <a:rPr b="0" lang="es-419" sz="1960">
                <a:solidFill>
                  <a:srgbClr val="666666"/>
                </a:solidFill>
              </a:rPr>
              <a:t>Machine Translation</a:t>
            </a:r>
            <a:endParaRPr b="0" sz="1960">
              <a:solidFill>
                <a:srgbClr val="666666"/>
              </a:solidFill>
            </a:endParaRPr>
          </a:p>
          <a:p>
            <a:pPr indent="-353060" lvl="0" marL="914400" rtl="0" algn="l"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960"/>
              <a:buChar char="-"/>
            </a:pPr>
            <a:r>
              <a:rPr b="0" lang="es-419" sz="1960">
                <a:solidFill>
                  <a:srgbClr val="666666"/>
                </a:solidFill>
              </a:rPr>
              <a:t>Summarization</a:t>
            </a:r>
            <a:endParaRPr b="0" sz="1960">
              <a:solidFill>
                <a:srgbClr val="666666"/>
              </a:solidFill>
            </a:endParaRPr>
          </a:p>
          <a:p>
            <a:pPr indent="-353060" lvl="0" marL="914400" rtl="0" algn="l"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960"/>
              <a:buChar char="-"/>
            </a:pPr>
            <a:r>
              <a:rPr b="0" lang="es-419" sz="1960">
                <a:solidFill>
                  <a:srgbClr val="666666"/>
                </a:solidFill>
              </a:rPr>
              <a:t>Dialogue systems</a:t>
            </a:r>
            <a:endParaRPr b="0" sz="1960">
              <a:solidFill>
                <a:srgbClr val="666666"/>
              </a:solidFill>
            </a:endParaRPr>
          </a:p>
          <a:p>
            <a:pPr indent="-353060" lvl="0" marL="914400" rtl="0" algn="l"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960"/>
              <a:buChar char="-"/>
            </a:pPr>
            <a:r>
              <a:rPr b="0" lang="es-419" sz="1960">
                <a:solidFill>
                  <a:srgbClr val="666666"/>
                </a:solidFill>
              </a:rPr>
              <a:t>Image captioning</a:t>
            </a:r>
            <a:endParaRPr b="0" sz="1960">
              <a:solidFill>
                <a:srgbClr val="666666"/>
              </a:solidFill>
            </a:endParaRPr>
          </a:p>
          <a:p>
            <a:pPr indent="-353060" lvl="0" marL="914400" rtl="0" algn="l"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960"/>
              <a:buChar char="-"/>
            </a:pPr>
            <a:r>
              <a:rPr b="0" lang="es-419" sz="1960">
                <a:solidFill>
                  <a:srgbClr val="666666"/>
                </a:solidFill>
              </a:rPr>
              <a:t>Generación de código</a:t>
            </a:r>
            <a:endParaRPr b="0" sz="196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0" sz="1960">
              <a:solidFill>
                <a:srgbClr val="434343"/>
              </a:solidFill>
            </a:endParaRPr>
          </a:p>
        </p:txBody>
      </p:sp>
      <p:pic>
        <p:nvPicPr>
          <p:cNvPr descr="\bold{c^{(t)}}=\bold{f}^{t}\, \circ \,\bold{c}^{(t-1)} + \bold{i}^{(t)}\; \circ  \; \bold{\tilde{c}}^{(t)}\\&#10;&#10;\bold{\tilde{c}}^{(t)}=\sigma(\bold{b}_c+\bold{W}_c\bold{h}^{(t-1)} + \bold{U}_c \bold{x}^{(t)})\\&#10;\bold{h}^{(t)}=\bold{o}^{t}\; \circ  \; \tanh(\bold{c^{(t)}})" id="3482" name="Google Shape;3482;p13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75" y="5327524"/>
            <a:ext cx="4309700" cy="13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3" name="Google Shape;3483;p131"/>
          <p:cNvSpPr txBox="1"/>
          <p:nvPr>
            <p:ph type="title"/>
          </p:nvPr>
        </p:nvSpPr>
        <p:spPr>
          <a:xfrm>
            <a:off x="692700" y="64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34343"/>
                </a:solidFill>
              </a:rPr>
              <a:t>Seq2seq models</a:t>
            </a:r>
            <a:endParaRPr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